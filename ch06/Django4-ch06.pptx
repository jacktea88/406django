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81"/>
  </p:notesMasterIdLst>
  <p:sldIdLst>
    <p:sldId id="256" r:id="rId3"/>
    <p:sldId id="257" r:id="rId4"/>
    <p:sldId id="259" r:id="rId5"/>
    <p:sldId id="260" r:id="rId6"/>
    <p:sldId id="261" r:id="rId7"/>
    <p:sldId id="262" r:id="rId8"/>
    <p:sldId id="264" r:id="rId9"/>
    <p:sldId id="263" r:id="rId10"/>
    <p:sldId id="318" r:id="rId11"/>
    <p:sldId id="265" r:id="rId12"/>
    <p:sldId id="266" r:id="rId13"/>
    <p:sldId id="267" r:id="rId14"/>
    <p:sldId id="268" r:id="rId15"/>
    <p:sldId id="352" r:id="rId16"/>
    <p:sldId id="354" r:id="rId17"/>
    <p:sldId id="355" r:id="rId18"/>
    <p:sldId id="356" r:id="rId19"/>
    <p:sldId id="357" r:id="rId20"/>
    <p:sldId id="358" r:id="rId21"/>
    <p:sldId id="359" r:id="rId22"/>
    <p:sldId id="360" r:id="rId23"/>
    <p:sldId id="269" r:id="rId24"/>
    <p:sldId id="270" r:id="rId25"/>
    <p:sldId id="395" r:id="rId26"/>
    <p:sldId id="396" r:id="rId27"/>
    <p:sldId id="397" r:id="rId28"/>
    <p:sldId id="398" r:id="rId29"/>
    <p:sldId id="399" r:id="rId30"/>
    <p:sldId id="271" r:id="rId31"/>
    <p:sldId id="272" r:id="rId32"/>
    <p:sldId id="273" r:id="rId33"/>
    <p:sldId id="274" r:id="rId34"/>
    <p:sldId id="275" r:id="rId35"/>
    <p:sldId id="276" r:id="rId36"/>
    <p:sldId id="277" r:id="rId37"/>
    <p:sldId id="278" r:id="rId38"/>
    <p:sldId id="320" r:id="rId39"/>
    <p:sldId id="279" r:id="rId40"/>
    <p:sldId id="280" r:id="rId41"/>
    <p:sldId id="281" r:id="rId42"/>
    <p:sldId id="283" r:id="rId43"/>
    <p:sldId id="282"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3" r:id="rId63"/>
    <p:sldId id="304" r:id="rId64"/>
    <p:sldId id="305" r:id="rId65"/>
    <p:sldId id="307" r:id="rId66"/>
    <p:sldId id="308" r:id="rId67"/>
    <p:sldId id="319" r:id="rId68"/>
    <p:sldId id="309" r:id="rId69"/>
    <p:sldId id="310" r:id="rId70"/>
    <p:sldId id="311" r:id="rId71"/>
    <p:sldId id="312" r:id="rId72"/>
    <p:sldId id="313" r:id="rId73"/>
    <p:sldId id="314" r:id="rId74"/>
    <p:sldId id="315" r:id="rId75"/>
    <p:sldId id="316" r:id="rId76"/>
    <p:sldId id="317" r:id="rId77"/>
    <p:sldId id="321" r:id="rId78"/>
    <p:sldId id="401" r:id="rId79"/>
    <p:sldId id="400" r:id="rId8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EAE9"/>
    <a:srgbClr val="FDFDFD"/>
    <a:srgbClr val="F7E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6345C4-B08B-40A0-A98F-2A256DB1463F}" v="27" dt="2023-05-22T00:17:37.029"/>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979" autoAdjust="0"/>
    <p:restoredTop sz="79888" autoAdjust="0"/>
  </p:normalViewPr>
  <p:slideViewPr>
    <p:cSldViewPr>
      <p:cViewPr varScale="1">
        <p:scale>
          <a:sx n="96" d="100"/>
          <a:sy n="96" d="100"/>
        </p:scale>
        <p:origin x="2802"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01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2026/5/27</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如果換</a:t>
            </a:r>
            <a:r>
              <a:rPr lang="en-US" altLang="zh-TW" dirty="0"/>
              <a:t>(</a:t>
            </a:r>
            <a:r>
              <a:rPr lang="zh-TW" altLang="en-US" dirty="0"/>
              <a:t>搬移</a:t>
            </a:r>
            <a:r>
              <a:rPr lang="en-US" altLang="zh-TW" dirty="0"/>
              <a:t>)</a:t>
            </a:r>
            <a:r>
              <a:rPr lang="zh-TW" altLang="en-US" dirty="0"/>
              <a:t>整個</a:t>
            </a:r>
            <a:r>
              <a:rPr lang="en-US" altLang="zh-TW" dirty="0"/>
              <a:t>template</a:t>
            </a:r>
            <a:r>
              <a:rPr lang="zh-TW" altLang="en-US" dirty="0"/>
              <a:t>而不是修改後的存檔，要中斷</a:t>
            </a:r>
            <a:r>
              <a:rPr lang="en-US" altLang="zh-TW" dirty="0"/>
              <a:t>server</a:t>
            </a:r>
            <a:r>
              <a:rPr lang="zh-TW" altLang="en-US" dirty="0"/>
              <a:t>再重啟才會生效</a:t>
            </a:r>
            <a:endParaRPr lang="en-US" altLang="zh-TW" dirty="0"/>
          </a:p>
          <a:p>
            <a:r>
              <a:rPr lang="zh-TW" altLang="en-US" dirty="0"/>
              <a:t>順序的部份課本說得和實際不符：正確的是：根目錄下的模版還是較優先於</a:t>
            </a:r>
            <a:r>
              <a:rPr lang="en-US" altLang="zh-TW" dirty="0"/>
              <a:t>APP</a:t>
            </a:r>
            <a:r>
              <a:rPr lang="zh-TW" altLang="en-US" dirty="0"/>
              <a:t>內的模板</a:t>
            </a:r>
            <a:r>
              <a:rPr lang="en-US" altLang="zh-TW" dirty="0"/>
              <a:t>(</a:t>
            </a:r>
            <a:r>
              <a:rPr lang="zh-TW" altLang="en-US" dirty="0"/>
              <a:t>已測試過</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APP_DIRS=true</a:t>
            </a:r>
            <a:r>
              <a:rPr lang="zh-TW" altLang="en-US" dirty="0"/>
              <a:t>的作用就是多一個去找</a:t>
            </a:r>
            <a:r>
              <a:rPr lang="en-US" altLang="zh-TW" dirty="0"/>
              <a:t>app</a:t>
            </a:r>
            <a:r>
              <a:rPr lang="zh-TW" altLang="en-US" dirty="0"/>
              <a:t>底下的</a:t>
            </a:r>
            <a:r>
              <a:rPr lang="en-US" altLang="zh-TW" dirty="0"/>
              <a:t>template</a:t>
            </a:r>
            <a:r>
              <a:rPr lang="zh-TW" altLang="en-US" dirty="0"/>
              <a:t>資料夾</a:t>
            </a:r>
            <a:r>
              <a:rPr lang="en-US" altLang="zh-TW" dirty="0"/>
              <a:t>(</a:t>
            </a:r>
            <a:r>
              <a:rPr lang="zh-TW" altLang="en-US" dirty="0"/>
              <a:t>示範</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最好的方式不要取相同的檔名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a:t>
            </a:r>
            <a:r>
              <a:rPr lang="en-US" altLang="zh-TW" dirty="0"/>
              <a:t>index.html</a:t>
            </a:r>
            <a:r>
              <a:rPr lang="zh-TW" altLang="en-US" dirty="0"/>
              <a:t>搬到</a:t>
            </a:r>
            <a:r>
              <a:rPr lang="en-US" altLang="zh-TW" dirty="0"/>
              <a:t>app</a:t>
            </a:r>
            <a:r>
              <a:rPr lang="zh-TW" altLang="en-US" dirty="0"/>
              <a:t>之下，</a:t>
            </a:r>
            <a:r>
              <a:rPr lang="en-US" altLang="zh-TW" sz="1200" b="0" kern="1200" dirty="0">
                <a:solidFill>
                  <a:schemeClr val="tx1"/>
                </a:solidFill>
                <a:effectLst/>
                <a:latin typeface="+mn-lt"/>
                <a:ea typeface="+mn-ea"/>
                <a:cs typeface="+mn-cs"/>
              </a:rPr>
              <a:t>‘APP_DIRS’: True, MARK</a:t>
            </a:r>
            <a:r>
              <a:rPr lang="zh-TW" altLang="en-US" sz="1200" b="0" kern="1200" dirty="0">
                <a:solidFill>
                  <a:schemeClr val="tx1"/>
                </a:solidFill>
                <a:effectLst/>
                <a:latin typeface="+mn-lt"/>
                <a:ea typeface="+mn-ea"/>
                <a:cs typeface="+mn-cs"/>
              </a:rPr>
              <a:t>掉</a:t>
            </a:r>
            <a:endParaRPr lang="en-US" altLang="zh-TW"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1285378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Mysite</a:t>
            </a:r>
            <a:r>
              <a:rPr lang="en-US" altLang="zh-TW" dirty="0"/>
              <a:t>/templates</a:t>
            </a:r>
            <a:r>
              <a:rPr lang="zh-TW" altLang="en-US" dirty="0"/>
              <a:t>優先套用，接下來才是</a:t>
            </a:r>
            <a:r>
              <a:rPr lang="en-US" altLang="zh-TW" dirty="0" err="1"/>
              <a:t>dir</a:t>
            </a:r>
            <a:r>
              <a:rPr lang="en-US" altLang="zh-TW" dirty="0"/>
              <a:t>/templates(</a:t>
            </a:r>
            <a:r>
              <a:rPr lang="zh-TW" altLang="en-US" dirty="0"/>
              <a:t>錯的，如果要用</a:t>
            </a:r>
            <a:r>
              <a:rPr lang="en-US" altLang="zh-TW" dirty="0"/>
              <a:t>app</a:t>
            </a:r>
            <a:r>
              <a:rPr lang="zh-TW" altLang="en-US" dirty="0"/>
              <a:t>內的就把</a:t>
            </a:r>
            <a:r>
              <a:rPr lang="en-US" altLang="zh-TW" dirty="0"/>
              <a:t>base </a:t>
            </a:r>
            <a:r>
              <a:rPr lang="en-US" altLang="zh-TW" dirty="0" err="1"/>
              <a:t>dir</a:t>
            </a:r>
            <a:r>
              <a:rPr lang="zh-TW" altLang="en-US" dirty="0"/>
              <a:t>的去掉或是改成不同的名字來避免</a:t>
            </a:r>
            <a:r>
              <a:rPr lang="en-US" altLang="zh-TW" dirty="0"/>
              <a:t>)</a:t>
            </a:r>
          </a:p>
          <a:p>
            <a:r>
              <a:rPr lang="zh-TW" altLang="en-US" dirty="0"/>
              <a:t>如此</a:t>
            </a:r>
            <a:r>
              <a:rPr lang="en-US" altLang="zh-TW" dirty="0"/>
              <a:t>,</a:t>
            </a:r>
            <a:r>
              <a:rPr lang="zh-TW" altLang="en-US" dirty="0"/>
              <a:t>我們也可以在各個</a:t>
            </a:r>
            <a:r>
              <a:rPr lang="en-US" altLang="zh-TW" dirty="0"/>
              <a:t>App</a:t>
            </a:r>
            <a:r>
              <a:rPr lang="zh-TW" altLang="en-US" dirty="0"/>
              <a:t>內也設定</a:t>
            </a:r>
            <a:r>
              <a:rPr lang="en-US" altLang="zh-TW" dirty="0"/>
              <a:t>templates </a:t>
            </a:r>
            <a:r>
              <a:rPr lang="zh-TW" altLang="en-US" dirty="0"/>
              <a:t>資料夾</a:t>
            </a:r>
            <a:r>
              <a:rPr lang="en-US" altLang="zh-TW" dirty="0"/>
              <a:t>,</a:t>
            </a:r>
            <a:r>
              <a:rPr lang="zh-TW" altLang="en-US" dirty="0"/>
              <a:t>這樣的設定可以讓</a:t>
            </a:r>
          </a:p>
          <a:p>
            <a:r>
              <a:rPr lang="en-US" altLang="zh-TW" dirty="0"/>
              <a:t>App</a:t>
            </a:r>
            <a:r>
              <a:rPr lang="zh-TW" altLang="en-US" dirty="0"/>
              <a:t>被重複使用到其他網站。</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a:t>
            </a:fld>
            <a:endParaRPr lang="zh-TW" altLang="en-US"/>
          </a:p>
        </p:txBody>
      </p:sp>
    </p:spTree>
    <p:extLst>
      <p:ext uri="{BB962C8B-B14F-4D97-AF65-F5344CB8AC3E}">
        <p14:creationId xmlns:p14="http://schemas.microsoft.com/office/powerpoint/2010/main" val="2885912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ts val="1425"/>
              </a:lnSpc>
            </a:pPr>
            <a:r>
              <a:rPr lang="en-US" altLang="zh-TW" b="0" dirty="0">
                <a:solidFill>
                  <a:srgbClr val="C594C5"/>
                </a:solidFill>
                <a:effectLst/>
                <a:latin typeface="Consolas" panose="020B0609020204030204" pitchFamily="49" charset="0"/>
              </a:rPr>
              <a:t>def</a:t>
            </a:r>
            <a:r>
              <a:rPr lang="en-US" altLang="zh-TW" b="0" dirty="0">
                <a:solidFill>
                  <a:srgbClr val="CDD3DE"/>
                </a:solidFill>
                <a:effectLst/>
                <a:latin typeface="Consolas" panose="020B0609020204030204" pitchFamily="49" charset="0"/>
              </a:rPr>
              <a:t> </a:t>
            </a:r>
            <a:r>
              <a:rPr lang="en-US" altLang="zh-TW" b="0" dirty="0">
                <a:solidFill>
                  <a:srgbClr val="6699CC"/>
                </a:solidFill>
                <a:effectLst/>
                <a:latin typeface="Consolas" panose="020B0609020204030204" pitchFamily="49" charset="0"/>
              </a:rPr>
              <a:t>index</a:t>
            </a:r>
            <a:r>
              <a:rPr lang="en-US" altLang="zh-TW" b="0" dirty="0">
                <a:solidFill>
                  <a:srgbClr val="5FB3B3"/>
                </a:solidFill>
                <a:effectLst/>
                <a:latin typeface="Consolas" panose="020B0609020204030204" pitchFamily="49" charset="0"/>
              </a:rPr>
              <a:t>(</a:t>
            </a:r>
            <a:r>
              <a:rPr lang="en-US" altLang="zh-TW" b="0" dirty="0">
                <a:solidFill>
                  <a:srgbClr val="F99157"/>
                </a:solidFill>
                <a:effectLst/>
                <a:latin typeface="Consolas" panose="020B0609020204030204" pitchFamily="49" charset="0"/>
              </a:rPr>
              <a:t>request</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now </a:t>
            </a:r>
            <a:r>
              <a:rPr lang="en-US" altLang="zh-TW" b="0" dirty="0">
                <a:solidFill>
                  <a:srgbClr val="5FB3B3"/>
                </a:solidFill>
                <a:effectLst/>
                <a:latin typeface="Consolas" panose="020B0609020204030204" pitchFamily="49" charset="0"/>
              </a:rPr>
              <a:t>=</a:t>
            </a:r>
            <a:r>
              <a:rPr lang="en-US" altLang="zh-TW" b="0" dirty="0">
                <a:solidFill>
                  <a:srgbClr val="CDD3DE"/>
                </a:solidFill>
                <a:effectLst/>
                <a:latin typeface="Consolas" panose="020B0609020204030204" pitchFamily="49" charset="0"/>
              </a:rPr>
              <a:t> </a:t>
            </a:r>
            <a:r>
              <a:rPr lang="en-US" altLang="zh-TW" b="0" dirty="0" err="1">
                <a:solidFill>
                  <a:srgbClr val="CDD3DE"/>
                </a:solidFill>
                <a:effectLst/>
                <a:latin typeface="Consolas" panose="020B0609020204030204" pitchFamily="49" charset="0"/>
              </a:rPr>
              <a:t>datetime</a:t>
            </a:r>
            <a:r>
              <a:rPr lang="en-US" altLang="zh-TW" b="0" dirty="0" err="1">
                <a:solidFill>
                  <a:srgbClr val="5FB3B3"/>
                </a:solidFill>
                <a:effectLst/>
                <a:latin typeface="Consolas" panose="020B0609020204030204" pitchFamily="49" charset="0"/>
              </a:rPr>
              <a:t>.</a:t>
            </a:r>
            <a:r>
              <a:rPr lang="en-US" altLang="zh-TW" b="0" dirty="0" err="1">
                <a:solidFill>
                  <a:srgbClr val="6699CC"/>
                </a:solidFill>
                <a:effectLst/>
                <a:latin typeface="Consolas" panose="020B0609020204030204" pitchFamily="49" charset="0"/>
              </a:rPr>
              <a:t>now</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msg </a:t>
            </a:r>
            <a:r>
              <a:rPr lang="en-US" altLang="zh-TW" b="0" dirty="0">
                <a:solidFill>
                  <a:srgbClr val="5FB3B3"/>
                </a:solidFill>
                <a:effectLst/>
                <a:latin typeface="Consolas" panose="020B0609020204030204" pitchFamily="49" charset="0"/>
              </a:rPr>
              <a:t>=</a:t>
            </a: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Hello</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return</a:t>
            </a:r>
            <a:r>
              <a:rPr lang="en-US" altLang="zh-TW" b="0" dirty="0">
                <a:solidFill>
                  <a:srgbClr val="CDD3DE"/>
                </a:solidFill>
                <a:effectLst/>
                <a:latin typeface="Consolas" panose="020B0609020204030204" pitchFamily="49" charset="0"/>
              </a:rPr>
              <a:t> </a:t>
            </a:r>
            <a:r>
              <a:rPr lang="en-US" altLang="zh-TW" b="0" dirty="0">
                <a:solidFill>
                  <a:srgbClr val="6699CC"/>
                </a:solidFill>
                <a:effectLst/>
                <a:latin typeface="Consolas" panose="020B0609020204030204" pitchFamily="49" charset="0"/>
              </a:rPr>
              <a:t>render</a:t>
            </a:r>
            <a:r>
              <a:rPr lang="en-US" altLang="zh-TW" b="0" dirty="0">
                <a:solidFill>
                  <a:srgbClr val="5FB3B3"/>
                </a:solidFill>
                <a:effectLst/>
                <a:latin typeface="Consolas" panose="020B0609020204030204" pitchFamily="49" charset="0"/>
              </a:rPr>
              <a:t>(</a:t>
            </a:r>
            <a:r>
              <a:rPr lang="en-US" altLang="zh-TW" b="0" dirty="0">
                <a:solidFill>
                  <a:srgbClr val="6699CC"/>
                </a:solidFill>
                <a:effectLst/>
                <a:latin typeface="Consolas" panose="020B0609020204030204" pitchFamily="49" charset="0"/>
              </a:rPr>
              <a:t>request</a:t>
            </a:r>
            <a:r>
              <a:rPr lang="en-US" altLang="zh-TW" b="0" dirty="0">
                <a:solidFill>
                  <a:srgbClr val="5FB3B3"/>
                </a:solidFill>
                <a:effectLst/>
                <a:latin typeface="Consolas" panose="020B0609020204030204" pitchFamily="49" charset="0"/>
              </a:rPr>
              <a:t>,</a:t>
            </a:r>
            <a:r>
              <a:rPr lang="en-US" altLang="zh-TW" b="0" dirty="0">
                <a:solidFill>
                  <a:srgbClr val="6699CC"/>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index.html</a:t>
            </a:r>
            <a:r>
              <a:rPr lang="en-US" altLang="zh-TW" b="0" dirty="0">
                <a:solidFill>
                  <a:srgbClr val="5FB3B3"/>
                </a:solidFill>
                <a:effectLst/>
                <a:latin typeface="Consolas" panose="020B0609020204030204" pitchFamily="49" charset="0"/>
              </a:rPr>
              <a:t>',</a:t>
            </a:r>
            <a:r>
              <a:rPr lang="en-US" altLang="zh-TW" b="0" dirty="0">
                <a:solidFill>
                  <a:srgbClr val="6699CC"/>
                </a:solidFill>
                <a:effectLst/>
                <a:latin typeface="Consolas" panose="020B0609020204030204" pitchFamily="49" charset="0"/>
              </a:rPr>
              <a:t> locals</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pPr>
              <a:lnSpc>
                <a:spcPts val="1425"/>
              </a:lnSpc>
            </a:pPr>
            <a:br>
              <a:rPr lang="en-US" altLang="zh-TW" b="0" dirty="0">
                <a:solidFill>
                  <a:srgbClr val="CDD3DE"/>
                </a:solidFill>
                <a:effectLst/>
                <a:latin typeface="Consolas" panose="020B0609020204030204" pitchFamily="49" charset="0"/>
              </a:rPr>
            </a:br>
            <a:endParaRPr lang="en-US" altLang="zh-TW" b="0" dirty="0">
              <a:solidFill>
                <a:srgbClr val="CDD3DE"/>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12</a:t>
            </a:fld>
            <a:endParaRPr lang="zh-TW" altLang="en-US"/>
          </a:p>
        </p:txBody>
      </p:sp>
    </p:spTree>
    <p:extLst>
      <p:ext uri="{BB962C8B-B14F-4D97-AF65-F5344CB8AC3E}">
        <p14:creationId xmlns:p14="http://schemas.microsoft.com/office/powerpoint/2010/main" val="519336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分類口訣：共用的、不變的東西就放</a:t>
            </a:r>
            <a:r>
              <a:rPr lang="en-US" altLang="zh-TW" dirty="0"/>
              <a:t>base(</a:t>
            </a:r>
            <a:r>
              <a:rPr lang="zh-TW" altLang="en-US" dirty="0"/>
              <a:t>包括外面的標籤：例</a:t>
            </a:r>
            <a:r>
              <a:rPr lang="en-US" altLang="zh-TW" dirty="0"/>
              <a:t>&lt;title&gt;&lt;/title&gt;</a:t>
            </a:r>
            <a:r>
              <a:rPr lang="zh-TW" altLang="en-US" dirty="0"/>
              <a:t>標籤留在</a:t>
            </a:r>
            <a:r>
              <a:rPr lang="en-US" altLang="zh-TW" dirty="0"/>
              <a:t>base</a:t>
            </a:r>
            <a:r>
              <a:rPr lang="zh-TW" altLang="en-US" dirty="0"/>
              <a:t>以方便做全局設計，只有標籤內會變的內容拿出去外面的子樣板</a:t>
            </a: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273454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COPY index.html</a:t>
            </a:r>
            <a:r>
              <a:rPr lang="zh-TW" altLang="en-US" dirty="0"/>
              <a:t>改名為</a:t>
            </a:r>
            <a:r>
              <a:rPr lang="en-US" altLang="zh-TW" dirty="0"/>
              <a:t>base.html</a:t>
            </a:r>
            <a:r>
              <a:rPr lang="zh-TW" altLang="en-US" dirty="0"/>
              <a:t>然後把</a:t>
            </a:r>
            <a:r>
              <a:rPr lang="en-US" altLang="zh-TW" dirty="0"/>
              <a:t>index.html</a:t>
            </a:r>
            <a:r>
              <a:rPr lang="zh-TW" altLang="en-US" dirty="0"/>
              <a:t>清空，第一次先改</a:t>
            </a:r>
            <a:r>
              <a:rPr lang="en-US" altLang="zh-TW" dirty="0"/>
              <a:t>body</a:t>
            </a:r>
            <a:r>
              <a:rPr lang="zh-TW" altLang="en-US" dirty="0"/>
              <a:t>的文章內容，先不要改</a:t>
            </a:r>
            <a:r>
              <a:rPr lang="en-US" altLang="zh-TW" dirty="0"/>
              <a:t>header message</a:t>
            </a:r>
          </a:p>
          <a:p>
            <a:r>
              <a:rPr lang="zh-TW" altLang="en-US" dirty="0"/>
              <a:t>保留</a:t>
            </a:r>
            <a:r>
              <a:rPr lang="en-US" altLang="zh-TW" dirty="0"/>
              <a:t>html</a:t>
            </a:r>
            <a:r>
              <a:rPr lang="zh-TW" altLang="en-US" dirty="0"/>
              <a:t>標籤，其餘的內容用</a:t>
            </a:r>
            <a:r>
              <a:rPr lang="en-US" altLang="zh-TW" dirty="0"/>
              <a:t>block</a:t>
            </a:r>
            <a:r>
              <a:rPr lang="zh-TW" altLang="en-US" dirty="0"/>
              <a:t>取代</a:t>
            </a:r>
            <a:endParaRPr lang="en-US" altLang="zh-TW" dirty="0"/>
          </a:p>
          <a:p>
            <a:r>
              <a:rPr lang="zh-TW" altLang="en-US" dirty="0"/>
              <a:t>快速鍵：</a:t>
            </a:r>
            <a:r>
              <a:rPr lang="en-US" altLang="zh-TW" dirty="0"/>
              <a:t>{% </a:t>
            </a:r>
            <a:r>
              <a:rPr lang="en-US" altLang="zh-TW" dirty="0">
                <a:solidFill>
                  <a:srgbClr val="FF0000"/>
                </a:solidFill>
              </a:rPr>
              <a:t>include</a:t>
            </a:r>
            <a:r>
              <a:rPr lang="en-US" altLang="zh-TW" dirty="0"/>
              <a:t>%} </a:t>
            </a:r>
            <a:r>
              <a:rPr lang="zh-TW" altLang="en-US" dirty="0"/>
              <a:t>打字：</a:t>
            </a:r>
            <a:r>
              <a:rPr lang="en-US" altLang="zh-TW" dirty="0"/>
              <a:t>include</a:t>
            </a:r>
          </a:p>
          <a:p>
            <a:r>
              <a:rPr lang="en-US" altLang="zh-TW" dirty="0">
                <a:solidFill>
                  <a:srgbClr val="FF0000"/>
                </a:solidFill>
              </a:rPr>
              <a:t>{% block title %} {% </a:t>
            </a:r>
            <a:r>
              <a:rPr lang="en-US" altLang="zh-TW" dirty="0" err="1">
                <a:solidFill>
                  <a:srgbClr val="FF0000"/>
                </a:solidFill>
              </a:rPr>
              <a:t>endblock</a:t>
            </a:r>
            <a:r>
              <a:rPr lang="en-US" altLang="zh-TW" dirty="0">
                <a:solidFill>
                  <a:srgbClr val="FF0000"/>
                </a:solidFill>
              </a:rPr>
              <a:t> %} </a:t>
            </a:r>
            <a:r>
              <a:rPr lang="zh-TW" altLang="en-US" dirty="0">
                <a:solidFill>
                  <a:srgbClr val="FF0000"/>
                </a:solidFill>
              </a:rPr>
              <a:t>打字：</a:t>
            </a:r>
            <a:r>
              <a:rPr lang="en-US" altLang="zh-TW" dirty="0">
                <a:solidFill>
                  <a:srgbClr val="FF0000"/>
                </a:solidFill>
              </a:rPr>
              <a:t>block</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66409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原則上：</a:t>
            </a:r>
            <a:r>
              <a:rPr lang="en-US" altLang="zh-TW" dirty="0"/>
              <a:t>block</a:t>
            </a:r>
            <a:r>
              <a:rPr lang="zh-TW" altLang="en-US" dirty="0"/>
              <a:t>的外面沒有標籤</a:t>
            </a:r>
            <a:r>
              <a:rPr lang="en-US" altLang="zh-TW" dirty="0"/>
              <a:t>(</a:t>
            </a:r>
            <a:r>
              <a:rPr lang="zh-TW" altLang="en-US" dirty="0"/>
              <a:t>因為由</a:t>
            </a:r>
            <a:r>
              <a:rPr lang="en-US" altLang="zh-TW" dirty="0"/>
              <a:t>base</a:t>
            </a:r>
            <a:r>
              <a:rPr lang="zh-TW" altLang="en-US" dirty="0"/>
              <a:t>來決定整個網頁結構</a:t>
            </a:r>
            <a:r>
              <a:rPr lang="en-US" altLang="zh-TW" dirty="0"/>
              <a:t>)</a:t>
            </a:r>
            <a:r>
              <a:rPr lang="zh-TW" altLang="en-US" dirty="0"/>
              <a:t>，只有</a:t>
            </a:r>
            <a:r>
              <a:rPr lang="en-US" altLang="zh-TW" dirty="0"/>
              <a:t>block</a:t>
            </a:r>
            <a:r>
              <a:rPr lang="zh-TW" altLang="en-US" dirty="0"/>
              <a:t>內才會有標籤</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18</a:t>
            </a:fld>
            <a:endParaRPr lang="zh-TW" altLang="en-US"/>
          </a:p>
        </p:txBody>
      </p:sp>
    </p:spTree>
    <p:extLst>
      <p:ext uri="{BB962C8B-B14F-4D97-AF65-F5344CB8AC3E}">
        <p14:creationId xmlns:p14="http://schemas.microsoft.com/office/powerpoint/2010/main" val="304324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給學生練習</a:t>
            </a: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79112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從</a:t>
            </a:r>
            <a:r>
              <a:rPr lang="en-US" altLang="zh-TW" dirty="0"/>
              <a:t>base</a:t>
            </a:r>
            <a:r>
              <a:rPr lang="zh-TW" altLang="en-US" dirty="0"/>
              <a:t>搬過去即可，</a:t>
            </a:r>
            <a:endParaRPr lang="en-US" altLang="zh-TW" dirty="0"/>
          </a:p>
          <a:p>
            <a:r>
              <a:rPr lang="zh-TW" altLang="en-US" dirty="0"/>
              <a:t>只用</a:t>
            </a:r>
            <a:r>
              <a:rPr lang="en-US" altLang="zh-TW" dirty="0"/>
              <a:t>include header.html</a:t>
            </a:r>
            <a:r>
              <a:rPr lang="zh-TW" altLang="en-US" dirty="0"/>
              <a:t>不須用</a:t>
            </a:r>
            <a:r>
              <a:rPr lang="en-US" altLang="zh-TW" dirty="0"/>
              <a:t>block </a:t>
            </a:r>
            <a:r>
              <a:rPr lang="en-US" altLang="zh-TW" dirty="0" err="1"/>
              <a:t>headmessage</a:t>
            </a:r>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924719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先不用</a:t>
            </a: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184091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BootS</a:t>
            </a:r>
            <a:r>
              <a:rPr lang="zh-TW" altLang="en-US" dirty="0"/>
              <a:t>把這一段程式碼放在</a:t>
            </a:r>
            <a:r>
              <a:rPr lang="en-US" altLang="zh-TW" dirty="0"/>
              <a:t>index.html </a:t>
            </a:r>
            <a:r>
              <a:rPr lang="zh-TW" altLang="en-US" dirty="0"/>
              <a:t>的 </a:t>
            </a:r>
            <a:r>
              <a:rPr lang="en-US" altLang="zh-TW" dirty="0"/>
              <a:t>&lt;head&gt;&lt;/head&gt;</a:t>
            </a:r>
            <a:r>
              <a:rPr lang="zh-TW" altLang="en-US" dirty="0"/>
              <a:t>之間</a:t>
            </a:r>
            <a:r>
              <a:rPr lang="en-US" altLang="zh-TW" dirty="0"/>
              <a:t>,</a:t>
            </a:r>
            <a:r>
              <a:rPr lang="zh-TW" altLang="en-US" dirty="0"/>
              <a:t>一般是放在</a:t>
            </a:r>
            <a:r>
              <a:rPr lang="en-US" altLang="zh-TW" dirty="0"/>
              <a:t>&lt;/head&gt;</a:t>
            </a:r>
            <a:r>
              <a:rPr lang="zh-TW" altLang="en-US" dirty="0"/>
              <a:t>這一行的前面。</a:t>
            </a:r>
            <a:endParaRPr lang="en-US" altLang="zh-TW" dirty="0"/>
          </a:p>
          <a:p>
            <a:r>
              <a:rPr lang="en-US" altLang="zh-TW" dirty="0"/>
              <a:t>JavaScript</a:t>
            </a:r>
            <a:r>
              <a:rPr lang="zh-TW" altLang="en-US" dirty="0"/>
              <a:t>的連結則是放在</a:t>
            </a:r>
            <a:r>
              <a:rPr lang="en-US" altLang="zh-TW" dirty="0"/>
              <a:t>&lt;/body&gt;</a:t>
            </a:r>
            <a:r>
              <a:rPr lang="zh-TW" altLang="en-US" dirty="0"/>
              <a:t>的前面</a:t>
            </a:r>
            <a:r>
              <a:rPr lang="en-US" altLang="zh-TW" dirty="0"/>
              <a:t>:</a:t>
            </a:r>
          </a:p>
          <a:p>
            <a:r>
              <a:rPr lang="en-US" altLang="zh-TW" dirty="0"/>
              <a:t>Bundle = min + Popper</a:t>
            </a:r>
            <a:r>
              <a:rPr lang="zh-TW" altLang="en-US" dirty="0"/>
              <a:t>，所以上面</a:t>
            </a:r>
            <a:r>
              <a:rPr lang="en-US" altLang="zh-TW" dirty="0"/>
              <a:t>script</a:t>
            </a:r>
            <a:r>
              <a:rPr lang="zh-TW" altLang="en-US" dirty="0"/>
              <a:t>選一個即可</a:t>
            </a:r>
            <a:endParaRPr lang="en-US" altLang="zh-TW" dirty="0"/>
          </a:p>
          <a:p>
            <a:r>
              <a:rPr lang="zh-TW" altLang="en-US" dirty="0"/>
              <a:t>說明</a:t>
            </a:r>
            <a:r>
              <a:rPr lang="en-US" altLang="zh-TW" dirty="0"/>
              <a:t>From</a:t>
            </a:r>
            <a:r>
              <a:rPr lang="zh-TW" altLang="en-US" dirty="0"/>
              <a:t>六角：</a:t>
            </a:r>
            <a:r>
              <a:rPr lang="en-US" altLang="zh-TW" dirty="0"/>
              <a:t>https://bootstrap5.hexschool.com/docs/5.0/getting-started/introduction/</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22</a:t>
            </a:fld>
            <a:endParaRPr lang="zh-TW" altLang="en-US"/>
          </a:p>
        </p:txBody>
      </p:sp>
    </p:spTree>
    <p:extLst>
      <p:ext uri="{BB962C8B-B14F-4D97-AF65-F5344CB8AC3E}">
        <p14:creationId xmlns:p14="http://schemas.microsoft.com/office/powerpoint/2010/main" val="1807161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Create env</a:t>
            </a:r>
            <a:r>
              <a:rPr lang="zh-TW" altLang="en-US" dirty="0"/>
              <a:t>要加 </a:t>
            </a:r>
            <a:r>
              <a:rPr lang="en-US" altLang="zh-TW" dirty="0"/>
              <a:t>python</a:t>
            </a:r>
            <a:r>
              <a:rPr lang="zh-TW" altLang="en-US" dirty="0"/>
              <a:t>不指定版本就是安裝最新版</a:t>
            </a:r>
            <a:endParaRPr lang="en-US" altLang="zh-TW" dirty="0"/>
          </a:p>
          <a:p>
            <a:r>
              <a:rPr lang="zh-TW" altLang="en-US" dirty="0"/>
              <a:t>移除</a:t>
            </a:r>
            <a:r>
              <a:rPr lang="en-US" altLang="zh-TW" dirty="0"/>
              <a:t>env</a:t>
            </a:r>
          </a:p>
          <a:p>
            <a:r>
              <a:rPr lang="en-US" altLang="zh-TW" dirty="0" err="1"/>
              <a:t>conda</a:t>
            </a:r>
            <a:r>
              <a:rPr lang="en-US" altLang="zh-TW" dirty="0"/>
              <a:t> env remove -name </a:t>
            </a:r>
            <a:r>
              <a:rPr lang="en-US" altLang="zh-TW" dirty="0" err="1"/>
              <a:t>myenv</a:t>
            </a:r>
            <a:r>
              <a:rPr lang="en-US" altLang="zh-TW" dirty="0"/>
              <a:t>--all</a:t>
            </a:r>
          </a:p>
          <a:p>
            <a:r>
              <a:rPr lang="zh-TW" altLang="en-US" dirty="0"/>
              <a:t>找不到</a:t>
            </a:r>
            <a:r>
              <a:rPr lang="en-US" altLang="zh-TW" dirty="0"/>
              <a:t>pip? (</a:t>
            </a:r>
            <a:r>
              <a:rPr lang="zh-TW" altLang="en-US"/>
              <a:t>可能還</a:t>
            </a:r>
            <a:r>
              <a:rPr lang="zh-TW" altLang="en-US" dirty="0"/>
              <a:t>沒有安裝</a:t>
            </a:r>
            <a:r>
              <a:rPr lang="en-US" altLang="zh-TW" dirty="0"/>
              <a:t>python)</a:t>
            </a:r>
            <a:r>
              <a:rPr lang="zh-TW" altLang="en-US" dirty="0"/>
              <a:t>用</a:t>
            </a:r>
            <a:r>
              <a:rPr lang="en-US" altLang="zh-TW" dirty="0"/>
              <a:t>pip --version </a:t>
            </a:r>
            <a:r>
              <a:rPr lang="zh-TW" altLang="en-US" dirty="0"/>
              <a:t>確認</a:t>
            </a:r>
            <a:r>
              <a:rPr lang="en-US" altLang="zh-TW" dirty="0"/>
              <a:t>(</a:t>
            </a:r>
            <a:r>
              <a:rPr lang="zh-TW" altLang="en-US" dirty="0"/>
              <a:t>注意</a:t>
            </a:r>
            <a:r>
              <a:rPr lang="en-US" altLang="zh-TW" dirty="0" err="1"/>
              <a:t>vscode</a:t>
            </a:r>
            <a:r>
              <a:rPr lang="zh-TW" altLang="en-US" dirty="0"/>
              <a:t>要用管理者啟動</a:t>
            </a:r>
            <a:r>
              <a:rPr lang="en-US" altLang="zh-TW" dirty="0"/>
              <a:t>)</a:t>
            </a:r>
          </a:p>
          <a:p>
            <a:r>
              <a:rPr lang="en-US" altLang="zh-TW" dirty="0" err="1"/>
              <a:t>ModuleNotFoundError</a:t>
            </a:r>
            <a:r>
              <a:rPr lang="en-US" altLang="zh-TW" dirty="0"/>
              <a:t>: No module named 'pip’</a:t>
            </a:r>
          </a:p>
          <a:p>
            <a:r>
              <a:rPr lang="zh-TW" altLang="en-US" dirty="0"/>
              <a:t>可以使用 </a:t>
            </a:r>
            <a:r>
              <a:rPr lang="en-US" altLang="zh-TW" dirty="0"/>
              <a:t>python -m </a:t>
            </a:r>
            <a:r>
              <a:rPr lang="en-US" altLang="zh-TW" dirty="0" err="1"/>
              <a:t>ensurepip</a:t>
            </a:r>
            <a:r>
              <a:rPr lang="en-US" altLang="zh-TW" dirty="0"/>
              <a:t> </a:t>
            </a:r>
            <a:r>
              <a:rPr lang="zh-TW" altLang="en-US" dirty="0"/>
              <a:t>命令來安裝。 </a:t>
            </a:r>
            <a:endParaRPr lang="en-US" altLang="zh-TW" dirty="0"/>
          </a:p>
          <a:p>
            <a:r>
              <a:rPr lang="zh-TW" altLang="en-US" dirty="0"/>
              <a:t>接著，執行 </a:t>
            </a:r>
            <a:r>
              <a:rPr lang="en-US" altLang="zh-TW" dirty="0"/>
              <a:t>python -m pip install --upgrade pip </a:t>
            </a:r>
            <a:r>
              <a:rPr lang="zh-TW" altLang="en-US" dirty="0"/>
              <a:t>來升級</a:t>
            </a:r>
            <a:r>
              <a:rPr lang="en-US" altLang="zh-TW" dirty="0"/>
              <a:t>pip</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996212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注意：如果沒做這步，</a:t>
            </a:r>
            <a:r>
              <a:rPr lang="en-US" altLang="zh-TW" dirty="0"/>
              <a:t>model</a:t>
            </a:r>
            <a:r>
              <a:rPr lang="zh-TW" altLang="en-US" dirty="0"/>
              <a:t>、</a:t>
            </a:r>
            <a:r>
              <a:rPr lang="en-US" altLang="zh-TW" dirty="0"/>
              <a:t>view</a:t>
            </a:r>
            <a:r>
              <a:rPr lang="zh-TW" altLang="en-US" dirty="0"/>
              <a:t>、修改都無法被知道，例如</a:t>
            </a:r>
            <a:r>
              <a:rPr lang="en-US" altLang="zh-TW" dirty="0"/>
              <a:t>model</a:t>
            </a:r>
            <a:r>
              <a:rPr lang="zh-TW" altLang="en-US" dirty="0"/>
              <a:t>就無法建立資料表</a:t>
            </a: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7FE99C-3BAC-4305-ABBB-3890AB1B4510}"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648418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/embed/</a:t>
            </a:r>
            <a:r>
              <a:rPr lang="zh-TW" altLang="en-US" dirty="0"/>
              <a:t>之後的字元就是影片的</a:t>
            </a:r>
            <a:r>
              <a:rPr lang="en-US" altLang="zh-TW" dirty="0"/>
              <a:t>id</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30</a:t>
            </a:fld>
            <a:endParaRPr lang="zh-TW" altLang="en-US"/>
          </a:p>
        </p:txBody>
      </p:sp>
    </p:spTree>
    <p:extLst>
      <p:ext uri="{BB962C8B-B14F-4D97-AF65-F5344CB8AC3E}">
        <p14:creationId xmlns:p14="http://schemas.microsoft.com/office/powerpoint/2010/main" val="1486772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a:t>
            </a:r>
            <a:r>
              <a:rPr lang="en-US" altLang="zh-TW" dirty="0"/>
              <a:t>3</a:t>
            </a:r>
            <a:r>
              <a:rPr lang="zh-TW" altLang="en-US" dirty="0"/>
              <a:t>行就是增加讓網址可以識別出</a:t>
            </a:r>
            <a:r>
              <a:rPr lang="en-US" altLang="zh-TW" dirty="0"/>
              <a:t>1</a:t>
            </a:r>
            <a:r>
              <a:rPr lang="zh-TW" altLang="en-US" dirty="0"/>
              <a:t>個數字「</a:t>
            </a:r>
            <a:r>
              <a:rPr lang="en-US" altLang="zh-TW" dirty="0"/>
              <a:t>&lt;</a:t>
            </a:r>
            <a:r>
              <a:rPr lang="en-US" altLang="zh-TW" dirty="0" err="1"/>
              <a:t>int:tvno</a:t>
            </a:r>
            <a:r>
              <a:rPr lang="en-US" altLang="zh-TW" dirty="0"/>
              <a:t>&gt;</a:t>
            </a:r>
            <a:r>
              <a:rPr lang="zh-TW" altLang="en-US" dirty="0"/>
              <a:t>」的設定</a:t>
            </a:r>
            <a:r>
              <a:rPr lang="en-US" altLang="zh-TW" dirty="0"/>
              <a:t>,</a:t>
            </a:r>
          </a:p>
          <a:p>
            <a:r>
              <a:rPr lang="zh-TW" altLang="en-US" dirty="0"/>
              <a:t>因為我們在</a:t>
            </a:r>
            <a:r>
              <a:rPr lang="en-US" altLang="zh-TW" dirty="0"/>
              <a:t>index.html</a:t>
            </a:r>
            <a:r>
              <a:rPr lang="zh-TW" altLang="en-US" dirty="0"/>
              <a:t>會使用這行設定來對網址進</a:t>
            </a:r>
          </a:p>
          <a:p>
            <a:r>
              <a:rPr lang="zh-TW" altLang="en-US" dirty="0"/>
              <a:t>行編碼</a:t>
            </a:r>
            <a:r>
              <a:rPr lang="en-US" altLang="zh-TW" dirty="0"/>
              <a:t>,</a:t>
            </a:r>
            <a:r>
              <a:rPr lang="zh-TW" altLang="en-US" dirty="0"/>
              <a:t>因此也把這個設定給一個名字叫做「</a:t>
            </a:r>
            <a:r>
              <a:rPr lang="en-US" altLang="zh-TW" dirty="0"/>
              <a:t>tv-</a:t>
            </a:r>
            <a:r>
              <a:rPr lang="en-US" altLang="zh-TW" dirty="0" err="1"/>
              <a:t>url</a:t>
            </a:r>
            <a:r>
              <a:rPr lang="en-US" altLang="zh-TW" dirty="0"/>
              <a:t>,</a:t>
            </a:r>
            <a:r>
              <a:rPr lang="zh-TW" altLang="en-US" dirty="0"/>
              <a:t>便於後續續網址的產生。</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32</a:t>
            </a:fld>
            <a:endParaRPr lang="zh-TW" altLang="en-US"/>
          </a:p>
        </p:txBody>
      </p:sp>
    </p:spTree>
    <p:extLst>
      <p:ext uri="{BB962C8B-B14F-4D97-AF65-F5344CB8AC3E}">
        <p14:creationId xmlns:p14="http://schemas.microsoft.com/office/powerpoint/2010/main" val="3743146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t>
            </a:r>
            <a:r>
              <a:rPr lang="zh-TW" altLang="en-US" dirty="0"/>
              <a:t>從網址列中選取</a:t>
            </a:r>
            <a:r>
              <a:rPr lang="en-US" altLang="zh-TW" dirty="0"/>
              <a:t>,</a:t>
            </a:r>
            <a:r>
              <a:rPr lang="zh-TW" altLang="en-US" dirty="0"/>
              <a:t>例如</a:t>
            </a:r>
            <a:r>
              <a:rPr lang="en-US" altLang="zh-TW" dirty="0"/>
              <a:t>localhost:8000/1/</a:t>
            </a:r>
            <a:r>
              <a:rPr lang="zh-TW" altLang="en-US" dirty="0"/>
              <a:t>會選用</a:t>
            </a:r>
            <a:r>
              <a:rPr lang="en-US" altLang="zh-TW" dirty="0"/>
              <a:t>1,</a:t>
            </a:r>
            <a:r>
              <a:rPr lang="zh-TW" altLang="en-US" dirty="0"/>
              <a:t>而</a:t>
            </a:r>
            <a:r>
              <a:rPr lang="en-US" altLang="zh-TW" dirty="0"/>
              <a:t>localhost:800/2/</a:t>
            </a:r>
            <a:r>
              <a:rPr lang="zh-TW" altLang="en-US" dirty="0"/>
              <a:t>會選用</a:t>
            </a:r>
            <a:r>
              <a:rPr lang="en-US" altLang="zh-TW" dirty="0"/>
              <a:t>2,</a:t>
            </a:r>
          </a:p>
          <a:p>
            <a:r>
              <a:rPr lang="zh-TW" altLang="en-US" dirty="0"/>
              <a:t>由於</a:t>
            </a:r>
            <a:r>
              <a:rPr lang="en-US" altLang="zh-TW" dirty="0"/>
              <a:t>tv</a:t>
            </a:r>
            <a:r>
              <a:rPr lang="zh-TW" altLang="en-US" dirty="0"/>
              <a:t>變數是一個字典型態的變數</a:t>
            </a:r>
            <a:r>
              <a:rPr lang="en-US" altLang="zh-TW" dirty="0"/>
              <a:t>,</a:t>
            </a:r>
            <a:r>
              <a:rPr lang="zh-TW" altLang="en-US" dirty="0"/>
              <a:t>因此可以使用</a:t>
            </a:r>
            <a:r>
              <a:rPr lang="en-US" altLang="zh-TW" dirty="0"/>
              <a:t>tv.name </a:t>
            </a:r>
            <a:r>
              <a:rPr lang="zh-TW" altLang="en-US" dirty="0"/>
              <a:t>取出頻道的名</a:t>
            </a:r>
          </a:p>
          <a:p>
            <a:r>
              <a:rPr lang="zh-TW" altLang="en-US" dirty="0"/>
              <a:t>稱</a:t>
            </a:r>
            <a:r>
              <a:rPr lang="en-US" altLang="zh-TW" dirty="0"/>
              <a:t>,</a:t>
            </a:r>
            <a:r>
              <a:rPr lang="en-US" altLang="zh-TW" dirty="0" err="1"/>
              <a:t>tv.tvcode</a:t>
            </a:r>
            <a:r>
              <a:rPr lang="en-US" altLang="zh-TW" dirty="0"/>
              <a:t> </a:t>
            </a:r>
            <a:r>
              <a:rPr lang="zh-TW" altLang="en-US" dirty="0"/>
              <a:t>取出影片的</a:t>
            </a:r>
            <a:r>
              <a:rPr lang="en-US" altLang="zh-TW" dirty="0"/>
              <a:t>ID</a:t>
            </a:r>
            <a:r>
              <a:rPr lang="zh-TW" altLang="en-US" dirty="0"/>
              <a:t>。</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33</a:t>
            </a:fld>
            <a:endParaRPr lang="zh-TW" altLang="en-US"/>
          </a:p>
        </p:txBody>
      </p:sp>
    </p:spTree>
    <p:extLst>
      <p:ext uri="{BB962C8B-B14F-4D97-AF65-F5344CB8AC3E}">
        <p14:creationId xmlns:p14="http://schemas.microsoft.com/office/powerpoint/2010/main" val="1833117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solidFill>
                  <a:srgbClr val="FF0000"/>
                </a:solidFill>
              </a:rPr>
              <a:t>B5-navbar-default, b5-navlink</a:t>
            </a:r>
          </a:p>
          <a:p>
            <a:r>
              <a:rPr lang="en-US" altLang="zh-TW" dirty="0">
                <a:solidFill>
                  <a:srgbClr val="FF0000"/>
                </a:solidFill>
              </a:rPr>
              <a:t>tv-</a:t>
            </a:r>
            <a:r>
              <a:rPr lang="en-US" altLang="zh-TW" dirty="0" err="1">
                <a:solidFill>
                  <a:srgbClr val="FF0000"/>
                </a:solidFill>
              </a:rPr>
              <a:t>url</a:t>
            </a:r>
            <a:r>
              <a:rPr lang="en-US" altLang="zh-TW" dirty="0">
                <a:solidFill>
                  <a:srgbClr val="FF0000"/>
                </a:solidFill>
              </a:rPr>
              <a:t> = </a:t>
            </a:r>
            <a:r>
              <a:rPr lang="en-US" altLang="zh-TW" dirty="0"/>
              <a:t>localhost:8000/ + </a:t>
            </a:r>
            <a:r>
              <a:rPr lang="zh-TW" altLang="en-US" dirty="0"/>
              <a:t>參數</a:t>
            </a:r>
            <a:r>
              <a:rPr lang="en-US" altLang="zh-TW" dirty="0"/>
              <a:t>0~3</a:t>
            </a:r>
          </a:p>
          <a:p>
            <a:r>
              <a:rPr lang="en-US" altLang="zh-TW" b="0" dirty="0">
                <a:solidFill>
                  <a:srgbClr val="EB606B"/>
                </a:solidFill>
                <a:effectLst/>
                <a:latin typeface="Consolas" panose="020B0609020204030204" pitchFamily="49" charset="0"/>
              </a:rPr>
              <a:t>&lt;a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’&gt;  </a:t>
            </a:r>
            <a:r>
              <a:rPr lang="zh-TW" altLang="en-US" b="0" dirty="0">
                <a:solidFill>
                  <a:srgbClr val="5FB3B3"/>
                </a:solidFill>
                <a:effectLst/>
                <a:latin typeface="Consolas" panose="020B0609020204030204" pitchFamily="49" charset="0"/>
              </a:rPr>
              <a:t>裏面的</a:t>
            </a:r>
            <a:r>
              <a:rPr lang="en-US" altLang="zh-TW" b="0" dirty="0">
                <a:solidFill>
                  <a:srgbClr val="5FB3B3"/>
                </a:solidFill>
                <a:effectLst/>
                <a:latin typeface="Consolas" panose="020B0609020204030204" pitchFamily="49" charset="0"/>
              </a:rPr>
              <a:t>’/’</a:t>
            </a:r>
            <a:r>
              <a:rPr lang="zh-TW" altLang="en-US" b="0" dirty="0">
                <a:solidFill>
                  <a:srgbClr val="5FB3B3"/>
                </a:solidFill>
                <a:effectLst/>
                <a:latin typeface="Consolas" panose="020B0609020204030204" pitchFamily="49" charset="0"/>
              </a:rPr>
              <a:t>就等於</a:t>
            </a:r>
            <a:r>
              <a:rPr lang="en-US" altLang="zh-TW" dirty="0">
                <a:solidFill>
                  <a:srgbClr val="FF0000"/>
                </a:solidFill>
              </a:rPr>
              <a:t> </a:t>
            </a:r>
            <a:r>
              <a:rPr lang="en-US" altLang="zh-TW" dirty="0"/>
              <a:t>localhost:8000/ browser</a:t>
            </a:r>
            <a:r>
              <a:rPr lang="zh-TW" altLang="en-US" dirty="0"/>
              <a:t>自動填上去</a:t>
            </a:r>
            <a:r>
              <a:rPr lang="en-US" altLang="zh-TW" dirty="0"/>
              <a:t> </a:t>
            </a:r>
          </a:p>
          <a:p>
            <a:endParaRPr lang="en-US" altLang="zh-TW" dirty="0"/>
          </a:p>
          <a:p>
            <a:endParaRPr lang="en-US" altLang="zh-TW" dirty="0"/>
          </a:p>
          <a:p>
            <a:pPr>
              <a:lnSpc>
                <a:spcPts val="1425"/>
              </a:lnSpc>
            </a:pP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ul</a:t>
            </a:r>
            <a:r>
              <a:rPr lang="en-US" altLang="zh-TW" b="0" dirty="0">
                <a:solidFill>
                  <a:srgbClr val="5FB3B3"/>
                </a:solidFill>
                <a:effectLst/>
                <a:latin typeface="Consolas" panose="020B0609020204030204" pitchFamily="49" charset="0"/>
              </a:rPr>
              <a:t> </a:t>
            </a:r>
            <a:r>
              <a:rPr lang="en-US" altLang="zh-TW" b="0" dirty="0">
                <a:solidFill>
                  <a:srgbClr val="BB80B3"/>
                </a:solidFill>
                <a:effectLst/>
                <a:latin typeface="Consolas" panose="020B0609020204030204" pitchFamily="49" charset="0"/>
              </a:rPr>
              <a:t>class</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nav navbar-nav</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 </a:t>
            </a:r>
            <a:r>
              <a:rPr lang="en-US" altLang="zh-TW" b="0" dirty="0">
                <a:solidFill>
                  <a:srgbClr val="BB80B3"/>
                </a:solidFill>
                <a:effectLst/>
                <a:latin typeface="Consolas" panose="020B0609020204030204" pitchFamily="49" charset="0"/>
              </a:rPr>
              <a:t>class</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active</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'&gt;</a:t>
            </a:r>
            <a:r>
              <a:rPr lang="en-US" altLang="zh-TW" b="0" dirty="0">
                <a:solidFill>
                  <a:srgbClr val="CDD3DE"/>
                </a:solidFill>
                <a:effectLst/>
                <a:latin typeface="Consolas" panose="020B0609020204030204" pitchFamily="49" charset="0"/>
              </a:rPr>
              <a:t>Home</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1i</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 for </a:t>
            </a:r>
            <a:r>
              <a:rPr lang="en-US" altLang="zh-TW" b="0" dirty="0">
                <a:solidFill>
                  <a:srgbClr val="99C794"/>
                </a:solidFill>
                <a:effectLst/>
                <a:latin typeface="Consolas" panose="020B0609020204030204" pitchFamily="49" charset="0"/>
              </a:rPr>
              <a:t>tv</a:t>
            </a:r>
            <a:r>
              <a:rPr lang="en-US" altLang="zh-TW" b="0" dirty="0">
                <a:solidFill>
                  <a:srgbClr val="C594C5"/>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in</a:t>
            </a:r>
            <a:r>
              <a:rPr lang="en-US" altLang="zh-TW" b="0" dirty="0">
                <a:solidFill>
                  <a:srgbClr val="C594C5"/>
                </a:solidFill>
                <a:effectLst/>
                <a:latin typeface="Consolas" panose="020B0609020204030204" pitchFamily="49" charset="0"/>
              </a:rPr>
              <a:t> </a:t>
            </a:r>
            <a:r>
              <a:rPr lang="en-US" altLang="zh-TW" b="0" dirty="0" err="1">
                <a:solidFill>
                  <a:srgbClr val="99C794"/>
                </a:solidFill>
                <a:effectLst/>
                <a:latin typeface="Consolas" panose="020B0609020204030204" pitchFamily="49" charset="0"/>
              </a:rPr>
              <a:t>tv_list</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 forloop.counter0 }}/</a:t>
            </a:r>
            <a:r>
              <a:rPr lang="en-US" altLang="zh-TW" b="0" dirty="0">
                <a:solidFill>
                  <a:srgbClr val="5FB3B3"/>
                </a:solidFill>
                <a:effectLst/>
                <a:latin typeface="Consolas" panose="020B0609020204030204" pitchFamily="49" charset="0"/>
              </a:rPr>
              <a:t>'&gt;</a:t>
            </a:r>
            <a:r>
              <a:rPr lang="en-US" altLang="zh-TW" b="0" dirty="0">
                <a:solidFill>
                  <a:srgbClr val="C594C5"/>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tv</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name</a:t>
            </a:r>
            <a:r>
              <a:rPr lang="en-US" altLang="zh-TW" b="0" dirty="0">
                <a:solidFill>
                  <a:srgbClr val="C594C5"/>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 </a:t>
            </a:r>
            <a:r>
              <a:rPr lang="en-US" altLang="zh-TW" b="0" dirty="0" err="1">
                <a:solidFill>
                  <a:srgbClr val="C594C5"/>
                </a:solidFill>
                <a:effectLst/>
                <a:latin typeface="Consolas" panose="020B0609020204030204" pitchFamily="49" charset="0"/>
              </a:rPr>
              <a:t>endfor</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ul</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36</a:t>
            </a:fld>
            <a:endParaRPr lang="zh-TW" altLang="en-US"/>
          </a:p>
        </p:txBody>
      </p:sp>
    </p:spTree>
    <p:extLst>
      <p:ext uri="{BB962C8B-B14F-4D97-AF65-F5344CB8AC3E}">
        <p14:creationId xmlns:p14="http://schemas.microsoft.com/office/powerpoint/2010/main" val="3774470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5CF6E-78BA-63F5-E326-9ABA709F615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1BC43A-E510-3042-5A4D-F09859CD8EF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A8A99E2-6BA9-EF8F-49A7-7064C80806E4}"/>
              </a:ext>
            </a:extLst>
          </p:cNvPr>
          <p:cNvSpPr>
            <a:spLocks noGrp="1"/>
          </p:cNvSpPr>
          <p:nvPr>
            <p:ph type="body" idx="1"/>
          </p:nvPr>
        </p:nvSpPr>
        <p:spPr/>
        <p:txBody>
          <a:bodyPr/>
          <a:lstStyle/>
          <a:p>
            <a:r>
              <a:rPr lang="en-US" altLang="zh-TW" dirty="0">
                <a:solidFill>
                  <a:srgbClr val="FF0000"/>
                </a:solidFill>
              </a:rPr>
              <a:t>tv-</a:t>
            </a:r>
            <a:r>
              <a:rPr lang="en-US" altLang="zh-TW" dirty="0" err="1">
                <a:solidFill>
                  <a:srgbClr val="FF0000"/>
                </a:solidFill>
              </a:rPr>
              <a:t>url</a:t>
            </a:r>
            <a:r>
              <a:rPr lang="en-US" altLang="zh-TW" dirty="0">
                <a:solidFill>
                  <a:srgbClr val="FF0000"/>
                </a:solidFill>
              </a:rPr>
              <a:t> = </a:t>
            </a:r>
            <a:r>
              <a:rPr lang="en-US" altLang="zh-TW" dirty="0"/>
              <a:t>localhost:8000/ </a:t>
            </a:r>
          </a:p>
          <a:p>
            <a:r>
              <a:rPr lang="en-US" altLang="zh-TW" b="0" dirty="0">
                <a:solidFill>
                  <a:srgbClr val="EB606B"/>
                </a:solidFill>
                <a:effectLst/>
                <a:latin typeface="Consolas" panose="020B0609020204030204" pitchFamily="49" charset="0"/>
              </a:rPr>
              <a:t>&lt;a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’&gt;  </a:t>
            </a:r>
            <a:r>
              <a:rPr lang="zh-TW" altLang="en-US" b="0" dirty="0">
                <a:solidFill>
                  <a:srgbClr val="5FB3B3"/>
                </a:solidFill>
                <a:effectLst/>
                <a:latin typeface="Consolas" panose="020B0609020204030204" pitchFamily="49" charset="0"/>
              </a:rPr>
              <a:t>裏面的</a:t>
            </a:r>
            <a:r>
              <a:rPr lang="en-US" altLang="zh-TW" b="0" dirty="0">
                <a:solidFill>
                  <a:srgbClr val="5FB3B3"/>
                </a:solidFill>
                <a:effectLst/>
                <a:latin typeface="Consolas" panose="020B0609020204030204" pitchFamily="49" charset="0"/>
              </a:rPr>
              <a:t>’/’</a:t>
            </a:r>
            <a:r>
              <a:rPr lang="zh-TW" altLang="en-US" b="0" dirty="0">
                <a:solidFill>
                  <a:srgbClr val="5FB3B3"/>
                </a:solidFill>
                <a:effectLst/>
                <a:latin typeface="Consolas" panose="020B0609020204030204" pitchFamily="49" charset="0"/>
              </a:rPr>
              <a:t>就等於</a:t>
            </a:r>
            <a:r>
              <a:rPr lang="en-US" altLang="zh-TW" dirty="0">
                <a:solidFill>
                  <a:srgbClr val="FF0000"/>
                </a:solidFill>
              </a:rPr>
              <a:t> </a:t>
            </a:r>
            <a:r>
              <a:rPr lang="en-US" altLang="zh-TW" dirty="0"/>
              <a:t>localhost:8000/ </a:t>
            </a:r>
            <a:r>
              <a:rPr lang="zh-TW" altLang="en-US" dirty="0"/>
              <a:t>自動</a:t>
            </a:r>
            <a:r>
              <a:rPr lang="en-US" altLang="zh-TW" dirty="0"/>
              <a:t>browser</a:t>
            </a:r>
            <a:r>
              <a:rPr lang="zh-TW" altLang="en-US" dirty="0"/>
              <a:t>填上去</a:t>
            </a:r>
            <a:r>
              <a:rPr lang="en-US" altLang="zh-TW" dirty="0"/>
              <a:t> </a:t>
            </a:r>
          </a:p>
          <a:p>
            <a:endParaRPr lang="en-US" altLang="zh-TW" dirty="0"/>
          </a:p>
          <a:p>
            <a:endParaRPr lang="en-US" altLang="zh-TW" dirty="0"/>
          </a:p>
          <a:p>
            <a:pPr>
              <a:lnSpc>
                <a:spcPts val="1425"/>
              </a:lnSpc>
            </a:pP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ul</a:t>
            </a:r>
            <a:r>
              <a:rPr lang="en-US" altLang="zh-TW" b="0" dirty="0">
                <a:solidFill>
                  <a:srgbClr val="5FB3B3"/>
                </a:solidFill>
                <a:effectLst/>
                <a:latin typeface="Consolas" panose="020B0609020204030204" pitchFamily="49" charset="0"/>
              </a:rPr>
              <a:t> </a:t>
            </a:r>
            <a:r>
              <a:rPr lang="en-US" altLang="zh-TW" b="0" dirty="0">
                <a:solidFill>
                  <a:srgbClr val="BB80B3"/>
                </a:solidFill>
                <a:effectLst/>
                <a:latin typeface="Consolas" panose="020B0609020204030204" pitchFamily="49" charset="0"/>
              </a:rPr>
              <a:t>class</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nav navbar-nav</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 </a:t>
            </a:r>
            <a:r>
              <a:rPr lang="en-US" altLang="zh-TW" b="0" dirty="0">
                <a:solidFill>
                  <a:srgbClr val="BB80B3"/>
                </a:solidFill>
                <a:effectLst/>
                <a:latin typeface="Consolas" panose="020B0609020204030204" pitchFamily="49" charset="0"/>
              </a:rPr>
              <a:t>class</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active</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'&gt;</a:t>
            </a:r>
            <a:r>
              <a:rPr lang="en-US" altLang="zh-TW" b="0" dirty="0">
                <a:solidFill>
                  <a:srgbClr val="CDD3DE"/>
                </a:solidFill>
                <a:effectLst/>
                <a:latin typeface="Consolas" panose="020B0609020204030204" pitchFamily="49" charset="0"/>
              </a:rPr>
              <a:t>Home</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1i</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 for </a:t>
            </a:r>
            <a:r>
              <a:rPr lang="en-US" altLang="zh-TW" b="0" dirty="0">
                <a:solidFill>
                  <a:srgbClr val="99C794"/>
                </a:solidFill>
                <a:effectLst/>
                <a:latin typeface="Consolas" panose="020B0609020204030204" pitchFamily="49" charset="0"/>
              </a:rPr>
              <a:t>tv</a:t>
            </a:r>
            <a:r>
              <a:rPr lang="en-US" altLang="zh-TW" b="0" dirty="0">
                <a:solidFill>
                  <a:srgbClr val="C594C5"/>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in</a:t>
            </a:r>
            <a:r>
              <a:rPr lang="en-US" altLang="zh-TW" b="0" dirty="0">
                <a:solidFill>
                  <a:srgbClr val="C594C5"/>
                </a:solidFill>
                <a:effectLst/>
                <a:latin typeface="Consolas" panose="020B0609020204030204" pitchFamily="49" charset="0"/>
              </a:rPr>
              <a:t> </a:t>
            </a:r>
            <a:r>
              <a:rPr lang="en-US" altLang="zh-TW" b="0" dirty="0" err="1">
                <a:solidFill>
                  <a:srgbClr val="99C794"/>
                </a:solidFill>
                <a:effectLst/>
                <a:latin typeface="Consolas" panose="020B0609020204030204" pitchFamily="49" charset="0"/>
              </a:rPr>
              <a:t>tv_list</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 </a:t>
            </a:r>
            <a:r>
              <a:rPr lang="en-US" altLang="zh-TW" b="0" dirty="0" err="1">
                <a:solidFill>
                  <a:srgbClr val="BB80B3"/>
                </a:solidFill>
                <a:effectLst/>
                <a:latin typeface="Consolas" panose="020B0609020204030204" pitchFamily="49" charset="0"/>
              </a:rPr>
              <a:t>href</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 forloop.counter0 }}/</a:t>
            </a:r>
            <a:r>
              <a:rPr lang="en-US" altLang="zh-TW" b="0" dirty="0">
                <a:solidFill>
                  <a:srgbClr val="5FB3B3"/>
                </a:solidFill>
                <a:effectLst/>
                <a:latin typeface="Consolas" panose="020B0609020204030204" pitchFamily="49" charset="0"/>
              </a:rPr>
              <a:t>'&gt;</a:t>
            </a:r>
            <a:r>
              <a:rPr lang="en-US" altLang="zh-TW" b="0" dirty="0">
                <a:solidFill>
                  <a:srgbClr val="C594C5"/>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tv</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name</a:t>
            </a:r>
            <a:r>
              <a:rPr lang="en-US" altLang="zh-TW" b="0" dirty="0">
                <a:solidFill>
                  <a:srgbClr val="C594C5"/>
                </a:solidFill>
                <a:effectLst/>
                <a:latin typeface="Consolas" panose="020B0609020204030204" pitchFamily="49" charset="0"/>
              </a:rPr>
              <a:t>}}</a:t>
            </a:r>
            <a:r>
              <a:rPr lang="en-US" altLang="zh-TW" b="0" dirty="0">
                <a:solidFill>
                  <a:srgbClr val="5FB3B3"/>
                </a:solidFill>
                <a:effectLst/>
                <a:latin typeface="Consolas" panose="020B0609020204030204" pitchFamily="49" charset="0"/>
              </a:rPr>
              <a:t>&lt;/</a:t>
            </a:r>
            <a:r>
              <a:rPr lang="en-US" altLang="zh-TW" b="0" dirty="0">
                <a:solidFill>
                  <a:srgbClr val="EB606B"/>
                </a:solidFill>
                <a:effectLst/>
                <a:latin typeface="Consolas" panose="020B0609020204030204" pitchFamily="49" charset="0"/>
              </a:rPr>
              <a:t>a</a:t>
            </a:r>
            <a:r>
              <a:rPr lang="en-US" altLang="zh-TW" b="0" dirty="0">
                <a:solidFill>
                  <a:srgbClr val="5FB3B3"/>
                </a:solidFill>
                <a:effectLst/>
                <a:latin typeface="Consolas" panose="020B0609020204030204" pitchFamily="49" charset="0"/>
              </a:rPr>
              <a:t>&gt;&lt;/</a:t>
            </a:r>
            <a:r>
              <a:rPr lang="en-US" altLang="zh-TW" b="0" dirty="0">
                <a:solidFill>
                  <a:srgbClr val="EB606B"/>
                </a:solidFill>
                <a:effectLst/>
                <a:latin typeface="Consolas" panose="020B0609020204030204" pitchFamily="49" charset="0"/>
              </a:rPr>
              <a:t>li</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 </a:t>
            </a:r>
            <a:r>
              <a:rPr lang="en-US" altLang="zh-TW" b="0" dirty="0" err="1">
                <a:solidFill>
                  <a:srgbClr val="C594C5"/>
                </a:solidFill>
                <a:effectLst/>
                <a:latin typeface="Consolas" panose="020B0609020204030204" pitchFamily="49" charset="0"/>
              </a:rPr>
              <a:t>endfor</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ul</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p:txBody>
      </p:sp>
      <p:sp>
        <p:nvSpPr>
          <p:cNvPr id="4" name="投影片編號版面配置區 3">
            <a:extLst>
              <a:ext uri="{FF2B5EF4-FFF2-40B4-BE49-F238E27FC236}">
                <a16:creationId xmlns:a16="http://schemas.microsoft.com/office/drawing/2014/main" id="{9CA942EF-28C5-D3CB-BA71-033F98CE2087}"/>
              </a:ext>
            </a:extLst>
          </p:cNvPr>
          <p:cNvSpPr>
            <a:spLocks noGrp="1"/>
          </p:cNvSpPr>
          <p:nvPr>
            <p:ph type="sldNum" sz="quarter" idx="5"/>
          </p:nvPr>
        </p:nvSpPr>
        <p:spPr/>
        <p:txBody>
          <a:bodyPr/>
          <a:lstStyle/>
          <a:p>
            <a:fld id="{027FE99C-3BAC-4305-ABBB-3890AB1B4510}" type="slidenum">
              <a:rPr lang="zh-TW" altLang="en-US" smtClean="0"/>
              <a:pPr/>
              <a:t>37</a:t>
            </a:fld>
            <a:endParaRPr lang="zh-TW" altLang="en-US"/>
          </a:p>
        </p:txBody>
      </p:sp>
    </p:spTree>
    <p:extLst>
      <p:ext uri="{BB962C8B-B14F-4D97-AF65-F5344CB8AC3E}">
        <p14:creationId xmlns:p14="http://schemas.microsoft.com/office/powerpoint/2010/main" val="264265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注意到</a:t>
            </a:r>
            <a:r>
              <a:rPr lang="en-US" altLang="zh-TW" dirty="0"/>
              <a:t>/embed/</a:t>
            </a:r>
            <a:r>
              <a:rPr lang="zh-TW" altLang="en-US" dirty="0"/>
              <a:t>字串後面的</a:t>
            </a:r>
            <a:r>
              <a:rPr lang="en-US" altLang="zh-TW" dirty="0"/>
              <a:t>([</a:t>
            </a:r>
            <a:r>
              <a:rPr lang="en-US" altLang="zh-TW" dirty="0" err="1"/>
              <a:t>tv.tvcodel</a:t>
            </a:r>
            <a:r>
              <a:rPr lang="en-US" altLang="zh-TW" dirty="0"/>
              <a:t>),</a:t>
            </a:r>
            <a:r>
              <a:rPr lang="zh-TW" altLang="en-US" dirty="0"/>
              <a:t>即是透過</a:t>
            </a:r>
            <a:r>
              <a:rPr lang="en-US" altLang="zh-TW" dirty="0"/>
              <a:t>Template </a:t>
            </a:r>
            <a:r>
              <a:rPr lang="zh-TW" altLang="en-US" dirty="0"/>
              <a:t>把從</a:t>
            </a:r>
            <a:r>
              <a:rPr lang="en-US" altLang="zh-TW" dirty="0"/>
              <a:t>views.py </a:t>
            </a:r>
            <a:r>
              <a:rPr lang="zh-TW" altLang="en-US" dirty="0"/>
              <a:t>傳遞過來</a:t>
            </a:r>
          </a:p>
          <a:p>
            <a:r>
              <a:rPr lang="zh-TW" altLang="en-US" dirty="0"/>
              <a:t>的變數取出其影片</a:t>
            </a:r>
            <a:r>
              <a:rPr lang="en-US" altLang="zh-TW" dirty="0"/>
              <a:t>ID</a:t>
            </a:r>
            <a:r>
              <a:rPr lang="zh-TW" altLang="en-US" dirty="0"/>
              <a:t>的部份</a:t>
            </a:r>
            <a:r>
              <a:rPr lang="en-US" altLang="zh-TW" dirty="0"/>
              <a:t>,</a:t>
            </a:r>
            <a:r>
              <a:rPr lang="zh-TW" altLang="en-US" dirty="0"/>
              <a:t>然後串接在嵌入碼的地方。在此</a:t>
            </a:r>
            <a:r>
              <a:rPr lang="en-US" altLang="zh-TW" dirty="0"/>
              <a:t>ID</a:t>
            </a:r>
            <a:r>
              <a:rPr lang="zh-TW" altLang="en-US" dirty="0"/>
              <a:t>後面加上</a:t>
            </a:r>
            <a:r>
              <a:rPr lang="en-US" altLang="zh-TW" dirty="0"/>
              <a:t>?autoplay=1,</a:t>
            </a:r>
          </a:p>
          <a:p>
            <a:r>
              <a:rPr lang="zh-TW" altLang="en-US" dirty="0"/>
              <a:t>讓此影片可以在選取之後立即自動播放</a:t>
            </a:r>
            <a:r>
              <a:rPr lang="en-US" altLang="zh-TW" dirty="0"/>
              <a:t>,</a:t>
            </a:r>
            <a:r>
              <a:rPr lang="zh-TW" altLang="en-US" dirty="0"/>
              <a:t>這樣操作起來就比較像是電視機的選台功能了。</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38</a:t>
            </a:fld>
            <a:endParaRPr lang="zh-TW" altLang="en-US"/>
          </a:p>
        </p:txBody>
      </p:sp>
    </p:spTree>
    <p:extLst>
      <p:ext uri="{BB962C8B-B14F-4D97-AF65-F5344CB8AC3E}">
        <p14:creationId xmlns:p14="http://schemas.microsoft.com/office/powerpoint/2010/main" val="3354763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rgbClr val="C594C5"/>
                </a:solidFill>
                <a:effectLst/>
                <a:latin typeface="Consolas" panose="020B0609020204030204" pitchFamily="49" charset="0"/>
              </a:rPr>
              <a:t>如果</a:t>
            </a:r>
            <a:r>
              <a:rPr lang="en-US" altLang="zh-TW" b="0" dirty="0">
                <a:solidFill>
                  <a:srgbClr val="C594C5"/>
                </a:solidFill>
                <a:effectLst/>
                <a:latin typeface="Consolas" panose="020B0609020204030204" pitchFamily="49" charset="0"/>
              </a:rPr>
              <a:t>def</a:t>
            </a:r>
            <a:r>
              <a:rPr lang="en-US" altLang="zh-TW" b="0" dirty="0">
                <a:solidFill>
                  <a:srgbClr val="CDD3DE"/>
                </a:solidFill>
                <a:effectLst/>
                <a:latin typeface="Consolas" panose="020B0609020204030204" pitchFamily="49" charset="0"/>
              </a:rPr>
              <a:t> </a:t>
            </a:r>
            <a:r>
              <a:rPr lang="en-US" altLang="zh-TW" b="0" dirty="0">
                <a:solidFill>
                  <a:srgbClr val="6699CC"/>
                </a:solidFill>
                <a:effectLst/>
                <a:latin typeface="Consolas" panose="020B0609020204030204" pitchFamily="49" charset="0"/>
              </a:rPr>
              <a:t>index</a:t>
            </a:r>
            <a:r>
              <a:rPr lang="en-US" altLang="zh-TW" b="0" dirty="0">
                <a:solidFill>
                  <a:srgbClr val="5FB3B3"/>
                </a:solidFill>
                <a:effectLst/>
                <a:latin typeface="Consolas" panose="020B0609020204030204" pitchFamily="49" charset="0"/>
              </a:rPr>
              <a:t>(</a:t>
            </a:r>
            <a:r>
              <a:rPr lang="en-US" altLang="zh-TW" b="0" dirty="0">
                <a:solidFill>
                  <a:srgbClr val="F99157"/>
                </a:solidFill>
                <a:effectLst/>
                <a:latin typeface="Consolas" panose="020B0609020204030204" pitchFamily="49" charset="0"/>
              </a:rPr>
              <a:t>request</a:t>
            </a:r>
            <a:r>
              <a:rPr lang="en-US" altLang="zh-TW" b="0" dirty="0">
                <a:solidFill>
                  <a:srgbClr val="5FB3B3"/>
                </a:solidFill>
                <a:effectLst/>
                <a:latin typeface="Consolas" panose="020B0609020204030204" pitchFamily="49" charset="0"/>
              </a:rPr>
              <a:t>,</a:t>
            </a:r>
            <a:r>
              <a:rPr lang="en-US" altLang="zh-TW" b="0" dirty="0">
                <a:solidFill>
                  <a:srgbClr val="CDD3DE"/>
                </a:solidFill>
                <a:effectLst/>
                <a:latin typeface="Consolas" panose="020B0609020204030204" pitchFamily="49" charset="0"/>
              </a:rPr>
              <a:t> </a:t>
            </a:r>
            <a:r>
              <a:rPr lang="en-US" altLang="zh-TW" b="0" dirty="0" err="1">
                <a:solidFill>
                  <a:srgbClr val="F99157"/>
                </a:solidFill>
                <a:effectLst/>
                <a:latin typeface="Consolas" panose="020B0609020204030204" pitchFamily="49" charset="0"/>
              </a:rPr>
              <a:t>tvno</a:t>
            </a:r>
            <a:r>
              <a:rPr lang="en-US" altLang="zh-TW" b="0" dirty="0">
                <a:solidFill>
                  <a:srgbClr val="5FB3B3"/>
                </a:solidFill>
                <a:effectLst/>
                <a:latin typeface="Consolas" panose="020B0609020204030204" pitchFamily="49" charset="0"/>
              </a:rPr>
              <a:t>):</a:t>
            </a:r>
            <a:r>
              <a:rPr lang="en-US" altLang="zh-TW" b="0" dirty="0">
                <a:solidFill>
                  <a:srgbClr val="CDD3DE"/>
                </a:solidFill>
                <a:effectLst/>
                <a:latin typeface="Consolas" panose="020B0609020204030204" pitchFamily="49" charset="0"/>
              </a:rPr>
              <a:t> </a:t>
            </a:r>
            <a:r>
              <a:rPr lang="zh-TW" altLang="en-US" b="0" dirty="0">
                <a:solidFill>
                  <a:srgbClr val="CDD3DE"/>
                </a:solidFill>
                <a:effectLst/>
                <a:latin typeface="Consolas" panose="020B0609020204030204" pitchFamily="49" charset="0"/>
              </a:rPr>
              <a:t>進入首頁不打頻道號碼</a:t>
            </a:r>
            <a:r>
              <a:rPr lang="en-US" altLang="zh-TW" b="0" dirty="0">
                <a:solidFill>
                  <a:srgbClr val="C594C5"/>
                </a:solidFill>
                <a:effectLst/>
                <a:latin typeface="Consolas" panose="020B0609020204030204" pitchFamily="49" charset="0"/>
              </a:rPr>
              <a:t>http://localhost:8000/</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rgbClr val="C594C5"/>
                </a:solidFill>
                <a:effectLst/>
                <a:latin typeface="Consolas" panose="020B0609020204030204" pitchFamily="49" charset="0"/>
              </a:rPr>
              <a:t>會出現</a:t>
            </a:r>
            <a:r>
              <a:rPr lang="en-US" altLang="zh-TW" b="0" dirty="0">
                <a:solidFill>
                  <a:srgbClr val="C594C5"/>
                </a:solidFill>
                <a:effectLst/>
                <a:latin typeface="Consolas" panose="020B0609020204030204" pitchFamily="49" charset="0"/>
              </a:rPr>
              <a:t>error</a:t>
            </a:r>
            <a:r>
              <a:rPr lang="zh-TW" altLang="en-US" b="0" dirty="0">
                <a:solidFill>
                  <a:srgbClr val="C594C5"/>
                </a:solidFill>
                <a:effectLst/>
                <a:latin typeface="Consolas" panose="020B0609020204030204" pitchFamily="49" charset="0"/>
              </a:rPr>
              <a:t>：</a:t>
            </a:r>
            <a:r>
              <a:rPr lang="en-US" altLang="zh-TW" dirty="0"/>
              <a:t>index() missing 1 required positional argument: '</a:t>
            </a:r>
            <a:r>
              <a:rPr lang="en-US" altLang="zh-TW" dirty="0" err="1"/>
              <a:t>tvno</a:t>
            </a:r>
            <a:r>
              <a:rPr lang="en-US" altLang="zh-TW" dirty="0"/>
              <a:t>‘</a:t>
            </a:r>
            <a:endParaRPr lang="en-US" altLang="zh-TW" b="0" dirty="0">
              <a:solidFill>
                <a:srgbClr val="C594C5"/>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rgbClr val="C594C5"/>
                </a:solidFill>
                <a:effectLst/>
                <a:latin typeface="Consolas" panose="020B0609020204030204" pitchFamily="49" charset="0"/>
              </a:rPr>
              <a:t>要用指定預設值來解決</a:t>
            </a:r>
            <a:r>
              <a:rPr lang="en-US" altLang="zh-TW" b="0" dirty="0">
                <a:solidFill>
                  <a:srgbClr val="C594C5"/>
                </a:solidFill>
                <a:effectLst/>
                <a:latin typeface="Consolas" panose="020B0609020204030204" pitchFamily="49" charset="0"/>
              </a:rPr>
              <a:t>def</a:t>
            </a:r>
            <a:r>
              <a:rPr lang="en-US" altLang="zh-TW" b="0" dirty="0">
                <a:solidFill>
                  <a:srgbClr val="CDD3DE"/>
                </a:solidFill>
                <a:effectLst/>
                <a:latin typeface="Consolas" panose="020B0609020204030204" pitchFamily="49" charset="0"/>
              </a:rPr>
              <a:t> </a:t>
            </a:r>
            <a:r>
              <a:rPr lang="en-US" altLang="zh-TW" b="0" dirty="0">
                <a:solidFill>
                  <a:srgbClr val="6699CC"/>
                </a:solidFill>
                <a:effectLst/>
                <a:latin typeface="Consolas" panose="020B0609020204030204" pitchFamily="49" charset="0"/>
              </a:rPr>
              <a:t>index</a:t>
            </a:r>
            <a:r>
              <a:rPr lang="en-US" altLang="zh-TW" b="0" dirty="0">
                <a:solidFill>
                  <a:srgbClr val="5FB3B3"/>
                </a:solidFill>
                <a:effectLst/>
                <a:latin typeface="Consolas" panose="020B0609020204030204" pitchFamily="49" charset="0"/>
              </a:rPr>
              <a:t>(</a:t>
            </a:r>
            <a:r>
              <a:rPr lang="en-US" altLang="zh-TW" b="0" dirty="0">
                <a:solidFill>
                  <a:srgbClr val="F99157"/>
                </a:solidFill>
                <a:effectLst/>
                <a:latin typeface="Consolas" panose="020B0609020204030204" pitchFamily="49" charset="0"/>
              </a:rPr>
              <a:t>request</a:t>
            </a:r>
            <a:r>
              <a:rPr lang="en-US" altLang="zh-TW" b="0" dirty="0">
                <a:solidFill>
                  <a:srgbClr val="5FB3B3"/>
                </a:solidFill>
                <a:effectLst/>
                <a:latin typeface="Consolas" panose="020B0609020204030204" pitchFamily="49" charset="0"/>
              </a:rPr>
              <a:t>,</a:t>
            </a:r>
            <a:r>
              <a:rPr lang="en-US" altLang="zh-TW" b="0" dirty="0">
                <a:solidFill>
                  <a:srgbClr val="CDD3DE"/>
                </a:solidFill>
                <a:effectLst/>
                <a:latin typeface="Consolas" panose="020B0609020204030204" pitchFamily="49" charset="0"/>
              </a:rPr>
              <a:t> </a:t>
            </a:r>
            <a:r>
              <a:rPr lang="en-US" altLang="zh-TW" b="1" dirty="0" err="1">
                <a:solidFill>
                  <a:srgbClr val="F99157"/>
                </a:solidFill>
                <a:effectLst/>
                <a:latin typeface="Consolas" panose="020B0609020204030204" pitchFamily="49" charset="0"/>
              </a:rPr>
              <a:t>tvno</a:t>
            </a:r>
            <a:r>
              <a:rPr lang="en-US" altLang="zh-TW" b="1" dirty="0">
                <a:solidFill>
                  <a:srgbClr val="CDD3DE"/>
                </a:solidFill>
                <a:effectLst/>
                <a:latin typeface="Consolas" panose="020B0609020204030204" pitchFamily="49" charset="0"/>
              </a:rPr>
              <a:t> </a:t>
            </a:r>
            <a:r>
              <a:rPr lang="en-US" altLang="zh-TW" b="1" dirty="0">
                <a:solidFill>
                  <a:srgbClr val="5FB3B3"/>
                </a:solidFill>
                <a:effectLst/>
                <a:latin typeface="Consolas" panose="020B0609020204030204" pitchFamily="49" charset="0"/>
              </a:rPr>
              <a:t>=</a:t>
            </a:r>
            <a:r>
              <a:rPr lang="en-US" altLang="zh-TW" b="1" dirty="0">
                <a:solidFill>
                  <a:srgbClr val="CDD3DE"/>
                </a:solidFill>
                <a:effectLst/>
                <a:latin typeface="Consolas" panose="020B0609020204030204" pitchFamily="49" charset="0"/>
              </a:rPr>
              <a:t> </a:t>
            </a:r>
            <a:r>
              <a:rPr lang="en-US" altLang="zh-TW" b="1" dirty="0">
                <a:solidFill>
                  <a:srgbClr val="F99157"/>
                </a:solidFill>
                <a:effectLst/>
                <a:latin typeface="Consolas" panose="020B0609020204030204" pitchFamily="49" charset="0"/>
              </a:rPr>
              <a:t>0</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39</a:t>
            </a:fld>
            <a:endParaRPr lang="zh-TW" altLang="en-US"/>
          </a:p>
        </p:txBody>
      </p:sp>
    </p:spTree>
    <p:extLst>
      <p:ext uri="{BB962C8B-B14F-4D97-AF65-F5344CB8AC3E}">
        <p14:creationId xmlns:p14="http://schemas.microsoft.com/office/powerpoint/2010/main" val="8079242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問：已有</a:t>
            </a:r>
            <a:r>
              <a:rPr lang="en-US" altLang="zh-TW" dirty="0"/>
              <a:t>static</a:t>
            </a:r>
            <a:r>
              <a:rPr lang="zh-TW" altLang="en-US" dirty="0"/>
              <a:t>目錄了，為何還要設定</a:t>
            </a:r>
            <a:r>
              <a:rPr lang="en-US" altLang="zh-TW" sz="1200" kern="100" dirty="0" err="1">
                <a:effectLst/>
                <a:latin typeface="Courier New" panose="02070309020205020404" pitchFamily="49" charset="0"/>
                <a:ea typeface="標楷體" panose="03000509000000000000" pitchFamily="65" charset="-120"/>
              </a:rPr>
              <a:t>staticfiles</a:t>
            </a:r>
            <a:r>
              <a:rPr lang="zh-TW" altLang="en-US" sz="1200" kern="100" dirty="0">
                <a:effectLst/>
                <a:latin typeface="Courier New" panose="02070309020205020404" pitchFamily="49" charset="0"/>
                <a:ea typeface="標楷體" panose="03000509000000000000" pitchFamily="65" charset="-120"/>
              </a:rPr>
              <a:t>並將檔案</a:t>
            </a:r>
            <a:r>
              <a:rPr lang="en-US" altLang="zh-TW" sz="1200" kern="100" dirty="0">
                <a:effectLst/>
                <a:latin typeface="Courier New" panose="02070309020205020404" pitchFamily="49" charset="0"/>
                <a:ea typeface="標楷體" panose="03000509000000000000" pitchFamily="65" charset="-120"/>
              </a:rPr>
              <a:t>copy</a:t>
            </a:r>
            <a:r>
              <a:rPr lang="zh-TW" altLang="en-US" sz="1200" kern="100" dirty="0">
                <a:effectLst/>
                <a:latin typeface="Courier New" panose="02070309020205020404" pitchFamily="49" charset="0"/>
                <a:ea typeface="標楷體" panose="03000509000000000000" pitchFamily="65" charset="-120"/>
              </a:rPr>
              <a:t>過去</a:t>
            </a:r>
            <a:r>
              <a:rPr lang="en-US" altLang="zh-TW" sz="1200" kern="100" dirty="0">
                <a:effectLst/>
                <a:latin typeface="Courier New" panose="02070309020205020404" pitchFamily="49" charset="0"/>
                <a:ea typeface="標楷體" panose="03000509000000000000" pitchFamily="65" charset="-120"/>
              </a:rPr>
              <a:t>?</a:t>
            </a:r>
          </a:p>
          <a:p>
            <a:r>
              <a:rPr lang="en-US" altLang="zh-TW" sz="1200" kern="100" dirty="0">
                <a:effectLst/>
                <a:latin typeface="Courier New" panose="02070309020205020404" pitchFamily="49" charset="0"/>
                <a:ea typeface="標楷體" panose="03000509000000000000" pitchFamily="65" charset="-120"/>
              </a:rPr>
              <a:t>Ans</a:t>
            </a:r>
            <a:r>
              <a:rPr lang="zh-TW" altLang="en-US" sz="1200" kern="100" dirty="0">
                <a:effectLst/>
                <a:latin typeface="Courier New" panose="02070309020205020404" pitchFamily="49" charset="0"/>
                <a:ea typeface="標楷體" panose="03000509000000000000" pitchFamily="65" charset="-120"/>
              </a:rPr>
              <a:t>：此設定是給</a:t>
            </a:r>
            <a:r>
              <a:rPr lang="en-US" altLang="zh-TW" sz="1200" kern="100" dirty="0">
                <a:effectLst/>
                <a:latin typeface="Courier New" panose="02070309020205020404" pitchFamily="49" charset="0"/>
                <a:ea typeface="標楷體" panose="03000509000000000000" pitchFamily="65" charset="-120"/>
              </a:rPr>
              <a:t>templates</a:t>
            </a:r>
            <a:r>
              <a:rPr lang="zh-TW" altLang="en-US" sz="1200" kern="100" dirty="0">
                <a:effectLst/>
                <a:latin typeface="Courier New" panose="02070309020205020404" pitchFamily="49" charset="0"/>
                <a:ea typeface="標楷體" panose="03000509000000000000" pitchFamily="65" charset="-120"/>
              </a:rPr>
              <a:t>引擎知道要去哪找</a:t>
            </a:r>
            <a:r>
              <a:rPr lang="en-US" altLang="zh-TW" sz="1200" kern="100" dirty="0">
                <a:effectLst/>
                <a:latin typeface="Courier New" panose="02070309020205020404" pitchFamily="49" charset="0"/>
                <a:ea typeface="標楷體" panose="03000509000000000000" pitchFamily="65" charset="-120"/>
              </a:rPr>
              <a:t>static</a:t>
            </a:r>
            <a:r>
              <a:rPr lang="zh-TW" altLang="en-US" sz="1200" kern="100" dirty="0">
                <a:effectLst/>
                <a:latin typeface="Courier New" panose="02070309020205020404" pitchFamily="49" charset="0"/>
                <a:ea typeface="標楷體" panose="03000509000000000000" pitchFamily="65" charset="-120"/>
              </a:rPr>
              <a:t>的檔案，也就是在</a:t>
            </a:r>
            <a:r>
              <a:rPr lang="en-US" altLang="zh-TW" dirty="0"/>
              <a:t>{% load</a:t>
            </a:r>
            <a:r>
              <a:rPr lang="zh-TW" altLang="en-US" dirty="0"/>
              <a:t> </a:t>
            </a:r>
            <a:r>
              <a:rPr lang="en-US" altLang="zh-TW" dirty="0"/>
              <a:t>static %}</a:t>
            </a:r>
            <a:r>
              <a:rPr lang="zh-TW" altLang="en-US" dirty="0"/>
              <a:t>之內會用到，另外其他套件的</a:t>
            </a:r>
            <a:r>
              <a:rPr lang="en-US" altLang="zh-TW" dirty="0"/>
              <a:t>static file</a:t>
            </a:r>
            <a:r>
              <a:rPr lang="zh-TW" altLang="en-US" dirty="0"/>
              <a:t>也會一起</a:t>
            </a:r>
            <a:r>
              <a:rPr lang="en-US" altLang="zh-TW" dirty="0"/>
              <a:t>copy</a:t>
            </a:r>
            <a:r>
              <a:rPr lang="zh-TW" altLang="en-US" dirty="0"/>
              <a:t>進來，不會只有我們建立的</a:t>
            </a:r>
            <a:r>
              <a:rPr lang="en-US" altLang="zh-TW" dirty="0"/>
              <a:t>static files</a:t>
            </a:r>
          </a:p>
          <a:p>
            <a:r>
              <a:rPr lang="en-US" altLang="zh-TW" dirty="0"/>
              <a:t>python manage.py </a:t>
            </a:r>
            <a:r>
              <a:rPr lang="en-US" altLang="zh-TW" dirty="0" err="1"/>
              <a:t>collectstatic</a:t>
            </a:r>
            <a:endParaRPr lang="en-US" altLang="zh-TW" dirty="0"/>
          </a:p>
          <a:p>
            <a:r>
              <a:rPr lang="en-US" altLang="zh-TW" dirty="0"/>
              <a:t>http://127.0.0.1:8000/static/images/logo.png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40</a:t>
            </a:fld>
            <a:endParaRPr lang="zh-TW" altLang="en-US"/>
          </a:p>
        </p:txBody>
      </p:sp>
    </p:spTree>
    <p:extLst>
      <p:ext uri="{BB962C8B-B14F-4D97-AF65-F5344CB8AC3E}">
        <p14:creationId xmlns:p14="http://schemas.microsoft.com/office/powerpoint/2010/main" val="1781074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上述的設定完成之後</a:t>
            </a:r>
            <a:r>
              <a:rPr lang="en-US" altLang="zh-TW" dirty="0"/>
              <a:t>,</a:t>
            </a:r>
            <a:r>
              <a:rPr lang="zh-TW" altLang="en-US" dirty="0"/>
              <a:t>需要再執行</a:t>
            </a:r>
            <a:r>
              <a:rPr lang="en-US" altLang="zh-TW" dirty="0" err="1"/>
              <a:t>collectstatic</a:t>
            </a:r>
            <a:r>
              <a:rPr lang="zh-TW" altLang="en-US" dirty="0"/>
              <a:t>的指令</a:t>
            </a:r>
            <a:r>
              <a:rPr lang="en-US" altLang="zh-TW" dirty="0"/>
              <a:t>,</a:t>
            </a:r>
            <a:r>
              <a:rPr lang="zh-TW" altLang="en-US" dirty="0"/>
              <a:t>用來把靜態檔案從</a:t>
            </a:r>
            <a:r>
              <a:rPr lang="en-US" altLang="zh-TW" dirty="0"/>
              <a:t>static</a:t>
            </a:r>
            <a:r>
              <a:rPr lang="zh-TW" altLang="en-US" dirty="0"/>
              <a:t>的</a:t>
            </a:r>
          </a:p>
          <a:p>
            <a:r>
              <a:rPr lang="zh-TW" altLang="en-US" dirty="0"/>
              <a:t>資料夾中複製一份到</a:t>
            </a:r>
            <a:r>
              <a:rPr lang="en-US" altLang="zh-TW" dirty="0" err="1"/>
              <a:t>staticfles</a:t>
            </a:r>
            <a:r>
              <a:rPr lang="zh-TW" altLang="en-US" dirty="0"/>
              <a:t>資料夾中</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python manage.py </a:t>
            </a:r>
            <a:r>
              <a:rPr lang="en-US" altLang="zh-TW" dirty="0" err="1"/>
              <a:t>collectstatic</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41</a:t>
            </a:fld>
            <a:endParaRPr lang="zh-TW" altLang="en-US"/>
          </a:p>
        </p:txBody>
      </p:sp>
    </p:spTree>
    <p:extLst>
      <p:ext uri="{BB962C8B-B14F-4D97-AF65-F5344CB8AC3E}">
        <p14:creationId xmlns:p14="http://schemas.microsoft.com/office/powerpoint/2010/main" val="3123814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python manage.py </a:t>
            </a:r>
            <a:r>
              <a:rPr lang="en-US" altLang="zh-TW" dirty="0" err="1"/>
              <a:t>collectstatic</a:t>
            </a:r>
            <a:endParaRPr lang="en-US" altLang="zh-TW" dirty="0"/>
          </a:p>
          <a:p>
            <a:r>
              <a:rPr lang="zh-TW" altLang="en-US" dirty="0"/>
              <a:t>執行完上面指令後，就可直接用下面網址形式</a:t>
            </a:r>
            <a:r>
              <a:rPr lang="en-US" altLang="zh-TW" dirty="0"/>
              <a:t>load</a:t>
            </a:r>
            <a:r>
              <a:rPr lang="zh-TW" altLang="en-US" dirty="0"/>
              <a:t>靜態檔案</a:t>
            </a:r>
            <a:endParaRPr lang="en-US" altLang="zh-TW" dirty="0"/>
          </a:p>
          <a:p>
            <a:r>
              <a:rPr lang="en-US" altLang="zh-TW" dirty="0"/>
              <a:t>http://127.0.0.1:8000/static/images/logo.png</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42</a:t>
            </a:fld>
            <a:endParaRPr lang="zh-TW" altLang="en-US"/>
          </a:p>
        </p:txBody>
      </p:sp>
    </p:spTree>
    <p:extLst>
      <p:ext uri="{BB962C8B-B14F-4D97-AF65-F5344CB8AC3E}">
        <p14:creationId xmlns:p14="http://schemas.microsoft.com/office/powerpoint/2010/main" val="1110185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共通的部份可統一管理，也不會忘了改某一個檔案</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45</a:t>
            </a:fld>
            <a:endParaRPr lang="zh-TW" altLang="en-US"/>
          </a:p>
        </p:txBody>
      </p:sp>
    </p:spTree>
    <p:extLst>
      <p:ext uri="{BB962C8B-B14F-4D97-AF65-F5344CB8AC3E}">
        <p14:creationId xmlns:p14="http://schemas.microsoft.com/office/powerpoint/2010/main" val="1567046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不同的頁面中還必須要有一致的頁首標頭</a:t>
            </a:r>
            <a:r>
              <a:rPr lang="en-US" altLang="zh-TW" dirty="0"/>
              <a:t>(header)</a:t>
            </a:r>
            <a:r>
              <a:rPr lang="zh-TW" altLang="en-US" dirty="0"/>
              <a:t>以及頁腳</a:t>
            </a:r>
            <a:r>
              <a:rPr lang="en-US" altLang="zh-TW" dirty="0"/>
              <a:t>(</a:t>
            </a:r>
            <a:r>
              <a:rPr lang="zh-TW" altLang="en-US" dirty="0"/>
              <a:t>或稱頁尾</a:t>
            </a:r>
            <a:r>
              <a:rPr lang="en-US" altLang="zh-TW" dirty="0"/>
              <a:t>,footer)</a:t>
            </a:r>
            <a:r>
              <a:rPr lang="zh-TW" altLang="en-US" dirty="0"/>
              <a:t>才行。</a:t>
            </a:r>
          </a:p>
          <a:p>
            <a:r>
              <a:rPr lang="zh-TW" altLang="en-US" dirty="0"/>
              <a:t>內容的部份可能還會切出許多的欄位。</a:t>
            </a:r>
            <a:r>
              <a:rPr lang="en-US" altLang="zh-TW" dirty="0"/>
              <a:t>HTML</a:t>
            </a:r>
            <a:r>
              <a:rPr lang="zh-TW" altLang="en-US" dirty="0"/>
              <a:t>檔案的最開頭</a:t>
            </a:r>
            <a:r>
              <a:rPr lang="en-US" altLang="zh-TW" dirty="0"/>
              <a:t>,</a:t>
            </a:r>
            <a:r>
              <a:rPr lang="zh-TW" altLang="en-US" dirty="0"/>
              <a:t>一定要有</a:t>
            </a:r>
            <a:r>
              <a:rPr lang="en-US" altLang="zh-TW" dirty="0"/>
              <a:t>&lt;</a:t>
            </a:r>
            <a:r>
              <a:rPr lang="en-US" altLang="zh-TW" dirty="0" err="1"/>
              <a:t>IDOCTYPEhtml</a:t>
            </a:r>
            <a:r>
              <a:rPr lang="en-US" altLang="zh-TW" dirty="0"/>
              <a:t>&gt;</a:t>
            </a:r>
            <a:r>
              <a:rPr lang="zh-TW" altLang="en-US" dirty="0"/>
              <a:t>、</a:t>
            </a:r>
          </a:p>
          <a:p>
            <a:r>
              <a:rPr lang="en-US" altLang="zh-TW" dirty="0"/>
              <a:t>&lt;head&gt;&lt;meta charset='utf-8"&gt;</a:t>
            </a:r>
            <a:r>
              <a:rPr lang="zh-TW" altLang="en-US" dirty="0"/>
              <a:t>等等一些制式的設定</a:t>
            </a:r>
            <a:r>
              <a:rPr lang="en-US" altLang="zh-TW" dirty="0"/>
              <a:t>,</a:t>
            </a:r>
            <a:r>
              <a:rPr lang="zh-TW" altLang="en-US" dirty="0"/>
              <a:t>此外</a:t>
            </a:r>
            <a:r>
              <a:rPr lang="en-US" altLang="zh-TW" dirty="0"/>
              <a:t>,</a:t>
            </a:r>
            <a:r>
              <a:rPr lang="zh-TW" altLang="en-US" dirty="0"/>
              <a:t>如果套用現有的程式庫的</a:t>
            </a:r>
          </a:p>
          <a:p>
            <a:r>
              <a:rPr lang="zh-TW" altLang="en-US" dirty="0"/>
              <a:t>話</a:t>
            </a:r>
            <a:r>
              <a:rPr lang="en-US" altLang="zh-TW" dirty="0"/>
              <a:t>,</a:t>
            </a:r>
            <a:r>
              <a:rPr lang="zh-TW" altLang="en-US" dirty="0"/>
              <a:t>還有之前一大串的 </a:t>
            </a:r>
            <a:r>
              <a:rPr lang="en-US" altLang="zh-TW" dirty="0"/>
              <a:t>Bootstrap </a:t>
            </a:r>
            <a:r>
              <a:rPr lang="zh-TW" altLang="en-US" dirty="0"/>
              <a:t>和</a:t>
            </a:r>
            <a:r>
              <a:rPr lang="en-US" altLang="zh-TW" dirty="0"/>
              <a:t>jQuery</a:t>
            </a:r>
            <a:r>
              <a:rPr lang="zh-TW" altLang="en-US" dirty="0"/>
              <a:t>等</a:t>
            </a:r>
            <a:r>
              <a:rPr lang="en-US" altLang="zh-TW" dirty="0"/>
              <a:t>CDN</a:t>
            </a:r>
            <a:r>
              <a:rPr lang="zh-TW" altLang="en-US" dirty="0"/>
              <a:t>連結等等</a:t>
            </a:r>
            <a:r>
              <a:rPr lang="en-US" altLang="zh-TW" dirty="0"/>
              <a:t>,</a:t>
            </a:r>
            <a:r>
              <a:rPr lang="zh-TW" altLang="en-US" dirty="0"/>
              <a:t>這些也希望能夠出現一次</a:t>
            </a:r>
          </a:p>
          <a:p>
            <a:r>
              <a:rPr lang="zh-TW" altLang="en-US" dirty="0"/>
              <a:t>就好。</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46</a:t>
            </a:fld>
            <a:endParaRPr lang="zh-TW" altLang="en-US"/>
          </a:p>
        </p:txBody>
      </p:sp>
    </p:spTree>
    <p:extLst>
      <p:ext uri="{BB962C8B-B14F-4D97-AF65-F5344CB8AC3E}">
        <p14:creationId xmlns:p14="http://schemas.microsoft.com/office/powerpoint/2010/main" val="332601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rPr>
              <a:t>{% block menu %}{% </a:t>
            </a:r>
            <a:r>
              <a:rPr lang="en-US" altLang="zh-TW" dirty="0" err="1">
                <a:solidFill>
                  <a:srgbClr val="FF0000"/>
                </a:solidFill>
              </a:rPr>
              <a:t>endblock</a:t>
            </a:r>
            <a:r>
              <a:rPr lang="en-US" altLang="zh-TW" dirty="0">
                <a:solidFill>
                  <a:srgbClr val="FF0000"/>
                </a:solidFill>
              </a:rPr>
              <a:t> %}</a:t>
            </a:r>
            <a:endParaRPr lang="en-US" altLang="zh-TW" b="0" dirty="0">
              <a:solidFill>
                <a:srgbClr val="808080"/>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dirty="0">
                <a:solidFill>
                  <a:srgbClr val="808080"/>
                </a:solidFill>
                <a:effectLst/>
                <a:latin typeface="Consolas" panose="020B0609020204030204" pitchFamily="49" charset="0"/>
              </a:rPr>
              <a:t>從</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div</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class</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“navbar-nav”</a:t>
            </a:r>
            <a:r>
              <a:rPr lang="en-US" altLang="zh-TW" b="0" dirty="0">
                <a:solidFill>
                  <a:srgbClr val="808080"/>
                </a:solidFill>
                <a:effectLst/>
                <a:latin typeface="Consolas" panose="020B0609020204030204" pitchFamily="49" charset="0"/>
              </a:rPr>
              <a:t>&gt;</a:t>
            </a:r>
            <a:r>
              <a:rPr lang="zh-TW" altLang="en-US" b="0" dirty="0">
                <a:solidFill>
                  <a:srgbClr val="808080"/>
                </a:solidFill>
                <a:effectLst/>
                <a:latin typeface="Consolas" panose="020B0609020204030204" pitchFamily="49" charset="0"/>
              </a:rPr>
              <a:t>的上面開始切</a:t>
            </a:r>
            <a:endParaRPr lang="en-US" altLang="zh-TW" b="0" dirty="0">
              <a:solidFill>
                <a:srgbClr val="CCCCCC"/>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49</a:t>
            </a:fld>
            <a:endParaRPr lang="zh-TW" altLang="en-US"/>
          </a:p>
        </p:txBody>
      </p:sp>
    </p:spTree>
    <p:extLst>
      <p:ext uri="{BB962C8B-B14F-4D97-AF65-F5344CB8AC3E}">
        <p14:creationId xmlns:p14="http://schemas.microsoft.com/office/powerpoint/2010/main" val="626067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00" dirty="0">
                <a:effectLst/>
                <a:latin typeface="Courier New" panose="02070309020205020404" pitchFamily="49" charset="0"/>
                <a:ea typeface="標楷體" panose="03000509000000000000" pitchFamily="65" charset="-120"/>
              </a:rPr>
              <a:t>&lt;div class='</a:t>
            </a:r>
            <a:r>
              <a:rPr lang="en-US" altLang="zh-TW" sz="1200" kern="100" dirty="0" err="1">
                <a:effectLst/>
                <a:latin typeface="Courier New" panose="02070309020205020404" pitchFamily="49" charset="0"/>
                <a:ea typeface="標楷體" panose="03000509000000000000" pitchFamily="65" charset="-120"/>
              </a:rPr>
              <a:t>conatiner</a:t>
            </a:r>
            <a:r>
              <a:rPr lang="en-US" altLang="zh-TW" sz="1200" kern="100" dirty="0">
                <a:effectLst/>
                <a:latin typeface="Courier New" panose="02070309020205020404" pitchFamily="49" charset="0"/>
                <a:ea typeface="標楷體" panose="03000509000000000000" pitchFamily="65" charset="-12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808080"/>
                </a:solidFill>
                <a:effectLst/>
                <a:latin typeface="Consolas" panose="020B0609020204030204" pitchFamily="49" charset="0"/>
              </a:rPr>
              <a:t>&lt;</a:t>
            </a:r>
            <a:r>
              <a:rPr lang="en-US" altLang="zh-TW" b="0" dirty="0" err="1">
                <a:solidFill>
                  <a:srgbClr val="569CD6"/>
                </a:solidFill>
                <a:effectLst/>
                <a:latin typeface="Consolas" panose="020B0609020204030204" pitchFamily="49" charset="0"/>
              </a:rPr>
              <a:t>iframe</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width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"560"</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height</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"315"</a:t>
            </a:r>
            <a:endParaRPr lang="en-US" altLang="zh-TW" b="0" dirty="0">
              <a:solidFill>
                <a:srgbClr val="CCCCCC"/>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50</a:t>
            </a:fld>
            <a:endParaRPr lang="zh-TW" altLang="en-US"/>
          </a:p>
        </p:txBody>
      </p:sp>
    </p:spTree>
    <p:extLst>
      <p:ext uri="{BB962C8B-B14F-4D97-AF65-F5344CB8AC3E}">
        <p14:creationId xmlns:p14="http://schemas.microsoft.com/office/powerpoint/2010/main" val="1949068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原則：不同</a:t>
            </a:r>
            <a:r>
              <a:rPr lang="en-US" altLang="zh-TW" dirty="0"/>
              <a:t>block</a:t>
            </a:r>
            <a:r>
              <a:rPr lang="zh-TW" altLang="en-US" dirty="0"/>
              <a:t>之間不會有</a:t>
            </a:r>
            <a:r>
              <a:rPr lang="en-US" altLang="zh-TW" dirty="0"/>
              <a:t>html</a:t>
            </a:r>
            <a:r>
              <a:rPr lang="zh-TW" altLang="en-US" dirty="0"/>
              <a:t>元素，只有</a:t>
            </a:r>
            <a:r>
              <a:rPr lang="en-US" altLang="zh-TW" dirty="0"/>
              <a:t>block</a:t>
            </a:r>
            <a:r>
              <a:rPr lang="zh-TW" altLang="en-US" dirty="0"/>
              <a:t>內才有</a:t>
            </a:r>
            <a:r>
              <a:rPr lang="en-US" altLang="zh-TW" dirty="0"/>
              <a:t>html</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52</a:t>
            </a:fld>
            <a:endParaRPr lang="zh-TW" altLang="en-US"/>
          </a:p>
        </p:txBody>
      </p:sp>
    </p:spTree>
    <p:extLst>
      <p:ext uri="{BB962C8B-B14F-4D97-AF65-F5344CB8AC3E}">
        <p14:creationId xmlns:p14="http://schemas.microsoft.com/office/powerpoint/2010/main" val="3975987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檢查口訣：</a:t>
            </a:r>
            <a:r>
              <a:rPr lang="en-US" altLang="zh-TW" dirty="0"/>
              <a:t>block</a:t>
            </a:r>
            <a:r>
              <a:rPr lang="zh-TW" altLang="en-US" dirty="0"/>
              <a:t>之間不應該有其他</a:t>
            </a:r>
            <a:r>
              <a:rPr lang="en-US" altLang="zh-TW" dirty="0"/>
              <a:t>html</a:t>
            </a:r>
            <a:r>
              <a:rPr lang="zh-TW" altLang="en-US" dirty="0"/>
              <a:t> </a:t>
            </a:r>
            <a:r>
              <a:rPr lang="en-US" altLang="zh-TW" dirty="0"/>
              <a:t>tag</a:t>
            </a:r>
            <a:r>
              <a:rPr lang="zh-TW" altLang="en-US" dirty="0"/>
              <a:t>了</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53</a:t>
            </a:fld>
            <a:endParaRPr lang="zh-TW" altLang="en-US"/>
          </a:p>
        </p:txBody>
      </p:sp>
    </p:spTree>
    <p:extLst>
      <p:ext uri="{BB962C8B-B14F-4D97-AF65-F5344CB8AC3E}">
        <p14:creationId xmlns:p14="http://schemas.microsoft.com/office/powerpoint/2010/main" val="29157138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Python</a:t>
            </a:r>
            <a:r>
              <a:rPr lang="zh-TW" altLang="en-US" dirty="0"/>
              <a:t>中這樣的格式的變數</a:t>
            </a:r>
            <a:r>
              <a:rPr lang="en-US" altLang="zh-TW" dirty="0"/>
              <a:t>(field:10)(</a:t>
            </a:r>
            <a:r>
              <a:rPr lang="zh-TW" altLang="en-US" dirty="0"/>
              <a:t>此為字典型態變數</a:t>
            </a:r>
            <a:r>
              <a:rPr lang="en-US" altLang="zh-TW" dirty="0"/>
              <a:t>)</a:t>
            </a:r>
            <a:r>
              <a:rPr lang="zh-TW" altLang="en-US" dirty="0"/>
              <a:t>。</a:t>
            </a:r>
            <a:endParaRPr lang="en-US" altLang="zh-TW" dirty="0"/>
          </a:p>
          <a:p>
            <a:r>
              <a:rPr lang="zh-TW" altLang="en-US" dirty="0"/>
              <a:t>那麼</a:t>
            </a:r>
            <a:r>
              <a:rPr lang="en-US" altLang="zh-TW" dirty="0"/>
              <a:t>,</a:t>
            </a:r>
            <a:r>
              <a:rPr lang="zh-TW" altLang="en-US" dirty="0"/>
              <a:t>如果要在</a:t>
            </a:r>
            <a:r>
              <a:rPr lang="en-US" altLang="zh-TW" dirty="0"/>
              <a:t>Template </a:t>
            </a:r>
            <a:r>
              <a:rPr lang="zh-TW" altLang="en-US" dirty="0"/>
              <a:t>中取出的資料是</a:t>
            </a:r>
            <a:r>
              <a:rPr lang="zh-TW" altLang="en-US" b="1" dirty="0">
                <a:solidFill>
                  <a:srgbClr val="FF0000"/>
                </a:solidFill>
              </a:rPr>
              <a:t>串列</a:t>
            </a:r>
            <a:r>
              <a:rPr lang="zh-TW" altLang="en-US" dirty="0"/>
              <a:t>型態變呢</a:t>
            </a:r>
            <a:r>
              <a:rPr lang="en-US" altLang="zh-TW" dirty="0"/>
              <a:t>?</a:t>
            </a:r>
            <a:r>
              <a:rPr lang="zh-TW" altLang="en-US" dirty="0"/>
              <a:t>因為串列是以索引值當做</a:t>
            </a:r>
          </a:p>
          <a:p>
            <a:r>
              <a:rPr lang="zh-TW" altLang="en-US" dirty="0"/>
              <a:t>是取出內容的依據</a:t>
            </a:r>
            <a:r>
              <a:rPr lang="en-US" altLang="zh-TW" dirty="0"/>
              <a:t>,</a:t>
            </a:r>
            <a:r>
              <a:rPr lang="zh-TW" altLang="en-US" dirty="0"/>
              <a:t>因此就如同之前取出字典變數內容一樣</a:t>
            </a:r>
            <a:r>
              <a:rPr lang="en-US" altLang="zh-TW" dirty="0"/>
              <a:t>,</a:t>
            </a:r>
            <a:r>
              <a:rPr lang="zh-TW" altLang="en-US" dirty="0"/>
              <a:t>只是</a:t>
            </a:r>
            <a:r>
              <a:rPr lang="en-US" altLang="zh-TW" dirty="0" err="1"/>
              <a:t>kev</a:t>
            </a:r>
            <a:r>
              <a:rPr lang="zh-TW" altLang="en-US" dirty="0"/>
              <a:t>值改為數字</a:t>
            </a:r>
            <a:r>
              <a:rPr lang="en-US" altLang="zh-TW" dirty="0"/>
              <a:t>,</a:t>
            </a:r>
            <a:r>
              <a:rPr lang="zh-TW" altLang="en-US" dirty="0"/>
              <a:t>像是</a:t>
            </a:r>
          </a:p>
          <a:p>
            <a:r>
              <a:rPr lang="zh-TW" altLang="en-US" dirty="0"/>
              <a:t>如果有一個串列</a:t>
            </a:r>
            <a:r>
              <a:rPr lang="en-US" altLang="zh-TW" dirty="0"/>
              <a:t>id=[Item1,item2],</a:t>
            </a:r>
            <a:r>
              <a:rPr lang="zh-TW" altLang="en-US" dirty="0"/>
              <a:t>則在</a:t>
            </a:r>
            <a:r>
              <a:rPr lang="en-US" altLang="zh-TW" dirty="0"/>
              <a:t>template </a:t>
            </a:r>
            <a:r>
              <a:rPr lang="zh-TW" altLang="en-US" dirty="0"/>
              <a:t>檔案中</a:t>
            </a:r>
            <a:r>
              <a:rPr lang="en-US" altLang="zh-TW" dirty="0"/>
              <a:t>,</a:t>
            </a:r>
            <a:r>
              <a:rPr lang="zh-TW" altLang="en-US" dirty="0"/>
              <a:t>可以使用</a:t>
            </a:r>
            <a:r>
              <a:rPr lang="en-US" altLang="zh-TW" dirty="0"/>
              <a:t>{{id.0}}</a:t>
            </a:r>
            <a:r>
              <a:rPr lang="zh-TW" altLang="en-US" dirty="0"/>
              <a:t>和</a:t>
            </a:r>
            <a:r>
              <a:rPr lang="en-US" altLang="zh-TW" dirty="0"/>
              <a:t>{{id.1}}</a:t>
            </a:r>
          </a:p>
          <a:p>
            <a:r>
              <a:rPr lang="zh-TW" altLang="en-US" dirty="0"/>
              <a:t>分別把這兩個資料項目取出。</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57</a:t>
            </a:fld>
            <a:endParaRPr lang="zh-TW" altLang="en-US"/>
          </a:p>
        </p:txBody>
      </p:sp>
    </p:spTree>
    <p:extLst>
      <p:ext uri="{BB962C8B-B14F-4D97-AF65-F5344CB8AC3E}">
        <p14:creationId xmlns:p14="http://schemas.microsoft.com/office/powerpoint/2010/main" val="1257607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請留意</a:t>
            </a:r>
            <a:r>
              <a:rPr lang="en-US" altLang="zh-TW" dirty="0"/>
              <a:t>,endif</a:t>
            </a:r>
            <a:r>
              <a:rPr lang="zh-TW" altLang="en-US" dirty="0"/>
              <a:t>和 </a:t>
            </a:r>
            <a:r>
              <a:rPr lang="en-US" altLang="zh-TW" dirty="0"/>
              <a:t>elf</a:t>
            </a:r>
            <a:r>
              <a:rPr lang="zh-TW" altLang="en-US" dirty="0"/>
              <a:t>這兩個關鍵字的</a:t>
            </a:r>
            <a:r>
              <a:rPr lang="en-US" altLang="zh-TW" dirty="0"/>
              <a:t>end </a:t>
            </a:r>
            <a:r>
              <a:rPr lang="zh-TW" altLang="en-US" dirty="0"/>
              <a:t>和</a:t>
            </a:r>
            <a:r>
              <a:rPr lang="en-US" altLang="zh-TW" dirty="0"/>
              <a:t>if</a:t>
            </a:r>
            <a:r>
              <a:rPr lang="zh-TW" altLang="en-US" dirty="0"/>
              <a:t>以及</a:t>
            </a:r>
            <a:r>
              <a:rPr lang="en-US" altLang="zh-TW" dirty="0" err="1"/>
              <a:t>el</a:t>
            </a:r>
            <a:r>
              <a:rPr lang="zh-TW" altLang="en-US" dirty="0"/>
              <a:t>和</a:t>
            </a:r>
            <a:r>
              <a:rPr lang="en-US" altLang="zh-TW" dirty="0"/>
              <a:t>if</a:t>
            </a:r>
            <a:r>
              <a:rPr lang="zh-TW" altLang="en-US" dirty="0"/>
              <a:t>之間並沒有空格</a:t>
            </a:r>
            <a:r>
              <a:rPr lang="en-US" altLang="zh-TW" dirty="0"/>
              <a:t>,</a:t>
            </a:r>
            <a:r>
              <a:rPr lang="zh-TW" altLang="en-US" dirty="0"/>
              <a:t>上述法</a:t>
            </a:r>
          </a:p>
          <a:p>
            <a:r>
              <a:rPr lang="zh-TW" altLang="en-US" dirty="0"/>
              <a:t>敘述中</a:t>
            </a:r>
            <a:r>
              <a:rPr lang="en-US" altLang="zh-TW" dirty="0"/>
              <a:t>,</a:t>
            </a:r>
            <a:r>
              <a:rPr lang="zh-TW" altLang="en-US" dirty="0"/>
              <a:t>「⋯」這個符號可以使用任意數量的</a:t>
            </a:r>
            <a:r>
              <a:rPr lang="en-US" altLang="zh-TW" dirty="0"/>
              <a:t>HTML/CSS/JavaScript </a:t>
            </a:r>
            <a:r>
              <a:rPr lang="zh-TW" altLang="en-US" dirty="0"/>
              <a:t>或是其他的</a:t>
            </a:r>
            <a:r>
              <a:rPr lang="en-US" altLang="zh-TW" dirty="0"/>
              <a:t>(%%)</a:t>
            </a:r>
            <a:r>
              <a:rPr lang="zh-TW" altLang="en-US" dirty="0"/>
              <a:t>命</a:t>
            </a:r>
          </a:p>
          <a:p>
            <a:r>
              <a:rPr lang="zh-TW" altLang="en-US" dirty="0"/>
              <a:t>令取代</a:t>
            </a:r>
            <a:r>
              <a:rPr lang="en-US" altLang="zh-TW" dirty="0"/>
              <a:t>,</a:t>
            </a:r>
            <a:r>
              <a:rPr lang="zh-TW" altLang="en-US" dirty="0"/>
              <a:t>當然也可以是很多行的</a:t>
            </a:r>
            <a:r>
              <a:rPr lang="en-US" altLang="zh-TW" dirty="0"/>
              <a:t>HTML/CSS/JavaScript </a:t>
            </a:r>
            <a:r>
              <a:rPr lang="zh-TW" altLang="en-US" dirty="0"/>
              <a:t>程式碼。</a:t>
            </a:r>
            <a:endParaRPr lang="en-US" altLang="zh-TW" dirty="0"/>
          </a:p>
          <a:p>
            <a:r>
              <a:rPr lang="en-US" altLang="zh-TW" dirty="0"/>
              <a:t>{% if car in cars %}</a:t>
            </a:r>
            <a:r>
              <a:rPr lang="en-US" altLang="ko-KR" dirty="0"/>
              <a:t> ... {% </a:t>
            </a:r>
            <a:r>
              <a:rPr lang="en-US" altLang="zh-TW" dirty="0"/>
              <a:t>endif %}</a:t>
            </a:r>
          </a:p>
          <a:p>
            <a:r>
              <a:rPr lang="zh-TW" altLang="en-US" dirty="0"/>
              <a:t>或是</a:t>
            </a:r>
          </a:p>
          <a:p>
            <a:r>
              <a:rPr lang="en-US" altLang="zh-TW" dirty="0"/>
              <a:t>{% if 'a' in '</a:t>
            </a:r>
            <a:r>
              <a:rPr lang="en-US" altLang="zh-TW" dirty="0" err="1"/>
              <a:t>abcdef</a:t>
            </a:r>
            <a:r>
              <a:rPr lang="en-US" altLang="zh-TW" dirty="0"/>
              <a:t>’ %} ... {% endif %}</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58</a:t>
            </a:fld>
            <a:endParaRPr lang="zh-TW" altLang="en-US"/>
          </a:p>
        </p:txBody>
      </p:sp>
    </p:spTree>
    <p:extLst>
      <p:ext uri="{BB962C8B-B14F-4D97-AF65-F5344CB8AC3E}">
        <p14:creationId xmlns:p14="http://schemas.microsoft.com/office/powerpoint/2010/main" val="1797854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zh-TW" altLang="en-US" b="0" dirty="0">
                <a:solidFill>
                  <a:srgbClr val="CDD3DE"/>
                </a:solidFill>
                <a:effectLst/>
                <a:latin typeface="Consolas" panose="020B0609020204030204" pitchFamily="49" charset="0"/>
              </a:rPr>
              <a:t>以下放在</a:t>
            </a: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iframe</a:t>
            </a:r>
            <a:r>
              <a:rPr lang="en-US" altLang="zh-TW" b="0" dirty="0">
                <a:solidFill>
                  <a:srgbClr val="5FB3B3"/>
                </a:solidFill>
                <a:effectLst/>
                <a:latin typeface="Consolas" panose="020B0609020204030204" pitchFamily="49" charset="0"/>
              </a:rPr>
              <a:t> </a:t>
            </a:r>
            <a:r>
              <a:rPr lang="en-US" altLang="zh-TW" b="0" dirty="0">
                <a:solidFill>
                  <a:srgbClr val="BB80B3"/>
                </a:solidFill>
                <a:effectLst/>
                <a:latin typeface="Consolas" panose="020B0609020204030204" pitchFamily="49" charset="0"/>
              </a:rPr>
              <a:t>width</a:t>
            </a:r>
            <a:r>
              <a:rPr lang="en-US" altLang="zh-TW" b="0" dirty="0">
                <a:solidFill>
                  <a:srgbClr val="5FB3B3"/>
                </a:solidFill>
                <a:effectLst/>
                <a:latin typeface="Consolas" panose="020B0609020204030204" pitchFamily="49" charset="0"/>
              </a:rPr>
              <a:t>=“</a:t>
            </a:r>
            <a:r>
              <a:rPr lang="en-US" altLang="zh-TW" b="0" dirty="0">
                <a:solidFill>
                  <a:srgbClr val="99C794"/>
                </a:solidFill>
                <a:effectLst/>
                <a:latin typeface="Consolas" panose="020B0609020204030204" pitchFamily="49" charset="0"/>
              </a:rPr>
              <a:t>560</a:t>
            </a:r>
            <a:r>
              <a:rPr lang="en-US" altLang="zh-TW" b="0" dirty="0">
                <a:solidFill>
                  <a:srgbClr val="5FB3B3"/>
                </a:solidFill>
                <a:effectLst/>
                <a:latin typeface="Consolas" panose="020B0609020204030204" pitchFamily="49" charset="0"/>
              </a:rPr>
              <a:t>“…</a:t>
            </a:r>
            <a:r>
              <a:rPr lang="zh-TW" altLang="en-US" b="0" dirty="0">
                <a:solidFill>
                  <a:srgbClr val="5FB3B3"/>
                </a:solidFill>
                <a:effectLst/>
                <a:latin typeface="Consolas" panose="020B0609020204030204" pitchFamily="49" charset="0"/>
              </a:rPr>
              <a:t>的</a:t>
            </a:r>
            <a:r>
              <a:rPr lang="en-US" altLang="zh-TW" b="0" dirty="0">
                <a:solidFill>
                  <a:srgbClr val="5FB3B3"/>
                </a:solidFill>
                <a:effectLst/>
                <a:latin typeface="Consolas" panose="020B0609020204030204" pitchFamily="49" charset="0"/>
              </a:rPr>
              <a:t>div</a:t>
            </a:r>
            <a:r>
              <a:rPr lang="zh-TW" altLang="en-US" b="0" dirty="0">
                <a:solidFill>
                  <a:srgbClr val="5FB3B3"/>
                </a:solidFill>
                <a:effectLst/>
                <a:latin typeface="Consolas" panose="020B0609020204030204" pitchFamily="49" charset="0"/>
              </a:rPr>
              <a:t>上方</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594C5"/>
                </a:solidFill>
                <a:effectLst/>
                <a:latin typeface="Consolas" panose="020B0609020204030204" pitchFamily="49" charset="0"/>
              </a:rPr>
              <a:t>{% if </a:t>
            </a:r>
            <a:r>
              <a:rPr lang="en-US" altLang="zh-TW" b="0" dirty="0">
                <a:solidFill>
                  <a:srgbClr val="99C794"/>
                </a:solidFill>
                <a:effectLst/>
                <a:latin typeface="Consolas" panose="020B0609020204030204" pitchFamily="49" charset="0"/>
              </a:rPr>
              <a:t>hour</a:t>
            </a:r>
            <a:r>
              <a:rPr lang="en-US" altLang="zh-TW" b="0" dirty="0">
                <a:solidFill>
                  <a:srgbClr val="C594C5"/>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&gt;</a:t>
            </a:r>
            <a:r>
              <a:rPr lang="en-US" altLang="zh-TW" b="0" dirty="0">
                <a:solidFill>
                  <a:srgbClr val="C594C5"/>
                </a:solidFill>
                <a:effectLst/>
                <a:latin typeface="Consolas" panose="020B0609020204030204" pitchFamily="49" charset="0"/>
              </a:rPr>
              <a:t> </a:t>
            </a:r>
            <a:r>
              <a:rPr lang="en-US" altLang="zh-TW" b="0" dirty="0">
                <a:solidFill>
                  <a:srgbClr val="99C794"/>
                </a:solidFill>
                <a:effectLst/>
                <a:latin typeface="Consolas" panose="020B0609020204030204" pitchFamily="49" charset="0"/>
              </a:rPr>
              <a:t>18</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zh-TW" altLang="en-US" b="0" dirty="0">
                <a:solidFill>
                  <a:srgbClr val="CDD3DE"/>
                </a:solidFill>
                <a:effectLst/>
                <a:latin typeface="Consolas" panose="020B0609020204030204" pitchFamily="49" charset="0"/>
              </a:rPr>
              <a:t>晚安 </a:t>
            </a:r>
          </a:p>
          <a:p>
            <a:pPr>
              <a:lnSpc>
                <a:spcPts val="1425"/>
              </a:lnSpc>
            </a:pPr>
            <a:r>
              <a:rPr lang="en-US" altLang="zh-TW" b="0" dirty="0">
                <a:solidFill>
                  <a:srgbClr val="C594C5"/>
                </a:solidFill>
                <a:effectLst/>
                <a:latin typeface="Consolas" panose="020B0609020204030204" pitchFamily="49" charset="0"/>
              </a:rPr>
              <a:t>{% </a:t>
            </a:r>
            <a:r>
              <a:rPr lang="en-US" altLang="zh-TW" b="0" dirty="0" err="1">
                <a:solidFill>
                  <a:srgbClr val="C594C5"/>
                </a:solidFill>
                <a:effectLst/>
                <a:latin typeface="Consolas" panose="020B0609020204030204" pitchFamily="49" charset="0"/>
              </a:rPr>
              <a:t>elif</a:t>
            </a:r>
            <a:r>
              <a:rPr lang="en-US" altLang="zh-TW" b="0" dirty="0">
                <a:solidFill>
                  <a:srgbClr val="C594C5"/>
                </a:solidFill>
                <a:effectLst/>
                <a:latin typeface="Consolas" panose="020B0609020204030204" pitchFamily="49" charset="0"/>
              </a:rPr>
              <a:t> </a:t>
            </a:r>
            <a:r>
              <a:rPr lang="en-US" altLang="zh-TW" b="0" dirty="0">
                <a:solidFill>
                  <a:srgbClr val="99C794"/>
                </a:solidFill>
                <a:effectLst/>
                <a:latin typeface="Consolas" panose="020B0609020204030204" pitchFamily="49" charset="0"/>
              </a:rPr>
              <a:t>hour</a:t>
            </a:r>
            <a:r>
              <a:rPr lang="en-US" altLang="zh-TW" b="0" dirty="0">
                <a:solidFill>
                  <a:srgbClr val="C594C5"/>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&lt;</a:t>
            </a:r>
            <a:r>
              <a:rPr lang="en-US" altLang="zh-TW" b="0" dirty="0">
                <a:solidFill>
                  <a:srgbClr val="C594C5"/>
                </a:solidFill>
                <a:effectLst/>
                <a:latin typeface="Consolas" panose="020B0609020204030204" pitchFamily="49" charset="0"/>
              </a:rPr>
              <a:t> </a:t>
            </a:r>
            <a:r>
              <a:rPr lang="en-US" altLang="zh-TW" b="0" dirty="0">
                <a:solidFill>
                  <a:srgbClr val="99C794"/>
                </a:solidFill>
                <a:effectLst/>
                <a:latin typeface="Consolas" panose="020B0609020204030204" pitchFamily="49" charset="0"/>
              </a:rPr>
              <a:t>10</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zh-TW" altLang="en-US" b="0" dirty="0">
                <a:solidFill>
                  <a:srgbClr val="CDD3DE"/>
                </a:solidFill>
                <a:effectLst/>
                <a:latin typeface="Consolas" panose="020B0609020204030204" pitchFamily="49" charset="0"/>
              </a:rPr>
              <a:t>早安</a:t>
            </a:r>
          </a:p>
          <a:p>
            <a:pPr>
              <a:lnSpc>
                <a:spcPts val="1425"/>
              </a:lnSpc>
            </a:pPr>
            <a:r>
              <a:rPr lang="en-US" altLang="zh-TW" b="0" dirty="0">
                <a:solidFill>
                  <a:srgbClr val="C594C5"/>
                </a:solidFill>
                <a:effectLst/>
                <a:latin typeface="Consolas" panose="020B0609020204030204" pitchFamily="49" charset="0"/>
              </a:rPr>
              <a:t>{% else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zh-TW" altLang="en-US" b="0" dirty="0">
                <a:solidFill>
                  <a:srgbClr val="CDD3DE"/>
                </a:solidFill>
                <a:effectLst/>
                <a:latin typeface="Consolas" panose="020B0609020204030204" pitchFamily="49" charset="0"/>
              </a:rPr>
              <a:t>午安        </a:t>
            </a:r>
          </a:p>
          <a:p>
            <a:pPr>
              <a:lnSpc>
                <a:spcPts val="1425"/>
              </a:lnSpc>
            </a:pPr>
            <a:r>
              <a:rPr lang="en-US" altLang="zh-TW" b="0" dirty="0">
                <a:solidFill>
                  <a:srgbClr val="C594C5"/>
                </a:solidFill>
                <a:effectLst/>
                <a:latin typeface="Consolas" panose="020B0609020204030204" pitchFamily="49" charset="0"/>
              </a:rPr>
              <a:t>{% endif %}</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5FB3B3"/>
                </a:solidFill>
                <a:effectLst/>
                <a:latin typeface="Consolas" panose="020B0609020204030204" pitchFamily="49" charset="0"/>
              </a:rPr>
              <a:t>&lt;</a:t>
            </a:r>
            <a:r>
              <a:rPr lang="en-US" altLang="zh-TW" b="0" dirty="0" err="1">
                <a:solidFill>
                  <a:srgbClr val="EB606B"/>
                </a:solidFill>
                <a:effectLst/>
                <a:latin typeface="Consolas" panose="020B0609020204030204" pitchFamily="49" charset="0"/>
              </a:rPr>
              <a:t>br</a:t>
            </a:r>
            <a:r>
              <a:rPr lang="en-US" altLang="zh-TW" b="0" dirty="0">
                <a:solidFill>
                  <a:srgbClr val="5FB3B3"/>
                </a:solidFill>
                <a:effectLst/>
                <a:latin typeface="Consolas" panose="020B0609020204030204" pitchFamily="49" charset="0"/>
              </a:rPr>
              <a:t>&gt;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 </a:t>
            </a:r>
            <a:r>
              <a:rPr lang="en-US" altLang="zh-TW" b="0" dirty="0" err="1">
                <a:solidFill>
                  <a:srgbClr val="C594C5"/>
                </a:solidFill>
                <a:effectLst/>
                <a:latin typeface="Consolas" panose="020B0609020204030204" pitchFamily="49" charset="0"/>
              </a:rPr>
              <a:t>endblock</a:t>
            </a:r>
            <a:r>
              <a:rPr lang="en-US" altLang="zh-TW" b="0" dirty="0">
                <a:solidFill>
                  <a:srgbClr val="C594C5"/>
                </a:solidFill>
                <a:effectLst/>
                <a:latin typeface="Consolas" panose="020B0609020204030204" pitchFamily="49" charset="0"/>
              </a:rPr>
              <a:t> %}</a:t>
            </a:r>
            <a:endParaRPr lang="en-US" altLang="zh-TW" b="0" dirty="0">
              <a:solidFill>
                <a:srgbClr val="CDD3DE"/>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59</a:t>
            </a:fld>
            <a:endParaRPr lang="zh-TW" altLang="en-US"/>
          </a:p>
        </p:txBody>
      </p:sp>
    </p:spTree>
    <p:extLst>
      <p:ext uri="{BB962C8B-B14F-4D97-AF65-F5344CB8AC3E}">
        <p14:creationId xmlns:p14="http://schemas.microsoft.com/office/powerpoint/2010/main" val="3567211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bgcolor</a:t>
            </a:r>
            <a:r>
              <a:rPr lang="zh-TW" altLang="en-US" dirty="0"/>
              <a:t>可不加引號，就可直接看到顏色，網頁顯示結果相同</a:t>
            </a:r>
            <a:endParaRPr lang="en-US" altLang="zh-TW" dirty="0"/>
          </a:p>
          <a:p>
            <a:r>
              <a:rPr lang="zh-TW" altLang="en-US" dirty="0"/>
              <a:t>先</a:t>
            </a:r>
            <a:r>
              <a:rPr lang="en-US" altLang="zh-TW" dirty="0"/>
              <a:t>show</a:t>
            </a:r>
            <a:r>
              <a:rPr lang="zh-TW" altLang="en-US" dirty="0"/>
              <a:t>結果，若</a:t>
            </a:r>
            <a:r>
              <a:rPr lang="en-US" altLang="zh-TW" dirty="0"/>
              <a:t>ok</a:t>
            </a:r>
            <a:r>
              <a:rPr lang="zh-TW" altLang="en-US" dirty="0"/>
              <a:t>再往下頁</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63</a:t>
            </a:fld>
            <a:endParaRPr lang="zh-TW" altLang="en-US"/>
          </a:p>
        </p:txBody>
      </p:sp>
    </p:spTree>
    <p:extLst>
      <p:ext uri="{BB962C8B-B14F-4D97-AF65-F5344CB8AC3E}">
        <p14:creationId xmlns:p14="http://schemas.microsoft.com/office/powerpoint/2010/main" val="2879091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CCCCCC"/>
                </a:solidFill>
                <a:effectLst/>
                <a:latin typeface="Consolas" panose="020B0609020204030204" pitchFamily="49" charset="0"/>
              </a:rPr>
              <a:t>tr&gt;td*2</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64</a:t>
            </a:fld>
            <a:endParaRPr lang="zh-TW" altLang="en-US"/>
          </a:p>
        </p:txBody>
      </p:sp>
    </p:spTree>
    <p:extLst>
      <p:ext uri="{BB962C8B-B14F-4D97-AF65-F5344CB8AC3E}">
        <p14:creationId xmlns:p14="http://schemas.microsoft.com/office/powerpoint/2010/main" val="31743563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練習：可試看看套用</a:t>
            </a:r>
            <a:r>
              <a:rPr lang="en-US" altLang="zh-TW" dirty="0"/>
              <a:t>base-html</a:t>
            </a:r>
            <a:r>
              <a:rPr lang="zh-TW" altLang="en-US" dirty="0"/>
              <a:t>的</a:t>
            </a:r>
            <a:r>
              <a:rPr lang="en-US" altLang="zh-TW" dirty="0"/>
              <a:t>bs</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65</a:t>
            </a:fld>
            <a:endParaRPr lang="zh-TW" altLang="en-US"/>
          </a:p>
        </p:txBody>
      </p:sp>
    </p:spTree>
    <p:extLst>
      <p:ext uri="{BB962C8B-B14F-4D97-AF65-F5344CB8AC3E}">
        <p14:creationId xmlns:p14="http://schemas.microsoft.com/office/powerpoint/2010/main" val="1613649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a:t>
            </a:r>
            <a:r>
              <a:rPr lang="en-US" altLang="zh-TW" b="0" dirty="0" err="1">
                <a:solidFill>
                  <a:srgbClr val="99C794"/>
                </a:solidFill>
                <a:effectLst/>
                <a:latin typeface="Consolas" panose="020B0609020204030204" pitchFamily="49" charset="0"/>
              </a:rPr>
              <a:t>django.contrib.humanize</a:t>
            </a:r>
            <a:r>
              <a:rPr lang="en-US" altLang="zh-TW" b="0" dirty="0">
                <a:solidFill>
                  <a:srgbClr val="5FB3B3"/>
                </a:solidFill>
                <a:effectLst/>
                <a:latin typeface="Consolas" panose="020B0609020204030204" pitchFamily="49" charset="0"/>
              </a:rPr>
              <a:t>',</a:t>
            </a:r>
            <a:endParaRPr lang="en-US" altLang="zh-TW" b="0" dirty="0">
              <a:solidFill>
                <a:srgbClr val="CDD3DE"/>
              </a:solidFill>
              <a:effectLst/>
              <a:latin typeface="Consolas" panose="020B0609020204030204" pitchFamily="49" charset="0"/>
            </a:endParaRPr>
          </a:p>
          <a:p>
            <a:pPr>
              <a:lnSpc>
                <a:spcPts val="1425"/>
              </a:lnSpc>
            </a:pPr>
            <a:r>
              <a:rPr lang="en-US" altLang="zh-TW" b="0" dirty="0">
                <a:solidFill>
                  <a:srgbClr val="CDD3DE"/>
                </a:solidFill>
                <a:effectLst/>
                <a:latin typeface="Consolas" panose="020B0609020204030204" pitchFamily="49" charset="0"/>
              </a:rPr>
              <a:t>    </a:t>
            </a:r>
            <a:r>
              <a:rPr lang="en-US" altLang="zh-TW" b="0" dirty="0">
                <a:solidFill>
                  <a:srgbClr val="5FB3B3"/>
                </a:solidFill>
                <a:effectLst/>
                <a:latin typeface="Consolas" panose="020B0609020204030204" pitchFamily="49" charset="0"/>
              </a:rPr>
              <a:t>'</a:t>
            </a:r>
            <a:r>
              <a:rPr lang="en-US" altLang="zh-TW" b="0" dirty="0" err="1">
                <a:solidFill>
                  <a:srgbClr val="99C794"/>
                </a:solidFill>
                <a:effectLst/>
                <a:latin typeface="Consolas" panose="020B0609020204030204" pitchFamily="49" charset="0"/>
              </a:rPr>
              <a:t>mysite</a:t>
            </a:r>
            <a:r>
              <a:rPr lang="en-US" altLang="zh-TW" b="0" dirty="0">
                <a:solidFill>
                  <a:srgbClr val="5FB3B3"/>
                </a:solidFill>
                <a:effectLst/>
                <a:latin typeface="Consolas" panose="020B0609020204030204" pitchFamily="49" charset="0"/>
              </a:rPr>
              <a:t>’,</a:t>
            </a:r>
          </a:p>
          <a:p>
            <a:pPr>
              <a:lnSpc>
                <a:spcPts val="1425"/>
              </a:lnSpc>
            </a:pPr>
            <a:r>
              <a:rPr lang="en-US" altLang="zh-TW" b="0" dirty="0" err="1">
                <a:solidFill>
                  <a:srgbClr val="5FB3B3"/>
                </a:solidFill>
                <a:effectLst/>
                <a:latin typeface="Consolas" panose="020B0609020204030204" pitchFamily="49" charset="0"/>
              </a:rPr>
              <a:t>Car_list</a:t>
            </a:r>
            <a:r>
              <a:rPr lang="zh-TW" altLang="en-US" b="0" dirty="0">
                <a:solidFill>
                  <a:srgbClr val="5FB3B3"/>
                </a:solidFill>
                <a:effectLst/>
                <a:latin typeface="Consolas" panose="020B0609020204030204" pitchFamily="49" charset="0"/>
              </a:rPr>
              <a:t>會出現</a:t>
            </a:r>
            <a:r>
              <a:rPr lang="en-US" altLang="zh-TW" b="0" dirty="0">
                <a:solidFill>
                  <a:srgbClr val="5FB3B3"/>
                </a:solidFill>
                <a:effectLst/>
                <a:latin typeface="Consolas" panose="020B0609020204030204" pitchFamily="49" charset="0"/>
              </a:rPr>
              <a:t>indent</a:t>
            </a:r>
            <a:r>
              <a:rPr lang="zh-TW" altLang="en-US" b="0" dirty="0">
                <a:solidFill>
                  <a:srgbClr val="5FB3B3"/>
                </a:solidFill>
                <a:effectLst/>
                <a:latin typeface="Consolas" panose="020B0609020204030204" pitchFamily="49" charset="0"/>
              </a:rPr>
              <a:t>錯誤，原因是</a:t>
            </a:r>
            <a:r>
              <a:rPr lang="en-US" altLang="zh-TW" b="0" dirty="0" err="1">
                <a:solidFill>
                  <a:srgbClr val="5FB3B3"/>
                </a:solidFill>
                <a:effectLst/>
                <a:latin typeface="Consolas" panose="020B0609020204030204" pitchFamily="49" charset="0"/>
              </a:rPr>
              <a:t>car_maker</a:t>
            </a:r>
            <a:r>
              <a:rPr lang="zh-TW" altLang="en-US" b="0" dirty="0">
                <a:solidFill>
                  <a:srgbClr val="5FB3B3"/>
                </a:solidFill>
                <a:effectLst/>
                <a:latin typeface="Consolas" panose="020B0609020204030204" pitchFamily="49" charset="0"/>
              </a:rPr>
              <a:t>前面是空格不是</a:t>
            </a:r>
            <a:r>
              <a:rPr lang="en-US" altLang="zh-TW" b="0" dirty="0">
                <a:solidFill>
                  <a:srgbClr val="5FB3B3"/>
                </a:solidFill>
                <a:effectLst/>
                <a:latin typeface="Consolas" panose="020B0609020204030204" pitchFamily="49" charset="0"/>
              </a:rPr>
              <a:t>tab</a:t>
            </a:r>
            <a:r>
              <a:rPr lang="zh-TW" altLang="en-US" b="0" dirty="0">
                <a:solidFill>
                  <a:srgbClr val="5FB3B3"/>
                </a:solidFill>
                <a:effectLst/>
                <a:latin typeface="Consolas" panose="020B0609020204030204" pitchFamily="49" charset="0"/>
              </a:rPr>
              <a:t>和</a:t>
            </a:r>
            <a:r>
              <a:rPr lang="en-US" altLang="zh-TW" b="0" dirty="0" err="1">
                <a:solidFill>
                  <a:srgbClr val="5FB3B3"/>
                </a:solidFill>
                <a:effectLst/>
                <a:latin typeface="Consolas" panose="020B0609020204030204" pitchFamily="49" charset="0"/>
              </a:rPr>
              <a:t>car_list</a:t>
            </a:r>
            <a:r>
              <a:rPr lang="zh-TW" altLang="en-US" b="0" dirty="0">
                <a:solidFill>
                  <a:srgbClr val="5FB3B3"/>
                </a:solidFill>
                <a:effectLst/>
                <a:latin typeface="Consolas" panose="020B0609020204030204" pitchFamily="49" charset="0"/>
              </a:rPr>
              <a:t>不一致</a:t>
            </a:r>
            <a:endParaRPr lang="en-US" altLang="zh-TW" b="0" dirty="0">
              <a:solidFill>
                <a:srgbClr val="5FB3B3"/>
              </a:solidFill>
              <a:effectLst/>
              <a:latin typeface="Consolas" panose="020B0609020204030204" pitchFamily="49" charset="0"/>
            </a:endParaRPr>
          </a:p>
          <a:p>
            <a:pPr>
              <a:lnSpc>
                <a:spcPts val="1425"/>
              </a:lnSpc>
            </a:pPr>
            <a:r>
              <a:rPr lang="zh-TW" altLang="en-US" b="0" dirty="0">
                <a:solidFill>
                  <a:srgbClr val="CDD3DE"/>
                </a:solidFill>
                <a:effectLst/>
                <a:latin typeface="Consolas" panose="020B0609020204030204" pitchFamily="49" charset="0"/>
              </a:rPr>
              <a:t>將他們都修正為</a:t>
            </a:r>
            <a:r>
              <a:rPr lang="en-US" altLang="zh-TW" b="0" dirty="0">
                <a:solidFill>
                  <a:srgbClr val="CDD3DE"/>
                </a:solidFill>
                <a:effectLst/>
                <a:latin typeface="Consolas" panose="020B0609020204030204" pitchFamily="49" charset="0"/>
              </a:rPr>
              <a:t>tab</a:t>
            </a:r>
            <a:r>
              <a:rPr lang="zh-TW" altLang="en-US" b="0" dirty="0">
                <a:solidFill>
                  <a:srgbClr val="CDD3DE"/>
                </a:solidFill>
                <a:effectLst/>
                <a:latin typeface="Consolas" panose="020B0609020204030204" pitchFamily="49" charset="0"/>
              </a:rPr>
              <a:t>即可</a:t>
            </a:r>
            <a:r>
              <a:rPr lang="en-US" altLang="zh-TW" b="0" dirty="0">
                <a:solidFill>
                  <a:srgbClr val="CDD3DE"/>
                </a:solidFill>
                <a:effectLst/>
                <a:latin typeface="Consolas" panose="020B0609020204030204" pitchFamily="49" charset="0"/>
              </a:rPr>
              <a:t>(</a:t>
            </a:r>
            <a:r>
              <a:rPr lang="zh-TW" altLang="en-US" b="0" dirty="0">
                <a:solidFill>
                  <a:srgbClr val="CDD3DE"/>
                </a:solidFill>
                <a:effectLst/>
                <a:latin typeface="Consolas" panose="020B0609020204030204" pitchFamily="49" charset="0"/>
              </a:rPr>
              <a:t>統一就好</a:t>
            </a:r>
            <a:r>
              <a:rPr lang="en-US" altLang="zh-TW" b="0" dirty="0">
                <a:solidFill>
                  <a:srgbClr val="CDD3DE"/>
                </a:solidFill>
                <a:effectLst/>
                <a:latin typeface="Consolas" panose="020B0609020204030204" pitchFamily="49" charset="0"/>
              </a:rPr>
              <a:t>)</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72</a:t>
            </a:fld>
            <a:endParaRPr lang="zh-TW" altLang="en-US"/>
          </a:p>
        </p:txBody>
      </p:sp>
    </p:spTree>
    <p:extLst>
      <p:ext uri="{BB962C8B-B14F-4D97-AF65-F5344CB8AC3E}">
        <p14:creationId xmlns:p14="http://schemas.microsoft.com/office/powerpoint/2010/main" val="22863407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ts val="1425"/>
              </a:lnSpc>
            </a:pPr>
            <a:r>
              <a:rPr lang="en-US" altLang="zh-TW" dirty="0"/>
              <a:t>Copy carlist.html </a:t>
            </a:r>
            <a:r>
              <a:rPr lang="zh-TW" altLang="en-US" dirty="0"/>
              <a:t>改名成</a:t>
            </a:r>
            <a:r>
              <a:rPr lang="en-US" altLang="zh-TW" dirty="0"/>
              <a:t> carprice.html</a:t>
            </a:r>
          </a:p>
          <a:p>
            <a:pPr>
              <a:lnSpc>
                <a:spcPts val="1425"/>
              </a:lnSpc>
            </a:pPr>
            <a:r>
              <a:rPr lang="zh-TW" altLang="en-US" dirty="0"/>
              <a:t>在</a:t>
            </a:r>
            <a:r>
              <a:rPr lang="en-US" altLang="zh-TW" dirty="0"/>
              <a:t> </a:t>
            </a:r>
            <a:r>
              <a:rPr lang="en-US" altLang="zh-TW" dirty="0" err="1"/>
              <a:t>carprice.heml</a:t>
            </a:r>
            <a:r>
              <a:rPr lang="en-US" altLang="zh-TW" dirty="0"/>
              <a:t>, </a:t>
            </a:r>
            <a:r>
              <a:rPr lang="zh-TW" altLang="en-US" dirty="0"/>
              <a:t>取代</a:t>
            </a:r>
            <a:r>
              <a:rPr lang="en-US" altLang="zh-TW" dirty="0"/>
              <a:t> </a:t>
            </a:r>
            <a:r>
              <a:rPr lang="en-US" altLang="zh-TW" dirty="0" err="1"/>
              <a:t>carlist</a:t>
            </a:r>
            <a:r>
              <a:rPr lang="en-US" altLang="zh-TW" dirty="0"/>
              <a:t> </a:t>
            </a:r>
            <a:r>
              <a:rPr lang="zh-TW" altLang="en-US" dirty="0"/>
              <a:t>成</a:t>
            </a:r>
            <a:r>
              <a:rPr lang="en-US" altLang="zh-TW" dirty="0"/>
              <a:t> </a:t>
            </a:r>
            <a:r>
              <a:rPr lang="en-US" altLang="zh-TW" dirty="0" err="1"/>
              <a:t>carprice</a:t>
            </a:r>
            <a:endParaRPr lang="en-US" altLang="zh-TW" dirty="0"/>
          </a:p>
          <a:p>
            <a:pPr>
              <a:lnSpc>
                <a:spcPts val="1425"/>
              </a:lnSpc>
            </a:pPr>
            <a:r>
              <a:rPr lang="zh-TW" altLang="en-US" dirty="0"/>
              <a:t>注意：在</a:t>
            </a:r>
            <a:r>
              <a:rPr lang="en-US" altLang="zh-TW" dirty="0"/>
              <a:t>Template </a:t>
            </a:r>
            <a:r>
              <a:rPr lang="zh-TW" altLang="en-US" dirty="0"/>
              <a:t>檔案中加上</a:t>
            </a:r>
            <a:r>
              <a:rPr lang="en-US" altLang="zh-TW" dirty="0"/>
              <a:t>{% load humanize %}</a:t>
            </a:r>
            <a:r>
              <a:rPr lang="zh-TW" altLang="en-US" dirty="0"/>
              <a:t>才可以使用。</a:t>
            </a:r>
            <a:r>
              <a:rPr lang="en-US" altLang="zh-TW" dirty="0"/>
              <a:t>(</a:t>
            </a:r>
            <a:r>
              <a:rPr lang="zh-TW" altLang="en-US" dirty="0"/>
              <a:t>放最上面</a:t>
            </a:r>
            <a:r>
              <a:rPr lang="en-US" altLang="zh-TW" dirty="0"/>
              <a:t>)</a:t>
            </a:r>
          </a:p>
          <a:p>
            <a:pPr marL="0" marR="0" lvl="0" indent="0" algn="l" defTabSz="914400" rtl="0" eaLnBrk="1" fontAlgn="auto" latinLnBrk="0" hangingPunct="1">
              <a:lnSpc>
                <a:spcPts val="1425"/>
              </a:lnSpc>
              <a:spcBef>
                <a:spcPts val="0"/>
              </a:spcBef>
              <a:spcAft>
                <a:spcPts val="0"/>
              </a:spcAft>
              <a:buClrTx/>
              <a:buSzTx/>
              <a:buFontTx/>
              <a:buNone/>
              <a:tabLst/>
              <a:defRPr/>
            </a:pPr>
            <a:r>
              <a:rPr lang="zh-TW" altLang="en-US" dirty="0"/>
              <a:t>否則會出現</a:t>
            </a:r>
            <a:r>
              <a:rPr lang="en-US" altLang="zh-TW" b="1" dirty="0"/>
              <a:t>Invalid filter: '</a:t>
            </a:r>
            <a:r>
              <a:rPr lang="en-US" altLang="zh-TW" b="1" dirty="0" err="1"/>
              <a:t>intcomma</a:t>
            </a:r>
            <a:r>
              <a:rPr lang="en-US" altLang="zh-TW" b="1" dirty="0"/>
              <a:t>’</a:t>
            </a:r>
          </a:p>
          <a:p>
            <a:pPr marL="0" marR="0" lvl="0" indent="0" algn="l" defTabSz="914400" rtl="0" eaLnBrk="1" fontAlgn="auto" latinLnBrk="0" hangingPunct="1">
              <a:lnSpc>
                <a:spcPts val="1425"/>
              </a:lnSpc>
              <a:spcBef>
                <a:spcPts val="0"/>
              </a:spcBef>
              <a:spcAft>
                <a:spcPts val="0"/>
              </a:spcAft>
              <a:buClrTx/>
              <a:buSzTx/>
              <a:buFontTx/>
              <a:buNone/>
              <a:tabLst/>
              <a:defRPr/>
            </a:pPr>
            <a:r>
              <a:rPr lang="en-US" altLang="zh-TW" b="0" dirty="0"/>
              <a:t>show</a:t>
            </a:r>
            <a:r>
              <a:rPr lang="zh-TW" altLang="en-US" b="0" dirty="0"/>
              <a:t>價格那行加在</a:t>
            </a:r>
            <a:r>
              <a:rPr lang="en-US" altLang="zh-TW" b="0" dirty="0">
                <a:solidFill>
                  <a:srgbClr val="C594C5"/>
                </a:solidFill>
                <a:effectLst/>
                <a:latin typeface="Consolas" panose="020B0609020204030204" pitchFamily="49" charset="0"/>
              </a:rPr>
              <a:t>{{</a:t>
            </a:r>
            <a:r>
              <a:rPr lang="en-US" altLang="zh-TW" b="0" dirty="0" err="1">
                <a:solidFill>
                  <a:srgbClr val="99C794"/>
                </a:solidFill>
                <a:effectLst/>
                <a:latin typeface="Consolas" panose="020B0609020204030204" pitchFamily="49" charset="0"/>
              </a:rPr>
              <a:t>maker_name</a:t>
            </a:r>
            <a:r>
              <a:rPr lang="en-US" altLang="zh-TW" b="0" dirty="0">
                <a:solidFill>
                  <a:srgbClr val="C594C5"/>
                </a:solidFill>
                <a:effectLst/>
                <a:latin typeface="Consolas" panose="020B0609020204030204" pitchFamily="49" charset="0"/>
              </a:rPr>
              <a:t>}}</a:t>
            </a:r>
            <a:r>
              <a:rPr lang="zh-TW" altLang="en-US" b="0" dirty="0">
                <a:solidFill>
                  <a:srgbClr val="C594C5"/>
                </a:solidFill>
                <a:effectLst/>
                <a:latin typeface="Consolas" panose="020B0609020204030204" pitchFamily="49" charset="0"/>
              </a:rPr>
              <a:t>那行下面</a:t>
            </a:r>
            <a:endParaRPr lang="en-US" altLang="zh-TW" b="0" dirty="0">
              <a:solidFill>
                <a:srgbClr val="CDD3DE"/>
              </a:solidFill>
              <a:effectLst/>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endParaRPr lang="en-US" altLang="zh-TW" dirty="0"/>
          </a:p>
          <a:p>
            <a:pPr>
              <a:lnSpc>
                <a:spcPts val="1425"/>
              </a:lnSpc>
            </a:pP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74</a:t>
            </a:fld>
            <a:endParaRPr lang="zh-TW" altLang="en-US"/>
          </a:p>
        </p:txBody>
      </p:sp>
    </p:spTree>
    <p:extLst>
      <p:ext uri="{BB962C8B-B14F-4D97-AF65-F5344CB8AC3E}">
        <p14:creationId xmlns:p14="http://schemas.microsoft.com/office/powerpoint/2010/main" val="3132847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2026/5/27</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2026/5/27</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2026/5/27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2026/5/27</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2026/5/27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2026/5/27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2026/5/27</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2026/5/27</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2026/5/27</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extLst>
      <p:ext uri="{BB962C8B-B14F-4D97-AF65-F5344CB8AC3E}">
        <p14:creationId xmlns:p14="http://schemas.microsoft.com/office/powerpoint/2010/main" val="26608400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extLst>
      <p:ext uri="{BB962C8B-B14F-4D97-AF65-F5344CB8AC3E}">
        <p14:creationId xmlns:p14="http://schemas.microsoft.com/office/powerpoint/2010/main" val="212774347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2026/5/27</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extLst>
      <p:ext uri="{BB962C8B-B14F-4D97-AF65-F5344CB8AC3E}">
        <p14:creationId xmlns:p14="http://schemas.microsoft.com/office/powerpoint/2010/main" val="191232264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2026/5/27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extLst>
      <p:ext uri="{BB962C8B-B14F-4D97-AF65-F5344CB8AC3E}">
        <p14:creationId xmlns:p14="http://schemas.microsoft.com/office/powerpoint/2010/main" val="1787190951"/>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2026/5/27</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extLst>
      <p:ext uri="{BB962C8B-B14F-4D97-AF65-F5344CB8AC3E}">
        <p14:creationId xmlns:p14="http://schemas.microsoft.com/office/powerpoint/2010/main" val="3699313451"/>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2026/5/27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extLst>
      <p:ext uri="{BB962C8B-B14F-4D97-AF65-F5344CB8AC3E}">
        <p14:creationId xmlns:p14="http://schemas.microsoft.com/office/powerpoint/2010/main" val="2540785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2026/5/27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extLst>
      <p:ext uri="{BB962C8B-B14F-4D97-AF65-F5344CB8AC3E}">
        <p14:creationId xmlns:p14="http://schemas.microsoft.com/office/powerpoint/2010/main" val="8416528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2026/5/27</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extLst>
      <p:ext uri="{BB962C8B-B14F-4D97-AF65-F5344CB8AC3E}">
        <p14:creationId xmlns:p14="http://schemas.microsoft.com/office/powerpoint/2010/main" val="335409862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2026/5/27</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extLst>
      <p:ext uri="{BB962C8B-B14F-4D97-AF65-F5344CB8AC3E}">
        <p14:creationId xmlns:p14="http://schemas.microsoft.com/office/powerpoint/2010/main" val="41400489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extLst>
      <p:ext uri="{BB962C8B-B14F-4D97-AF65-F5344CB8AC3E}">
        <p14:creationId xmlns:p14="http://schemas.microsoft.com/office/powerpoint/2010/main" val="37550319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2026/5/27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extLst>
      <p:ext uri="{BB962C8B-B14F-4D97-AF65-F5344CB8AC3E}">
        <p14:creationId xmlns:p14="http://schemas.microsoft.com/office/powerpoint/2010/main" val="284829599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2026/5/27</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2026/5/27</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extLst>
      <p:ext uri="{BB962C8B-B14F-4D97-AF65-F5344CB8AC3E}">
        <p14:creationId xmlns:p14="http://schemas.microsoft.com/office/powerpoint/2010/main" val="13815252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028700" y="2819400"/>
            <a:ext cx="7086600" cy="681608"/>
          </a:xfrm>
        </p:spPr>
        <p:txBody>
          <a:bodyPr>
            <a:normAutofit/>
          </a:bodyPr>
          <a:lstStyle/>
          <a:p>
            <a:r>
              <a:rPr lang="zh-TW" altLang="en-US" sz="2400">
                <a:latin typeface="+mj-ea"/>
              </a:rPr>
              <a:t>活用</a:t>
            </a:r>
            <a:r>
              <a:rPr lang="en-US" altLang="zh-TW" sz="2400" dirty="0">
                <a:latin typeface="+mj-ea"/>
              </a:rPr>
              <a:t>Django4</a:t>
            </a:r>
            <a:r>
              <a:rPr lang="zh-TW" altLang="en-US" sz="2400">
                <a:latin typeface="+mj-ea"/>
              </a:rPr>
              <a:t>建構動態網站的</a:t>
            </a:r>
            <a:r>
              <a:rPr lang="en-US" altLang="zh-TW" sz="2400" dirty="0">
                <a:latin typeface="+mj-ea"/>
              </a:rPr>
              <a:t>16</a:t>
            </a:r>
            <a:r>
              <a:rPr lang="zh-TW" altLang="en-US" sz="2400">
                <a:latin typeface="+mj-ea"/>
              </a:rPr>
              <a:t>堂課</a:t>
            </a:r>
            <a:endParaRPr lang="zh-TW" altLang="en-US" sz="2400" dirty="0">
              <a:latin typeface="+mj-ea"/>
            </a:endParaRPr>
          </a:p>
        </p:txBody>
      </p:sp>
      <p:sp>
        <p:nvSpPr>
          <p:cNvPr id="2" name="標題 1"/>
          <p:cNvSpPr>
            <a:spLocks noGrp="1"/>
          </p:cNvSpPr>
          <p:nvPr>
            <p:ph type="ctrTitle"/>
          </p:nvPr>
        </p:nvSpPr>
        <p:spPr/>
        <p:txBody>
          <a:bodyPr>
            <a:normAutofit/>
          </a:bodyPr>
          <a:lstStyle/>
          <a:p>
            <a:r>
              <a:rPr lang="zh-TW" altLang="en-US" dirty="0"/>
              <a:t>第六堂</a:t>
            </a:r>
            <a:br>
              <a:rPr lang="en-US" altLang="zh-TW" dirty="0"/>
            </a:br>
            <a:r>
              <a:rPr lang="en-US" altLang="zh-TW" dirty="0"/>
              <a:t>Template</a:t>
            </a:r>
            <a:r>
              <a:rPr lang="zh-TW" altLang="zh-TW" dirty="0"/>
              <a:t>深入探討</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p:txBody>
          <a:bodyPr>
            <a:normAutofit/>
          </a:bodyPr>
          <a:lstStyle/>
          <a:p>
            <a:pPr lvl="0"/>
            <a:r>
              <a:rPr lang="en-US" altLang="zh-TW" dirty="0"/>
              <a:t>Template</a:t>
            </a:r>
            <a:r>
              <a:rPr lang="zh-TW" altLang="zh-TW" dirty="0"/>
              <a:t>的設定與運作</a:t>
            </a:r>
            <a:endParaRPr lang="en-US" altLang="zh-TW" dirty="0"/>
          </a:p>
          <a:p>
            <a:r>
              <a:rPr lang="zh-TW" altLang="zh-TW" dirty="0"/>
              <a:t>進階</a:t>
            </a:r>
            <a:r>
              <a:rPr lang="en-US" altLang="zh-TW" dirty="0"/>
              <a:t>Template</a:t>
            </a:r>
            <a:r>
              <a:rPr lang="zh-TW" altLang="zh-TW" dirty="0"/>
              <a:t>技巧</a:t>
            </a:r>
            <a:endParaRPr lang="en-US" altLang="zh-TW" dirty="0"/>
          </a:p>
          <a:p>
            <a:pPr lvl="1"/>
            <a:r>
              <a:rPr lang="en-US" altLang="zh-TW" dirty="0"/>
              <a:t>Template</a:t>
            </a:r>
            <a:r>
              <a:rPr lang="zh-TW" altLang="en-US" dirty="0"/>
              <a:t>的繼承</a:t>
            </a:r>
            <a:endParaRPr lang="en-US" altLang="zh-TW" dirty="0"/>
          </a:p>
          <a:p>
            <a:pPr lvl="1"/>
            <a:r>
              <a:rPr lang="zh-TW" altLang="zh-TW" dirty="0"/>
              <a:t>共用模板的使用範例</a:t>
            </a:r>
          </a:p>
          <a:p>
            <a:r>
              <a:rPr lang="en-US" altLang="zh-TW" dirty="0"/>
              <a:t>Template</a:t>
            </a:r>
            <a:r>
              <a:rPr lang="zh-TW" altLang="zh-TW" dirty="0"/>
              <a:t>語言</a:t>
            </a:r>
            <a:r>
              <a:rPr lang="en-US" altLang="zh-TW" dirty="0"/>
              <a:t>(</a:t>
            </a:r>
            <a:r>
              <a:rPr lang="zh-TW" altLang="en-US" dirty="0"/>
              <a:t>語法</a:t>
            </a:r>
            <a:r>
              <a:rPr lang="en-US" altLang="zh-TW" dirty="0"/>
              <a:t>)</a:t>
            </a:r>
            <a:endParaRPr lang="zh-TW" altLang="zh-TW" dirty="0"/>
          </a:p>
          <a:p>
            <a:pPr lvl="1"/>
            <a:r>
              <a:rPr lang="zh-TW" altLang="en-US" dirty="0"/>
              <a:t>決策指令</a:t>
            </a:r>
          </a:p>
          <a:p>
            <a:pPr lvl="1"/>
            <a:r>
              <a:rPr lang="zh-TW" altLang="en-US" dirty="0"/>
              <a:t>迴圈指令</a:t>
            </a:r>
          </a:p>
          <a:p>
            <a:pPr lvl="1"/>
            <a:r>
              <a:rPr lang="zh-TW" altLang="en-US" dirty="0"/>
              <a:t>過濾器與其它的語法標記</a:t>
            </a:r>
          </a:p>
          <a:p>
            <a:pPr lvl="1"/>
            <a:endParaRPr lang="en-US" altLang="zh-TW"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的設定與運作</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Template</a:t>
            </a:r>
            <a:r>
              <a:rPr lang="zh-TW" altLang="zh-TW" dirty="0"/>
              <a:t>之前，首先要到</a:t>
            </a:r>
            <a:r>
              <a:rPr lang="en-US" altLang="zh-TW" dirty="0"/>
              <a:t>setttings.py</a:t>
            </a:r>
            <a:r>
              <a:rPr lang="zh-TW" altLang="zh-TW" dirty="0"/>
              <a:t>中去做好資料夾的設定工作，安排所有的</a:t>
            </a:r>
            <a:r>
              <a:rPr lang="en-US" altLang="zh-TW" dirty="0"/>
              <a:t>.html</a:t>
            </a:r>
            <a:r>
              <a:rPr lang="zh-TW" altLang="zh-TW" dirty="0"/>
              <a:t>在同一個資料夾中，並把</a:t>
            </a:r>
            <a:r>
              <a:rPr lang="en-US" altLang="zh-TW" dirty="0"/>
              <a:t>DIR</a:t>
            </a:r>
            <a:r>
              <a:rPr lang="zh-TW" altLang="zh-TW" dirty="0"/>
              <a:t>指到這個</a:t>
            </a:r>
            <a:r>
              <a:rPr lang="zh-TW" altLang="zh-TW"/>
              <a:t>資料夾。</a:t>
            </a:r>
            <a:endParaRPr lang="en-US" altLang="zh-TW" dirty="0"/>
          </a:p>
          <a:p>
            <a:r>
              <a:rPr lang="zh-TW" altLang="zh-TW"/>
              <a:t>如果</a:t>
            </a:r>
            <a:r>
              <a:rPr lang="zh-TW" altLang="zh-TW" dirty="0"/>
              <a:t>不想要使用預設的模板引擎，也可以自行更換。</a:t>
            </a:r>
          </a:p>
        </p:txBody>
      </p:sp>
    </p:spTree>
    <p:extLst>
      <p:ext uri="{BB962C8B-B14F-4D97-AF65-F5344CB8AC3E}">
        <p14:creationId xmlns:p14="http://schemas.microsoft.com/office/powerpoint/2010/main" val="3526118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a:t>
            </a:r>
            <a:r>
              <a:rPr lang="en-US" altLang="zh-TW" dirty="0"/>
              <a:t>settings.py</a:t>
            </a:r>
            <a:r>
              <a:rPr lang="zh-TW" altLang="zh-TW" dirty="0"/>
              <a:t>設定</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a:t>
            </a:fld>
            <a:endParaRPr lang="zh-TW" altLang="en-US"/>
          </a:p>
        </p:txBody>
      </p:sp>
      <p:sp>
        <p:nvSpPr>
          <p:cNvPr id="4" name="內容版面配置區 3"/>
          <p:cNvSpPr>
            <a:spLocks noGrp="1"/>
          </p:cNvSpPr>
          <p:nvPr>
            <p:ph sz="quarter" idx="1"/>
          </p:nvPr>
        </p:nvSpPr>
        <p:spPr>
          <a:xfrm>
            <a:off x="301752" y="1527048"/>
            <a:ext cx="8534400" cy="4998296"/>
          </a:xfrm>
        </p:spPr>
        <p:txBody>
          <a:bodyPr>
            <a:normAutofit fontScale="77500" lnSpcReduction="20000"/>
          </a:bodyPr>
          <a:lstStyle/>
          <a:p>
            <a:r>
              <a:rPr lang="en-US" altLang="zh-TW" sz="3100" dirty="0"/>
              <a:t>settings.py</a:t>
            </a:r>
            <a:r>
              <a:rPr lang="zh-TW" altLang="zh-TW" sz="3100" dirty="0"/>
              <a:t>中和</a:t>
            </a:r>
            <a:r>
              <a:rPr lang="en-US" altLang="zh-TW" sz="3100" dirty="0"/>
              <a:t>Template</a:t>
            </a:r>
            <a:r>
              <a:rPr lang="zh-TW" altLang="zh-TW" sz="3100" dirty="0"/>
              <a:t>有關設定如下：</a:t>
            </a:r>
          </a:p>
          <a:p>
            <a:pPr marL="274320" lvl="1" indent="0">
              <a:buNone/>
            </a:pPr>
            <a:r>
              <a:rPr lang="en-US" altLang="zh-TW" sz="2300" dirty="0"/>
              <a:t>TEMPLATES =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'BACKEND': '</a:t>
            </a:r>
            <a:r>
              <a:rPr lang="en-US" altLang="zh-TW" sz="2300" dirty="0" err="1"/>
              <a:t>django.template.backends.django.DjangoTemplates</a:t>
            </a:r>
            <a:r>
              <a:rPr lang="en-US" altLang="zh-TW" sz="2300" dirty="0"/>
              <a:t>',</a:t>
            </a:r>
            <a:endParaRPr lang="zh-TW" altLang="zh-TW" sz="2300" dirty="0"/>
          </a:p>
          <a:p>
            <a:pPr marL="274320" lvl="1" indent="0">
              <a:buNone/>
            </a:pPr>
            <a:r>
              <a:rPr lang="en-US" altLang="zh-TW" sz="2300" dirty="0"/>
              <a:t>        'DIRS': [BASE_DIR /</a:t>
            </a:r>
            <a:r>
              <a:rPr lang="zh-TW" altLang="en-US" sz="2300" dirty="0"/>
              <a:t> </a:t>
            </a:r>
            <a:r>
              <a:rPr lang="en-US" altLang="zh-TW" sz="2300" dirty="0">
                <a:solidFill>
                  <a:schemeClr val="accent1"/>
                </a:solidFill>
              </a:rPr>
              <a:t>'templates'</a:t>
            </a:r>
            <a:r>
              <a:rPr lang="en-US" altLang="zh-TW" sz="2300" dirty="0"/>
              <a:t>],</a:t>
            </a:r>
            <a:endParaRPr lang="zh-TW" altLang="zh-TW" sz="2300" dirty="0"/>
          </a:p>
          <a:p>
            <a:pPr marL="274320" lvl="1" indent="0">
              <a:buNone/>
            </a:pPr>
            <a:r>
              <a:rPr lang="en-US" altLang="zh-TW" sz="2300" dirty="0"/>
              <a:t>        'APP_DIRS': True,</a:t>
            </a:r>
            <a:endParaRPr lang="zh-TW" altLang="zh-TW" sz="2300" dirty="0"/>
          </a:p>
          <a:p>
            <a:pPr marL="274320" lvl="1" indent="0">
              <a:buNone/>
            </a:pPr>
            <a:r>
              <a:rPr lang="en-US" altLang="zh-TW" sz="2300" dirty="0"/>
              <a:t>        'OPTIONS': {</a:t>
            </a:r>
            <a:endParaRPr lang="zh-TW" altLang="zh-TW" sz="2300" dirty="0"/>
          </a:p>
          <a:p>
            <a:pPr marL="274320" lvl="1" indent="0">
              <a:buNone/>
            </a:pPr>
            <a:r>
              <a:rPr lang="en-US" altLang="zh-TW" sz="2300" dirty="0"/>
              <a:t>            '</a:t>
            </a:r>
            <a:r>
              <a:rPr lang="en-US" altLang="zh-TW" sz="2300" dirty="0" err="1"/>
              <a:t>context_processors</a:t>
            </a:r>
            <a:r>
              <a:rPr lang="en-US" altLang="zh-TW" sz="2300" dirty="0"/>
              <a:t>': [</a:t>
            </a:r>
            <a:endParaRPr lang="zh-TW" altLang="zh-TW" sz="2300" dirty="0"/>
          </a:p>
          <a:p>
            <a:pPr marL="274320" lvl="1" indent="0">
              <a:buNone/>
            </a:pPr>
            <a:r>
              <a:rPr lang="en-US" altLang="zh-TW" sz="2300" dirty="0"/>
              <a:t>                '</a:t>
            </a:r>
            <a:r>
              <a:rPr lang="en-US" altLang="zh-TW" sz="2300" dirty="0" err="1"/>
              <a:t>django.template.context_processors.debug</a:t>
            </a:r>
            <a:r>
              <a:rPr lang="en-US" altLang="zh-TW" sz="2300" dirty="0"/>
              <a:t>',</a:t>
            </a:r>
            <a:endParaRPr lang="zh-TW" altLang="zh-TW" sz="2300" dirty="0"/>
          </a:p>
          <a:p>
            <a:pPr marL="274320" lvl="1" indent="0">
              <a:buNone/>
            </a:pPr>
            <a:r>
              <a:rPr lang="en-US" altLang="zh-TW" sz="2300" dirty="0"/>
              <a:t>                '</a:t>
            </a:r>
            <a:r>
              <a:rPr lang="en-US" altLang="zh-TW" sz="2300" dirty="0" err="1"/>
              <a:t>django.template.context_processors.request</a:t>
            </a:r>
            <a:r>
              <a:rPr lang="en-US" altLang="zh-TW" sz="2300" dirty="0"/>
              <a:t>',</a:t>
            </a:r>
            <a:endParaRPr lang="zh-TW" altLang="zh-TW" sz="2300" dirty="0"/>
          </a:p>
          <a:p>
            <a:pPr marL="274320" lvl="1" indent="0">
              <a:buNone/>
            </a:pPr>
            <a:r>
              <a:rPr lang="en-US" altLang="zh-TW" sz="2300" dirty="0"/>
              <a:t>                '</a:t>
            </a:r>
            <a:r>
              <a:rPr lang="en-US" altLang="zh-TW" sz="2300" dirty="0" err="1"/>
              <a:t>django.contrib.auth.context_processors.auth</a:t>
            </a:r>
            <a:r>
              <a:rPr lang="en-US" altLang="zh-TW" sz="2300" dirty="0"/>
              <a:t>',</a:t>
            </a:r>
            <a:endParaRPr lang="zh-TW" altLang="zh-TW" sz="2300" dirty="0"/>
          </a:p>
          <a:p>
            <a:pPr marL="274320" lvl="1" indent="0">
              <a:buNone/>
            </a:pPr>
            <a:r>
              <a:rPr lang="en-US" altLang="zh-TW" sz="2300" dirty="0"/>
              <a:t>                '</a:t>
            </a:r>
            <a:r>
              <a:rPr lang="en-US" altLang="zh-TW" sz="2300" dirty="0" err="1"/>
              <a:t>django.contrib.messages.context_processors.messages</a:t>
            </a:r>
            <a:r>
              <a:rPr lang="en-US" altLang="zh-TW" sz="2300" dirty="0"/>
              <a:t>',</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    },</a:t>
            </a:r>
            <a:endParaRPr lang="zh-TW" altLang="zh-TW" sz="2300" dirty="0"/>
          </a:p>
          <a:p>
            <a:pPr marL="274320" lvl="1" indent="0">
              <a:buNone/>
            </a:pPr>
            <a:r>
              <a:rPr lang="en-US" altLang="zh-TW" sz="2300" dirty="0"/>
              <a:t>]</a:t>
            </a:r>
            <a:endParaRPr lang="zh-TW" altLang="zh-TW" sz="2300" dirty="0"/>
          </a:p>
          <a:p>
            <a:endParaRPr lang="zh-TW" altLang="en-US" dirty="0"/>
          </a:p>
        </p:txBody>
      </p:sp>
    </p:spTree>
    <p:extLst>
      <p:ext uri="{BB962C8B-B14F-4D97-AF65-F5344CB8AC3E}">
        <p14:creationId xmlns:p14="http://schemas.microsoft.com/office/powerpoint/2010/main" val="3991328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a:t>
            </a:r>
            <a:r>
              <a:rPr lang="en-US" altLang="zh-TW" dirty="0"/>
              <a:t>settings.py</a:t>
            </a:r>
            <a:r>
              <a:rPr lang="zh-TW" altLang="zh-TW" dirty="0"/>
              <a:t>設定</a:t>
            </a:r>
            <a:r>
              <a:rPr lang="en-US" altLang="zh-TW" dirty="0"/>
              <a:t>(demo</a:t>
            </a:r>
            <a:r>
              <a:rPr lang="zh-TW" altLang="en-US" dirty="0"/>
              <a:t>說明優先順序</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a:t>
            </a:fld>
            <a:endParaRPr lang="zh-TW" altLang="en-US"/>
          </a:p>
        </p:txBody>
      </p:sp>
      <p:sp>
        <p:nvSpPr>
          <p:cNvPr id="4" name="內容版面配置區 3"/>
          <p:cNvSpPr>
            <a:spLocks noGrp="1"/>
          </p:cNvSpPr>
          <p:nvPr>
            <p:ph sz="quarter" idx="1"/>
          </p:nvPr>
        </p:nvSpPr>
        <p:spPr/>
        <p:txBody>
          <a:bodyPr/>
          <a:lstStyle/>
          <a:p>
            <a:r>
              <a:rPr lang="en-US" altLang="zh-TW" dirty="0"/>
              <a:t>BACKEND</a:t>
            </a:r>
          </a:p>
          <a:p>
            <a:pPr lvl="1"/>
            <a:r>
              <a:rPr lang="zh-TW" altLang="en-US" dirty="0"/>
              <a:t>指定要使用的模板引擎</a:t>
            </a:r>
            <a:r>
              <a:rPr lang="en-US" altLang="zh-TW" dirty="0"/>
              <a:t>(</a:t>
            </a:r>
            <a:r>
              <a:rPr lang="zh-TW" altLang="en-US" dirty="0"/>
              <a:t>預設為</a:t>
            </a:r>
            <a:r>
              <a:rPr lang="en-US" altLang="zh-TW" dirty="0"/>
              <a:t>Django</a:t>
            </a:r>
            <a:r>
              <a:rPr lang="zh-TW" altLang="en-US" dirty="0"/>
              <a:t>模板引擎，也可使用如</a:t>
            </a:r>
            <a:r>
              <a:rPr lang="en-US" altLang="zh-TW" dirty="0">
                <a:solidFill>
                  <a:srgbClr val="FF0000"/>
                </a:solidFill>
              </a:rPr>
              <a:t>Jinja2</a:t>
            </a:r>
            <a:r>
              <a:rPr lang="zh-TW" altLang="en-US" dirty="0"/>
              <a:t>，修改成</a:t>
            </a:r>
            <a:r>
              <a:rPr lang="en-US" altLang="zh-TW" dirty="0"/>
              <a:t>django.template.backends.jinja2.Jinja2)</a:t>
            </a:r>
          </a:p>
          <a:p>
            <a:r>
              <a:rPr lang="en-US" altLang="zh-TW" dirty="0"/>
              <a:t>DIRS</a:t>
            </a:r>
          </a:p>
          <a:p>
            <a:pPr lvl="1"/>
            <a:r>
              <a:rPr lang="zh-TW" altLang="zh-TW" dirty="0"/>
              <a:t>指定</a:t>
            </a:r>
            <a:r>
              <a:rPr lang="en-US" altLang="zh-TW" dirty="0"/>
              <a:t>templates</a:t>
            </a:r>
            <a:r>
              <a:rPr lang="zh-TW" altLang="zh-TW" dirty="0"/>
              <a:t>網頁檔案</a:t>
            </a:r>
            <a:r>
              <a:rPr lang="zh-TW" altLang="en-US" dirty="0"/>
              <a:t>存放位置</a:t>
            </a:r>
            <a:endParaRPr lang="en-US" altLang="zh-TW" dirty="0"/>
          </a:p>
          <a:p>
            <a:r>
              <a:rPr lang="en-US" altLang="zh-TW" dirty="0"/>
              <a:t>APP_DIRS</a:t>
            </a:r>
          </a:p>
          <a:p>
            <a:pPr lvl="1"/>
            <a:r>
              <a:rPr lang="zh-TW" altLang="en-US" dirty="0"/>
              <a:t>設定成</a:t>
            </a:r>
            <a:r>
              <a:rPr lang="en-US" altLang="zh-TW" dirty="0"/>
              <a:t>True</a:t>
            </a:r>
            <a:r>
              <a:rPr lang="zh-TW" altLang="en-US" dirty="0"/>
              <a:t>，表示</a:t>
            </a:r>
            <a:r>
              <a:rPr lang="zh-TW" altLang="zh-TW" dirty="0"/>
              <a:t>當要使用</a:t>
            </a:r>
            <a:r>
              <a:rPr lang="en-US" altLang="zh-TW" dirty="0"/>
              <a:t>templates</a:t>
            </a:r>
            <a:r>
              <a:rPr lang="zh-TW" altLang="zh-TW" dirty="0"/>
              <a:t>網頁檔案時，則為</a:t>
            </a:r>
            <a:r>
              <a:rPr lang="zh-TW" altLang="zh-TW" dirty="0">
                <a:solidFill>
                  <a:srgbClr val="FF0000"/>
                </a:solidFill>
              </a:rPr>
              <a:t>從當前</a:t>
            </a:r>
            <a:r>
              <a:rPr lang="en-US" altLang="zh-TW" dirty="0">
                <a:solidFill>
                  <a:srgbClr val="FF0000"/>
                </a:solidFill>
              </a:rPr>
              <a:t>APP</a:t>
            </a:r>
            <a:r>
              <a:rPr lang="zh-TW" altLang="zh-TW" dirty="0">
                <a:solidFill>
                  <a:srgbClr val="FF0000"/>
                </a:solidFill>
              </a:rPr>
              <a:t>內的</a:t>
            </a:r>
            <a:r>
              <a:rPr lang="en-US" altLang="zh-TW" dirty="0">
                <a:solidFill>
                  <a:srgbClr val="FF0000"/>
                </a:solidFill>
              </a:rPr>
              <a:t>templates</a:t>
            </a:r>
            <a:r>
              <a:rPr lang="zh-TW" altLang="zh-TW" dirty="0">
                <a:solidFill>
                  <a:srgbClr val="FF0000"/>
                </a:solidFill>
              </a:rPr>
              <a:t>資料夾開始尋找</a:t>
            </a:r>
            <a:r>
              <a:rPr lang="zh-TW" altLang="zh-TW" dirty="0"/>
              <a:t>對應的模板，如果沒找到對應的模板，則會到</a:t>
            </a:r>
            <a:r>
              <a:rPr lang="en-US" altLang="zh-TW" dirty="0"/>
              <a:t>DIRS</a:t>
            </a:r>
            <a:r>
              <a:rPr lang="zh-TW" altLang="zh-TW" dirty="0"/>
              <a:t>設定的路徑找尋，假如全部都沒找到的話就會丟出</a:t>
            </a:r>
            <a:r>
              <a:rPr lang="en-US" altLang="zh-TW" dirty="0" err="1"/>
              <a:t>TemplateDoestNotExist</a:t>
            </a:r>
            <a:r>
              <a:rPr lang="zh-TW" altLang="zh-TW" dirty="0"/>
              <a:t>的例外</a:t>
            </a:r>
            <a:endParaRPr lang="zh-TW" altLang="en-US" dirty="0"/>
          </a:p>
        </p:txBody>
      </p:sp>
      <p:sp>
        <p:nvSpPr>
          <p:cNvPr id="6" name="文字方塊 5">
            <a:extLst>
              <a:ext uri="{FF2B5EF4-FFF2-40B4-BE49-F238E27FC236}">
                <a16:creationId xmlns:a16="http://schemas.microsoft.com/office/drawing/2014/main" id="{C5976633-957A-3217-12B5-05ADEEFCA432}"/>
              </a:ext>
            </a:extLst>
          </p:cNvPr>
          <p:cNvSpPr txBox="1"/>
          <p:nvPr/>
        </p:nvSpPr>
        <p:spPr>
          <a:xfrm>
            <a:off x="755576" y="5517232"/>
            <a:ext cx="7848872" cy="461665"/>
          </a:xfrm>
          <a:prstGeom prst="rect">
            <a:avLst/>
          </a:prstGeom>
          <a:noFill/>
        </p:spPr>
        <p:txBody>
          <a:bodyPr wrap="square">
            <a:spAutoFit/>
          </a:bodyPr>
          <a:lstStyle/>
          <a:p>
            <a:r>
              <a:rPr lang="zh-TW" altLang="en-US" sz="2400" dirty="0"/>
              <a:t>正確的是：根目錄下的模版還是較優先於</a:t>
            </a:r>
            <a:r>
              <a:rPr lang="en-US" altLang="zh-TW" sz="2400" dirty="0"/>
              <a:t>APP</a:t>
            </a:r>
            <a:r>
              <a:rPr lang="zh-TW" altLang="en-US" sz="2400" dirty="0"/>
              <a:t>內的模板</a:t>
            </a:r>
          </a:p>
        </p:txBody>
      </p:sp>
      <p:sp>
        <p:nvSpPr>
          <p:cNvPr id="8" name="文字方塊 7">
            <a:extLst>
              <a:ext uri="{FF2B5EF4-FFF2-40B4-BE49-F238E27FC236}">
                <a16:creationId xmlns:a16="http://schemas.microsoft.com/office/drawing/2014/main" id="{E8B8D0FD-EE66-BF0C-4237-04E259046C79}"/>
              </a:ext>
            </a:extLst>
          </p:cNvPr>
          <p:cNvSpPr txBox="1"/>
          <p:nvPr/>
        </p:nvSpPr>
        <p:spPr>
          <a:xfrm>
            <a:off x="270975" y="5949280"/>
            <a:ext cx="8368608" cy="830997"/>
          </a:xfrm>
          <a:prstGeom prst="rect">
            <a:avLst/>
          </a:prstGeom>
          <a:noFill/>
        </p:spPr>
        <p:txBody>
          <a:bodyPr wrap="square">
            <a:spAutoFit/>
          </a:bodyPr>
          <a:lstStyle/>
          <a:p>
            <a:r>
              <a:rPr lang="zh-TW" altLang="en-US" dirty="0">
                <a:solidFill>
                  <a:srgbClr val="FF0000"/>
                </a:solidFill>
              </a:rPr>
              <a:t>注意：如果</a:t>
            </a:r>
            <a:r>
              <a:rPr lang="en-US" altLang="zh-TW" dirty="0">
                <a:solidFill>
                  <a:srgbClr val="FF0000"/>
                </a:solidFill>
              </a:rPr>
              <a:t>template</a:t>
            </a:r>
            <a:r>
              <a:rPr lang="zh-TW" altLang="en-US" dirty="0">
                <a:solidFill>
                  <a:srgbClr val="FF0000"/>
                </a:solidFill>
              </a:rPr>
              <a:t>內的檔案有換目錄，而不只是修改後的存檔，</a:t>
            </a:r>
            <a:r>
              <a:rPr lang="zh-TW" altLang="en-US" sz="2400" b="1" dirty="0">
                <a:solidFill>
                  <a:srgbClr val="FF0000"/>
                </a:solidFill>
              </a:rPr>
              <a:t>要中斷</a:t>
            </a:r>
            <a:r>
              <a:rPr lang="en-US" altLang="zh-TW" sz="2400" b="1" dirty="0">
                <a:solidFill>
                  <a:srgbClr val="FF0000"/>
                </a:solidFill>
              </a:rPr>
              <a:t>server</a:t>
            </a:r>
            <a:r>
              <a:rPr lang="zh-TW" altLang="en-US" sz="2400" b="1" dirty="0">
                <a:solidFill>
                  <a:srgbClr val="FF0000"/>
                </a:solidFill>
              </a:rPr>
              <a:t>再重啟才會生效</a:t>
            </a:r>
            <a:r>
              <a:rPr lang="en-US" altLang="zh-TW" sz="2400" b="1" dirty="0">
                <a:solidFill>
                  <a:srgbClr val="FF0000"/>
                </a:solidFill>
              </a:rPr>
              <a:t>(demo)</a:t>
            </a:r>
            <a:endParaRPr lang="zh-TW" altLang="en-US" b="1" dirty="0">
              <a:solidFill>
                <a:srgbClr val="FF0000"/>
              </a:solidFill>
            </a:endParaRPr>
          </a:p>
        </p:txBody>
      </p:sp>
    </p:spTree>
    <p:extLst>
      <p:ext uri="{BB962C8B-B14F-4D97-AF65-F5344CB8AC3E}">
        <p14:creationId xmlns:p14="http://schemas.microsoft.com/office/powerpoint/2010/main" val="252722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a:t>
            </a:r>
            <a:r>
              <a:rPr lang="en-US" altLang="zh-TW" dirty="0"/>
              <a:t>settings.py</a:t>
            </a:r>
            <a:r>
              <a:rPr lang="zh-TW" altLang="zh-TW" dirty="0"/>
              <a:t>設定</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a:t>
            </a:fld>
            <a:endParaRPr lang="zh-TW" altLang="en-US"/>
          </a:p>
        </p:txBody>
      </p:sp>
      <p:sp>
        <p:nvSpPr>
          <p:cNvPr id="4" name="內容版面配置區 3"/>
          <p:cNvSpPr>
            <a:spLocks noGrp="1"/>
          </p:cNvSpPr>
          <p:nvPr>
            <p:ph sz="quarter" idx="1"/>
          </p:nvPr>
        </p:nvSpPr>
        <p:spPr>
          <a:xfrm>
            <a:off x="301752" y="1506516"/>
            <a:ext cx="8503920" cy="5122883"/>
          </a:xfrm>
        </p:spPr>
        <p:txBody>
          <a:bodyPr>
            <a:normAutofit fontScale="92500" lnSpcReduction="20000"/>
          </a:bodyPr>
          <a:lstStyle/>
          <a:p>
            <a:pPr marL="0" indent="0">
              <a:buNone/>
            </a:pPr>
            <a:r>
              <a:rPr lang="en-US" altLang="zh-TW" sz="1400" kern="100">
                <a:effectLst/>
                <a:latin typeface="Courier New" panose="02070309020205020404" pitchFamily="49" charset="0"/>
                <a:ea typeface="標楷體" panose="03000509000000000000" pitchFamily="65" charset="-120"/>
              </a:rPr>
              <a:t>(dj4ch06) PS D:\dj4book&gt; tree dj4ch06 /f</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列出磁碟區</a:t>
            </a:r>
            <a:r>
              <a:rPr lang="en-US" altLang="zh-TW" sz="1400" kern="100">
                <a:effectLst/>
                <a:latin typeface="Courier New" panose="02070309020205020404" pitchFamily="49" charset="0"/>
                <a:ea typeface="標楷體" panose="03000509000000000000" pitchFamily="65" charset="-120"/>
              </a:rPr>
              <a:t> DATA </a:t>
            </a:r>
            <a:r>
              <a:rPr lang="zh-TW" altLang="zh-TW" sz="1400" kern="100">
                <a:effectLst/>
                <a:latin typeface="Courier New" panose="02070309020205020404" pitchFamily="49" charset="0"/>
                <a:ea typeface="標楷體" panose="03000509000000000000" pitchFamily="65" charset="-120"/>
              </a:rPr>
              <a:t>的資料夾</a:t>
            </a:r>
            <a:r>
              <a:rPr lang="en-US" altLang="zh-TW" sz="1400" kern="100">
                <a:effectLst/>
                <a:latin typeface="Courier New" panose="02070309020205020404" pitchFamily="49" charset="0"/>
                <a:ea typeface="標楷體" panose="03000509000000000000" pitchFamily="65" charset="-120"/>
              </a:rPr>
              <a:t> PATH</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磁碟區序號為</a:t>
            </a:r>
            <a:r>
              <a:rPr lang="en-US" altLang="zh-TW" sz="1400" kern="100">
                <a:effectLst/>
                <a:latin typeface="Courier New" panose="02070309020205020404" pitchFamily="49" charset="0"/>
                <a:ea typeface="標楷體" panose="03000509000000000000" pitchFamily="65" charset="-120"/>
              </a:rPr>
              <a:t> 00000044 62B9:847B</a:t>
            </a:r>
            <a:endParaRPr lang="zh-TW" altLang="zh-TW" sz="1400" kern="100">
              <a:effectLst/>
              <a:latin typeface="Courier New" panose="02070309020205020404" pitchFamily="49" charset="0"/>
              <a:ea typeface="標楷體" panose="03000509000000000000" pitchFamily="65" charset="-120"/>
            </a:endParaRPr>
          </a:p>
          <a:p>
            <a:pPr marL="0" indent="0">
              <a:buNone/>
            </a:pPr>
            <a:r>
              <a:rPr lang="en-US" altLang="zh-TW" sz="1400" kern="100">
                <a:effectLst/>
                <a:latin typeface="Courier New" panose="02070309020205020404" pitchFamily="49" charset="0"/>
                <a:ea typeface="標楷體" panose="03000509000000000000" pitchFamily="65" charset="-120"/>
              </a:rPr>
              <a:t>D:\DJ4BOOK\DJ4CH06</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db.sqlite3</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manage.py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requirements.txt</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dj4ch06</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asgi.py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settings.py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urls.py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wsgi.py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__init__.py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mysite</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admin.py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apps.py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models.py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tests.py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views.py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__init__.py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migrations</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__init__.py</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  </a:t>
            </a: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templates</a:t>
            </a:r>
            <a:endParaRPr lang="zh-TW" altLang="zh-TW" sz="1400" kern="100">
              <a:effectLst/>
              <a:latin typeface="Courier New" panose="02070309020205020404" pitchFamily="49" charset="0"/>
              <a:ea typeface="標楷體" panose="03000509000000000000" pitchFamily="65" charset="-120"/>
            </a:endParaRPr>
          </a:p>
          <a:p>
            <a:pPr marL="0" indent="0">
              <a:buNone/>
            </a:pPr>
            <a:r>
              <a:rPr lang="zh-TW" altLang="zh-TW" sz="1400" kern="100">
                <a:effectLst/>
                <a:latin typeface="Courier New" panose="02070309020205020404" pitchFamily="49" charset="0"/>
                <a:ea typeface="標楷體" panose="03000509000000000000" pitchFamily="65" charset="-120"/>
              </a:rPr>
              <a:t>└─</a:t>
            </a:r>
            <a:r>
              <a:rPr lang="en-US" altLang="zh-TW" sz="1400" kern="100">
                <a:effectLst/>
                <a:latin typeface="Courier New" panose="02070309020205020404" pitchFamily="49" charset="0"/>
                <a:ea typeface="標楷體" panose="03000509000000000000" pitchFamily="65" charset="-120"/>
              </a:rPr>
              <a:t>templates</a:t>
            </a:r>
            <a:endParaRPr lang="zh-TW" altLang="zh-TW" sz="1400" kern="100">
              <a:effectLst/>
              <a:latin typeface="Courier New" panose="02070309020205020404" pitchFamily="49" charset="0"/>
              <a:ea typeface="標楷體" panose="03000509000000000000" pitchFamily="65" charset="-120"/>
            </a:endParaRPr>
          </a:p>
        </p:txBody>
      </p:sp>
      <p:sp>
        <p:nvSpPr>
          <p:cNvPr id="5" name="橢圓 4">
            <a:extLst>
              <a:ext uri="{FF2B5EF4-FFF2-40B4-BE49-F238E27FC236}">
                <a16:creationId xmlns:a16="http://schemas.microsoft.com/office/drawing/2014/main" id="{A1D579D4-DAEA-BA76-3981-29BEBBFCF7DC}"/>
              </a:ext>
            </a:extLst>
          </p:cNvPr>
          <p:cNvSpPr/>
          <p:nvPr/>
        </p:nvSpPr>
        <p:spPr>
          <a:xfrm>
            <a:off x="755576" y="5877272"/>
            <a:ext cx="1224136" cy="216024"/>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77198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a:t>
            </a:r>
            <a:r>
              <a:rPr lang="en-US" altLang="zh-TW" dirty="0"/>
              <a:t>settings.py</a:t>
            </a:r>
            <a:r>
              <a:rPr lang="zh-TW" altLang="zh-TW" dirty="0"/>
              <a:t>設定</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solidFill>
                  <a:srgbClr val="FF0000"/>
                </a:solidFill>
              </a:rPr>
              <a:t>views.py</a:t>
            </a:r>
            <a:r>
              <a:rPr lang="zh-TW" altLang="zh-TW" dirty="0"/>
              <a:t>中就要編寫一個</a:t>
            </a:r>
            <a:r>
              <a:rPr lang="en-US" altLang="zh-TW" dirty="0"/>
              <a:t>index</a:t>
            </a:r>
            <a:r>
              <a:rPr lang="zh-TW" altLang="zh-TW" dirty="0"/>
              <a:t>函數，如下所示：</a:t>
            </a:r>
          </a:p>
          <a:p>
            <a:pPr marL="274320" lvl="1" indent="0">
              <a:buNone/>
            </a:pPr>
            <a:r>
              <a:rPr lang="en-US" altLang="zh-TW" dirty="0"/>
              <a:t>from </a:t>
            </a:r>
            <a:r>
              <a:rPr lang="en-US" altLang="zh-TW" dirty="0" err="1"/>
              <a:t>django.shortcuts</a:t>
            </a:r>
            <a:r>
              <a:rPr lang="en-US" altLang="zh-TW" dirty="0"/>
              <a:t> import render</a:t>
            </a:r>
            <a:endParaRPr lang="zh-TW" altLang="zh-TW" dirty="0"/>
          </a:p>
          <a:p>
            <a:pPr marL="274320" lvl="1" indent="0">
              <a:buNone/>
            </a:pPr>
            <a:r>
              <a:rPr lang="en-US" altLang="zh-TW" dirty="0"/>
              <a:t> </a:t>
            </a:r>
            <a:endParaRPr lang="zh-TW" altLang="zh-TW" dirty="0"/>
          </a:p>
          <a:p>
            <a:pPr marL="274320" lvl="1" indent="0">
              <a:buNone/>
            </a:pPr>
            <a:r>
              <a:rPr lang="en-US" altLang="zh-TW" dirty="0"/>
              <a:t>def index(request):</a:t>
            </a:r>
            <a:endParaRPr lang="zh-TW" altLang="zh-TW" dirty="0"/>
          </a:p>
          <a:p>
            <a:pPr marL="274320" lvl="1" indent="0">
              <a:buNone/>
            </a:pPr>
            <a:r>
              <a:rPr lang="en-US" altLang="zh-TW" dirty="0"/>
              <a:t>    return render(request, 'index.html', {'</a:t>
            </a:r>
            <a:r>
              <a:rPr lang="en-US" altLang="zh-TW" dirty="0" err="1"/>
              <a:t>msg</a:t>
            </a:r>
            <a:r>
              <a:rPr lang="en-US" altLang="zh-TW" dirty="0"/>
              <a:t>':'Hello'})</a:t>
            </a:r>
            <a:endParaRPr lang="zh-TW" altLang="zh-TW" dirty="0"/>
          </a:p>
        </p:txBody>
      </p:sp>
      <p:pic>
        <p:nvPicPr>
          <p:cNvPr id="6" name="圖片 5">
            <a:extLst>
              <a:ext uri="{FF2B5EF4-FFF2-40B4-BE49-F238E27FC236}">
                <a16:creationId xmlns:a16="http://schemas.microsoft.com/office/drawing/2014/main" id="{B0B714C3-37D9-24B4-DC91-27AADCA4E660}"/>
              </a:ext>
            </a:extLst>
          </p:cNvPr>
          <p:cNvPicPr>
            <a:picLocks noChangeAspect="1"/>
          </p:cNvPicPr>
          <p:nvPr/>
        </p:nvPicPr>
        <p:blipFill>
          <a:blip r:embed="rId2"/>
          <a:stretch>
            <a:fillRect/>
          </a:stretch>
        </p:blipFill>
        <p:spPr>
          <a:xfrm>
            <a:off x="2267744" y="3590501"/>
            <a:ext cx="6077798" cy="3038899"/>
          </a:xfrm>
          <a:prstGeom prst="rect">
            <a:avLst/>
          </a:prstGeom>
        </p:spPr>
      </p:pic>
    </p:spTree>
    <p:extLst>
      <p:ext uri="{BB962C8B-B14F-4D97-AF65-F5344CB8AC3E}">
        <p14:creationId xmlns:p14="http://schemas.microsoft.com/office/powerpoint/2010/main" val="1335276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 </a:t>
            </a:r>
            <a:r>
              <a:rPr lang="en-US" altLang="zh-TW" dirty="0"/>
              <a:t>(demo </a:t>
            </a:r>
            <a:r>
              <a:rPr lang="zh-TW" altLang="en-US" dirty="0"/>
              <a:t>不同</a:t>
            </a:r>
            <a:r>
              <a:rPr lang="en-US" altLang="zh-TW" dirty="0"/>
              <a:t>app</a:t>
            </a:r>
            <a:r>
              <a:rPr lang="zh-TW" altLang="en-US" dirty="0"/>
              <a:t>的順序</a:t>
            </a:r>
            <a:r>
              <a:rPr lang="en-US" altLang="zh-TW" dirty="0"/>
              <a:t>) URLs.py</a:t>
            </a:r>
            <a:r>
              <a:rPr lang="zh-TW" altLang="zh-TW" dirty="0"/>
              <a:t>設定</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a:t>
            </a:fld>
            <a:endParaRPr lang="zh-TW" altLang="en-US"/>
          </a:p>
        </p:txBody>
      </p:sp>
      <p:sp>
        <p:nvSpPr>
          <p:cNvPr id="4" name="內容版面配置區 3"/>
          <p:cNvSpPr>
            <a:spLocks noGrp="1"/>
          </p:cNvSpPr>
          <p:nvPr>
            <p:ph sz="quarter" idx="1"/>
          </p:nvPr>
        </p:nvSpPr>
        <p:spPr/>
        <p:txBody>
          <a:bodyPr/>
          <a:lstStyle/>
          <a:p>
            <a:r>
              <a:rPr lang="zh-TW" altLang="zh-TW" dirty="0"/>
              <a:t>使用了以下的設定網站的首頁：</a:t>
            </a:r>
            <a:endParaRPr lang="en-US" altLang="zh-TW" dirty="0"/>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t>from </a:t>
            </a:r>
            <a:r>
              <a:rPr lang="en-US" altLang="zh-TW" dirty="0" err="1"/>
              <a:t>django.urls</a:t>
            </a:r>
            <a:r>
              <a:rPr lang="en-US" altLang="zh-TW" dirty="0"/>
              <a:t> import path</a:t>
            </a:r>
          </a:p>
          <a:p>
            <a:pPr marL="274320" lvl="1" indent="0">
              <a:buNone/>
            </a:pPr>
            <a:r>
              <a:rPr lang="en-US" altLang="zh-TW" dirty="0">
                <a:solidFill>
                  <a:srgbClr val="FF0000"/>
                </a:solidFill>
              </a:rPr>
              <a:t>from </a:t>
            </a:r>
            <a:r>
              <a:rPr lang="en-US" altLang="zh-TW" dirty="0" err="1">
                <a:solidFill>
                  <a:srgbClr val="FF0000"/>
                </a:solidFill>
              </a:rPr>
              <a:t>mysite</a:t>
            </a:r>
            <a:r>
              <a:rPr lang="en-US" altLang="zh-TW" dirty="0">
                <a:solidFill>
                  <a:srgbClr val="FF0000"/>
                </a:solidFill>
              </a:rPr>
              <a:t> import views</a:t>
            </a:r>
          </a:p>
          <a:p>
            <a:pPr marL="274320" lvl="1" indent="0">
              <a:buNone/>
            </a:pPr>
            <a:endParaRPr lang="en-US" altLang="zh-TW" dirty="0"/>
          </a:p>
          <a:p>
            <a:pPr marL="274320" lvl="1" indent="0">
              <a:buNone/>
            </a:pPr>
            <a:r>
              <a:rPr lang="en-US" altLang="zh-TW" dirty="0" err="1"/>
              <a:t>urlpatterns</a:t>
            </a:r>
            <a:r>
              <a:rPr lang="en-US" altLang="zh-TW" dirty="0"/>
              <a:t> = [</a:t>
            </a:r>
          </a:p>
          <a:p>
            <a:pPr marL="274320" lvl="1" indent="0">
              <a:buNone/>
            </a:pPr>
            <a:r>
              <a:rPr lang="en-US" altLang="zh-TW" dirty="0"/>
              <a:t>    path('admin/', </a:t>
            </a:r>
            <a:r>
              <a:rPr lang="en-US" altLang="zh-TW" dirty="0" err="1"/>
              <a:t>admin.site.urls</a:t>
            </a:r>
            <a:r>
              <a:rPr lang="en-US" altLang="zh-TW" dirty="0"/>
              <a:t>),</a:t>
            </a:r>
          </a:p>
          <a:p>
            <a:pPr marL="274320" lvl="1" indent="0">
              <a:buNone/>
            </a:pPr>
            <a:r>
              <a:rPr lang="en-US" altLang="zh-TW" dirty="0"/>
              <a:t>    </a:t>
            </a:r>
            <a:r>
              <a:rPr lang="en-US" altLang="zh-TW" dirty="0">
                <a:solidFill>
                  <a:srgbClr val="FF0000"/>
                </a:solidFill>
              </a:rPr>
              <a:t>path('', </a:t>
            </a:r>
            <a:r>
              <a:rPr lang="en-US" altLang="zh-TW" dirty="0" err="1">
                <a:solidFill>
                  <a:srgbClr val="FF0000"/>
                </a:solidFill>
              </a:rPr>
              <a:t>views.index</a:t>
            </a:r>
            <a:r>
              <a:rPr lang="en-US" altLang="zh-TW" dirty="0">
                <a:solidFill>
                  <a:srgbClr val="FF0000"/>
                </a:solidFill>
              </a:rPr>
              <a:t>),</a:t>
            </a:r>
          </a:p>
          <a:p>
            <a:pPr marL="274320" lvl="1" indent="0">
              <a:buNone/>
            </a:pPr>
            <a:r>
              <a:rPr lang="en-US" altLang="zh-TW" dirty="0"/>
              <a:t>]</a:t>
            </a:r>
          </a:p>
          <a:p>
            <a:pPr lvl="1"/>
            <a:endParaRPr lang="zh-TW" altLang="en-US" dirty="0"/>
          </a:p>
        </p:txBody>
      </p:sp>
    </p:spTree>
    <p:extLst>
      <p:ext uri="{BB962C8B-B14F-4D97-AF65-F5344CB8AC3E}">
        <p14:creationId xmlns:p14="http://schemas.microsoft.com/office/powerpoint/2010/main" val="382359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BC7BA3-1F02-6583-9D35-02F8ABEA9D75}"/>
              </a:ext>
            </a:extLst>
          </p:cNvPr>
          <p:cNvSpPr>
            <a:spLocks noGrp="1"/>
          </p:cNvSpPr>
          <p:nvPr>
            <p:ph type="title"/>
          </p:nvPr>
        </p:nvSpPr>
        <p:spPr/>
        <p:txBody>
          <a:bodyPr/>
          <a:lstStyle/>
          <a:p>
            <a:r>
              <a:rPr lang="en-US" altLang="zh-TW"/>
              <a:t>index.html</a:t>
            </a:r>
            <a:endParaRPr lang="zh-TW" altLang="en-US"/>
          </a:p>
        </p:txBody>
      </p:sp>
      <p:sp>
        <p:nvSpPr>
          <p:cNvPr id="3" name="投影片編號版面配置區 2">
            <a:extLst>
              <a:ext uri="{FF2B5EF4-FFF2-40B4-BE49-F238E27FC236}">
                <a16:creationId xmlns:a16="http://schemas.microsoft.com/office/drawing/2014/main" id="{3E085D0B-9BB4-F173-788E-C9904BDC4A55}"/>
              </a:ext>
            </a:extLst>
          </p:cNvPr>
          <p:cNvSpPr>
            <a:spLocks noGrp="1"/>
          </p:cNvSpPr>
          <p:nvPr>
            <p:ph type="sldNum" sz="quarter" idx="12"/>
          </p:nvPr>
        </p:nvSpPr>
        <p:spPr/>
        <p:txBody>
          <a:bodyPr/>
          <a:lstStyle/>
          <a:p>
            <a:fld id="{369E457D-EE12-4164-8E32-9DDD40A95892}" type="slidenum">
              <a:rPr lang="zh-TW" altLang="en-US" smtClean="0"/>
              <a:pPr/>
              <a:t>9</a:t>
            </a:fld>
            <a:endParaRPr lang="zh-TW" altLang="en-US"/>
          </a:p>
        </p:txBody>
      </p:sp>
      <p:sp>
        <p:nvSpPr>
          <p:cNvPr id="4" name="內容版面配置區 3">
            <a:extLst>
              <a:ext uri="{FF2B5EF4-FFF2-40B4-BE49-F238E27FC236}">
                <a16:creationId xmlns:a16="http://schemas.microsoft.com/office/drawing/2014/main" id="{DF5A5FB7-066F-2EBA-0BC6-634BE8E622B7}"/>
              </a:ext>
            </a:extLst>
          </p:cNvPr>
          <p:cNvSpPr>
            <a:spLocks noGrp="1"/>
          </p:cNvSpPr>
          <p:nvPr>
            <p:ph sz="quarter" idx="1"/>
          </p:nvPr>
        </p:nvSpPr>
        <p:spPr>
          <a:xfrm>
            <a:off x="301752" y="1506517"/>
            <a:ext cx="8503920" cy="4758280"/>
          </a:xfrm>
        </p:spPr>
        <p:txBody>
          <a:bodyPr>
            <a:normAutofit fontScale="92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 index.html (ch06www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&lt;!DOCTYPE html&gt;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&lt;html&gt;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&lt;head&gt;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&lt;meta charset='utf-8'&gt;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&lt;title&gt;Home Page&lt;/title&gt;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&lt;/head&gt;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&lt;body&gt;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&lt;h2&gt;Hello world!&lt;/h2&gt;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hr</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msg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hr</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em</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zh-TW" altLang="zh-TW" sz="1800" kern="100" dirty="0">
                <a:effectLst/>
                <a:latin typeface="Courier New" panose="02070309020205020404" pitchFamily="49" charset="0"/>
                <a:ea typeface="標楷體" panose="03000509000000000000" pitchFamily="65" charset="-120"/>
              </a:rPr>
              <a:t>現在時刻：</a:t>
            </a:r>
            <a:r>
              <a:rPr lang="en-US" altLang="zh-TW" sz="1800" kern="100" dirty="0">
                <a:effectLst/>
                <a:latin typeface="Courier New" panose="02070309020205020404" pitchFamily="49" charset="0"/>
                <a:ea typeface="標楷體" panose="03000509000000000000" pitchFamily="65" charset="-120"/>
              </a:rPr>
              <a:t>{{ now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em</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&lt;/body&gt;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&lt;/html&gt;</a:t>
            </a:r>
            <a:endParaRPr lang="zh-TW" altLang="en-US" sz="2400" dirty="0"/>
          </a:p>
        </p:txBody>
      </p:sp>
    </p:spTree>
    <p:extLst>
      <p:ext uri="{BB962C8B-B14F-4D97-AF65-F5344CB8AC3E}">
        <p14:creationId xmlns:p14="http://schemas.microsoft.com/office/powerpoint/2010/main" val="4205149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模板工作原理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10</a:t>
            </a:fld>
            <a:endParaRPr lang="zh-TW" altLang="en-US"/>
          </a:p>
        </p:txBody>
      </p:sp>
      <p:sp>
        <p:nvSpPr>
          <p:cNvPr id="4" name="內容版面配置區 3"/>
          <p:cNvSpPr>
            <a:spLocks noGrp="1"/>
          </p:cNvSpPr>
          <p:nvPr>
            <p:ph sz="quarter" idx="1"/>
          </p:nvPr>
        </p:nvSpPr>
        <p:spPr/>
        <p:txBody>
          <a:bodyPr/>
          <a:lstStyle/>
          <a:p>
            <a:r>
              <a:rPr lang="zh-TW" altLang="en-US" dirty="0"/>
              <a:t>上述</a:t>
            </a:r>
            <a:r>
              <a:rPr lang="zh-TW" altLang="zh-TW" dirty="0"/>
              <a:t>模板的工作原理</a:t>
            </a:r>
            <a:endParaRPr lang="en-US" altLang="zh-TW" dirty="0"/>
          </a:p>
        </p:txBody>
      </p:sp>
      <p:pic>
        <p:nvPicPr>
          <p:cNvPr id="5" name="圖片 4"/>
          <p:cNvPicPr/>
          <p:nvPr/>
        </p:nvPicPr>
        <p:blipFill>
          <a:blip r:embed="rId2">
            <a:extLst>
              <a:ext uri="{BEBA8EAE-BF5A-486C-A8C5-ECC9F3942E4B}">
                <a14:imgProps xmlns:a14="http://schemas.microsoft.com/office/drawing/2010/main">
                  <a14:imgLayer r:embed="rId3">
                    <a14:imgEffect>
                      <a14:backgroundRemoval t="2756" b="95276" l="2222" r="96581">
                        <a14:foregroundMark x1="6325" y1="12205" x2="6325" y2="12205"/>
                        <a14:foregroundMark x1="28718" y1="22047" x2="28718" y2="22047"/>
                        <a14:foregroundMark x1="38120" y1="26772" x2="38120" y2="26772"/>
                        <a14:foregroundMark x1="36752" y1="66535" x2="36752" y2="66535"/>
                        <a14:foregroundMark x1="75043" y1="48031" x2="75043" y2="48031"/>
                        <a14:foregroundMark x1="85470" y1="51969" x2="85470" y2="51969"/>
                        <a14:foregroundMark x1="94359" y1="52362" x2="94359" y2="52362"/>
                        <a14:foregroundMark x1="97094" y1="45276" x2="97094" y2="45276"/>
                        <a14:foregroundMark x1="4957" y1="83858" x2="4957" y2="83858"/>
                        <a14:foregroundMark x1="11966" y1="95669" x2="11966" y2="95669"/>
                        <a14:foregroundMark x1="2222" y1="2756" x2="2222" y2="2756"/>
                        <a14:foregroundMark x1="53846" y1="64961" x2="53846" y2="64961"/>
                        <a14:foregroundMark x1="44274" y1="34646" x2="44274" y2="34646"/>
                        <a14:foregroundMark x1="44274" y1="37402" x2="44274" y2="37402"/>
                        <a14:foregroundMark x1="17436" y1="7087" x2="17436" y2="7087"/>
                        <a14:foregroundMark x1="17436" y1="7480" x2="17436" y2="7480"/>
                        <a14:backgroundMark x1="12479" y1="41732" x2="12479" y2="41732"/>
                        <a14:backgroundMark x1="18462" y1="44882" x2="18462" y2="44882"/>
                        <a14:backgroundMark x1="36068" y1="11024" x2="36068" y2="11024"/>
                        <a14:backgroundMark x1="75043" y1="13780" x2="75043" y2="13780"/>
                        <a14:backgroundMark x1="70085" y1="35433" x2="70085" y2="35433"/>
                      </a14:backgroundRemoval>
                    </a14:imgEffect>
                  </a14:imgLayer>
                </a14:imgProps>
              </a:ext>
              <a:ext uri="{28A0092B-C50C-407E-A947-70E740481C1C}">
                <a14:useLocalDpi xmlns:a14="http://schemas.microsoft.com/office/drawing/2010/main" val="0"/>
              </a:ext>
            </a:extLst>
          </a:blip>
          <a:stretch>
            <a:fillRect/>
          </a:stretch>
        </p:blipFill>
        <p:spPr>
          <a:xfrm>
            <a:off x="378016" y="2204864"/>
            <a:ext cx="8387969" cy="4176464"/>
          </a:xfrm>
          <a:prstGeom prst="rect">
            <a:avLst/>
          </a:prstGeom>
        </p:spPr>
      </p:pic>
    </p:spTree>
    <p:extLst>
      <p:ext uri="{BB962C8B-B14F-4D97-AF65-F5344CB8AC3E}">
        <p14:creationId xmlns:p14="http://schemas.microsoft.com/office/powerpoint/2010/main" val="280906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a:t>建立</a:t>
            </a:r>
            <a:r>
              <a:rPr lang="en-US" altLang="zh-TW"/>
              <a:t>templates</a:t>
            </a:r>
            <a:r>
              <a:rPr lang="zh-TW" altLang="zh-TW"/>
              <a:t>檔案</a:t>
            </a:r>
            <a:endParaRPr lang="zh-TW" altLang="en-US"/>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11</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a:bodyPr>
          <a:lstStyle/>
          <a:p>
            <a:r>
              <a:rPr lang="zh-TW" altLang="zh-TW" sz="2800" dirty="0"/>
              <a:t>使用模板的標準步驟：</a:t>
            </a:r>
          </a:p>
          <a:p>
            <a:pPr lvl="1"/>
            <a:r>
              <a:rPr lang="zh-TW" altLang="zh-TW" sz="2400" dirty="0"/>
              <a:t>由於我們的程式功能就是在</a:t>
            </a:r>
            <a:r>
              <a:rPr lang="en-US" altLang="zh-TW" sz="2400" dirty="0" err="1"/>
              <a:t>mysite</a:t>
            </a:r>
            <a:r>
              <a:rPr lang="zh-TW" altLang="zh-TW" sz="2400" dirty="0"/>
              <a:t>這個</a:t>
            </a:r>
            <a:r>
              <a:rPr lang="en-US" altLang="zh-TW" sz="2400" dirty="0"/>
              <a:t>APP</a:t>
            </a:r>
            <a:r>
              <a:rPr lang="zh-TW" altLang="zh-TW" sz="2400" dirty="0"/>
              <a:t>中，所以相對的，該</a:t>
            </a:r>
            <a:r>
              <a:rPr lang="en-US" altLang="zh-TW" sz="2400" dirty="0"/>
              <a:t>APP</a:t>
            </a:r>
            <a:r>
              <a:rPr lang="zh-TW" altLang="zh-TW" sz="2400" dirty="0"/>
              <a:t>所需處理的模板也需要放在該</a:t>
            </a:r>
            <a:r>
              <a:rPr lang="en-US" altLang="zh-TW" sz="2400" dirty="0"/>
              <a:t>APP</a:t>
            </a:r>
            <a:r>
              <a:rPr lang="zh-TW" altLang="zh-TW" sz="2400" dirty="0"/>
              <a:t>底下的</a:t>
            </a:r>
            <a:r>
              <a:rPr lang="en-US" altLang="zh-TW" sz="2400" dirty="0"/>
              <a:t>templates</a:t>
            </a:r>
            <a:r>
              <a:rPr lang="zh-TW" altLang="zh-TW" sz="2400" dirty="0"/>
              <a:t>資料夾下，使得</a:t>
            </a:r>
            <a:r>
              <a:rPr lang="en-US" altLang="zh-TW" sz="2400" dirty="0" err="1"/>
              <a:t>mysite</a:t>
            </a:r>
            <a:r>
              <a:rPr lang="en-US" altLang="zh-TW" sz="2400" dirty="0"/>
              <a:t> APP</a:t>
            </a:r>
            <a:r>
              <a:rPr lang="zh-TW" altLang="zh-TW" sz="2400" dirty="0"/>
              <a:t>擁有更高的</a:t>
            </a:r>
            <a:r>
              <a:rPr lang="zh-TW" altLang="zh-TW" sz="2400" dirty="0">
                <a:solidFill>
                  <a:srgbClr val="FF0000"/>
                </a:solidFill>
              </a:rPr>
              <a:t>獨立性與可重複使用。</a:t>
            </a:r>
          </a:p>
          <a:p>
            <a:pPr lvl="1"/>
            <a:r>
              <a:rPr lang="zh-TW" altLang="zh-TW" sz="2400" dirty="0"/>
              <a:t>在</a:t>
            </a:r>
            <a:r>
              <a:rPr lang="en-US" altLang="zh-TW" sz="2400" dirty="0"/>
              <a:t>views.py</a:t>
            </a:r>
            <a:r>
              <a:rPr lang="zh-TW" altLang="zh-TW" sz="2400" dirty="0"/>
              <a:t>的處理函數中，查詢、計算並準備資料，把要顯示在網頁上的資料使用字典格式編排好。</a:t>
            </a:r>
          </a:p>
          <a:p>
            <a:pPr lvl="1"/>
            <a:r>
              <a:rPr lang="zh-TW" altLang="zh-TW" sz="2400" dirty="0"/>
              <a:t>使用</a:t>
            </a:r>
            <a:r>
              <a:rPr lang="en-US" altLang="zh-TW" sz="2400" dirty="0"/>
              <a:t>render</a:t>
            </a:r>
            <a:r>
              <a:rPr lang="zh-TW" altLang="zh-TW" sz="2400" dirty="0"/>
              <a:t>函數做模板渲染功能</a:t>
            </a:r>
            <a:r>
              <a:rPr lang="en-US" altLang="zh-TW" sz="2400" dirty="0">
                <a:solidFill>
                  <a:srgbClr val="FF0000"/>
                </a:solidFill>
              </a:rPr>
              <a:t>(</a:t>
            </a:r>
            <a:r>
              <a:rPr lang="en-US" altLang="zh-TW" sz="2400" dirty="0" err="1">
                <a:solidFill>
                  <a:srgbClr val="FF0000"/>
                </a:solidFill>
              </a:rPr>
              <a:t>httpresponse</a:t>
            </a:r>
            <a:r>
              <a:rPr lang="en-US" altLang="zh-TW" sz="2400" dirty="0">
                <a:solidFill>
                  <a:srgbClr val="FF0000"/>
                </a:solidFill>
              </a:rPr>
              <a:t>()</a:t>
            </a:r>
            <a:r>
              <a:rPr lang="zh-TW" altLang="en-US" sz="2400" dirty="0">
                <a:solidFill>
                  <a:srgbClr val="FF0000"/>
                </a:solidFill>
              </a:rPr>
              <a:t>不行喔</a:t>
            </a:r>
            <a:r>
              <a:rPr lang="en-US" altLang="zh-TW" sz="2400" dirty="0">
                <a:solidFill>
                  <a:srgbClr val="FF0000"/>
                </a:solidFill>
              </a:rPr>
              <a:t>)</a:t>
            </a:r>
          </a:p>
          <a:p>
            <a:pPr lvl="2"/>
            <a:r>
              <a:rPr lang="zh-TW" altLang="zh-TW" dirty="0"/>
              <a:t>第一個參數</a:t>
            </a:r>
            <a:r>
              <a:rPr lang="en-US" altLang="zh-TW" dirty="0"/>
              <a:t>request</a:t>
            </a:r>
            <a:r>
              <a:rPr lang="zh-TW" altLang="zh-TW" dirty="0"/>
              <a:t>用以產生回應結果給網頁伺服器</a:t>
            </a:r>
            <a:endParaRPr lang="en-US" altLang="zh-TW" dirty="0"/>
          </a:p>
          <a:p>
            <a:pPr lvl="2"/>
            <a:r>
              <a:rPr lang="zh-TW" altLang="zh-TW" dirty="0"/>
              <a:t>第二個參數是指定要渲染的模板</a:t>
            </a:r>
            <a:r>
              <a:rPr lang="en-US" altLang="zh-TW" dirty="0"/>
              <a:t>(.html</a:t>
            </a:r>
            <a:r>
              <a:rPr lang="zh-TW" altLang="en-US" dirty="0"/>
              <a:t>檔案</a:t>
            </a:r>
            <a:r>
              <a:rPr lang="en-US" altLang="zh-TW" dirty="0"/>
              <a:t>)</a:t>
            </a:r>
          </a:p>
          <a:p>
            <a:pPr lvl="2"/>
            <a:r>
              <a:rPr lang="zh-TW" altLang="zh-TW" dirty="0"/>
              <a:t>最後一個參數是夾帶我們要傳送的內容，內容需要</a:t>
            </a:r>
            <a:r>
              <a:rPr lang="zh-TW" altLang="zh-TW" b="1" dirty="0">
                <a:solidFill>
                  <a:srgbClr val="FF0000"/>
                </a:solidFill>
              </a:rPr>
              <a:t>以字典形式傳送</a:t>
            </a:r>
            <a:r>
              <a:rPr lang="zh-TW" altLang="en-US" dirty="0"/>
              <a:t>（</a:t>
            </a:r>
            <a:r>
              <a:rPr lang="zh-TW" altLang="zh-TW" dirty="0"/>
              <a:t>如果要傳遞的變數比較多</a:t>
            </a:r>
            <a:r>
              <a:rPr lang="zh-TW" altLang="en-US" dirty="0"/>
              <a:t>，能將字典形式改成</a:t>
            </a:r>
            <a:r>
              <a:rPr lang="zh-TW" altLang="zh-TW" dirty="0"/>
              <a:t>使用</a:t>
            </a:r>
            <a:r>
              <a:rPr lang="en-US" altLang="zh-TW" dirty="0"/>
              <a:t>Python</a:t>
            </a:r>
            <a:r>
              <a:rPr lang="zh-TW" altLang="zh-TW" dirty="0"/>
              <a:t>的</a:t>
            </a:r>
            <a:r>
              <a:rPr lang="en-US" altLang="zh-TW" dirty="0">
                <a:solidFill>
                  <a:schemeClr val="accent1"/>
                </a:solidFill>
              </a:rPr>
              <a:t>locals()</a:t>
            </a:r>
            <a:r>
              <a:rPr lang="zh-TW" altLang="zh-TW" dirty="0">
                <a:solidFill>
                  <a:schemeClr val="accent1"/>
                </a:solidFill>
              </a:rPr>
              <a:t>函數</a:t>
            </a:r>
            <a:r>
              <a:rPr lang="zh-TW" altLang="en-US" dirty="0"/>
              <a:t>）</a:t>
            </a:r>
            <a:r>
              <a:rPr lang="en-US" altLang="zh-TW" dirty="0"/>
              <a:t> </a:t>
            </a:r>
            <a:r>
              <a:rPr lang="zh-TW" altLang="zh-TW" dirty="0"/>
              <a:t>。</a:t>
            </a:r>
          </a:p>
          <a:p>
            <a:endParaRPr lang="zh-TW" altLang="en-US" dirty="0"/>
          </a:p>
        </p:txBody>
      </p:sp>
    </p:spTree>
    <p:extLst>
      <p:ext uri="{BB962C8B-B14F-4D97-AF65-F5344CB8AC3E}">
        <p14:creationId xmlns:p14="http://schemas.microsoft.com/office/powerpoint/2010/main" val="223470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模板的工作原理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a:bodyPr>
          <a:lstStyle/>
          <a:p>
            <a:r>
              <a:rPr lang="zh-TW" altLang="zh-TW" dirty="0"/>
              <a:t>在</a:t>
            </a:r>
            <a:r>
              <a:rPr lang="en-US" altLang="zh-TW" dirty="0"/>
              <a:t>Template</a:t>
            </a:r>
            <a:r>
              <a:rPr lang="zh-TW" altLang="zh-TW" dirty="0"/>
              <a:t>檔案中，渲染器主要以</a:t>
            </a:r>
            <a:r>
              <a:rPr lang="en-US" altLang="zh-TW" dirty="0"/>
              <a:t>2</a:t>
            </a:r>
            <a:r>
              <a:rPr lang="zh-TW" altLang="zh-TW" dirty="0"/>
              <a:t>個符號來識別，</a:t>
            </a:r>
            <a:endParaRPr lang="en-US" altLang="zh-TW" dirty="0"/>
          </a:p>
          <a:p>
            <a:pPr lvl="1"/>
            <a:r>
              <a:rPr lang="zh-TW" altLang="zh-TW" dirty="0"/>
              <a:t> </a:t>
            </a:r>
            <a:r>
              <a:rPr lang="en-US" altLang="zh-TW" dirty="0">
                <a:solidFill>
                  <a:srgbClr val="FF0000"/>
                </a:solidFill>
              </a:rPr>
              <a:t>{{  }}</a:t>
            </a:r>
          </a:p>
          <a:p>
            <a:pPr lvl="2"/>
            <a:r>
              <a:rPr lang="zh-TW" altLang="zh-TW" dirty="0"/>
              <a:t>兩對大括號中間放置要顯示的變數</a:t>
            </a:r>
            <a:endParaRPr lang="en-US" altLang="zh-TW" dirty="0"/>
          </a:p>
          <a:p>
            <a:pPr lvl="1"/>
            <a:r>
              <a:rPr lang="en-US" altLang="zh-TW" dirty="0">
                <a:solidFill>
                  <a:srgbClr val="FF0000"/>
                </a:solidFill>
              </a:rPr>
              <a:t>{% %}</a:t>
            </a:r>
          </a:p>
          <a:p>
            <a:pPr lvl="2"/>
            <a:r>
              <a:rPr lang="zh-TW" altLang="zh-TW" dirty="0"/>
              <a:t>大括號加上百分比符號則代表了中間是模板的</a:t>
            </a:r>
            <a:r>
              <a:rPr lang="zh-TW" altLang="zh-TW" dirty="0">
                <a:solidFill>
                  <a:schemeClr val="accent1"/>
                </a:solidFill>
              </a:rPr>
              <a:t>控制命令</a:t>
            </a:r>
            <a:r>
              <a:rPr lang="en-US" altLang="zh-TW" dirty="0"/>
              <a:t>(</a:t>
            </a:r>
            <a:r>
              <a:rPr lang="zh-TW" altLang="zh-TW" dirty="0"/>
              <a:t>例如決策、迴圈等指令，亦或是做模板的</a:t>
            </a:r>
            <a:r>
              <a:rPr lang="zh-TW" altLang="zh-TW" dirty="0">
                <a:solidFill>
                  <a:schemeClr val="accent1"/>
                </a:solidFill>
              </a:rPr>
              <a:t>繼承與管理等相關指令</a:t>
            </a:r>
            <a:r>
              <a:rPr lang="en-US" altLang="zh-TW" dirty="0"/>
              <a:t>)</a:t>
            </a:r>
          </a:p>
          <a:p>
            <a:r>
              <a:rPr lang="zh-TW" altLang="zh-TW" dirty="0"/>
              <a:t>以讓網站首頁顯示目前系統時間為例</a:t>
            </a:r>
            <a:r>
              <a:rPr lang="zh-TW" altLang="en-US" dirty="0"/>
              <a:t>：</a:t>
            </a:r>
            <a:endParaRPr lang="en-US" altLang="zh-TW" dirty="0"/>
          </a:p>
          <a:p>
            <a:pPr marL="274320" lvl="1" indent="0">
              <a:buNone/>
            </a:pPr>
            <a:r>
              <a:rPr lang="en-US" altLang="zh-TW" dirty="0">
                <a:solidFill>
                  <a:srgbClr val="FF0000"/>
                </a:solidFill>
              </a:rPr>
              <a:t>from </a:t>
            </a:r>
            <a:r>
              <a:rPr lang="en-US" altLang="zh-TW" dirty="0" err="1">
                <a:solidFill>
                  <a:srgbClr val="FF0000"/>
                </a:solidFill>
              </a:rPr>
              <a:t>datetime</a:t>
            </a:r>
            <a:r>
              <a:rPr lang="en-US" altLang="zh-TW" dirty="0">
                <a:solidFill>
                  <a:srgbClr val="FF0000"/>
                </a:solidFill>
              </a:rPr>
              <a:t> import </a:t>
            </a:r>
            <a:r>
              <a:rPr lang="en-US" altLang="zh-TW" dirty="0" err="1">
                <a:solidFill>
                  <a:srgbClr val="FF0000"/>
                </a:solidFill>
              </a:rPr>
              <a:t>datetime</a:t>
            </a:r>
            <a:endParaRPr lang="en-US" altLang="zh-TW" dirty="0">
              <a:solidFill>
                <a:srgbClr val="FF0000"/>
              </a:solidFill>
            </a:endParaRPr>
          </a:p>
          <a:p>
            <a:pPr marL="274320" lvl="1" indent="0">
              <a:buNone/>
            </a:pPr>
            <a:endParaRPr lang="en-US" altLang="zh-TW" dirty="0"/>
          </a:p>
          <a:p>
            <a:pPr marL="274320" lvl="1" indent="0">
              <a:buNone/>
            </a:pPr>
            <a:r>
              <a:rPr lang="en-US" altLang="zh-TW" dirty="0" err="1"/>
              <a:t>def</a:t>
            </a:r>
            <a:r>
              <a:rPr lang="en-US" altLang="zh-TW" dirty="0"/>
              <a:t> index(request):</a:t>
            </a:r>
          </a:p>
          <a:p>
            <a:pPr marL="274320" lvl="1" indent="0">
              <a:buNone/>
            </a:pPr>
            <a:r>
              <a:rPr lang="en-US" altLang="zh-TW" dirty="0">
                <a:solidFill>
                  <a:srgbClr val="FF0000"/>
                </a:solidFill>
              </a:rPr>
              <a:t>    now = </a:t>
            </a:r>
            <a:r>
              <a:rPr lang="en-US" altLang="zh-TW" dirty="0" err="1">
                <a:solidFill>
                  <a:srgbClr val="FF0000"/>
                </a:solidFill>
              </a:rPr>
              <a:t>datetime.now</a:t>
            </a:r>
            <a:r>
              <a:rPr lang="en-US" altLang="zh-TW" dirty="0">
                <a:solidFill>
                  <a:srgbClr val="FF0000"/>
                </a:solidFill>
              </a:rPr>
              <a:t>()</a:t>
            </a:r>
          </a:p>
          <a:p>
            <a:pPr marL="274320" lvl="1" indent="0">
              <a:buNone/>
            </a:pPr>
            <a:r>
              <a:rPr lang="en-US" altLang="zh-TW" dirty="0"/>
              <a:t>    return render(request, 'index.html', locals())</a:t>
            </a:r>
          </a:p>
          <a:p>
            <a:pPr lvl="1"/>
            <a:endParaRPr lang="zh-TW" altLang="en-US" dirty="0"/>
          </a:p>
        </p:txBody>
      </p:sp>
    </p:spTree>
    <p:extLst>
      <p:ext uri="{BB962C8B-B14F-4D97-AF65-F5344CB8AC3E}">
        <p14:creationId xmlns:p14="http://schemas.microsoft.com/office/powerpoint/2010/main" val="2590851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模板的工作原理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fontScale="85000" lnSpcReduction="20000"/>
          </a:bodyPr>
          <a:lstStyle/>
          <a:p>
            <a:r>
              <a:rPr lang="zh-TW" altLang="zh-TW" dirty="0"/>
              <a:t>使用</a:t>
            </a:r>
            <a:r>
              <a:rPr lang="en-US" altLang="zh-TW" dirty="0"/>
              <a:t>{{ now }}</a:t>
            </a:r>
            <a:r>
              <a:rPr lang="zh-TW" altLang="zh-TW" dirty="0"/>
              <a:t>把目前的系統日期時間顯示出來，如下所示：</a:t>
            </a:r>
          </a:p>
          <a:p>
            <a:pPr marL="274320" lvl="1" indent="0">
              <a:buNone/>
            </a:pPr>
            <a:r>
              <a:rPr lang="en-US" altLang="zh-TW" dirty="0"/>
              <a:t>&lt;!-- index.html (ch06www project) --&gt;</a:t>
            </a:r>
            <a:endParaRPr lang="zh-TW" altLang="zh-TW" dirty="0"/>
          </a:p>
          <a:p>
            <a:pPr marL="274320" lvl="1" indent="0">
              <a:buNone/>
            </a:pPr>
            <a:r>
              <a:rPr lang="en-US" altLang="zh-TW" dirty="0"/>
              <a:t>&lt;!DOCTYPE html&gt;</a:t>
            </a:r>
            <a:endParaRPr lang="zh-TW" altLang="zh-TW" dirty="0"/>
          </a:p>
          <a:p>
            <a:pPr marL="274320" lvl="1" indent="0">
              <a:buNone/>
            </a:pPr>
            <a:r>
              <a:rPr lang="en-US" altLang="zh-TW" dirty="0"/>
              <a:t>&lt;html&gt;</a:t>
            </a:r>
            <a:endParaRPr lang="zh-TW" altLang="zh-TW" dirty="0"/>
          </a:p>
          <a:p>
            <a:pPr marL="274320" lvl="1" indent="0">
              <a:buNone/>
            </a:pPr>
            <a:r>
              <a:rPr lang="en-US" altLang="zh-TW" dirty="0"/>
              <a:t>&lt;head&gt;</a:t>
            </a:r>
            <a:endParaRPr lang="zh-TW" altLang="zh-TW" dirty="0"/>
          </a:p>
          <a:p>
            <a:pPr marL="274320" lvl="1" indent="0">
              <a:buNone/>
            </a:pPr>
            <a:r>
              <a:rPr lang="en-US" altLang="zh-TW" dirty="0"/>
              <a:t>    &lt;meta charset='utf-8'&gt;</a:t>
            </a:r>
            <a:endParaRPr lang="zh-TW" altLang="zh-TW" dirty="0"/>
          </a:p>
          <a:p>
            <a:pPr marL="274320" lvl="1" indent="0">
              <a:buNone/>
            </a:pPr>
            <a:r>
              <a:rPr lang="en-US" altLang="zh-TW" dirty="0"/>
              <a:t>    &lt;title&gt;Home Page&lt;/title&gt;</a:t>
            </a:r>
            <a:endParaRPr lang="zh-TW" altLang="zh-TW" dirty="0"/>
          </a:p>
          <a:p>
            <a:pPr marL="274320" lvl="1" indent="0">
              <a:buNone/>
            </a:pPr>
            <a:r>
              <a:rPr lang="en-US" altLang="zh-TW" dirty="0"/>
              <a:t>&lt;/head&gt;</a:t>
            </a:r>
            <a:endParaRPr lang="zh-TW" altLang="zh-TW" dirty="0"/>
          </a:p>
          <a:p>
            <a:pPr marL="274320" lvl="1" indent="0">
              <a:buNone/>
            </a:pPr>
            <a:r>
              <a:rPr lang="en-US" altLang="zh-TW" dirty="0"/>
              <a:t>&lt;body&gt;</a:t>
            </a:r>
            <a:endParaRPr lang="zh-TW" altLang="zh-TW" dirty="0"/>
          </a:p>
          <a:p>
            <a:pPr marL="274320" lvl="1" indent="0">
              <a:buNone/>
            </a:pPr>
            <a:r>
              <a:rPr lang="en-US" altLang="zh-TW" dirty="0"/>
              <a:t>    &lt;h2&gt;Hello world!&lt;/h2&gt;</a:t>
            </a:r>
            <a:endParaRPr lang="zh-TW" altLang="zh-TW" dirty="0"/>
          </a:p>
          <a:p>
            <a:pPr marL="274320" lvl="1" indent="0">
              <a:buNone/>
            </a:pPr>
            <a:r>
              <a:rPr lang="en-US" altLang="zh-TW" dirty="0"/>
              <a:t>    &lt;</a:t>
            </a:r>
            <a:r>
              <a:rPr lang="en-US" altLang="zh-TW" dirty="0" err="1"/>
              <a:t>hr</a:t>
            </a:r>
            <a:r>
              <a:rPr lang="en-US" altLang="zh-TW" dirty="0"/>
              <a:t>&gt;</a:t>
            </a:r>
            <a:endParaRPr lang="zh-TW" altLang="zh-TW" dirty="0"/>
          </a:p>
          <a:p>
            <a:pPr marL="274320" lvl="1" indent="0">
              <a:buNone/>
            </a:pPr>
            <a:r>
              <a:rPr lang="en-US" altLang="zh-TW" dirty="0"/>
              <a:t>    &lt;</a:t>
            </a:r>
            <a:r>
              <a:rPr lang="en-US" altLang="zh-TW" dirty="0" err="1"/>
              <a:t>em</a:t>
            </a:r>
            <a:r>
              <a:rPr lang="en-US" altLang="zh-TW" dirty="0"/>
              <a:t>&gt;</a:t>
            </a:r>
            <a:endParaRPr lang="zh-TW" altLang="zh-TW" dirty="0"/>
          </a:p>
          <a:p>
            <a:pPr marL="274320" lvl="1" indent="0">
              <a:buNone/>
            </a:pPr>
            <a:r>
              <a:rPr lang="en-US" altLang="zh-TW" dirty="0"/>
              <a:t>    </a:t>
            </a:r>
            <a:r>
              <a:rPr lang="en-US" altLang="zh-TW" dirty="0">
                <a:solidFill>
                  <a:srgbClr val="FF0000"/>
                </a:solidFill>
              </a:rPr>
              <a:t>	{{ now }}</a:t>
            </a:r>
            <a:endParaRPr lang="zh-TW" altLang="zh-TW" dirty="0">
              <a:solidFill>
                <a:srgbClr val="FF0000"/>
              </a:solidFill>
            </a:endParaRPr>
          </a:p>
          <a:p>
            <a:pPr marL="274320" lvl="1" indent="0">
              <a:buNone/>
            </a:pPr>
            <a:r>
              <a:rPr lang="en-US" altLang="zh-TW" dirty="0"/>
              <a:t>    &lt;/</a:t>
            </a:r>
            <a:r>
              <a:rPr lang="en-US" altLang="zh-TW" dirty="0" err="1"/>
              <a:t>em</a:t>
            </a:r>
            <a:r>
              <a:rPr lang="en-US" altLang="zh-TW" dirty="0"/>
              <a:t>&gt;</a:t>
            </a:r>
            <a:endParaRPr lang="zh-TW" altLang="zh-TW" dirty="0"/>
          </a:p>
          <a:p>
            <a:pPr marL="274320" lvl="1" indent="0">
              <a:buNone/>
            </a:pPr>
            <a:r>
              <a:rPr lang="en-US" altLang="zh-TW" dirty="0"/>
              <a:t>&lt;/body&gt;</a:t>
            </a:r>
            <a:endParaRPr lang="zh-TW" altLang="zh-TW" dirty="0"/>
          </a:p>
          <a:p>
            <a:pPr marL="274320" lvl="1" indent="0">
              <a:buNone/>
            </a:pPr>
            <a:r>
              <a:rPr lang="en-US" altLang="zh-TW" dirty="0"/>
              <a:t>&lt;/html&gt;</a:t>
            </a:r>
            <a:endParaRPr lang="zh-TW" altLang="zh-TW" dirty="0"/>
          </a:p>
          <a:p>
            <a:endParaRPr lang="zh-TW" altLang="en-US" dirty="0"/>
          </a:p>
        </p:txBody>
      </p:sp>
    </p:spTree>
    <p:extLst>
      <p:ext uri="{BB962C8B-B14F-4D97-AF65-F5344CB8AC3E}">
        <p14:creationId xmlns:p14="http://schemas.microsoft.com/office/powerpoint/2010/main" val="519830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p:txBody>
          <a:bodyPr/>
          <a:lstStyle/>
          <a:p>
            <a:r>
              <a:rPr lang="zh-TW" altLang="zh-TW" dirty="0"/>
              <a:t>幾乎所有的商用網站在每一頁都會有一些共同的元素以強調網站的風格，如果像上一小節那樣</a:t>
            </a:r>
            <a:r>
              <a:rPr lang="zh-TW" altLang="zh-TW"/>
              <a:t>每一樣</a:t>
            </a:r>
            <a:r>
              <a:rPr lang="zh-TW" altLang="en-US"/>
              <a:t>都</a:t>
            </a:r>
            <a:r>
              <a:rPr lang="zh-TW" altLang="zh-TW"/>
              <a:t>分開</a:t>
            </a:r>
            <a:r>
              <a:rPr lang="zh-TW" altLang="zh-TW" dirty="0"/>
              <a:t>設計的話，不僅要多花許多不必要的時間和精力，而且如果有所更動的時候，也很難同步修改到所有網頁共同的</a:t>
            </a:r>
            <a:r>
              <a:rPr lang="zh-TW" altLang="zh-TW"/>
              <a:t>部份。</a:t>
            </a:r>
            <a:endParaRPr lang="en-US" altLang="zh-TW"/>
          </a:p>
          <a:p>
            <a:r>
              <a:rPr lang="zh-TW" altLang="zh-TW"/>
              <a:t>把</a:t>
            </a:r>
            <a:r>
              <a:rPr lang="zh-TW" altLang="zh-TW" dirty="0"/>
              <a:t>每一個網頁共同的部份獨立出來成為另外一個檔案，才是最正確的</a:t>
            </a:r>
            <a:r>
              <a:rPr lang="zh-TW" altLang="zh-TW"/>
              <a:t>做法，</a:t>
            </a:r>
            <a:r>
              <a:rPr lang="en-US" altLang="zh-TW"/>
              <a:t>Django</a:t>
            </a:r>
            <a:r>
              <a:rPr lang="zh-TW" altLang="zh-TW" dirty="0"/>
              <a:t>就提供了共同模版的方式處理這部份的機制。</a:t>
            </a:r>
          </a:p>
          <a:p>
            <a:endParaRPr lang="zh-TW" altLang="en-US" dirty="0"/>
          </a:p>
        </p:txBody>
      </p:sp>
    </p:spTree>
    <p:extLst>
      <p:ext uri="{BB962C8B-B14F-4D97-AF65-F5344CB8AC3E}">
        <p14:creationId xmlns:p14="http://schemas.microsoft.com/office/powerpoint/2010/main" val="1347698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graphicFrame>
        <p:nvGraphicFramePr>
          <p:cNvPr id="5" name="內容版面配置區 4"/>
          <p:cNvGraphicFramePr>
            <a:graphicFrameLocks noGrp="1"/>
          </p:cNvGraphicFramePr>
          <p:nvPr>
            <p:ph sz="quarter" idx="1"/>
          </p:nvPr>
        </p:nvGraphicFramePr>
        <p:xfrm>
          <a:off x="611560" y="1844824"/>
          <a:ext cx="8136904" cy="3108345"/>
        </p:xfrm>
        <a:graphic>
          <a:graphicData uri="http://schemas.openxmlformats.org/drawingml/2006/table">
            <a:tbl>
              <a:tblPr firstRow="1" firstCol="1" bandRow="1">
                <a:tableStyleId>{5C22544A-7EE6-4342-B048-85BDC9FD1C3A}</a:tableStyleId>
              </a:tblPr>
              <a:tblGrid>
                <a:gridCol w="1876004">
                  <a:extLst>
                    <a:ext uri="{9D8B030D-6E8A-4147-A177-3AD203B41FA5}">
                      <a16:colId xmlns:a16="http://schemas.microsoft.com/office/drawing/2014/main" val="20000"/>
                    </a:ext>
                  </a:extLst>
                </a:gridCol>
                <a:gridCol w="6260900">
                  <a:extLst>
                    <a:ext uri="{9D8B030D-6E8A-4147-A177-3AD203B41FA5}">
                      <a16:colId xmlns:a16="http://schemas.microsoft.com/office/drawing/2014/main" val="20001"/>
                    </a:ext>
                  </a:extLst>
                </a:gridCol>
              </a:tblGrid>
              <a:tr h="504056">
                <a:tc>
                  <a:txBody>
                    <a:bodyPr/>
                    <a:lstStyle/>
                    <a:p>
                      <a:pPr algn="just">
                        <a:spcBef>
                          <a:spcPts val="600"/>
                        </a:spcBef>
                        <a:spcAft>
                          <a:spcPts val="600"/>
                        </a:spcAft>
                      </a:pPr>
                      <a:r>
                        <a:rPr lang="zh-TW" sz="1800" kern="100">
                          <a:effectLst/>
                        </a:rPr>
                        <a:t>檔案名稱</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用途說明</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44051">
                <a:tc>
                  <a:txBody>
                    <a:bodyPr/>
                    <a:lstStyle/>
                    <a:p>
                      <a:pPr algn="just">
                        <a:spcBef>
                          <a:spcPts val="600"/>
                        </a:spcBef>
                        <a:spcAft>
                          <a:spcPts val="600"/>
                        </a:spcAft>
                      </a:pPr>
                      <a:r>
                        <a:rPr lang="en-US" sz="1800" kern="100">
                          <a:effectLst/>
                        </a:rPr>
                        <a:t>base.html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網站的基礎模版，提供網站的主要設計外觀風格</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76064">
                <a:tc>
                  <a:txBody>
                    <a:bodyPr/>
                    <a:lstStyle/>
                    <a:p>
                      <a:pPr algn="just">
                        <a:spcBef>
                          <a:spcPts val="600"/>
                        </a:spcBef>
                        <a:spcAft>
                          <a:spcPts val="600"/>
                        </a:spcAft>
                      </a:pPr>
                      <a:r>
                        <a:rPr lang="en-US" sz="1800" kern="100">
                          <a:effectLst/>
                        </a:rPr>
                        <a:t>header.html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網站中每一個網頁共用的標題元素，通常是放置網站</a:t>
                      </a:r>
                      <a:r>
                        <a:rPr lang="en-US" sz="1800" kern="100">
                          <a:effectLst/>
                        </a:rPr>
                        <a:t>Logo</a:t>
                      </a:r>
                      <a:r>
                        <a:rPr lang="zh-TW" sz="1800" kern="100">
                          <a:effectLst/>
                        </a:rPr>
                        <a:t>的地方</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48072">
                <a:tc>
                  <a:txBody>
                    <a:bodyPr/>
                    <a:lstStyle/>
                    <a:p>
                      <a:pPr algn="just">
                        <a:spcBef>
                          <a:spcPts val="600"/>
                        </a:spcBef>
                        <a:spcAft>
                          <a:spcPts val="600"/>
                        </a:spcAft>
                      </a:pPr>
                      <a:r>
                        <a:rPr lang="en-US" sz="1800" kern="100">
                          <a:effectLst/>
                        </a:rPr>
                        <a:t>footer.html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網站中每一個網頁的共用頁尾，用來放置版權聲明或是其它參考資訊</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32048">
                <a:tc>
                  <a:txBody>
                    <a:bodyPr/>
                    <a:lstStyle/>
                    <a:p>
                      <a:pPr algn="just">
                        <a:spcBef>
                          <a:spcPts val="600"/>
                        </a:spcBef>
                        <a:spcAft>
                          <a:spcPts val="600"/>
                        </a:spcAft>
                      </a:pPr>
                      <a:r>
                        <a:rPr lang="en-US" sz="1800" kern="100">
                          <a:effectLst/>
                        </a:rPr>
                        <a:t>index.html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此範例網站的首頁</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04054">
                <a:tc>
                  <a:txBody>
                    <a:bodyPr/>
                    <a:lstStyle/>
                    <a:p>
                      <a:pPr algn="just">
                        <a:spcBef>
                          <a:spcPts val="600"/>
                        </a:spcBef>
                        <a:spcAft>
                          <a:spcPts val="600"/>
                        </a:spcAft>
                      </a:pPr>
                      <a:r>
                        <a:rPr lang="en-US" sz="1800" kern="100">
                          <a:effectLst/>
                        </a:rPr>
                        <a:t>post.html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此範例網站用來顯示單篇文章的網頁</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36974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圖片 4"/>
          <p:cNvPicPr/>
          <p:nvPr/>
        </p:nvPicPr>
        <p:blipFill>
          <a:blip r:embed="rId3">
            <a:extLst>
              <a:ext uri="{28A0092B-C50C-407E-A947-70E740481C1C}">
                <a14:useLocalDpi xmlns:a14="http://schemas.microsoft.com/office/drawing/2010/main" val="0"/>
              </a:ext>
            </a:extLst>
          </a:blip>
          <a:stretch>
            <a:fillRect/>
          </a:stretch>
        </p:blipFill>
        <p:spPr>
          <a:xfrm>
            <a:off x="271272" y="1196753"/>
            <a:ext cx="8534400" cy="5616624"/>
          </a:xfrm>
          <a:prstGeom prst="rect">
            <a:avLst/>
          </a:prstGeom>
        </p:spPr>
      </p:pic>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a:xfrm>
            <a:off x="301752" y="908720"/>
            <a:ext cx="8503920" cy="4572000"/>
          </a:xfrm>
        </p:spPr>
        <p:txBody>
          <a:bodyPr/>
          <a:lstStyle/>
          <a:p>
            <a:r>
              <a:rPr lang="zh-TW" altLang="zh-TW" dirty="0"/>
              <a:t>基本的模版架構</a:t>
            </a:r>
            <a:endParaRPr lang="zh-TW" altLang="en-US" dirty="0"/>
          </a:p>
        </p:txBody>
      </p:sp>
    </p:spTree>
    <p:extLst>
      <p:ext uri="{BB962C8B-B14F-4D97-AF65-F5344CB8AC3E}">
        <p14:creationId xmlns:p14="http://schemas.microsoft.com/office/powerpoint/2010/main" val="194765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581816"/>
            <a:ext cx="8534400" cy="758952"/>
          </a:xfrm>
        </p:spPr>
        <p:txBody>
          <a:bodyPr>
            <a:normAutofit fontScale="90000"/>
          </a:bodyPr>
          <a:lstStyle/>
          <a:p>
            <a:r>
              <a:rPr lang="zh-TW" altLang="zh-TW" dirty="0"/>
              <a:t>共用模版的使用</a:t>
            </a:r>
            <a:br>
              <a:rPr lang="en-US" altLang="zh-TW" dirty="0"/>
            </a:br>
            <a:r>
              <a:rPr lang="en-US" altLang="zh-TW" dirty="0"/>
              <a:t>file:02mblog\</a:t>
            </a:r>
            <a:r>
              <a:rPr lang="en-US" altLang="zh-TW" dirty="0" err="1"/>
              <a:t>mblog</a:t>
            </a:r>
            <a:r>
              <a:rPr lang="en-US" altLang="zh-TW" dirty="0"/>
              <a:t>\</a:t>
            </a:r>
            <a:r>
              <a:rPr lang="en-US" altLang="zh-TW" dirty="0" err="1"/>
              <a:t>mysite</a:t>
            </a:r>
            <a:r>
              <a:rPr lang="en-US" altLang="zh-TW" dirty="0"/>
              <a:t>\templates</a:t>
            </a:r>
            <a:br>
              <a:rPr lang="en-US" altLang="zh-TW" dirty="0"/>
            </a:br>
            <a:r>
              <a:rPr lang="en-US" altLang="zh-TW" dirty="0"/>
              <a:t>ch02\</a:t>
            </a:r>
            <a:r>
              <a:rPr lang="en-US" altLang="zh-TW" dirty="0" err="1"/>
              <a:t>mblog</a:t>
            </a:r>
            <a:r>
              <a:rPr lang="en-US" altLang="zh-TW" dirty="0"/>
              <a:t>\templates</a:t>
            </a:r>
            <a:r>
              <a:rPr lang="zh-TW" altLang="en-US" dirty="0"/>
              <a:t>也有</a:t>
            </a:r>
            <a:r>
              <a:rPr lang="en-US" altLang="zh-TW" dirty="0"/>
              <a:t>(</a:t>
            </a:r>
            <a:r>
              <a:rPr lang="zh-TW" altLang="en-US" dirty="0"/>
              <a:t>可用這個</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a:xfrm>
            <a:off x="301752" y="1124744"/>
            <a:ext cx="8534400" cy="5733256"/>
          </a:xfrm>
        </p:spPr>
        <p:txBody>
          <a:bodyPr>
            <a:normAutofit fontScale="85000" lnSpcReduction="20000"/>
          </a:bodyPr>
          <a:lstStyle/>
          <a:p>
            <a:r>
              <a:rPr lang="en-US" altLang="zh-TW" dirty="0">
                <a:solidFill>
                  <a:srgbClr val="FF0000"/>
                </a:solidFill>
              </a:rPr>
              <a:t>base.html</a:t>
            </a:r>
          </a:p>
          <a:p>
            <a:pPr marL="274320" lvl="1" indent="0">
              <a:buNone/>
            </a:pPr>
            <a:r>
              <a:rPr lang="en-US" altLang="zh-TW" dirty="0"/>
              <a:t>&lt;!-- base.html --&gt;</a:t>
            </a:r>
          </a:p>
          <a:p>
            <a:pPr marL="274320" lvl="1" indent="0">
              <a:buNone/>
            </a:pPr>
            <a:r>
              <a:rPr lang="en-US" altLang="zh-TW" dirty="0"/>
              <a:t>&lt;!DOCTYPE&gt;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    &lt;meta charset='utf-8'&gt;</a:t>
            </a:r>
          </a:p>
          <a:p>
            <a:pPr marL="274320" lvl="1" indent="0">
              <a:buNone/>
            </a:pPr>
            <a:r>
              <a:rPr lang="en-US" altLang="zh-TW" dirty="0"/>
              <a:t>    </a:t>
            </a:r>
            <a:r>
              <a:rPr lang="en-US" altLang="zh-TW" b="1" dirty="0"/>
              <a:t>&lt;title&gt;</a:t>
            </a:r>
          </a:p>
          <a:p>
            <a:pPr marL="274320" lvl="1" indent="0">
              <a:buNone/>
            </a:pPr>
            <a:r>
              <a:rPr lang="en-US" altLang="zh-TW" dirty="0"/>
              <a:t>        1</a:t>
            </a:r>
            <a:r>
              <a:rPr lang="en-US" altLang="zh-TW" dirty="0">
                <a:solidFill>
                  <a:srgbClr val="FF0000"/>
                </a:solidFill>
              </a:rPr>
              <a:t>{% block title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b="1" dirty="0"/>
              <a:t>    &lt;/title&gt;</a:t>
            </a:r>
          </a:p>
          <a:p>
            <a:pPr marL="274320" lvl="1" indent="0">
              <a:buNone/>
            </a:pPr>
            <a:r>
              <a:rPr lang="en-US" altLang="zh-TW" dirty="0"/>
              <a:t>&lt;/head&gt;</a:t>
            </a:r>
          </a:p>
          <a:p>
            <a:pPr marL="274320" lvl="1" indent="0">
              <a:buNone/>
            </a:pPr>
            <a:r>
              <a:rPr lang="en-US" altLang="zh-TW" dirty="0"/>
              <a:t>&lt;body&gt;</a:t>
            </a:r>
          </a:p>
          <a:p>
            <a:pPr marL="274320" lvl="1" indent="0">
              <a:buNone/>
            </a:pPr>
            <a:r>
              <a:rPr lang="en-US" altLang="zh-TW" dirty="0"/>
              <a:t>    2{% </a:t>
            </a:r>
            <a:r>
              <a:rPr lang="en-US" altLang="zh-TW" dirty="0">
                <a:solidFill>
                  <a:srgbClr val="FF0000"/>
                </a:solidFill>
              </a:rPr>
              <a:t>include </a:t>
            </a:r>
            <a:r>
              <a:rPr lang="en-US" altLang="zh-TW" b="1" dirty="0"/>
              <a:t>'header.html</a:t>
            </a:r>
            <a:r>
              <a:rPr lang="en-US" altLang="zh-TW" dirty="0"/>
              <a:t>' %}</a:t>
            </a:r>
          </a:p>
          <a:p>
            <a:pPr marL="274320" lvl="1" indent="0">
              <a:buNone/>
            </a:pPr>
            <a:r>
              <a:rPr lang="en-US" altLang="zh-TW" dirty="0"/>
              <a:t>    2</a:t>
            </a:r>
            <a:r>
              <a:rPr lang="en-US" altLang="zh-TW" dirty="0">
                <a:solidFill>
                  <a:srgbClr val="FF0000"/>
                </a:solidFill>
              </a:rPr>
              <a:t>{% block </a:t>
            </a:r>
            <a:r>
              <a:rPr lang="en-US" altLang="zh-TW" dirty="0" err="1">
                <a:solidFill>
                  <a:srgbClr val="FF0000"/>
                </a:solidFill>
              </a:rPr>
              <a:t>headmessage</a:t>
            </a:r>
            <a:r>
              <a:rPr lang="en-US" altLang="zh-TW" dirty="0">
                <a:solidFill>
                  <a:srgbClr val="FF0000"/>
                </a:solidFill>
              </a:rPr>
              <a:t>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1</a:t>
            </a:r>
            <a:r>
              <a:rPr lang="en-US" altLang="zh-TW" dirty="0">
                <a:solidFill>
                  <a:srgbClr val="FF0000"/>
                </a:solidFill>
              </a:rPr>
              <a:t>{% block content %}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a:t>
            </a:r>
            <a:r>
              <a:rPr lang="en-US" altLang="zh-TW" dirty="0" err="1"/>
              <a:t>hr</a:t>
            </a:r>
            <a:r>
              <a:rPr lang="en-US" altLang="zh-TW" dirty="0"/>
              <a:t>&gt;</a:t>
            </a:r>
          </a:p>
          <a:p>
            <a:pPr marL="274320" lvl="1" indent="0">
              <a:buNone/>
            </a:pPr>
            <a:r>
              <a:rPr lang="en-US" altLang="zh-TW" dirty="0"/>
              <a:t>    3{% </a:t>
            </a:r>
            <a:r>
              <a:rPr lang="en-US" altLang="zh-TW" dirty="0">
                <a:solidFill>
                  <a:srgbClr val="FF0000"/>
                </a:solidFill>
              </a:rPr>
              <a:t>include</a:t>
            </a:r>
            <a:r>
              <a:rPr lang="en-US" altLang="zh-TW" dirty="0"/>
              <a:t> </a:t>
            </a:r>
            <a:r>
              <a:rPr lang="en-US" altLang="zh-TW" b="1" dirty="0"/>
              <a:t>'footer.html</a:t>
            </a:r>
            <a:r>
              <a:rPr lang="en-US" altLang="zh-TW" dirty="0"/>
              <a:t>' %}</a:t>
            </a:r>
          </a:p>
          <a:p>
            <a:pPr marL="274320" lvl="1" indent="0">
              <a:buNone/>
            </a:pPr>
            <a:r>
              <a:rPr lang="en-US" altLang="zh-TW" dirty="0"/>
              <a:t>&lt;/body&gt;</a:t>
            </a:r>
          </a:p>
          <a:p>
            <a:pPr marL="274320" lvl="1" indent="0">
              <a:buNone/>
            </a:pPr>
            <a:r>
              <a:rPr lang="en-US" altLang="zh-TW" dirty="0"/>
              <a:t>&lt;/html&gt;</a:t>
            </a:r>
          </a:p>
          <a:p>
            <a:pPr lvl="1"/>
            <a:endParaRPr lang="zh-TW" altLang="en-US" dirty="0"/>
          </a:p>
        </p:txBody>
      </p:sp>
    </p:spTree>
    <p:extLst>
      <p:ext uri="{BB962C8B-B14F-4D97-AF65-F5344CB8AC3E}">
        <p14:creationId xmlns:p14="http://schemas.microsoft.com/office/powerpoint/2010/main" val="3659990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a:xfrm>
            <a:off x="301752" y="1527048"/>
            <a:ext cx="8534400" cy="5070304"/>
          </a:xfrm>
        </p:spPr>
        <p:txBody>
          <a:bodyPr>
            <a:normAutofit fontScale="92500" lnSpcReduction="10000"/>
          </a:bodyPr>
          <a:lstStyle/>
          <a:p>
            <a:r>
              <a:rPr lang="en-US" altLang="zh-TW" dirty="0"/>
              <a:t>index.html</a:t>
            </a:r>
          </a:p>
          <a:p>
            <a:pPr marL="274320" lvl="1" indent="0">
              <a:buNone/>
            </a:pPr>
            <a:r>
              <a:rPr lang="en-US" altLang="zh-TW" dirty="0"/>
              <a:t>&lt;!-- index.html --&gt;</a:t>
            </a:r>
          </a:p>
          <a:p>
            <a:pPr marL="274320" lvl="1" indent="0">
              <a:buNone/>
            </a:pPr>
            <a:r>
              <a:rPr lang="en-US" altLang="zh-TW" dirty="0">
                <a:solidFill>
                  <a:srgbClr val="FF0000"/>
                </a:solidFill>
              </a:rPr>
              <a:t>{% extends ‘base.html’ %} </a:t>
            </a:r>
            <a:r>
              <a:rPr lang="en-US" altLang="zh-TW" dirty="0">
                <a:solidFill>
                  <a:srgbClr val="FF0000"/>
                </a:solidFill>
                <a:sym typeface="Wingdings" panose="05000000000000000000" pitchFamily="2" charset="2"/>
              </a:rPr>
              <a:t></a:t>
            </a:r>
            <a:r>
              <a:rPr lang="zh-TW" altLang="en-US" dirty="0">
                <a:solidFill>
                  <a:srgbClr val="FF0000"/>
                </a:solidFill>
                <a:sym typeface="Wingdings" panose="05000000000000000000" pitchFamily="2" charset="2"/>
              </a:rPr>
              <a:t>決定用哪個骨架</a:t>
            </a:r>
            <a:endParaRPr lang="en-US" altLang="zh-TW" dirty="0">
              <a:solidFill>
                <a:srgbClr val="FF0000"/>
              </a:solidFill>
            </a:endParaRPr>
          </a:p>
          <a:p>
            <a:pPr marL="274320" lvl="1" indent="0">
              <a:buNone/>
            </a:pPr>
            <a:r>
              <a:rPr lang="en-US" altLang="zh-TW" dirty="0">
                <a:solidFill>
                  <a:srgbClr val="FF0000"/>
                </a:solidFill>
              </a:rPr>
              <a:t>{% block title %} </a:t>
            </a:r>
            <a:r>
              <a:rPr lang="zh-TW" altLang="en-US" dirty="0">
                <a:solidFill>
                  <a:srgbClr val="FF0000"/>
                </a:solidFill>
              </a:rPr>
              <a:t>歡迎光臨我的部落格 </a:t>
            </a:r>
            <a:r>
              <a:rPr lang="en-US" altLang="zh-TW" dirty="0">
                <a:solidFill>
                  <a:srgbClr val="FF0000"/>
                </a:solidFill>
              </a:rPr>
              <a:t>{%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block </a:t>
            </a:r>
            <a:r>
              <a:rPr lang="en-US" altLang="zh-TW" dirty="0" err="1"/>
              <a:t>headmessage</a:t>
            </a:r>
            <a:r>
              <a:rPr lang="en-US" altLang="zh-TW" dirty="0"/>
              <a:t> %} </a:t>
            </a:r>
          </a:p>
          <a:p>
            <a:pPr marL="274320" lvl="1" indent="0">
              <a:buNone/>
            </a:pPr>
            <a:r>
              <a:rPr lang="en-US" altLang="zh-TW" dirty="0"/>
              <a:t>    &lt;h3 style='font-family:</a:t>
            </a:r>
            <a:r>
              <a:rPr lang="zh-TW" altLang="en-US" dirty="0"/>
              <a:t>標楷體</a:t>
            </a:r>
            <a:r>
              <a:rPr lang="en-US" altLang="zh-TW" dirty="0"/>
              <a:t>;'&gt;</a:t>
            </a:r>
            <a:r>
              <a:rPr lang="zh-TW" altLang="en-US" dirty="0"/>
              <a:t>本站文章列表</a:t>
            </a:r>
            <a:r>
              <a:rPr lang="en-US" altLang="zh-TW" dirty="0"/>
              <a:t>&lt;/a&gt;</a:t>
            </a:r>
          </a:p>
          <a:p>
            <a:pPr marL="274320" lvl="1" indent="0">
              <a:buNone/>
            </a:pPr>
            <a:r>
              <a:rPr lang="en-US" altLang="zh-TW" dirty="0"/>
              <a:t>{% </a:t>
            </a:r>
            <a:r>
              <a:rPr lang="en-US" altLang="zh-TW" dirty="0" err="1"/>
              <a:t>endblock</a:t>
            </a:r>
            <a:r>
              <a:rPr lang="en-US" altLang="zh-TW" dirty="0"/>
              <a:t> %}</a:t>
            </a:r>
          </a:p>
          <a:p>
            <a:pPr marL="274320" lvl="1" indent="0">
              <a:buNone/>
            </a:pPr>
            <a:r>
              <a:rPr lang="en-US" altLang="zh-TW" dirty="0">
                <a:solidFill>
                  <a:srgbClr val="FF0000"/>
                </a:solidFill>
              </a:rPr>
              <a:t>{% block content %} </a:t>
            </a:r>
          </a:p>
          <a:p>
            <a:pPr marL="274320" lvl="1" indent="0">
              <a:buNone/>
            </a:pPr>
            <a:r>
              <a:rPr lang="en-US" altLang="zh-TW" dirty="0"/>
              <a:t>    {% for post in posts %}</a:t>
            </a:r>
          </a:p>
          <a:p>
            <a:pPr marL="274320" lvl="1" indent="0">
              <a:buNone/>
            </a:pPr>
            <a:r>
              <a:rPr lang="en-US" altLang="zh-TW" dirty="0"/>
              <a:t>        &lt;p style='font-family:</a:t>
            </a:r>
            <a:r>
              <a:rPr lang="zh-TW" altLang="en-US" dirty="0"/>
              <a:t>微軟正黑體</a:t>
            </a:r>
            <a:r>
              <a:rPr lang="en-US" altLang="zh-TW" dirty="0"/>
              <a:t>;font-size:14pt;font-weight:bold;'&gt;</a:t>
            </a:r>
          </a:p>
          <a:p>
            <a:pPr marL="274320" lvl="1" indent="0">
              <a:buNone/>
            </a:pPr>
            <a:r>
              <a:rPr lang="en-US" altLang="zh-TW" dirty="0"/>
              <a:t>            &lt;a </a:t>
            </a:r>
            <a:r>
              <a:rPr lang="en-US" altLang="zh-TW" dirty="0" err="1"/>
              <a:t>href</a:t>
            </a:r>
            <a:r>
              <a:rPr lang="en-US" altLang="zh-TW" dirty="0"/>
              <a:t>='/post/{{</a:t>
            </a:r>
            <a:r>
              <a:rPr lang="en-US" altLang="zh-TW" dirty="0" err="1"/>
              <a:t>post.slug</a:t>
            </a:r>
            <a:r>
              <a:rPr lang="en-US" altLang="zh-TW" dirty="0"/>
              <a:t>}}'&gt;{{ </a:t>
            </a:r>
            <a:r>
              <a:rPr lang="en-US" altLang="zh-TW" dirty="0" err="1"/>
              <a:t>post.title</a:t>
            </a:r>
            <a:r>
              <a:rPr lang="en-US" altLang="zh-TW" dirty="0"/>
              <a:t> }}&lt;/a&gt;</a:t>
            </a:r>
          </a:p>
          <a:p>
            <a:pPr marL="274320" lvl="1" indent="0">
              <a:buNone/>
            </a:pPr>
            <a:r>
              <a:rPr lang="en-US" altLang="zh-TW" dirty="0"/>
              <a:t>        &lt;/p&gt;</a:t>
            </a:r>
          </a:p>
          <a:p>
            <a:pPr marL="274320" lvl="1" indent="0">
              <a:buNone/>
            </a:pPr>
            <a:r>
              <a:rPr lang="en-US" altLang="zh-TW" dirty="0"/>
              <a:t>    {% </a:t>
            </a:r>
            <a:r>
              <a:rPr lang="en-US" altLang="zh-TW" dirty="0" err="1"/>
              <a:t>endfor</a:t>
            </a:r>
            <a:r>
              <a:rPr lang="en-US" altLang="zh-TW" dirty="0"/>
              <a:t> %}</a:t>
            </a:r>
          </a:p>
          <a:p>
            <a:pPr marL="274320" lvl="1" indent="0">
              <a:buNone/>
            </a:pPr>
            <a:r>
              <a:rPr lang="en-US" altLang="zh-TW" dirty="0">
                <a:solidFill>
                  <a:srgbClr val="FF0000"/>
                </a:solidFill>
              </a:rPr>
              <a:t>{% </a:t>
            </a:r>
            <a:r>
              <a:rPr lang="en-US" altLang="zh-TW" dirty="0" err="1">
                <a:solidFill>
                  <a:srgbClr val="FF0000"/>
                </a:solidFill>
              </a:rPr>
              <a:t>endblock</a:t>
            </a:r>
            <a:r>
              <a:rPr lang="en-US" altLang="zh-TW" dirty="0">
                <a:solidFill>
                  <a:srgbClr val="FF0000"/>
                </a:solidFill>
              </a:rPr>
              <a:t> %}</a:t>
            </a:r>
          </a:p>
          <a:p>
            <a:pPr lvl="1"/>
            <a:endParaRPr lang="zh-TW" altLang="en-US" dirty="0"/>
          </a:p>
        </p:txBody>
      </p:sp>
    </p:spTree>
    <p:extLst>
      <p:ext uri="{BB962C8B-B14F-4D97-AF65-F5344CB8AC3E}">
        <p14:creationId xmlns:p14="http://schemas.microsoft.com/office/powerpoint/2010/main" val="1132176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a:xfrm>
            <a:off x="107504" y="1527048"/>
            <a:ext cx="8698168" cy="4572000"/>
          </a:xfrm>
        </p:spPr>
        <p:txBody>
          <a:bodyPr>
            <a:normAutofit fontScale="92500" lnSpcReduction="20000"/>
          </a:bodyPr>
          <a:lstStyle/>
          <a:p>
            <a:r>
              <a:rPr lang="en-US" altLang="zh-TW" dirty="0"/>
              <a:t>post.html</a:t>
            </a:r>
          </a:p>
          <a:p>
            <a:pPr marL="274320" lvl="1" indent="0">
              <a:buNone/>
            </a:pPr>
            <a:r>
              <a:rPr lang="en-US" altLang="zh-TW" dirty="0"/>
              <a:t>&lt;!-- post.html --&gt;</a:t>
            </a:r>
          </a:p>
          <a:p>
            <a:pPr marL="274320" lvl="1" indent="0">
              <a:buNone/>
            </a:pPr>
            <a:r>
              <a:rPr lang="en-US" altLang="zh-TW" dirty="0">
                <a:solidFill>
                  <a:srgbClr val="FF0000"/>
                </a:solidFill>
              </a:rPr>
              <a:t>{% extends 'base.html' %}</a:t>
            </a:r>
          </a:p>
          <a:p>
            <a:pPr marL="274320" lvl="1" indent="0">
              <a:buNone/>
            </a:pPr>
            <a:r>
              <a:rPr lang="en-US" altLang="zh-TW" b="1" dirty="0"/>
              <a:t>{% block title %} </a:t>
            </a:r>
            <a:r>
              <a:rPr lang="en-US" altLang="zh-TW" dirty="0"/>
              <a:t>{{ </a:t>
            </a:r>
            <a:r>
              <a:rPr lang="en-US" altLang="zh-TW" dirty="0" err="1"/>
              <a:t>post.title</a:t>
            </a:r>
            <a:r>
              <a:rPr lang="en-US" altLang="zh-TW" dirty="0"/>
              <a:t> }} - </a:t>
            </a:r>
            <a:r>
              <a:rPr lang="zh-TW" altLang="en-US" dirty="0"/>
              <a:t>文學天地 </a:t>
            </a:r>
            <a:r>
              <a:rPr lang="en-US" altLang="zh-TW" dirty="0"/>
              <a:t>{% </a:t>
            </a:r>
            <a:r>
              <a:rPr lang="en-US" altLang="zh-TW" dirty="0" err="1"/>
              <a:t>endblock</a:t>
            </a:r>
            <a:r>
              <a:rPr lang="en-US" altLang="zh-TW" dirty="0"/>
              <a:t> %}</a:t>
            </a:r>
          </a:p>
          <a:p>
            <a:pPr marL="274320" lvl="1" indent="0">
              <a:buNone/>
            </a:pPr>
            <a:r>
              <a:rPr lang="en-US" altLang="zh-TW" b="1" dirty="0"/>
              <a:t>{% block </a:t>
            </a:r>
            <a:r>
              <a:rPr lang="en-US" altLang="zh-TW" b="1" dirty="0" err="1"/>
              <a:t>headmessage</a:t>
            </a:r>
            <a:r>
              <a:rPr lang="en-US" altLang="zh-TW" b="1" dirty="0"/>
              <a:t> %}</a:t>
            </a:r>
          </a:p>
          <a:p>
            <a:pPr marL="274320" lvl="1" indent="0">
              <a:buNone/>
            </a:pPr>
            <a:r>
              <a:rPr lang="en-US" altLang="zh-TW" dirty="0"/>
              <a:t>    &lt;h3 style='font-family:</a:t>
            </a:r>
            <a:r>
              <a:rPr lang="zh-TW" altLang="en-US" dirty="0"/>
              <a:t>微軟正黑體</a:t>
            </a:r>
            <a:r>
              <a:rPr lang="en-US" altLang="zh-TW" dirty="0"/>
              <a:t>;'&gt;{{ </a:t>
            </a:r>
            <a:r>
              <a:rPr lang="en-US" altLang="zh-TW" dirty="0" err="1"/>
              <a:t>post.title</a:t>
            </a:r>
            <a:r>
              <a:rPr lang="en-US" altLang="zh-TW" dirty="0"/>
              <a:t> }}&lt;/h3&gt;</a:t>
            </a:r>
          </a:p>
          <a:p>
            <a:pPr marL="274320" lvl="1" indent="0">
              <a:buNone/>
            </a:pPr>
            <a:r>
              <a:rPr lang="en-US" altLang="zh-TW" dirty="0"/>
              <a:t>    &lt;a style='font-family:</a:t>
            </a:r>
            <a:r>
              <a:rPr lang="zh-TW" altLang="en-US" dirty="0"/>
              <a:t>微軟正黑體</a:t>
            </a:r>
            <a:r>
              <a:rPr lang="en-US" altLang="zh-TW" dirty="0"/>
              <a:t>;' </a:t>
            </a:r>
            <a:r>
              <a:rPr lang="en-US" altLang="zh-TW" dirty="0" err="1"/>
              <a:t>href</a:t>
            </a:r>
            <a:r>
              <a:rPr lang="en-US" altLang="zh-TW" dirty="0"/>
              <a:t>='/'&gt;</a:t>
            </a:r>
            <a:r>
              <a:rPr lang="zh-TW" altLang="en-US" dirty="0"/>
              <a:t>回首頁</a:t>
            </a:r>
            <a:r>
              <a:rPr lang="en-US" altLang="zh-TW" dirty="0"/>
              <a:t>&lt;/a&gt;</a:t>
            </a:r>
          </a:p>
          <a:p>
            <a:pPr marL="274320" lvl="1" indent="0">
              <a:buNone/>
            </a:pPr>
            <a:r>
              <a:rPr lang="en-US" altLang="zh-TW" dirty="0"/>
              <a:t>{% </a:t>
            </a:r>
            <a:r>
              <a:rPr lang="en-US" altLang="zh-TW" dirty="0" err="1"/>
              <a:t>endblock</a:t>
            </a:r>
            <a:r>
              <a:rPr lang="en-US" altLang="zh-TW" dirty="0"/>
              <a:t> %}</a:t>
            </a:r>
          </a:p>
          <a:p>
            <a:pPr marL="274320" lvl="1" indent="0">
              <a:buNone/>
            </a:pPr>
            <a:r>
              <a:rPr lang="en-US" altLang="zh-TW" b="1" dirty="0"/>
              <a:t>{% block content %} </a:t>
            </a:r>
          </a:p>
          <a:p>
            <a:pPr marL="274320" lvl="1" indent="0">
              <a:buNone/>
            </a:pPr>
            <a:r>
              <a:rPr lang="en-US" altLang="zh-TW" dirty="0"/>
              <a:t>        &lt;p style='font-family:</a:t>
            </a:r>
            <a:r>
              <a:rPr lang="zh-TW" altLang="en-US" dirty="0"/>
              <a:t>微軟正黑體</a:t>
            </a:r>
            <a:r>
              <a:rPr lang="en-US" altLang="zh-TW" dirty="0"/>
              <a:t>;font-size:12pt;letter-spacing:2pt;'&gt;</a:t>
            </a:r>
          </a:p>
          <a:p>
            <a:pPr marL="274320" lvl="1" indent="0">
              <a:buNone/>
            </a:pPr>
            <a:r>
              <a:rPr lang="en-US" altLang="zh-TW" dirty="0"/>
              <a:t>            {{ </a:t>
            </a:r>
            <a:r>
              <a:rPr lang="en-US" altLang="zh-TW" dirty="0" err="1"/>
              <a:t>post.body</a:t>
            </a:r>
            <a:r>
              <a:rPr lang="en-US" altLang="zh-TW" dirty="0"/>
              <a:t> }}&lt;/a&gt;</a:t>
            </a:r>
          </a:p>
          <a:p>
            <a:pPr marL="274320" lvl="1" indent="0">
              <a:buNone/>
            </a:pPr>
            <a:r>
              <a:rPr lang="en-US" altLang="zh-TW" dirty="0"/>
              <a:t>        &lt;/p&gt;</a:t>
            </a:r>
          </a:p>
          <a:p>
            <a:pPr marL="274320" lvl="1" indent="0">
              <a:buNone/>
            </a:pPr>
            <a:r>
              <a:rPr lang="en-US" altLang="zh-TW" dirty="0"/>
              <a:t>{% </a:t>
            </a:r>
            <a:r>
              <a:rPr lang="en-US" altLang="zh-TW" dirty="0" err="1"/>
              <a:t>endblock</a:t>
            </a:r>
            <a:r>
              <a:rPr lang="en-US" altLang="zh-TW" dirty="0"/>
              <a:t> %}</a:t>
            </a:r>
          </a:p>
          <a:p>
            <a:pPr lvl="1"/>
            <a:endParaRPr lang="zh-TW" altLang="en-US" dirty="0"/>
          </a:p>
        </p:txBody>
      </p:sp>
    </p:spTree>
    <p:extLst>
      <p:ext uri="{BB962C8B-B14F-4D97-AF65-F5344CB8AC3E}">
        <p14:creationId xmlns:p14="http://schemas.microsoft.com/office/powerpoint/2010/main" val="77398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p:txBody>
          <a:bodyPr/>
          <a:lstStyle/>
          <a:p>
            <a:r>
              <a:rPr lang="en-US" altLang="zh-TW" dirty="0"/>
              <a:t>header.html</a:t>
            </a:r>
          </a:p>
          <a:p>
            <a:pPr marL="274320" lvl="1" indent="0">
              <a:buNone/>
            </a:pPr>
            <a:r>
              <a:rPr lang="en-US" altLang="zh-TW" dirty="0"/>
              <a:t>&lt;!-- header.html --&gt;</a:t>
            </a:r>
          </a:p>
          <a:p>
            <a:pPr marL="274320" lvl="1" indent="0">
              <a:buNone/>
            </a:pPr>
            <a:r>
              <a:rPr lang="en-US" altLang="zh-TW" dirty="0"/>
              <a:t>&lt;h1 style="font-family:</a:t>
            </a:r>
            <a:r>
              <a:rPr lang="zh-TW" altLang="en-US" dirty="0"/>
              <a:t>微軟正黑體</a:t>
            </a:r>
            <a:r>
              <a:rPr lang="en-US" altLang="zh-TW" dirty="0"/>
              <a:t>;"&gt;</a:t>
            </a:r>
            <a:r>
              <a:rPr lang="zh-TW" altLang="en-US" dirty="0"/>
              <a:t>歡迎光臨 文學天地</a:t>
            </a:r>
            <a:r>
              <a:rPr lang="en-US" altLang="zh-TW" dirty="0"/>
              <a:t>&lt;/h1&gt;</a:t>
            </a:r>
          </a:p>
          <a:p>
            <a:pPr lvl="1"/>
            <a:endParaRPr lang="zh-TW" altLang="en-US" dirty="0"/>
          </a:p>
        </p:txBody>
      </p:sp>
    </p:spTree>
    <p:extLst>
      <p:ext uri="{BB962C8B-B14F-4D97-AF65-F5344CB8AC3E}">
        <p14:creationId xmlns:p14="http://schemas.microsoft.com/office/powerpoint/2010/main" val="154698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653824"/>
            <a:ext cx="8534400" cy="758952"/>
          </a:xfrm>
        </p:spPr>
        <p:txBody>
          <a:bodyPr>
            <a:normAutofit fontScale="90000"/>
          </a:bodyPr>
          <a:lstStyle/>
          <a:p>
            <a:r>
              <a:rPr lang="zh-TW" altLang="zh-TW" dirty="0"/>
              <a:t>共用模版的使用</a:t>
            </a:r>
            <a:br>
              <a:rPr lang="en-US" altLang="zh-TW" dirty="0"/>
            </a:br>
            <a:r>
              <a:rPr lang="zh-TW" altLang="en-US" dirty="0">
                <a:solidFill>
                  <a:srgbClr val="FF0000"/>
                </a:solidFill>
              </a:rPr>
              <a:t>以下這段內容會無條件出現在所有引用</a:t>
            </a:r>
            <a:r>
              <a:rPr lang="en-US" altLang="zh-TW" dirty="0">
                <a:solidFill>
                  <a:srgbClr val="FF0000"/>
                </a:solidFill>
              </a:rPr>
              <a:t>footer.html</a:t>
            </a:r>
            <a:r>
              <a:rPr lang="zh-TW" altLang="en-US" dirty="0">
                <a:solidFill>
                  <a:srgbClr val="FF0000"/>
                </a:solidFill>
              </a:rPr>
              <a:t>的頁面中</a:t>
            </a:r>
            <a:r>
              <a:rPr lang="en-US" altLang="zh-TW" dirty="0">
                <a:solidFill>
                  <a:srgbClr val="FF0000"/>
                </a:solidFill>
              </a:rPr>
              <a:t>(</a:t>
            </a:r>
            <a:r>
              <a:rPr lang="zh-TW" altLang="en-US" dirty="0">
                <a:solidFill>
                  <a:srgbClr val="FF0000"/>
                </a:solidFill>
              </a:rPr>
              <a:t>雖然有加</a:t>
            </a:r>
            <a:r>
              <a:rPr lang="en-US" altLang="zh-TW" dirty="0">
                <a:solidFill>
                  <a:srgbClr val="FF0000"/>
                </a:solidFill>
              </a:rPr>
              <a:t>block)</a:t>
            </a:r>
            <a:r>
              <a:rPr lang="zh-TW" altLang="en-US" dirty="0">
                <a:solidFill>
                  <a:srgbClr val="FF0000"/>
                </a:solidFill>
              </a:rPr>
              <a:t>未解</a:t>
            </a:r>
            <a:r>
              <a:rPr lang="en-US" altLang="zh-TW">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p:cNvSpPr>
            <a:spLocks noGrp="1"/>
          </p:cNvSpPr>
          <p:nvPr>
            <p:ph sz="quarter" idx="1"/>
          </p:nvPr>
        </p:nvSpPr>
        <p:spPr/>
        <p:txBody>
          <a:bodyPr/>
          <a:lstStyle/>
          <a:p>
            <a:r>
              <a:rPr lang="en-US" altLang="zh-TW" dirty="0"/>
              <a:t>footer.html</a:t>
            </a:r>
          </a:p>
          <a:p>
            <a:pPr marL="274320" lvl="1" indent="0">
              <a:buNone/>
            </a:pPr>
            <a:r>
              <a:rPr lang="en-US" altLang="zh-TW" dirty="0"/>
              <a:t>&lt;!-- footer.html --&gt;</a:t>
            </a:r>
          </a:p>
          <a:p>
            <a:pPr marL="274320" lvl="1" indent="0">
              <a:buNone/>
            </a:pPr>
            <a:r>
              <a:rPr lang="en-US" altLang="zh-TW" dirty="0"/>
              <a:t>{% block footer %}</a:t>
            </a:r>
          </a:p>
          <a:p>
            <a:pPr marL="274320" lvl="1" indent="0">
              <a:buNone/>
            </a:pPr>
            <a:r>
              <a:rPr lang="en-US" altLang="zh-TW" dirty="0"/>
              <a:t>    {% if now %}</a:t>
            </a:r>
          </a:p>
          <a:p>
            <a:pPr marL="274320" lvl="1" indent="0">
              <a:buNone/>
            </a:pPr>
            <a:r>
              <a:rPr lang="en-US" altLang="zh-TW" dirty="0"/>
              <a:t>    &lt;p style='font-family:</a:t>
            </a:r>
            <a:r>
              <a:rPr lang="zh-TW" altLang="en-US" dirty="0"/>
              <a:t>微軟正黑體</a:t>
            </a:r>
            <a:r>
              <a:rPr lang="en-US" altLang="zh-TW" dirty="0"/>
              <a:t>;'&gt;</a:t>
            </a:r>
            <a:r>
              <a:rPr lang="zh-TW" altLang="en-US" dirty="0"/>
              <a:t>現在時刻：</a:t>
            </a:r>
            <a:r>
              <a:rPr lang="en-US" altLang="zh-TW" dirty="0"/>
              <a:t>{{ now }}&lt;/p&gt;</a:t>
            </a:r>
          </a:p>
          <a:p>
            <a:pPr marL="274320" lvl="1" indent="0">
              <a:buNone/>
            </a:pPr>
            <a:r>
              <a:rPr lang="en-US" altLang="zh-TW" dirty="0"/>
              <a:t>    {% else %}</a:t>
            </a:r>
          </a:p>
          <a:p>
            <a:pPr marL="274320" lvl="1" indent="0">
              <a:buNone/>
            </a:pPr>
            <a:r>
              <a:rPr lang="en-US" altLang="zh-TW" dirty="0"/>
              <a:t>    &lt;p style='font-family:</a:t>
            </a:r>
            <a:r>
              <a:rPr lang="zh-TW" altLang="en-US" dirty="0"/>
              <a:t>微軟正黑體</a:t>
            </a:r>
            <a:r>
              <a:rPr lang="en-US" altLang="zh-TW" dirty="0"/>
              <a:t>;'&gt;</a:t>
            </a:r>
            <a:r>
              <a:rPr lang="zh-TW" altLang="en-US" dirty="0"/>
              <a:t>本文內容取自網路，如有侵權請來信通知下架</a:t>
            </a:r>
            <a:r>
              <a:rPr lang="en-US" altLang="zh-TW" dirty="0"/>
              <a:t>...&lt;/p&gt;</a:t>
            </a:r>
          </a:p>
          <a:p>
            <a:pPr marL="274320" lvl="1" indent="0">
              <a:buNone/>
            </a:pPr>
            <a:r>
              <a:rPr lang="en-US" altLang="zh-TW" dirty="0"/>
              <a:t>    {% </a:t>
            </a:r>
            <a:r>
              <a:rPr lang="en-US" altLang="zh-TW" dirty="0" err="1"/>
              <a:t>endif</a:t>
            </a:r>
            <a:r>
              <a:rPr lang="en-US" altLang="zh-TW" dirty="0"/>
              <a:t> %}</a:t>
            </a:r>
          </a:p>
          <a:p>
            <a:pPr marL="274320" lvl="1" indent="0">
              <a:buNone/>
            </a:pPr>
            <a:r>
              <a:rPr lang="en-US" altLang="zh-TW" dirty="0"/>
              <a:t>{% </a:t>
            </a:r>
            <a:r>
              <a:rPr lang="en-US" altLang="zh-TW" dirty="0" err="1"/>
              <a:t>endblock</a:t>
            </a:r>
            <a:r>
              <a:rPr lang="en-US" altLang="zh-TW" dirty="0"/>
              <a:t> %}</a:t>
            </a:r>
          </a:p>
          <a:p>
            <a:pPr lvl="1"/>
            <a:endParaRPr lang="zh-TW" altLang="en-US" dirty="0"/>
          </a:p>
        </p:txBody>
      </p:sp>
    </p:spTree>
    <p:extLst>
      <p:ext uri="{BB962C8B-B14F-4D97-AF65-F5344CB8AC3E}">
        <p14:creationId xmlns:p14="http://schemas.microsoft.com/office/powerpoint/2010/main" val="3018050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58368" y="328589"/>
            <a:ext cx="9073008" cy="697783"/>
          </a:xfrm>
        </p:spPr>
        <p:txBody>
          <a:bodyPr>
            <a:noAutofit/>
          </a:bodyPr>
          <a:lstStyle/>
          <a:p>
            <a:r>
              <a:rPr lang="zh-TW" altLang="zh-TW" sz="2800" dirty="0"/>
              <a:t>模板在</a:t>
            </a:r>
            <a:r>
              <a:rPr lang="en-US" altLang="zh-TW" sz="2800" dirty="0"/>
              <a:t>templates</a:t>
            </a:r>
            <a:r>
              <a:rPr lang="zh-TW" altLang="zh-TW" sz="2800" dirty="0"/>
              <a:t>檔案中使用現有的網頁框架的工作原理</a:t>
            </a:r>
            <a:br>
              <a:rPr lang="en-US" altLang="zh-TW" sz="2800" dirty="0"/>
            </a:br>
            <a:r>
              <a:rPr lang="en-US" altLang="zh-TW" sz="2800" dirty="0"/>
              <a:t>base.html  !b5-script</a:t>
            </a:r>
            <a:endParaRPr lang="zh-TW" altLang="en-US" sz="2800"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4" name="內容版面配置區 3"/>
          <p:cNvSpPr>
            <a:spLocks noGrp="1"/>
          </p:cNvSpPr>
          <p:nvPr>
            <p:ph sz="quarter" idx="1"/>
          </p:nvPr>
        </p:nvSpPr>
        <p:spPr>
          <a:xfrm>
            <a:off x="0" y="1527048"/>
            <a:ext cx="8964488" cy="5070304"/>
          </a:xfrm>
        </p:spPr>
        <p:txBody>
          <a:bodyPr>
            <a:normAutofit fontScale="77500" lnSpcReduction="20000"/>
          </a:bodyPr>
          <a:lstStyle/>
          <a:p>
            <a:r>
              <a:rPr lang="zh-TW" altLang="zh-TW" dirty="0"/>
              <a:t>由於模板引擎只針對</a:t>
            </a:r>
            <a:r>
              <a:rPr lang="en-US" altLang="zh-TW" dirty="0"/>
              <a:t>{{}}</a:t>
            </a:r>
            <a:r>
              <a:rPr lang="zh-TW" altLang="zh-TW" dirty="0"/>
              <a:t>和</a:t>
            </a:r>
            <a:r>
              <a:rPr lang="en-US" altLang="zh-TW" dirty="0"/>
              <a:t>{%%}</a:t>
            </a:r>
            <a:r>
              <a:rPr lang="zh-TW" altLang="zh-TW" dirty="0"/>
              <a:t>中的內容加以處理，因此原本放在</a:t>
            </a:r>
            <a:r>
              <a:rPr lang="en-US" altLang="zh-TW" dirty="0"/>
              <a:t>.html</a:t>
            </a:r>
            <a:r>
              <a:rPr lang="zh-TW" altLang="zh-TW" dirty="0"/>
              <a:t>檔案中的</a:t>
            </a:r>
            <a:r>
              <a:rPr lang="en-US" altLang="zh-TW" dirty="0" err="1"/>
              <a:t>Javascript</a:t>
            </a:r>
            <a:r>
              <a:rPr lang="zh-TW" altLang="zh-TW" dirty="0"/>
              <a:t>以及</a:t>
            </a:r>
            <a:r>
              <a:rPr lang="en-US" altLang="zh-TW" dirty="0"/>
              <a:t>CSS</a:t>
            </a:r>
            <a:r>
              <a:rPr lang="zh-TW" altLang="zh-TW" dirty="0"/>
              <a:t>程式碼並不會被更動，因此在網頁排版中經常會使用到的</a:t>
            </a:r>
            <a:r>
              <a:rPr lang="en-US" altLang="zh-TW" dirty="0">
                <a:solidFill>
                  <a:srgbClr val="FF0000"/>
                </a:solidFill>
              </a:rPr>
              <a:t>jQuery</a:t>
            </a:r>
            <a:r>
              <a:rPr lang="zh-TW" altLang="zh-TW" dirty="0">
                <a:solidFill>
                  <a:srgbClr val="FF0000"/>
                </a:solidFill>
              </a:rPr>
              <a:t>、</a:t>
            </a:r>
            <a:r>
              <a:rPr lang="en-US" altLang="zh-TW" dirty="0">
                <a:solidFill>
                  <a:srgbClr val="FF0000"/>
                </a:solidFill>
              </a:rPr>
              <a:t>Ajax</a:t>
            </a:r>
            <a:r>
              <a:rPr lang="zh-TW" altLang="zh-TW" dirty="0">
                <a:solidFill>
                  <a:srgbClr val="FF0000"/>
                </a:solidFill>
              </a:rPr>
              <a:t>、以及</a:t>
            </a:r>
            <a:r>
              <a:rPr lang="en-US" altLang="zh-TW" dirty="0">
                <a:solidFill>
                  <a:srgbClr val="FF0000"/>
                </a:solidFill>
              </a:rPr>
              <a:t>Bootstrap</a:t>
            </a:r>
            <a:r>
              <a:rPr lang="zh-TW" altLang="zh-TW" dirty="0"/>
              <a:t>等等</a:t>
            </a:r>
            <a:endParaRPr lang="en-US" altLang="zh-TW" dirty="0"/>
          </a:p>
          <a:p>
            <a:r>
              <a:rPr lang="zh-TW" altLang="zh-TW" dirty="0"/>
              <a:t>使用</a:t>
            </a:r>
            <a:r>
              <a:rPr lang="en-US" altLang="zh-TW" dirty="0"/>
              <a:t>CDN</a:t>
            </a:r>
            <a:r>
              <a:rPr lang="zh-TW" altLang="zh-TW" dirty="0"/>
              <a:t>連結</a:t>
            </a:r>
            <a:r>
              <a:rPr lang="zh-TW" altLang="en-US" dirty="0"/>
              <a:t>引入</a:t>
            </a:r>
            <a:r>
              <a:rPr lang="en-US" altLang="zh-TW" dirty="0"/>
              <a:t>Bootstrap</a:t>
            </a:r>
            <a:r>
              <a:rPr lang="zh-TW" altLang="en-US" dirty="0"/>
              <a:t>前端框架：放在</a:t>
            </a:r>
            <a:r>
              <a:rPr lang="en-US" altLang="zh-TW" dirty="0">
                <a:solidFill>
                  <a:srgbClr val="FF0000"/>
                </a:solidFill>
              </a:rPr>
              <a:t>&lt;/head&gt;</a:t>
            </a:r>
            <a:r>
              <a:rPr lang="zh-TW" altLang="en-US" dirty="0"/>
              <a:t>這行的</a:t>
            </a:r>
            <a:r>
              <a:rPr lang="zh-TW" altLang="en-US" dirty="0">
                <a:solidFill>
                  <a:srgbClr val="FF0000"/>
                </a:solidFill>
              </a:rPr>
              <a:t>前面</a:t>
            </a:r>
            <a:endParaRPr lang="en-US" altLang="zh-TW" dirty="0">
              <a:solidFill>
                <a:srgbClr val="FF0000"/>
              </a:solidFill>
            </a:endParaRPr>
          </a:p>
          <a:p>
            <a:pPr marL="274320" lvl="1" indent="0">
              <a:buNone/>
            </a:pPr>
            <a:r>
              <a:rPr lang="en-US" altLang="zh-TW" dirty="0"/>
              <a:t>&lt;link </a:t>
            </a:r>
            <a:r>
              <a:rPr lang="en-US" altLang="zh-TW" dirty="0" err="1"/>
              <a:t>rel</a:t>
            </a:r>
            <a:r>
              <a:rPr lang="en-US" altLang="zh-TW" dirty="0"/>
              <a:t>="stylesheet" </a:t>
            </a:r>
            <a:r>
              <a:rPr lang="en-US" altLang="zh-TW" dirty="0" err="1"/>
              <a:t>href</a:t>
            </a:r>
            <a:r>
              <a:rPr lang="en-US" altLang="zh-TW" dirty="0"/>
              <a:t>="https://cdn.jsdelivr.net/</a:t>
            </a:r>
            <a:r>
              <a:rPr lang="en-US" altLang="zh-TW" dirty="0" err="1"/>
              <a:t>npm</a:t>
            </a:r>
            <a:r>
              <a:rPr lang="en-US" altLang="zh-TW" dirty="0"/>
              <a:t>/bootstrap@</a:t>
            </a:r>
            <a:r>
              <a:rPr lang="en-US" altLang="zh-TW" dirty="0">
                <a:solidFill>
                  <a:srgbClr val="FF0000"/>
                </a:solidFill>
              </a:rPr>
              <a:t>5.2.3</a:t>
            </a:r>
            <a:r>
              <a:rPr lang="en-US" altLang="zh-TW" dirty="0"/>
              <a:t>/</a:t>
            </a:r>
            <a:r>
              <a:rPr lang="en-US" altLang="zh-TW" dirty="0" err="1"/>
              <a:t>dist</a:t>
            </a:r>
            <a:r>
              <a:rPr lang="en-US" altLang="zh-TW" dirty="0"/>
              <a:t>/</a:t>
            </a:r>
            <a:r>
              <a:rPr lang="en-US" altLang="zh-TW" dirty="0" err="1"/>
              <a:t>css</a:t>
            </a:r>
            <a:r>
              <a:rPr lang="en-US" altLang="zh-TW" dirty="0"/>
              <a:t>/bootstrap.min.css" integrity="sha384-rbsA2VBKQhggwzxH7pPCaAqO46MgnOM80zW1RWuH61DGLwZJEdK2Kadq2F9CUG65" </a:t>
            </a:r>
            <a:r>
              <a:rPr lang="en-US" altLang="zh-TW" dirty="0" err="1"/>
              <a:t>crossorigin</a:t>
            </a:r>
            <a:r>
              <a:rPr lang="en-US" altLang="zh-TW" dirty="0"/>
              <a:t>="anonymous"&gt;</a:t>
            </a:r>
          </a:p>
          <a:p>
            <a:pPr marL="274320" lvl="1" indent="0">
              <a:buNone/>
            </a:pPr>
            <a:r>
              <a:rPr lang="en-US" altLang="zh-TW" dirty="0"/>
              <a:t>&lt;script </a:t>
            </a:r>
            <a:r>
              <a:rPr lang="en-US" altLang="zh-TW" dirty="0" err="1"/>
              <a:t>src</a:t>
            </a:r>
            <a:r>
              <a:rPr lang="en-US" altLang="zh-TW" dirty="0"/>
              <a:t>="https://cdn.jsdelivr.net/</a:t>
            </a:r>
            <a:r>
              <a:rPr lang="en-US" altLang="zh-TW" dirty="0" err="1"/>
              <a:t>npm</a:t>
            </a:r>
            <a:r>
              <a:rPr lang="en-US" altLang="zh-TW" dirty="0"/>
              <a:t>/bootstrap@5.2.3/</a:t>
            </a:r>
            <a:r>
              <a:rPr lang="en-US" altLang="zh-TW" dirty="0" err="1"/>
              <a:t>dist</a:t>
            </a:r>
            <a:r>
              <a:rPr lang="en-US" altLang="zh-TW" dirty="0"/>
              <a:t>/</a:t>
            </a:r>
            <a:r>
              <a:rPr lang="en-US" altLang="zh-TW" dirty="0" err="1"/>
              <a:t>js</a:t>
            </a:r>
            <a:r>
              <a:rPr lang="en-US" altLang="zh-TW" dirty="0"/>
              <a:t>/bootstrap.</a:t>
            </a:r>
            <a:r>
              <a:rPr lang="en-US" altLang="zh-TW" dirty="0">
                <a:solidFill>
                  <a:srgbClr val="FF0000"/>
                </a:solidFill>
              </a:rPr>
              <a:t>min</a:t>
            </a:r>
            <a:r>
              <a:rPr lang="en-US" altLang="zh-TW" dirty="0"/>
              <a:t>.js" integrity="sha384-cuYeSxntonz0PPNlHhBs68uyIAVpIIOZZ5JqeqvYYIcEL727kskC66kF92t6Xl2V" </a:t>
            </a:r>
            <a:r>
              <a:rPr lang="en-US" altLang="zh-TW" dirty="0" err="1"/>
              <a:t>crossorigin</a:t>
            </a:r>
            <a:r>
              <a:rPr lang="en-US" altLang="zh-TW" dirty="0"/>
              <a:t>="anonymous"&gt;&lt;/script&gt;</a:t>
            </a:r>
          </a:p>
          <a:p>
            <a:pPr marL="274320" lvl="1" indent="0">
              <a:buNone/>
            </a:pPr>
            <a:r>
              <a:rPr lang="en-US" altLang="zh-TW" dirty="0"/>
              <a:t>&lt;script </a:t>
            </a:r>
            <a:r>
              <a:rPr lang="en-US" altLang="zh-TW" dirty="0" err="1"/>
              <a:t>src</a:t>
            </a:r>
            <a:r>
              <a:rPr lang="en-US" altLang="zh-TW" dirty="0"/>
              <a:t>="https://cdn.jsdelivr.net/</a:t>
            </a:r>
            <a:r>
              <a:rPr lang="en-US" altLang="zh-TW" dirty="0" err="1"/>
              <a:t>npm</a:t>
            </a:r>
            <a:r>
              <a:rPr lang="en-US" altLang="zh-TW" dirty="0"/>
              <a:t>/bootstrap@5.2.3/</a:t>
            </a:r>
            <a:r>
              <a:rPr lang="en-US" altLang="zh-TW" dirty="0" err="1"/>
              <a:t>dist</a:t>
            </a:r>
            <a:r>
              <a:rPr lang="en-US" altLang="zh-TW" dirty="0"/>
              <a:t>/</a:t>
            </a:r>
            <a:r>
              <a:rPr lang="en-US" altLang="zh-TW" dirty="0" err="1"/>
              <a:t>js</a:t>
            </a:r>
            <a:r>
              <a:rPr lang="en-US" altLang="zh-TW" dirty="0"/>
              <a:t>/bootstrap.</a:t>
            </a:r>
            <a:r>
              <a:rPr lang="en-US" altLang="zh-TW" dirty="0">
                <a:solidFill>
                  <a:srgbClr val="FF0000"/>
                </a:solidFill>
              </a:rPr>
              <a:t>bundle</a:t>
            </a:r>
            <a:r>
              <a:rPr lang="en-US" altLang="zh-TW" dirty="0"/>
              <a:t>.min.js" integrity="sha384-kenU1KFdBIe4zVF0s0G1M5b4hcpxyD9F7jL+jjXkk+Q2h455rYXK/7HAuoJl+0I4" </a:t>
            </a:r>
            <a:r>
              <a:rPr lang="en-US" altLang="zh-TW" dirty="0" err="1"/>
              <a:t>crossorigin</a:t>
            </a:r>
            <a:r>
              <a:rPr lang="en-US" altLang="zh-TW" dirty="0"/>
              <a:t>="anonymous"&gt;&lt;/script&gt;</a:t>
            </a:r>
            <a:endParaRPr lang="zh-TW" altLang="en-US" dirty="0"/>
          </a:p>
        </p:txBody>
      </p:sp>
    </p:spTree>
    <p:extLst>
      <p:ext uri="{BB962C8B-B14F-4D97-AF65-F5344CB8AC3E}">
        <p14:creationId xmlns:p14="http://schemas.microsoft.com/office/powerpoint/2010/main" val="3631779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模板的工作原理</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CDN</a:t>
            </a:r>
            <a:r>
              <a:rPr lang="zh-TW" altLang="zh-TW" dirty="0"/>
              <a:t>連結</a:t>
            </a:r>
            <a:r>
              <a:rPr lang="zh-TW" altLang="en-US" dirty="0"/>
              <a:t>引入</a:t>
            </a:r>
            <a:r>
              <a:rPr lang="en-US" altLang="zh-TW" dirty="0"/>
              <a:t>jQuery</a:t>
            </a:r>
            <a:r>
              <a:rPr lang="zh-TW" altLang="en-US" dirty="0"/>
              <a:t>：放在</a:t>
            </a:r>
            <a:r>
              <a:rPr lang="en-US" altLang="zh-TW" dirty="0">
                <a:solidFill>
                  <a:srgbClr val="FF0000"/>
                </a:solidFill>
              </a:rPr>
              <a:t>&lt;/body&gt;</a:t>
            </a:r>
            <a:r>
              <a:rPr lang="zh-TW" altLang="en-US" dirty="0">
                <a:solidFill>
                  <a:srgbClr val="FF0000"/>
                </a:solidFill>
              </a:rPr>
              <a:t>的前面</a:t>
            </a:r>
            <a:endParaRPr lang="en-US" altLang="zh-TW" dirty="0">
              <a:solidFill>
                <a:srgbClr val="FF0000"/>
              </a:solidFill>
            </a:endParaRPr>
          </a:p>
          <a:p>
            <a:pPr lvl="1"/>
            <a:r>
              <a:rPr lang="en-US" altLang="zh-TW" dirty="0"/>
              <a:t>&lt;script </a:t>
            </a:r>
            <a:r>
              <a:rPr lang="en-US" altLang="zh-TW" dirty="0" err="1"/>
              <a:t>src</a:t>
            </a:r>
            <a:r>
              <a:rPr lang="en-US" altLang="zh-TW" dirty="0"/>
              <a:t>="https://code.jquery.com/jquery-3.6.1.js" integrity="sha256-3zlB5s2uwoUzrXK3BT7AX3FyvojsraNFxCc2vC/7pNI=" </a:t>
            </a:r>
            <a:r>
              <a:rPr lang="en-US" altLang="zh-TW" dirty="0" err="1"/>
              <a:t>crossorigin</a:t>
            </a:r>
            <a:r>
              <a:rPr lang="en-US" altLang="zh-TW" dirty="0"/>
              <a:t>="anonymous"&gt;&lt;/script&gt;</a:t>
            </a:r>
          </a:p>
          <a:p>
            <a:endParaRPr lang="zh-TW" altLang="en-US" dirty="0"/>
          </a:p>
        </p:txBody>
      </p:sp>
    </p:spTree>
    <p:extLst>
      <p:ext uri="{BB962C8B-B14F-4D97-AF65-F5344CB8AC3E}">
        <p14:creationId xmlns:p14="http://schemas.microsoft.com/office/powerpoint/2010/main" val="677896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0E5B61-6800-D142-C332-EFF586568B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87E9E49-7BE5-ED42-412B-01820ACF185D}"/>
              </a:ext>
            </a:extLst>
          </p:cNvPr>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a:extLst>
              <a:ext uri="{FF2B5EF4-FFF2-40B4-BE49-F238E27FC236}">
                <a16:creationId xmlns:a16="http://schemas.microsoft.com/office/drawing/2014/main" id="{8A495485-D6BC-C173-BB8B-2B6B9DD5330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a:extLst>
              <a:ext uri="{FF2B5EF4-FFF2-40B4-BE49-F238E27FC236}">
                <a16:creationId xmlns:a16="http://schemas.microsoft.com/office/drawing/2014/main" id="{6DEBBBB3-CE0E-9412-9A3E-A8C4532B87FA}"/>
              </a:ext>
            </a:extLst>
          </p:cNvPr>
          <p:cNvSpPr>
            <a:spLocks noGrp="1"/>
          </p:cNvSpPr>
          <p:nvPr>
            <p:ph sz="quarter" idx="1"/>
          </p:nvPr>
        </p:nvSpPr>
        <p:spPr/>
        <p:txBody>
          <a:bodyPr/>
          <a:lstStyle/>
          <a:p>
            <a:r>
              <a:rPr lang="zh-TW" altLang="zh-TW" dirty="0"/>
              <a:t>套用模版的範例程式執行畫面</a:t>
            </a:r>
            <a:endParaRPr lang="zh-TW" altLang="en-US" dirty="0"/>
          </a:p>
        </p:txBody>
      </p:sp>
      <p:pic>
        <p:nvPicPr>
          <p:cNvPr id="6" name="圖片 5">
            <a:extLst>
              <a:ext uri="{FF2B5EF4-FFF2-40B4-BE49-F238E27FC236}">
                <a16:creationId xmlns:a16="http://schemas.microsoft.com/office/drawing/2014/main" id="{7331DD44-6D7B-ED9A-983A-0F901848B7A8}"/>
              </a:ext>
            </a:extLst>
          </p:cNvPr>
          <p:cNvPicPr>
            <a:picLocks noChangeAspect="1"/>
          </p:cNvPicPr>
          <p:nvPr/>
        </p:nvPicPr>
        <p:blipFill>
          <a:blip r:embed="rId2"/>
          <a:stretch>
            <a:fillRect/>
          </a:stretch>
        </p:blipFill>
        <p:spPr>
          <a:xfrm>
            <a:off x="2195736" y="2564904"/>
            <a:ext cx="4563112" cy="3172268"/>
          </a:xfrm>
          <a:prstGeom prst="rect">
            <a:avLst/>
          </a:prstGeom>
        </p:spPr>
      </p:pic>
    </p:spTree>
    <p:extLst>
      <p:ext uri="{BB962C8B-B14F-4D97-AF65-F5344CB8AC3E}">
        <p14:creationId xmlns:p14="http://schemas.microsoft.com/office/powerpoint/2010/main" val="1691001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DC074A6-AE01-B82C-EEB0-22C9D37B9FE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711EB93-6F27-892A-7ABE-51324C6D182D}"/>
              </a:ext>
            </a:extLst>
          </p:cNvPr>
          <p:cNvSpPr>
            <a:spLocks noGrp="1"/>
          </p:cNvSpPr>
          <p:nvPr>
            <p:ph type="title"/>
          </p:nvPr>
        </p:nvSpPr>
        <p:spPr/>
        <p:txBody>
          <a:bodyPr/>
          <a:lstStyle/>
          <a:p>
            <a:r>
              <a:rPr lang="zh-TW" altLang="zh-TW" dirty="0"/>
              <a:t>共用模版的使用</a:t>
            </a:r>
            <a:endParaRPr lang="zh-TW" altLang="en-US" dirty="0"/>
          </a:p>
        </p:txBody>
      </p:sp>
      <p:sp>
        <p:nvSpPr>
          <p:cNvPr id="3" name="投影片編號版面配置區 2">
            <a:extLst>
              <a:ext uri="{FF2B5EF4-FFF2-40B4-BE49-F238E27FC236}">
                <a16:creationId xmlns:a16="http://schemas.microsoft.com/office/drawing/2014/main" id="{EB39992D-2879-E63D-25A4-6E249C97DA5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4" name="內容版面配置區 3">
            <a:extLst>
              <a:ext uri="{FF2B5EF4-FFF2-40B4-BE49-F238E27FC236}">
                <a16:creationId xmlns:a16="http://schemas.microsoft.com/office/drawing/2014/main" id="{4DCF0C60-1F3D-4704-C3FC-8A64BA09384E}"/>
              </a:ext>
            </a:extLst>
          </p:cNvPr>
          <p:cNvSpPr>
            <a:spLocks noGrp="1"/>
          </p:cNvSpPr>
          <p:nvPr>
            <p:ph sz="quarter" idx="1"/>
          </p:nvPr>
        </p:nvSpPr>
        <p:spPr/>
        <p:txBody>
          <a:bodyPr/>
          <a:lstStyle/>
          <a:p>
            <a:r>
              <a:rPr lang="zh-TW" altLang="zh-TW" dirty="0"/>
              <a:t>套用模版的範例程式執行畫面</a:t>
            </a:r>
            <a:endParaRPr lang="zh-TW" altLang="en-US" dirty="0"/>
          </a:p>
        </p:txBody>
      </p:sp>
      <p:pic>
        <p:nvPicPr>
          <p:cNvPr id="7" name="圖片 6" descr="一張含有 文字, 螢幕擷取畫面, 軟體, 電腦圖示 的圖片&#10;&#10;自動產生的描述">
            <a:extLst>
              <a:ext uri="{FF2B5EF4-FFF2-40B4-BE49-F238E27FC236}">
                <a16:creationId xmlns:a16="http://schemas.microsoft.com/office/drawing/2014/main" id="{3B183765-882D-FF90-CB7D-D0AD85B7F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071" y="2204864"/>
            <a:ext cx="8321761" cy="4031329"/>
          </a:xfrm>
          <a:prstGeom prst="rect">
            <a:avLst/>
          </a:prstGeom>
        </p:spPr>
      </p:pic>
    </p:spTree>
    <p:extLst>
      <p:ext uri="{BB962C8B-B14F-4D97-AF65-F5344CB8AC3E}">
        <p14:creationId xmlns:p14="http://schemas.microsoft.com/office/powerpoint/2010/main" val="3119171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71398" y="404664"/>
            <a:ext cx="8534400" cy="758952"/>
          </a:xfrm>
        </p:spPr>
        <p:txBody>
          <a:bodyPr>
            <a:normAutofit fontScale="90000"/>
          </a:bodyPr>
          <a:lstStyle/>
          <a:p>
            <a:br>
              <a:rPr lang="en-US" altLang="zh-TW"/>
            </a:br>
            <a:r>
              <a:rPr lang="zh-TW" altLang="zh-TW"/>
              <a:t>產生</a:t>
            </a:r>
            <a:r>
              <a:rPr lang="zh-TW" altLang="zh-TW" dirty="0"/>
              <a:t>第一個</a:t>
            </a:r>
            <a:r>
              <a:rPr lang="zh-TW" altLang="zh-TW"/>
              <a:t>網站框架</a:t>
            </a:r>
            <a:br>
              <a:rPr lang="en-US" altLang="zh-TW"/>
            </a:br>
            <a:r>
              <a:rPr lang="zh-TW" altLang="en-US"/>
              <a:t>請在</a:t>
            </a:r>
            <a:r>
              <a:rPr lang="en-US" altLang="zh-TW"/>
              <a:t>Anaconda Prompt</a:t>
            </a:r>
            <a:r>
              <a:rPr lang="zh-TW" altLang="en-US"/>
              <a:t>之下執行以下指令</a:t>
            </a:r>
            <a:endParaRPr lang="zh-TW" altLang="en-US" dirty="0"/>
          </a:p>
        </p:txBody>
      </p:sp>
      <p:sp>
        <p:nvSpPr>
          <p:cNvPr id="3" name="內容版面配置區 2"/>
          <p:cNvSpPr>
            <a:spLocks noGrp="1"/>
          </p:cNvSpPr>
          <p:nvPr>
            <p:ph sz="quarter" idx="1"/>
          </p:nvPr>
        </p:nvSpPr>
        <p:spPr>
          <a:xfrm>
            <a:off x="301752" y="1467697"/>
            <a:ext cx="8534400" cy="4913631"/>
          </a:xfrm>
        </p:spPr>
        <p:txBody>
          <a:bodyPr>
            <a:noAutofit/>
          </a:bodyPr>
          <a:lstStyle/>
          <a:p>
            <a:pPr marL="0" indent="0">
              <a:buNone/>
            </a:pPr>
            <a:r>
              <a:rPr lang="en-US" altLang="zh-TW" sz="2400" dirty="0" err="1"/>
              <a:t>conda</a:t>
            </a:r>
            <a:r>
              <a:rPr lang="en-US" altLang="zh-TW" sz="2400" dirty="0"/>
              <a:t> create --name dj4ch02 </a:t>
            </a:r>
            <a:r>
              <a:rPr lang="en-US" altLang="zh-TW" sz="2400" dirty="0">
                <a:solidFill>
                  <a:srgbClr val="FF0000"/>
                </a:solidFill>
              </a:rPr>
              <a:t>python</a:t>
            </a:r>
            <a:r>
              <a:rPr lang="en-US" altLang="zh-TW" sz="2400" dirty="0"/>
              <a:t>=3.10</a:t>
            </a:r>
          </a:p>
          <a:p>
            <a:pPr marL="0" indent="0">
              <a:buNone/>
            </a:pPr>
            <a:r>
              <a:rPr lang="en-US" altLang="zh-TW" sz="2400" dirty="0" err="1"/>
              <a:t>conda</a:t>
            </a:r>
            <a:r>
              <a:rPr lang="en-US" altLang="zh-TW" sz="2400" dirty="0"/>
              <a:t> activate dj4ch02</a:t>
            </a:r>
          </a:p>
          <a:p>
            <a:pPr marL="0" indent="0">
              <a:buNone/>
            </a:pPr>
            <a:r>
              <a:rPr lang="en-US" altLang="zh-TW" sz="2400" dirty="0"/>
              <a:t>md dj4ch02 </a:t>
            </a:r>
          </a:p>
          <a:p>
            <a:pPr marL="0" indent="0">
              <a:buNone/>
            </a:pPr>
            <a:r>
              <a:rPr lang="en-US" altLang="zh-TW" sz="2400" dirty="0"/>
              <a:t>cd dj4ch02</a:t>
            </a:r>
          </a:p>
          <a:p>
            <a:pPr marL="0" indent="0">
              <a:buNone/>
            </a:pPr>
            <a:r>
              <a:rPr lang="en-US" altLang="zh-TW" sz="2400" dirty="0"/>
              <a:t>pip install </a:t>
            </a:r>
            <a:r>
              <a:rPr lang="en-US" altLang="zh-TW" sz="2400" dirty="0" err="1"/>
              <a:t>django</a:t>
            </a:r>
            <a:endParaRPr lang="en-US" altLang="zh-TW" sz="2400" dirty="0"/>
          </a:p>
          <a:p>
            <a:pPr marL="0" indent="0">
              <a:buNone/>
            </a:pPr>
            <a:r>
              <a:rPr lang="en-US" altLang="zh-TW" sz="2400" dirty="0" err="1"/>
              <a:t>django</a:t>
            </a:r>
            <a:r>
              <a:rPr lang="en-US" altLang="zh-TW" sz="2400" dirty="0"/>
              <a:t>-admin </a:t>
            </a:r>
            <a:r>
              <a:rPr lang="en-US" altLang="zh-TW" sz="2400" dirty="0" err="1"/>
              <a:t>startproject</a:t>
            </a:r>
            <a:r>
              <a:rPr lang="en-US" altLang="zh-TW" sz="2400" dirty="0"/>
              <a:t> </a:t>
            </a:r>
            <a:r>
              <a:rPr lang="en-US" altLang="zh-TW" sz="2400" dirty="0" err="1"/>
              <a:t>mblog</a:t>
            </a:r>
            <a:endParaRPr lang="en-US" altLang="zh-TW" sz="2400" dirty="0"/>
          </a:p>
          <a:p>
            <a:pPr marL="0" indent="0">
              <a:buNone/>
            </a:pPr>
            <a:r>
              <a:rPr lang="en-US" altLang="zh-TW" sz="2400" dirty="0"/>
              <a:t>cd </a:t>
            </a:r>
            <a:r>
              <a:rPr lang="en-US" altLang="zh-TW" sz="2400" dirty="0" err="1"/>
              <a:t>mblog</a:t>
            </a:r>
            <a:endParaRPr lang="en-US" altLang="zh-TW" sz="2400" dirty="0"/>
          </a:p>
          <a:p>
            <a:pPr marL="0" indent="0">
              <a:buNone/>
            </a:pPr>
            <a:r>
              <a:rPr lang="en-US" altLang="zh-TW" sz="2400" dirty="0"/>
              <a:t>python manage.py </a:t>
            </a:r>
            <a:r>
              <a:rPr lang="en-US" altLang="zh-TW" sz="2400" dirty="0" err="1"/>
              <a:t>startapp</a:t>
            </a:r>
            <a:r>
              <a:rPr lang="en-US" altLang="zh-TW" sz="2400" dirty="0"/>
              <a:t> </a:t>
            </a:r>
            <a:r>
              <a:rPr lang="en-US" altLang="zh-TW" sz="2400" dirty="0" err="1"/>
              <a:t>mysite</a:t>
            </a:r>
            <a:endParaRPr lang="en-US" altLang="zh-TW" sz="2400" dirty="0"/>
          </a:p>
          <a:p>
            <a:pPr marL="0" indent="0">
              <a:buNone/>
            </a:pPr>
            <a:endParaRPr lang="en-US" altLang="zh-TW" sz="2400" dirty="0"/>
          </a:p>
          <a:p>
            <a:pPr marL="0" indent="0">
              <a:buNone/>
            </a:pPr>
            <a:r>
              <a:rPr lang="en-US" altLang="zh-TW" sz="2400" dirty="0"/>
              <a:t>**</a:t>
            </a:r>
            <a:r>
              <a:rPr lang="zh-TW" altLang="en-US" sz="2400" dirty="0"/>
              <a:t>如果是在</a:t>
            </a:r>
            <a:r>
              <a:rPr lang="en-US" altLang="zh-TW" sz="2400" dirty="0"/>
              <a:t>Linux</a:t>
            </a:r>
            <a:r>
              <a:rPr lang="zh-TW" altLang="en-US" sz="2400" dirty="0"/>
              <a:t>或</a:t>
            </a:r>
            <a:r>
              <a:rPr lang="en-US" altLang="zh-TW" sz="2400" dirty="0"/>
              <a:t>Mac</a:t>
            </a:r>
            <a:r>
              <a:rPr lang="zh-TW" altLang="en-US" sz="2400" dirty="0"/>
              <a:t>的終端機，</a:t>
            </a:r>
            <a:r>
              <a:rPr lang="en-US" altLang="zh-TW" sz="2400" dirty="0"/>
              <a:t>md</a:t>
            </a:r>
            <a:r>
              <a:rPr lang="zh-TW" altLang="en-US" sz="2400" dirty="0"/>
              <a:t>指令請改為</a:t>
            </a:r>
            <a:r>
              <a:rPr lang="en-US" altLang="zh-TW" sz="2400" dirty="0" err="1"/>
              <a:t>mkdir</a:t>
            </a:r>
            <a:endParaRPr lang="zh-TW" altLang="en-US" sz="2400" dirty="0"/>
          </a:p>
        </p:txBody>
      </p:sp>
      <p:sp>
        <p:nvSpPr>
          <p:cNvPr id="4" name="投影片編號版面配置區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Tree>
    <p:extLst>
      <p:ext uri="{BB962C8B-B14F-4D97-AF65-F5344CB8AC3E}">
        <p14:creationId xmlns:p14="http://schemas.microsoft.com/office/powerpoint/2010/main" val="2503850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編輯</a:t>
            </a:r>
            <a:r>
              <a:rPr lang="en-US" altLang="zh-TW" dirty="0"/>
              <a:t>settings.py</a:t>
            </a:r>
            <a:endParaRPr lang="zh-TW" altLang="en-US" dirty="0"/>
          </a:p>
        </p:txBody>
      </p:sp>
      <p:sp>
        <p:nvSpPr>
          <p:cNvPr id="3" name="投影片編號版面配置區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5" name="內容版面配置區 4"/>
          <p:cNvSpPr>
            <a:spLocks noGrp="1"/>
          </p:cNvSpPr>
          <p:nvPr>
            <p:ph sz="quarter" idx="1"/>
          </p:nvPr>
        </p:nvSpPr>
        <p:spPr/>
        <p:txBody>
          <a:bodyPr>
            <a:normAutofit lnSpcReduction="10000"/>
          </a:bodyPr>
          <a:lstStyle/>
          <a:p>
            <a:r>
              <a:rPr lang="zh-TW" altLang="en-US" sz="2400" dirty="0"/>
              <a:t>允許所有的電腦來訪：</a:t>
            </a:r>
            <a:endParaRPr lang="en-US" altLang="zh-TW" sz="2400" dirty="0"/>
          </a:p>
          <a:p>
            <a:pPr marL="274320" lvl="1" indent="0">
              <a:buNone/>
            </a:pPr>
            <a:r>
              <a:rPr lang="en-US" altLang="zh-TW" sz="1900" dirty="0"/>
              <a:t>ALLOWED_HOSTS = [</a:t>
            </a:r>
            <a:r>
              <a:rPr lang="en-US" altLang="zh-TW" sz="1900" dirty="0">
                <a:solidFill>
                  <a:srgbClr val="FF0000"/>
                </a:solidFill>
              </a:rPr>
              <a:t>'*'</a:t>
            </a:r>
            <a:r>
              <a:rPr lang="en-US" altLang="zh-TW" sz="1900" dirty="0"/>
              <a:t>]</a:t>
            </a:r>
          </a:p>
          <a:p>
            <a:r>
              <a:rPr lang="zh-TW" altLang="zh-TW" sz="2400" dirty="0"/>
              <a:t>把我們建立的</a:t>
            </a:r>
            <a:r>
              <a:rPr lang="en-US" altLang="zh-TW" sz="2400" dirty="0"/>
              <a:t>APP</a:t>
            </a:r>
            <a:r>
              <a:rPr lang="zh-TW" altLang="zh-TW" sz="2400" dirty="0"/>
              <a:t>模組</a:t>
            </a:r>
            <a:r>
              <a:rPr lang="en-US" altLang="zh-TW" sz="2400" dirty="0" err="1"/>
              <a:t>mysite</a:t>
            </a:r>
            <a:r>
              <a:rPr lang="zh-TW" altLang="zh-TW" sz="2400" dirty="0"/>
              <a:t>加進去：（在</a:t>
            </a:r>
            <a:r>
              <a:rPr lang="en-US" altLang="zh-TW" sz="2400" dirty="0"/>
              <a:t>settings.py</a:t>
            </a:r>
            <a:r>
              <a:rPr lang="zh-TW" altLang="zh-TW" sz="2400" dirty="0"/>
              <a:t>的</a:t>
            </a:r>
            <a:r>
              <a:rPr lang="en-US" altLang="zh-TW" sz="2400" dirty="0"/>
              <a:t>INSTALLED_APPS</a:t>
            </a:r>
            <a:r>
              <a:rPr lang="zh-TW" altLang="zh-TW" sz="2400" dirty="0"/>
              <a:t>串列中）</a:t>
            </a:r>
            <a:endParaRPr lang="en-US" altLang="zh-TW" sz="2400" dirty="0"/>
          </a:p>
          <a:p>
            <a:pPr marL="274320" lvl="1" indent="0">
              <a:buNone/>
            </a:pPr>
            <a:r>
              <a:rPr lang="en-US" altLang="zh-TW" sz="2000" dirty="0"/>
              <a:t>INSTALLED_APPS = [</a:t>
            </a:r>
          </a:p>
          <a:p>
            <a:pPr marL="274320" lvl="1" indent="0">
              <a:buNone/>
            </a:pPr>
            <a:r>
              <a:rPr lang="en-US" altLang="zh-TW" sz="2000" dirty="0"/>
              <a:t>    '</a:t>
            </a:r>
            <a:r>
              <a:rPr lang="en-US" altLang="zh-TW" sz="2000" dirty="0" err="1"/>
              <a:t>django.contrib.admin</a:t>
            </a:r>
            <a:r>
              <a:rPr lang="en-US" altLang="zh-TW" sz="2000" dirty="0"/>
              <a:t>',</a:t>
            </a:r>
          </a:p>
          <a:p>
            <a:pPr marL="274320" lvl="1" indent="0">
              <a:buNone/>
            </a:pPr>
            <a:r>
              <a:rPr lang="en-US" altLang="zh-TW" sz="2000" dirty="0"/>
              <a:t>    '</a:t>
            </a:r>
            <a:r>
              <a:rPr lang="en-US" altLang="zh-TW" sz="2000" dirty="0" err="1"/>
              <a:t>django.contrib.auth</a:t>
            </a:r>
            <a:r>
              <a:rPr lang="en-US" altLang="zh-TW" sz="2000" dirty="0"/>
              <a:t>',</a:t>
            </a:r>
          </a:p>
          <a:p>
            <a:pPr marL="274320" lvl="1" indent="0">
              <a:buNone/>
            </a:pPr>
            <a:r>
              <a:rPr lang="en-US" altLang="zh-TW" sz="2000" dirty="0"/>
              <a:t>    '</a:t>
            </a:r>
            <a:r>
              <a:rPr lang="en-US" altLang="zh-TW" sz="2000" dirty="0" err="1"/>
              <a:t>django.contrib.contenttypes</a:t>
            </a:r>
            <a:r>
              <a:rPr lang="en-US" altLang="zh-TW" sz="2000" dirty="0"/>
              <a:t>',</a:t>
            </a:r>
          </a:p>
          <a:p>
            <a:pPr marL="274320" lvl="1" indent="0">
              <a:buNone/>
            </a:pPr>
            <a:r>
              <a:rPr lang="en-US" altLang="zh-TW" sz="2000" dirty="0"/>
              <a:t>    '</a:t>
            </a:r>
            <a:r>
              <a:rPr lang="en-US" altLang="zh-TW" sz="2000" dirty="0" err="1"/>
              <a:t>django.contrib.sessions</a:t>
            </a:r>
            <a:r>
              <a:rPr lang="en-US" altLang="zh-TW" sz="2000" dirty="0"/>
              <a:t>',</a:t>
            </a:r>
          </a:p>
          <a:p>
            <a:pPr marL="274320" lvl="1" indent="0">
              <a:buNone/>
            </a:pPr>
            <a:r>
              <a:rPr lang="en-US" altLang="zh-TW" sz="2000" dirty="0"/>
              <a:t>    '</a:t>
            </a:r>
            <a:r>
              <a:rPr lang="en-US" altLang="zh-TW" sz="2000" dirty="0" err="1"/>
              <a:t>django.contrib.messages</a:t>
            </a:r>
            <a:r>
              <a:rPr lang="en-US" altLang="zh-TW" sz="2000" dirty="0"/>
              <a:t>',</a:t>
            </a:r>
          </a:p>
          <a:p>
            <a:pPr marL="274320" lvl="1" indent="0">
              <a:buNone/>
            </a:pPr>
            <a:r>
              <a:rPr lang="en-US" altLang="zh-TW" sz="2000" dirty="0"/>
              <a:t>    '</a:t>
            </a:r>
            <a:r>
              <a:rPr lang="en-US" altLang="zh-TW" sz="2000" dirty="0" err="1"/>
              <a:t>django.contrib.staticfiles</a:t>
            </a:r>
            <a:r>
              <a:rPr lang="en-US" altLang="zh-TW" sz="2000" dirty="0"/>
              <a:t>',</a:t>
            </a:r>
          </a:p>
          <a:p>
            <a:pPr marL="274320" lvl="1" indent="0">
              <a:buNone/>
            </a:pPr>
            <a:r>
              <a:rPr lang="en-US" altLang="zh-TW" sz="2000" dirty="0"/>
              <a:t>    </a:t>
            </a:r>
            <a:r>
              <a:rPr lang="en-US" altLang="zh-TW" sz="2000" dirty="0">
                <a:solidFill>
                  <a:srgbClr val="FF0000"/>
                </a:solidFill>
              </a:rPr>
              <a:t>'</a:t>
            </a:r>
            <a:r>
              <a:rPr lang="en-US" altLang="zh-TW" sz="2000" dirty="0" err="1">
                <a:solidFill>
                  <a:srgbClr val="FF0000"/>
                </a:solidFill>
              </a:rPr>
              <a:t>mysite</a:t>
            </a:r>
            <a:r>
              <a:rPr lang="en-US" altLang="zh-TW" sz="2000" dirty="0">
                <a:solidFill>
                  <a:srgbClr val="FF0000"/>
                </a:solidFill>
              </a:rPr>
              <a:t>'</a:t>
            </a:r>
            <a:r>
              <a:rPr lang="en-US" altLang="zh-TW" sz="2000" dirty="0"/>
              <a:t>,</a:t>
            </a:r>
          </a:p>
          <a:p>
            <a:pPr marL="274320" lvl="1" indent="0">
              <a:buNone/>
            </a:pPr>
            <a:r>
              <a:rPr lang="en-US" altLang="zh-TW" sz="2000" dirty="0"/>
              <a:t>]</a:t>
            </a:r>
          </a:p>
          <a:p>
            <a:pPr lvl="1"/>
            <a:endParaRPr lang="zh-TW" altLang="en-US" sz="1500" dirty="0"/>
          </a:p>
        </p:txBody>
      </p:sp>
    </p:spTree>
    <p:extLst>
      <p:ext uri="{BB962C8B-B14F-4D97-AF65-F5344CB8AC3E}">
        <p14:creationId xmlns:p14="http://schemas.microsoft.com/office/powerpoint/2010/main" val="1199136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編輯</a:t>
            </a:r>
            <a:r>
              <a:rPr lang="en-US" altLang="zh-TW" dirty="0"/>
              <a:t>settings.py</a:t>
            </a:r>
            <a:endParaRPr lang="zh-TW" altLang="en-US" dirty="0"/>
          </a:p>
        </p:txBody>
      </p:sp>
      <p:sp>
        <p:nvSpPr>
          <p:cNvPr id="4" name="投影片編號版面配置區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sp>
        <p:nvSpPr>
          <p:cNvPr id="3" name="內容版面配置區 2"/>
          <p:cNvSpPr>
            <a:spLocks noGrp="1"/>
          </p:cNvSpPr>
          <p:nvPr>
            <p:ph sz="quarter" idx="1"/>
          </p:nvPr>
        </p:nvSpPr>
        <p:spPr/>
        <p:txBody>
          <a:bodyPr>
            <a:normAutofit/>
          </a:bodyPr>
          <a:lstStyle/>
          <a:p>
            <a:r>
              <a:rPr lang="zh-TW" altLang="en-US" sz="2400" dirty="0"/>
              <a:t>修改時區設定</a:t>
            </a:r>
            <a:r>
              <a:rPr lang="zh-TW" altLang="zh-TW" sz="2400" dirty="0"/>
              <a:t>，如下所示：</a:t>
            </a:r>
            <a:endParaRPr lang="en-US" altLang="zh-TW" sz="2400" dirty="0"/>
          </a:p>
          <a:p>
            <a:pPr lvl="1"/>
            <a:r>
              <a:rPr lang="en-US" altLang="zh-TW" sz="1900" dirty="0"/>
              <a:t>LANGUAGE_CODE = </a:t>
            </a:r>
            <a:r>
              <a:rPr lang="en-US" altLang="zh-TW" sz="1900" dirty="0">
                <a:solidFill>
                  <a:srgbClr val="FF0000"/>
                </a:solidFill>
              </a:rPr>
              <a:t>'</a:t>
            </a:r>
            <a:r>
              <a:rPr lang="en-US" altLang="zh-TW" sz="1900" dirty="0" err="1">
                <a:solidFill>
                  <a:srgbClr val="FF0000"/>
                </a:solidFill>
              </a:rPr>
              <a:t>zh-hant</a:t>
            </a:r>
            <a:r>
              <a:rPr lang="en-US" altLang="zh-TW" sz="1900" dirty="0">
                <a:solidFill>
                  <a:srgbClr val="FF0000"/>
                </a:solidFill>
              </a:rPr>
              <a:t>'</a:t>
            </a:r>
          </a:p>
          <a:p>
            <a:pPr lvl="1"/>
            <a:r>
              <a:rPr lang="en-US" altLang="zh-TW" sz="1900" dirty="0"/>
              <a:t>TIME_ZONE = </a:t>
            </a:r>
            <a:r>
              <a:rPr lang="en-US" altLang="zh-TW" sz="1900" dirty="0">
                <a:solidFill>
                  <a:srgbClr val="FF0000"/>
                </a:solidFill>
              </a:rPr>
              <a:t>'Asia/Taipei'</a:t>
            </a:r>
          </a:p>
          <a:p>
            <a:r>
              <a:rPr lang="zh-TW" altLang="en-US" sz="2400" dirty="0"/>
              <a:t>儲存</a:t>
            </a:r>
            <a:r>
              <a:rPr lang="en-US" altLang="zh-TW" sz="2400" dirty="0"/>
              <a:t>settings.py</a:t>
            </a:r>
            <a:r>
              <a:rPr lang="zh-TW" altLang="en-US" sz="2400" dirty="0"/>
              <a:t>，然後執行以下兩行指令：</a:t>
            </a:r>
            <a:endParaRPr lang="en-US" altLang="zh-TW" sz="2400" dirty="0"/>
          </a:p>
          <a:p>
            <a:pPr lvl="1"/>
            <a:r>
              <a:rPr lang="en-US" altLang="zh-TW" sz="2400" dirty="0">
                <a:solidFill>
                  <a:srgbClr val="FF0000"/>
                </a:solidFill>
              </a:rPr>
              <a:t>python manage.py </a:t>
            </a:r>
            <a:r>
              <a:rPr lang="en-US" altLang="zh-TW" sz="2400" dirty="0" err="1">
                <a:solidFill>
                  <a:srgbClr val="FF0000"/>
                </a:solidFill>
              </a:rPr>
              <a:t>makemigrations</a:t>
            </a:r>
            <a:endParaRPr lang="en-US" altLang="zh-TW" sz="2400" dirty="0">
              <a:solidFill>
                <a:srgbClr val="FF0000"/>
              </a:solidFill>
            </a:endParaRPr>
          </a:p>
          <a:p>
            <a:pPr lvl="1"/>
            <a:r>
              <a:rPr lang="en-US" altLang="zh-TW" sz="2400" dirty="0">
                <a:solidFill>
                  <a:srgbClr val="FF0000"/>
                </a:solidFill>
              </a:rPr>
              <a:t>python manage.py migrate</a:t>
            </a:r>
          </a:p>
          <a:p>
            <a:r>
              <a:rPr lang="zh-TW" altLang="zh-TW" sz="2400" dirty="0"/>
              <a:t>預設的情形下，</a:t>
            </a:r>
            <a:r>
              <a:rPr lang="en-US" altLang="zh-TW" sz="2400" dirty="0"/>
              <a:t>Django</a:t>
            </a:r>
            <a:r>
              <a:rPr lang="zh-TW" altLang="zh-TW" sz="2400" dirty="0"/>
              <a:t>會使用</a:t>
            </a:r>
            <a:r>
              <a:rPr lang="en-US" altLang="zh-TW" sz="2400" dirty="0"/>
              <a:t>SQLite</a:t>
            </a:r>
            <a:r>
              <a:rPr lang="zh-TW" altLang="zh-TW" sz="2400" dirty="0"/>
              <a:t>來儲存資料庫的內容，在我們使用以</a:t>
            </a:r>
            <a:r>
              <a:rPr lang="zh-TW" altLang="en-US" sz="2400" dirty="0"/>
              <a:t>上兩個</a:t>
            </a:r>
            <a:r>
              <a:rPr lang="zh-TW" altLang="zh-TW" sz="2400" dirty="0"/>
              <a:t>命令的時候，即會產生一個叫做</a:t>
            </a:r>
            <a:r>
              <a:rPr lang="en-US" altLang="zh-TW" sz="2400" dirty="0"/>
              <a:t>db.sqlite3</a:t>
            </a:r>
            <a:r>
              <a:rPr lang="zh-TW" altLang="zh-TW" sz="2400" dirty="0"/>
              <a:t>的檔案</a:t>
            </a:r>
            <a:r>
              <a:rPr lang="zh-TW" altLang="en-US" sz="2400" dirty="0"/>
              <a:t>。</a:t>
            </a:r>
            <a:endParaRPr lang="en-US" altLang="zh-TW" sz="2400" dirty="0"/>
          </a:p>
          <a:p>
            <a:pPr lvl="1"/>
            <a:endParaRPr lang="zh-TW" altLang="zh-TW" sz="2800" dirty="0"/>
          </a:p>
          <a:p>
            <a:pPr marL="0" indent="0">
              <a:buNone/>
            </a:pPr>
            <a:endParaRPr lang="zh-TW" altLang="en-US" dirty="0"/>
          </a:p>
        </p:txBody>
      </p:sp>
      <p:pic>
        <p:nvPicPr>
          <p:cNvPr id="5" name="圖片 4"/>
          <p:cNvPicPr>
            <a:picLocks noChangeAspect="1"/>
          </p:cNvPicPr>
          <p:nvPr/>
        </p:nvPicPr>
        <p:blipFill>
          <a:blip r:embed="rId2"/>
          <a:stretch>
            <a:fillRect/>
          </a:stretch>
        </p:blipFill>
        <p:spPr>
          <a:xfrm>
            <a:off x="5004048" y="4869160"/>
            <a:ext cx="2998775" cy="1924153"/>
          </a:xfrm>
          <a:prstGeom prst="rect">
            <a:avLst/>
          </a:prstGeom>
        </p:spPr>
      </p:pic>
    </p:spTree>
    <p:extLst>
      <p:ext uri="{BB962C8B-B14F-4D97-AF65-F5344CB8AC3E}">
        <p14:creationId xmlns:p14="http://schemas.microsoft.com/office/powerpoint/2010/main" val="3531254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p:cNvSpPr>
            <a:spLocks noGrp="1"/>
          </p:cNvSpPr>
          <p:nvPr>
            <p:ph sz="quarter" idx="1"/>
          </p:nvPr>
        </p:nvSpPr>
        <p:spPr/>
        <p:txBody>
          <a:bodyPr/>
          <a:lstStyle/>
          <a:p>
            <a:r>
              <a:rPr lang="zh-TW" altLang="zh-TW"/>
              <a:t>本</a:t>
            </a:r>
            <a:r>
              <a:rPr lang="zh-TW" altLang="zh-TW" dirty="0"/>
              <a:t>小節的目的是製作一個網站，把這些直播電視新聞集中在我們的網站中，並提供以連結或按鈕的方式來當做是選台的服務。</a:t>
            </a:r>
          </a:p>
          <a:p>
            <a:r>
              <a:rPr lang="zh-TW" altLang="zh-TW" dirty="0"/>
              <a:t>要把</a:t>
            </a:r>
            <a:r>
              <a:rPr lang="en-US" altLang="zh-TW" dirty="0" err="1"/>
              <a:t>Youtube</a:t>
            </a:r>
            <a:r>
              <a:rPr lang="zh-TW" altLang="zh-TW" dirty="0"/>
              <a:t>某一個影片連結到自己的網站中，需要先取得該網站的嵌入碼，嵌入碼的位置</a:t>
            </a:r>
            <a:r>
              <a:rPr lang="zh-TW" altLang="en-US" dirty="0"/>
              <a:t>下</a:t>
            </a:r>
            <a:r>
              <a:rPr lang="zh-TW" altLang="zh-TW" dirty="0"/>
              <a:t>圖</a:t>
            </a:r>
            <a:r>
              <a:rPr lang="zh-TW" altLang="en-US" dirty="0"/>
              <a:t>：</a:t>
            </a:r>
          </a:p>
        </p:txBody>
      </p:sp>
    </p:spTree>
    <p:extLst>
      <p:ext uri="{BB962C8B-B14F-4D97-AF65-F5344CB8AC3E}">
        <p14:creationId xmlns:p14="http://schemas.microsoft.com/office/powerpoint/2010/main" val="1017288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30</a:t>
            </a:fld>
            <a:endParaRPr lang="zh-TW" altLang="en-US"/>
          </a:p>
        </p:txBody>
      </p:sp>
      <p:pic>
        <p:nvPicPr>
          <p:cNvPr id="6" name="內容版面配置區 5">
            <a:extLst>
              <a:ext uri="{FF2B5EF4-FFF2-40B4-BE49-F238E27FC236}">
                <a16:creationId xmlns:a16="http://schemas.microsoft.com/office/drawing/2014/main" id="{A797BCA2-6C04-2EFD-3228-FFD3338CB263}"/>
              </a:ext>
            </a:extLst>
          </p:cNvPr>
          <p:cNvPicPr>
            <a:picLocks noGrp="1" noChangeAspect="1"/>
          </p:cNvPicPr>
          <p:nvPr>
            <p:ph sz="quarter" idx="1"/>
          </p:nvPr>
        </p:nvPicPr>
        <p:blipFill>
          <a:blip r:embed="rId3"/>
          <a:stretch>
            <a:fillRect/>
          </a:stretch>
        </p:blipFill>
        <p:spPr>
          <a:xfrm>
            <a:off x="751549" y="1527175"/>
            <a:ext cx="7604389" cy="4572000"/>
          </a:xfrm>
          <a:prstGeom prst="rect">
            <a:avLst/>
          </a:prstGeom>
        </p:spPr>
      </p:pic>
    </p:spTree>
    <p:extLst>
      <p:ext uri="{BB962C8B-B14F-4D97-AF65-F5344CB8AC3E}">
        <p14:creationId xmlns:p14="http://schemas.microsoft.com/office/powerpoint/2010/main" val="2450493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p:txBody>
          <a:bodyPr/>
          <a:lstStyle/>
          <a:p>
            <a:r>
              <a:rPr lang="zh-TW" altLang="zh-TW" dirty="0"/>
              <a:t>基本上每一個影片的嵌入碼都是一樣的，只有一個地方不同，就是每一支影片特有的</a:t>
            </a:r>
            <a:r>
              <a:rPr lang="en-US" altLang="zh-TW" dirty="0"/>
              <a:t>ID</a:t>
            </a:r>
            <a:r>
              <a:rPr lang="zh-TW" altLang="zh-TW" dirty="0"/>
              <a:t>，位於「</a:t>
            </a:r>
            <a:r>
              <a:rPr lang="en-US" altLang="zh-TW" dirty="0"/>
              <a:t>embed/</a:t>
            </a:r>
            <a:r>
              <a:rPr lang="zh-TW" altLang="zh-TW" dirty="0"/>
              <a:t>」之後，「</a:t>
            </a:r>
            <a:r>
              <a:rPr lang="en-US" altLang="zh-TW" dirty="0"/>
              <a:t>”</a:t>
            </a:r>
            <a:r>
              <a:rPr lang="zh-TW" altLang="zh-TW" dirty="0"/>
              <a:t>」之前的地方</a:t>
            </a:r>
            <a:endParaRPr lang="en-US" altLang="zh-TW" dirty="0"/>
          </a:p>
          <a:p>
            <a:pPr lvl="1"/>
            <a:r>
              <a:rPr lang="zh-TW" altLang="zh-TW" sz="2800" dirty="0"/>
              <a:t>嵌入碼在網頁中只要使用一次</a:t>
            </a:r>
            <a:endParaRPr lang="en-US" altLang="zh-TW" sz="2800" dirty="0"/>
          </a:p>
          <a:p>
            <a:pPr lvl="1"/>
            <a:r>
              <a:rPr lang="zh-TW" altLang="zh-TW" sz="2800" dirty="0"/>
              <a:t>然後填入不同的</a:t>
            </a:r>
            <a:r>
              <a:rPr lang="en-US" altLang="zh-TW" sz="2800" dirty="0"/>
              <a:t>ID</a:t>
            </a:r>
            <a:r>
              <a:rPr lang="zh-TW" altLang="zh-TW" sz="2800" dirty="0"/>
              <a:t>就會出現不同的影片</a:t>
            </a:r>
            <a:endParaRPr lang="zh-TW" altLang="en-US" dirty="0"/>
          </a:p>
        </p:txBody>
      </p:sp>
    </p:spTree>
    <p:extLst>
      <p:ext uri="{BB962C8B-B14F-4D97-AF65-F5344CB8AC3E}">
        <p14:creationId xmlns:p14="http://schemas.microsoft.com/office/powerpoint/2010/main" val="5858519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讓網址可以接受數字，</a:t>
            </a:r>
            <a:r>
              <a:rPr lang="en-US" altLang="zh-TW" dirty="0"/>
              <a:t>urls.py</a:t>
            </a:r>
            <a:r>
              <a:rPr lang="zh-TW" altLang="zh-TW" dirty="0"/>
              <a:t>的內容如下所示：</a:t>
            </a:r>
          </a:p>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django.contrib</a:t>
            </a:r>
            <a:r>
              <a:rPr lang="en-US" altLang="zh-TW" sz="2000" kern="100" dirty="0">
                <a:effectLst/>
                <a:latin typeface="Courier New" panose="02070309020205020404" pitchFamily="49" charset="0"/>
                <a:ea typeface="標楷體" panose="03000509000000000000" pitchFamily="65" charset="-120"/>
              </a:rPr>
              <a:t> import admin</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django.urls</a:t>
            </a:r>
            <a:r>
              <a:rPr lang="en-US" altLang="zh-TW" sz="2000" kern="100" dirty="0">
                <a:effectLst/>
                <a:latin typeface="Courier New" panose="02070309020205020404" pitchFamily="49" charset="0"/>
                <a:ea typeface="標楷體" panose="03000509000000000000" pitchFamily="65" charset="-120"/>
              </a:rPr>
              <a:t> import path</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mysite</a:t>
            </a:r>
            <a:r>
              <a:rPr lang="en-US" altLang="zh-TW" sz="2000" kern="100" dirty="0">
                <a:effectLst/>
                <a:latin typeface="Courier New" panose="02070309020205020404" pitchFamily="49" charset="0"/>
                <a:ea typeface="標楷體" panose="03000509000000000000" pitchFamily="65" charset="-120"/>
              </a:rPr>
              <a:t> import views</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err="1">
                <a:effectLst/>
                <a:latin typeface="Courier New" panose="02070309020205020404" pitchFamily="49" charset="0"/>
                <a:ea typeface="標楷體" panose="03000509000000000000" pitchFamily="65" charset="-120"/>
              </a:rPr>
              <a:t>urlpatterns</a:t>
            </a:r>
            <a:r>
              <a:rPr lang="en-US" altLang="zh-TW" sz="2000" kern="100" dirty="0">
                <a:effectLst/>
                <a:latin typeface="Courier New" panose="02070309020205020404" pitchFamily="49" charset="0"/>
                <a:ea typeface="標楷體" panose="03000509000000000000" pitchFamily="65" charset="-120"/>
              </a:rPr>
              <a:t> =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path('admin/', </a:t>
            </a:r>
            <a:r>
              <a:rPr lang="en-US" altLang="zh-TW" sz="2000" kern="100" dirty="0" err="1">
                <a:effectLst/>
                <a:latin typeface="Courier New" panose="02070309020205020404" pitchFamily="49" charset="0"/>
                <a:ea typeface="標楷體" panose="03000509000000000000" pitchFamily="65" charset="-120"/>
              </a:rPr>
              <a:t>admin.site.urls</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path('', </a:t>
            </a:r>
            <a:r>
              <a:rPr lang="en-US" altLang="zh-TW" sz="2000" kern="100" dirty="0" err="1">
                <a:effectLst/>
                <a:latin typeface="Courier New" panose="02070309020205020404" pitchFamily="49" charset="0"/>
                <a:ea typeface="標楷體" panose="03000509000000000000" pitchFamily="65" charset="-120"/>
              </a:rPr>
              <a:t>views.index</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dirty="0"/>
              <a:t>path('</a:t>
            </a:r>
            <a:r>
              <a:rPr lang="en-US" altLang="zh-TW" dirty="0" err="1"/>
              <a:t>twtv</a:t>
            </a:r>
            <a:r>
              <a:rPr lang="en-US" altLang="zh-TW" dirty="0"/>
              <a:t>/&lt;</a:t>
            </a:r>
            <a:r>
              <a:rPr lang="en-US" altLang="zh-TW" dirty="0" err="1"/>
              <a:t>int:tv_id</a:t>
            </a:r>
            <a:r>
              <a:rPr lang="en-US" altLang="zh-TW" dirty="0"/>
              <a:t>&gt;', </a:t>
            </a:r>
            <a:r>
              <a:rPr lang="en-US" altLang="zh-TW" dirty="0" err="1"/>
              <a:t>views.twtv</a:t>
            </a:r>
            <a:r>
              <a:rPr lang="en-US" altLang="zh-TW" dirty="0"/>
              <a:t>, name='tv-</a:t>
            </a:r>
            <a:r>
              <a:rPr lang="en-US" altLang="zh-TW" dirty="0" err="1"/>
              <a:t>url</a:t>
            </a:r>
            <a:r>
              <a:rPr lang="en-US" altLang="zh-TW" dirty="0"/>
              <a:t>'),</a:t>
            </a:r>
          </a:p>
          <a:p>
            <a:pPr marL="0" indent="0">
              <a:buNone/>
            </a:pP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845912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sp>
        <p:nvSpPr>
          <p:cNvPr id="4" name="內容版面配置區 3"/>
          <p:cNvSpPr>
            <a:spLocks noGrp="1"/>
          </p:cNvSpPr>
          <p:nvPr>
            <p:ph sz="quarter" idx="1"/>
          </p:nvPr>
        </p:nvSpPr>
        <p:spPr>
          <a:xfrm>
            <a:off x="0" y="1527048"/>
            <a:ext cx="9252520" cy="4998296"/>
          </a:xfrm>
        </p:spPr>
        <p:txBody>
          <a:bodyPr>
            <a:normAutofit lnSpcReduction="10000"/>
          </a:bodyPr>
          <a:lstStyle/>
          <a:p>
            <a:pPr marL="0" indent="0">
              <a:buNone/>
            </a:pPr>
            <a:r>
              <a:rPr lang="en-US" altLang="zh-TW" dirty="0"/>
              <a:t>views.py</a:t>
            </a:r>
            <a:r>
              <a:rPr lang="zh-TW" altLang="zh-TW" dirty="0"/>
              <a:t>的</a:t>
            </a:r>
            <a:r>
              <a:rPr lang="en-US" altLang="zh-TW" dirty="0"/>
              <a:t>index</a:t>
            </a:r>
            <a:r>
              <a:rPr lang="zh-TW" altLang="zh-TW" dirty="0"/>
              <a:t>函數中，其程式內容如下所示：</a:t>
            </a:r>
          </a:p>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django.shortcuts</a:t>
            </a:r>
            <a:r>
              <a:rPr lang="en-US" altLang="zh-TW" sz="2000" kern="100" dirty="0">
                <a:effectLst/>
                <a:latin typeface="Courier New" panose="02070309020205020404" pitchFamily="49" charset="0"/>
                <a:ea typeface="標楷體" panose="03000509000000000000" pitchFamily="65" charset="-120"/>
              </a:rPr>
              <a:t> import render</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from datetime import datetime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def index(request, </a:t>
            </a:r>
            <a:r>
              <a:rPr lang="en-US" altLang="zh-TW" sz="2000" kern="100" dirty="0" err="1">
                <a:effectLst/>
                <a:latin typeface="Courier New" panose="02070309020205020404" pitchFamily="49" charset="0"/>
                <a:ea typeface="標楷體" panose="03000509000000000000" pitchFamily="65" charset="-120"/>
              </a:rPr>
              <a:t>tvno</a:t>
            </a:r>
            <a:r>
              <a:rPr lang="en-US" altLang="zh-TW" sz="2000" kern="100" dirty="0">
                <a:effectLst/>
                <a:latin typeface="Courier New" panose="02070309020205020404" pitchFamily="49" charset="0"/>
                <a:ea typeface="標楷體" panose="03000509000000000000" pitchFamily="65" charset="-120"/>
              </a:rPr>
              <a:t> = 0):</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tv</a:t>
            </a:r>
            <a:r>
              <a:rPr lang="en-US" altLang="zh-TW" sz="2000" kern="100" dirty="0">
                <a:solidFill>
                  <a:srgbClr val="FF0000"/>
                </a:solidFill>
                <a:effectLst/>
                <a:latin typeface="Courier New" panose="02070309020205020404" pitchFamily="49" charset="0"/>
                <a:ea typeface="標楷體" panose="03000509000000000000" pitchFamily="65" charset="-120"/>
              </a:rPr>
              <a:t>_</a:t>
            </a:r>
            <a:r>
              <a:rPr lang="en-US" altLang="zh-TW" sz="2000" kern="100" dirty="0">
                <a:effectLst/>
                <a:latin typeface="Courier New" panose="02070309020205020404" pitchFamily="49" charset="0"/>
                <a:ea typeface="標楷體" panose="03000509000000000000" pitchFamily="65" charset="-120"/>
              </a:rPr>
              <a:t>list = </a:t>
            </a:r>
            <a:r>
              <a:rPr lang="en-US" altLang="zh-TW" dirty="0"/>
              <a:t>[{'name':'</a:t>
            </a:r>
            <a:r>
              <a:rPr lang="zh-TW" altLang="en-US" dirty="0"/>
              <a:t>公視</a:t>
            </a:r>
            <a:r>
              <a:rPr lang="en-US" altLang="zh-TW" dirty="0"/>
              <a:t>', 'tvcode':'quwqlazU-c8'},</a:t>
            </a:r>
          </a:p>
          <a:p>
            <a:pPr marL="0" indent="0">
              <a:buNone/>
            </a:pPr>
            <a:r>
              <a:rPr lang="en-US" altLang="zh-TW" dirty="0"/>
              <a:t>        {'name':'</a:t>
            </a:r>
            <a:r>
              <a:rPr lang="zh-TW" altLang="en-US" dirty="0"/>
              <a:t>非凡</a:t>
            </a:r>
            <a:r>
              <a:rPr lang="en-US" altLang="zh-TW" dirty="0"/>
              <a:t>', 'tvcode':'eA6Aczd3FZM'},</a:t>
            </a:r>
          </a:p>
          <a:p>
            <a:pPr marL="0" indent="0">
              <a:buNone/>
            </a:pPr>
            <a:r>
              <a:rPr lang="en-US" altLang="zh-TW" dirty="0"/>
              <a:t>        {'name':'</a:t>
            </a:r>
            <a:r>
              <a:rPr lang="zh-TW" altLang="en-US" dirty="0"/>
              <a:t>民視</a:t>
            </a:r>
            <a:r>
              <a:rPr lang="en-US" altLang="zh-TW" dirty="0"/>
              <a:t>', '</a:t>
            </a:r>
            <a:r>
              <a:rPr lang="en-US" altLang="zh-TW" dirty="0" err="1"/>
              <a:t>tvcode</a:t>
            </a:r>
            <a:r>
              <a:rPr lang="en-US" altLang="zh-TW" dirty="0"/>
              <a:t>':'</a:t>
            </a:r>
            <a:r>
              <a:rPr lang="en-US" altLang="zh-TW" dirty="0" err="1"/>
              <a:t>ylYJSBUgaMA</a:t>
            </a:r>
            <a:r>
              <a:rPr lang="en-US" altLang="zh-TW" dirty="0"/>
              <a:t>'},</a:t>
            </a:r>
          </a:p>
          <a:p>
            <a:pPr marL="0" indent="0">
              <a:buNone/>
            </a:pPr>
            <a:r>
              <a:rPr lang="en-US" altLang="zh-TW" dirty="0"/>
              <a:t>        {'name':'</a:t>
            </a:r>
            <a:r>
              <a:rPr lang="zh-TW" altLang="en-US" dirty="0"/>
              <a:t>中視</a:t>
            </a:r>
            <a:r>
              <a:rPr lang="en-US" altLang="zh-TW" dirty="0"/>
              <a:t>', '</a:t>
            </a:r>
            <a:r>
              <a:rPr lang="en-US" altLang="zh-TW" dirty="0" err="1"/>
              <a:t>tvcode</a:t>
            </a:r>
            <a:r>
              <a:rPr lang="en-US" altLang="zh-TW" dirty="0"/>
              <a:t>':'</a:t>
            </a:r>
            <a:r>
              <a:rPr lang="en-US" altLang="zh-TW" dirty="0" err="1"/>
              <a:t>TCnaIE_SAtM</a:t>
            </a:r>
            <a:r>
              <a:rPr lang="en-US" altLang="zh-TW" dirty="0"/>
              <a:t>'},]</a:t>
            </a:r>
          </a:p>
          <a:p>
            <a:pPr marL="0" indent="0">
              <a:buNone/>
            </a:pPr>
            <a:r>
              <a:rPr lang="en-US" altLang="zh-TW" sz="2000" kern="100" dirty="0">
                <a:effectLst/>
                <a:latin typeface="Courier New" panose="02070309020205020404" pitchFamily="49" charset="0"/>
                <a:ea typeface="標楷體" panose="03000509000000000000" pitchFamily="65" charset="-120"/>
              </a:rPr>
              <a:t>    now = </a:t>
            </a:r>
            <a:r>
              <a:rPr lang="en-US" altLang="zh-TW" sz="2000" kern="100" dirty="0" err="1">
                <a:effectLst/>
                <a:latin typeface="Courier New" panose="02070309020205020404" pitchFamily="49" charset="0"/>
                <a:ea typeface="標楷體" panose="03000509000000000000" pitchFamily="65" charset="-120"/>
              </a:rPr>
              <a:t>datetime.now</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tv = </a:t>
            </a:r>
            <a:r>
              <a:rPr lang="en-US" altLang="zh-TW" sz="2000" kern="100" dirty="0" err="1">
                <a:effectLst/>
                <a:latin typeface="Courier New" panose="02070309020205020404" pitchFamily="49" charset="0"/>
                <a:ea typeface="標楷體" panose="03000509000000000000" pitchFamily="65" charset="-120"/>
              </a:rPr>
              <a:t>tv_list</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tvno</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return render(request, 'index.html', locals())</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24707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fontScale="92500" lnSpcReduction="10000"/>
          </a:bodyPr>
          <a:lstStyle/>
          <a:p>
            <a:r>
              <a:rPr lang="en-US" altLang="zh-TW" dirty="0"/>
              <a:t>index.html</a:t>
            </a:r>
            <a:r>
              <a:rPr lang="zh-TW" altLang="zh-TW" dirty="0"/>
              <a:t>的程式碼內容：</a:t>
            </a:r>
          </a:p>
          <a:p>
            <a:pPr marL="274320" lvl="1" indent="0">
              <a:buNone/>
            </a:pPr>
            <a:r>
              <a:rPr lang="en-US" altLang="zh-TW" dirty="0"/>
              <a:t>&lt;!-- index.html (ch06 project) --&gt;</a:t>
            </a:r>
            <a:endParaRPr lang="zh-TW" altLang="zh-TW" dirty="0"/>
          </a:p>
          <a:p>
            <a:pPr marL="274320" lvl="1" indent="0">
              <a:buNone/>
            </a:pPr>
            <a:r>
              <a:rPr lang="en-US" altLang="zh-TW" dirty="0"/>
              <a:t>&lt;!DOCTYPE html&gt;</a:t>
            </a:r>
            <a:endParaRPr lang="zh-TW" altLang="zh-TW" dirty="0"/>
          </a:p>
          <a:p>
            <a:pPr marL="274320" lvl="1" indent="0">
              <a:buNone/>
            </a:pPr>
            <a:r>
              <a:rPr lang="en-US" altLang="zh-TW" dirty="0"/>
              <a:t>&lt;html&gt;</a:t>
            </a:r>
            <a:endParaRPr lang="zh-TW" altLang="zh-TW" dirty="0"/>
          </a:p>
          <a:p>
            <a:pPr marL="274320" lvl="1" indent="0">
              <a:buNone/>
            </a:pPr>
            <a:r>
              <a:rPr lang="en-US" altLang="zh-TW" dirty="0"/>
              <a:t>&lt;head&gt;</a:t>
            </a:r>
            <a:endParaRPr lang="zh-TW" altLang="zh-TW" dirty="0"/>
          </a:p>
          <a:p>
            <a:pPr marL="274320" lvl="1" indent="0">
              <a:buNone/>
            </a:pPr>
            <a:r>
              <a:rPr lang="en-US" altLang="zh-TW" dirty="0"/>
              <a:t>    &lt;meta charset='utf-8'&gt;</a:t>
            </a:r>
            <a:endParaRPr lang="zh-TW" altLang="zh-TW" dirty="0"/>
          </a:p>
          <a:p>
            <a:pPr marL="274320" lvl="1" indent="0">
              <a:buNone/>
            </a:pPr>
            <a:r>
              <a:rPr lang="en-US" altLang="zh-TW" dirty="0"/>
              <a:t>    &lt;title&gt;Home Page&lt;/title&gt;</a:t>
            </a:r>
            <a:endParaRPr lang="zh-TW" altLang="zh-TW" dirty="0"/>
          </a:p>
          <a:p>
            <a:pPr marL="274320" lvl="1" indent="0">
              <a:buNone/>
            </a:pPr>
            <a:r>
              <a:rPr lang="en-US" altLang="zh-TW" dirty="0"/>
              <a:t>&lt;!-- Latest compiled and minified CSS --&gt;</a:t>
            </a:r>
            <a:endParaRPr lang="zh-TW" altLang="zh-TW" dirty="0"/>
          </a:p>
          <a:p>
            <a:pPr marL="274320" lvl="1" indent="0">
              <a:buNone/>
            </a:pPr>
            <a:r>
              <a:rPr lang="en-US" altLang="zh-TW" dirty="0"/>
              <a:t>&lt;link </a:t>
            </a:r>
            <a:r>
              <a:rPr lang="en-US" altLang="zh-TW" dirty="0" err="1"/>
              <a:t>rel</a:t>
            </a:r>
            <a:r>
              <a:rPr lang="en-US" altLang="zh-TW" dirty="0"/>
              <a:t>="stylesheet" </a:t>
            </a:r>
            <a:r>
              <a:rPr lang="en-US" altLang="zh-TW" dirty="0" err="1"/>
              <a:t>href</a:t>
            </a:r>
            <a:r>
              <a:rPr lang="en-US" altLang="zh-TW" dirty="0"/>
              <a:t>="https://maxcdn.bootstrapcdn.com/bootstrap/3.3.6/</a:t>
            </a:r>
            <a:r>
              <a:rPr lang="en-US" altLang="zh-TW" dirty="0" err="1"/>
              <a:t>css</a:t>
            </a:r>
            <a:r>
              <a:rPr lang="en-US" altLang="zh-TW" dirty="0"/>
              <a:t>/bootstrap.min.css" integrity="sha384-1q8mTJOASx8j1Au+a5WDVnPi2lkFfwwEAa8hDDdjZlpLegxhjVME1fgjWPGmkzs7" </a:t>
            </a:r>
            <a:r>
              <a:rPr lang="en-US" altLang="zh-TW" dirty="0" err="1"/>
              <a:t>crossorigin</a:t>
            </a:r>
            <a:r>
              <a:rPr lang="en-US" altLang="zh-TW" dirty="0"/>
              <a:t>="anonymous"&gt;</a:t>
            </a:r>
            <a:endParaRPr lang="zh-TW" altLang="zh-TW" dirty="0"/>
          </a:p>
          <a:p>
            <a:pPr marL="274320" lvl="1" indent="0">
              <a:buNone/>
            </a:pPr>
            <a:r>
              <a:rPr lang="en-US" altLang="zh-TW" dirty="0"/>
              <a:t> </a:t>
            </a:r>
            <a:endParaRPr lang="zh-TW" altLang="zh-TW" dirty="0"/>
          </a:p>
          <a:p>
            <a:endParaRPr lang="zh-TW" altLang="en-US" dirty="0"/>
          </a:p>
        </p:txBody>
      </p:sp>
    </p:spTree>
    <p:extLst>
      <p:ext uri="{BB962C8B-B14F-4D97-AF65-F5344CB8AC3E}">
        <p14:creationId xmlns:p14="http://schemas.microsoft.com/office/powerpoint/2010/main" val="3243656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4" name="內容版面配置區 3"/>
          <p:cNvSpPr>
            <a:spLocks noGrp="1"/>
          </p:cNvSpPr>
          <p:nvPr>
            <p:ph sz="quarter" idx="1"/>
          </p:nvPr>
        </p:nvSpPr>
        <p:spPr>
          <a:xfrm>
            <a:off x="301752" y="1527048"/>
            <a:ext cx="8534400" cy="4998296"/>
          </a:xfrm>
        </p:spPr>
        <p:txBody>
          <a:bodyPr>
            <a:normAutofit lnSpcReduction="10000"/>
          </a:bodyPr>
          <a:lstStyle/>
          <a:p>
            <a:pPr marL="274320" lvl="1" indent="0">
              <a:buNone/>
            </a:pPr>
            <a:r>
              <a:rPr lang="en-US" altLang="zh-TW" dirty="0"/>
              <a:t>&lt;!-- Optional theme --&gt;</a:t>
            </a:r>
          </a:p>
          <a:p>
            <a:pPr marL="274320" lvl="1" indent="0">
              <a:buNone/>
            </a:pPr>
            <a:r>
              <a:rPr lang="en-US" altLang="zh-TW" dirty="0"/>
              <a:t>&lt;link </a:t>
            </a:r>
            <a:r>
              <a:rPr lang="en-US" altLang="zh-TW" dirty="0" err="1"/>
              <a:t>rel</a:t>
            </a:r>
            <a:r>
              <a:rPr lang="en-US" altLang="zh-TW" dirty="0"/>
              <a:t>="stylesheet" </a:t>
            </a:r>
            <a:r>
              <a:rPr lang="en-US" altLang="zh-TW" dirty="0" err="1"/>
              <a:t>href</a:t>
            </a:r>
            <a:r>
              <a:rPr lang="en-US" altLang="zh-TW" dirty="0"/>
              <a:t>="https://maxcdn.bootstrapcdn.com/bootstrap/3.3.6/</a:t>
            </a:r>
            <a:r>
              <a:rPr lang="en-US" altLang="zh-TW" dirty="0" err="1"/>
              <a:t>css</a:t>
            </a:r>
            <a:r>
              <a:rPr lang="en-US" altLang="zh-TW" dirty="0"/>
              <a:t>/bootstrap-theme.min.css" integrity="sha384-fLW2N01lMqjakBkx3l/M9EahuwpSfeNvV63J5ezn3uZzapT0u7EYsXMjQV+0En5r" </a:t>
            </a:r>
            <a:r>
              <a:rPr lang="en-US" altLang="zh-TW" dirty="0" err="1"/>
              <a:t>crossorigin</a:t>
            </a:r>
            <a:r>
              <a:rPr lang="en-US" altLang="zh-TW" dirty="0"/>
              <a:t>="anonymous"&gt;</a:t>
            </a:r>
          </a:p>
          <a:p>
            <a:pPr marL="274320" lvl="1" indent="0">
              <a:buNone/>
            </a:pPr>
            <a:endParaRPr lang="en-US" altLang="zh-TW" dirty="0"/>
          </a:p>
          <a:p>
            <a:pPr marL="274320" lvl="1" indent="0">
              <a:buNone/>
            </a:pPr>
            <a:r>
              <a:rPr lang="en-US" altLang="zh-TW" dirty="0"/>
              <a:t>&lt;!-- Latest compiled and minified JavaScript --&gt;</a:t>
            </a:r>
          </a:p>
          <a:p>
            <a:pPr marL="274320" lvl="1" indent="0">
              <a:buNone/>
            </a:pPr>
            <a:r>
              <a:rPr lang="en-US" altLang="zh-TW" dirty="0"/>
              <a:t>&lt;script </a:t>
            </a:r>
            <a:r>
              <a:rPr lang="en-US" altLang="zh-TW" dirty="0" err="1"/>
              <a:t>src</a:t>
            </a:r>
            <a:r>
              <a:rPr lang="en-US" altLang="zh-TW" dirty="0"/>
              <a:t>="https://maxcdn.bootstrapcdn.com/bootstrap/3.3.6/</a:t>
            </a:r>
            <a:r>
              <a:rPr lang="en-US" altLang="zh-TW" dirty="0" err="1"/>
              <a:t>js</a:t>
            </a:r>
            <a:r>
              <a:rPr lang="en-US" altLang="zh-TW" dirty="0"/>
              <a:t>/bootstrap.min.js" integrity="sha384-0mSbJDEHialfmuBBQP6A4Qrprq5OVfW37PRR3j5ELqxss1yVqOtnepnHVP9aJ7xS" </a:t>
            </a:r>
            <a:r>
              <a:rPr lang="en-US" altLang="zh-TW" dirty="0" err="1"/>
              <a:t>crossorigin</a:t>
            </a:r>
            <a:r>
              <a:rPr lang="en-US" altLang="zh-TW" dirty="0"/>
              <a:t>="anonymous"&gt;&lt;/script&gt;</a:t>
            </a:r>
          </a:p>
          <a:p>
            <a:pPr marL="274320" lvl="1" indent="0">
              <a:buNone/>
            </a:pPr>
            <a:r>
              <a:rPr lang="en-US" altLang="zh-TW" dirty="0"/>
              <a:t>&lt;/head&gt;</a:t>
            </a:r>
            <a:endParaRPr lang="zh-TW" altLang="zh-TW" dirty="0"/>
          </a:p>
          <a:p>
            <a:pPr lvl="1"/>
            <a:endParaRPr lang="en-US" altLang="zh-TW" dirty="0"/>
          </a:p>
          <a:p>
            <a:pPr lvl="1"/>
            <a:endParaRPr lang="zh-TW" altLang="en-US" dirty="0"/>
          </a:p>
        </p:txBody>
      </p:sp>
    </p:spTree>
    <p:extLst>
      <p:ext uri="{BB962C8B-B14F-4D97-AF65-F5344CB8AC3E}">
        <p14:creationId xmlns:p14="http://schemas.microsoft.com/office/powerpoint/2010/main" val="2476333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fontScale="92500" lnSpcReduction="20000"/>
          </a:bodyPr>
          <a:lstStyle/>
          <a:p>
            <a:pPr marL="274320" lvl="1" indent="0">
              <a:buNone/>
            </a:pPr>
            <a:r>
              <a:rPr lang="en-US" altLang="zh-TW" dirty="0"/>
              <a:t>&lt;body&gt;</a:t>
            </a:r>
          </a:p>
          <a:p>
            <a:pPr marL="274320" lvl="1" indent="0">
              <a:buNone/>
            </a:pPr>
            <a:r>
              <a:rPr lang="en-US" altLang="zh-TW" dirty="0"/>
              <a:t>	&lt;</a:t>
            </a:r>
            <a:r>
              <a:rPr lang="en-US" altLang="zh-TW" dirty="0" err="1"/>
              <a:t>nav</a:t>
            </a:r>
            <a:r>
              <a:rPr lang="en-US" altLang="zh-TW" dirty="0"/>
              <a:t> class='</a:t>
            </a:r>
            <a:r>
              <a:rPr lang="en-US" altLang="zh-TW" dirty="0" err="1"/>
              <a:t>navbar</a:t>
            </a:r>
            <a:r>
              <a:rPr lang="en-US" altLang="zh-TW" dirty="0"/>
              <a:t> </a:t>
            </a:r>
            <a:r>
              <a:rPr lang="en-US" altLang="zh-TW" dirty="0" err="1"/>
              <a:t>navbar</a:t>
            </a:r>
            <a:r>
              <a:rPr lang="en-US" altLang="zh-TW" dirty="0"/>
              <a:t>-default'&gt;</a:t>
            </a:r>
          </a:p>
          <a:p>
            <a:pPr marL="274320" lvl="1" indent="0">
              <a:buNone/>
            </a:pPr>
            <a:r>
              <a:rPr lang="en-US" altLang="zh-TW" dirty="0"/>
              <a:t>	  &lt;div class='container-fluid'&gt;</a:t>
            </a:r>
          </a:p>
          <a:p>
            <a:pPr marL="274320" lvl="1" indent="0">
              <a:buNone/>
            </a:pPr>
            <a:r>
              <a:rPr lang="en-US" altLang="zh-TW" dirty="0"/>
              <a:t>	   &lt;div class='</a:t>
            </a:r>
            <a:r>
              <a:rPr lang="en-US" altLang="zh-TW" dirty="0" err="1"/>
              <a:t>navbar</a:t>
            </a:r>
            <a:r>
              <a:rPr lang="en-US" altLang="zh-TW" dirty="0"/>
              <a:t>-header'&gt;</a:t>
            </a:r>
          </a:p>
          <a:p>
            <a:pPr marL="274320" lvl="1" indent="0">
              <a:buNone/>
            </a:pPr>
            <a:r>
              <a:rPr lang="en-US" altLang="zh-TW" dirty="0"/>
              <a:t>	      &lt;a class='</a:t>
            </a:r>
            <a:r>
              <a:rPr lang="en-US" altLang="zh-TW" dirty="0" err="1"/>
              <a:t>navbar</a:t>
            </a:r>
            <a:r>
              <a:rPr lang="en-US" altLang="zh-TW" dirty="0"/>
              <a:t>-brand' </a:t>
            </a:r>
            <a:r>
              <a:rPr lang="en-US" altLang="zh-TW" dirty="0" err="1"/>
              <a:t>href</a:t>
            </a:r>
            <a:r>
              <a:rPr lang="en-US" altLang="zh-TW" dirty="0"/>
              <a:t>='#'&gt;</a:t>
            </a:r>
            <a:r>
              <a:rPr lang="zh-TW" altLang="en-US" dirty="0"/>
              <a:t>現正播出</a:t>
            </a:r>
            <a:r>
              <a:rPr lang="en-US" altLang="zh-TW" dirty="0"/>
              <a:t>{{tv.name}}&lt;/a&gt;</a:t>
            </a:r>
          </a:p>
          <a:p>
            <a:pPr marL="274320" lvl="1" indent="0">
              <a:buNone/>
            </a:pPr>
            <a:r>
              <a:rPr lang="en-US" altLang="zh-TW" dirty="0"/>
              <a:t>	   &lt;/div&gt;</a:t>
            </a:r>
          </a:p>
          <a:p>
            <a:pPr marL="274320" lvl="1" indent="0">
              <a:buNone/>
            </a:pPr>
            <a:r>
              <a:rPr lang="en-US" altLang="zh-TW" dirty="0"/>
              <a:t>	  &lt;</a:t>
            </a:r>
            <a:r>
              <a:rPr lang="en-US" altLang="zh-TW" dirty="0" err="1"/>
              <a:t>ul</a:t>
            </a:r>
            <a:r>
              <a:rPr lang="en-US" altLang="zh-TW" dirty="0"/>
              <a:t> class='</a:t>
            </a:r>
            <a:r>
              <a:rPr lang="en-US" altLang="zh-TW" dirty="0" err="1"/>
              <a:t>nav</a:t>
            </a:r>
            <a:r>
              <a:rPr lang="en-US" altLang="zh-TW" dirty="0"/>
              <a:t> </a:t>
            </a:r>
            <a:r>
              <a:rPr lang="en-US" altLang="zh-TW" dirty="0" err="1"/>
              <a:t>navbar-nav</a:t>
            </a:r>
            <a:r>
              <a:rPr lang="en-US" altLang="zh-TW" dirty="0"/>
              <a:t>'&gt;</a:t>
            </a:r>
          </a:p>
          <a:p>
            <a:pPr marL="274320" lvl="1" indent="0">
              <a:buNone/>
            </a:pPr>
            <a:r>
              <a:rPr lang="en-US" altLang="zh-TW" dirty="0"/>
              <a:t>	   &lt;li class='active'&gt;&lt;a </a:t>
            </a:r>
            <a:r>
              <a:rPr lang="en-US" altLang="zh-TW" dirty="0" err="1"/>
              <a:t>href</a:t>
            </a:r>
            <a:r>
              <a:rPr lang="en-US" altLang="zh-TW" dirty="0"/>
              <a:t>='/'&gt;Home&lt;/a&gt;&lt;/li&gt;</a:t>
            </a:r>
          </a:p>
          <a:p>
            <a:pPr marL="274320" lvl="1" indent="0">
              <a:buNone/>
            </a:pPr>
            <a:r>
              <a:rPr lang="en-US" altLang="zh-TW" dirty="0"/>
              <a:t>	   &lt;li&gt;&lt;a </a:t>
            </a:r>
            <a:r>
              <a:rPr lang="en-US" altLang="zh-TW" dirty="0" err="1"/>
              <a:t>href</a:t>
            </a:r>
            <a:r>
              <a:rPr lang="en-US" altLang="zh-TW" dirty="0"/>
              <a:t>='</a:t>
            </a:r>
            <a:r>
              <a:rPr lang="en-US" altLang="zh-TW" dirty="0">
                <a:solidFill>
                  <a:srgbClr val="FF0000"/>
                </a:solidFill>
              </a:rPr>
              <a:t>{% </a:t>
            </a:r>
            <a:r>
              <a:rPr lang="en-US" altLang="zh-TW" dirty="0" err="1">
                <a:solidFill>
                  <a:srgbClr val="FF0000"/>
                </a:solidFill>
              </a:rPr>
              <a:t>url</a:t>
            </a:r>
            <a:r>
              <a:rPr lang="en-US" altLang="zh-TW" dirty="0">
                <a:solidFill>
                  <a:srgbClr val="FF0000"/>
                </a:solidFill>
              </a:rPr>
              <a:t> '</a:t>
            </a:r>
            <a:r>
              <a:rPr lang="en-US" altLang="zh-TW" dirty="0" err="1">
                <a:solidFill>
                  <a:srgbClr val="FF0000"/>
                </a:solidFill>
              </a:rPr>
              <a:t>tv-url</a:t>
            </a:r>
            <a:r>
              <a:rPr lang="en-US" altLang="zh-TW" dirty="0">
                <a:solidFill>
                  <a:srgbClr val="FF0000"/>
                </a:solidFill>
              </a:rPr>
              <a:t>' 0 %}</a:t>
            </a:r>
            <a:r>
              <a:rPr lang="en-US" altLang="zh-TW" dirty="0"/>
              <a:t>'&gt;</a:t>
            </a:r>
            <a:r>
              <a:rPr lang="zh-TW" altLang="en-US" dirty="0"/>
              <a:t>東森</a:t>
            </a:r>
            <a:r>
              <a:rPr lang="en-US" altLang="zh-TW" dirty="0"/>
              <a:t>&lt;/a&gt;&lt;/li&gt;</a:t>
            </a:r>
          </a:p>
          <a:p>
            <a:pPr marL="274320" lvl="1" indent="0">
              <a:buNone/>
            </a:pPr>
            <a:r>
              <a:rPr lang="en-US" altLang="zh-TW" dirty="0"/>
              <a:t>	   &lt;li&gt;&lt;a </a:t>
            </a:r>
            <a:r>
              <a:rPr lang="en-US" altLang="zh-TW" dirty="0" err="1"/>
              <a:t>href</a:t>
            </a:r>
            <a:r>
              <a:rPr lang="en-US" altLang="zh-TW" dirty="0"/>
              <a:t>='</a:t>
            </a:r>
            <a:r>
              <a:rPr lang="en-US" altLang="zh-TW" dirty="0">
                <a:solidFill>
                  <a:srgbClr val="FF0000"/>
                </a:solidFill>
              </a:rPr>
              <a:t>{% </a:t>
            </a:r>
            <a:r>
              <a:rPr lang="en-US" altLang="zh-TW" dirty="0" err="1">
                <a:solidFill>
                  <a:srgbClr val="FF0000"/>
                </a:solidFill>
              </a:rPr>
              <a:t>url</a:t>
            </a:r>
            <a:r>
              <a:rPr lang="en-US" altLang="zh-TW" dirty="0">
                <a:solidFill>
                  <a:srgbClr val="FF0000"/>
                </a:solidFill>
              </a:rPr>
              <a:t> '</a:t>
            </a:r>
            <a:r>
              <a:rPr lang="en-US" altLang="zh-TW" dirty="0" err="1">
                <a:solidFill>
                  <a:srgbClr val="FF0000"/>
                </a:solidFill>
              </a:rPr>
              <a:t>tv-url</a:t>
            </a:r>
            <a:r>
              <a:rPr lang="en-US" altLang="zh-TW" dirty="0">
                <a:solidFill>
                  <a:srgbClr val="FF0000"/>
                </a:solidFill>
              </a:rPr>
              <a:t>' 1 %}</a:t>
            </a:r>
            <a:r>
              <a:rPr lang="en-US" altLang="zh-TW" dirty="0"/>
              <a:t>'&gt;</a:t>
            </a:r>
            <a:r>
              <a:rPr lang="zh-TW" altLang="en-US" dirty="0"/>
              <a:t>民視</a:t>
            </a:r>
            <a:r>
              <a:rPr lang="en-US" altLang="zh-TW" dirty="0"/>
              <a:t>&lt;/a&gt;&lt;/li&gt;</a:t>
            </a:r>
          </a:p>
          <a:p>
            <a:pPr marL="274320" lvl="1" indent="0">
              <a:buNone/>
            </a:pPr>
            <a:r>
              <a:rPr lang="en-US" altLang="zh-TW" dirty="0"/>
              <a:t>	   &lt;li&gt;&lt;a </a:t>
            </a:r>
            <a:r>
              <a:rPr lang="en-US" altLang="zh-TW" dirty="0" err="1"/>
              <a:t>href</a:t>
            </a:r>
            <a:r>
              <a:rPr lang="en-US" altLang="zh-TW" dirty="0"/>
              <a:t>='</a:t>
            </a:r>
            <a:r>
              <a:rPr lang="en-US" altLang="zh-TW" dirty="0">
                <a:solidFill>
                  <a:srgbClr val="FF0000"/>
                </a:solidFill>
              </a:rPr>
              <a:t>{% </a:t>
            </a:r>
            <a:r>
              <a:rPr lang="en-US" altLang="zh-TW" dirty="0" err="1">
                <a:solidFill>
                  <a:srgbClr val="FF0000"/>
                </a:solidFill>
              </a:rPr>
              <a:t>url</a:t>
            </a:r>
            <a:r>
              <a:rPr lang="en-US" altLang="zh-TW" dirty="0">
                <a:solidFill>
                  <a:srgbClr val="FF0000"/>
                </a:solidFill>
              </a:rPr>
              <a:t> '</a:t>
            </a:r>
            <a:r>
              <a:rPr lang="en-US" altLang="zh-TW" dirty="0" err="1">
                <a:solidFill>
                  <a:srgbClr val="FF0000"/>
                </a:solidFill>
              </a:rPr>
              <a:t>tv-url</a:t>
            </a:r>
            <a:r>
              <a:rPr lang="en-US" altLang="zh-TW" dirty="0">
                <a:solidFill>
                  <a:srgbClr val="FF0000"/>
                </a:solidFill>
              </a:rPr>
              <a:t>' 2 %}</a:t>
            </a:r>
            <a:r>
              <a:rPr lang="en-US" altLang="zh-TW" dirty="0"/>
              <a:t>'&gt;</a:t>
            </a:r>
            <a:r>
              <a:rPr lang="zh-TW" altLang="en-US" dirty="0"/>
              <a:t>台視</a:t>
            </a:r>
            <a:r>
              <a:rPr lang="en-US" altLang="zh-TW" dirty="0"/>
              <a:t>&lt;/a&gt;&lt;/li&gt;</a:t>
            </a:r>
          </a:p>
          <a:p>
            <a:pPr marL="274320" lvl="1" indent="0">
              <a:buNone/>
            </a:pPr>
            <a:r>
              <a:rPr lang="en-US" altLang="zh-TW" dirty="0"/>
              <a:t>	   &lt;li&gt;&lt;a </a:t>
            </a:r>
            <a:r>
              <a:rPr lang="en-US" altLang="zh-TW" dirty="0" err="1"/>
              <a:t>href</a:t>
            </a:r>
            <a:r>
              <a:rPr lang="en-US" altLang="zh-TW" dirty="0"/>
              <a:t>='</a:t>
            </a:r>
            <a:r>
              <a:rPr lang="en-US" altLang="zh-TW" dirty="0">
                <a:solidFill>
                  <a:srgbClr val="FF0000"/>
                </a:solidFill>
              </a:rPr>
              <a:t>{% </a:t>
            </a:r>
            <a:r>
              <a:rPr lang="en-US" altLang="zh-TW" dirty="0" err="1">
                <a:solidFill>
                  <a:srgbClr val="FF0000"/>
                </a:solidFill>
              </a:rPr>
              <a:t>url</a:t>
            </a:r>
            <a:r>
              <a:rPr lang="en-US" altLang="zh-TW" dirty="0">
                <a:solidFill>
                  <a:srgbClr val="FF0000"/>
                </a:solidFill>
              </a:rPr>
              <a:t> '</a:t>
            </a:r>
            <a:r>
              <a:rPr lang="en-US" altLang="zh-TW" dirty="0" err="1">
                <a:solidFill>
                  <a:srgbClr val="FF0000"/>
                </a:solidFill>
              </a:rPr>
              <a:t>tv-url</a:t>
            </a:r>
            <a:r>
              <a:rPr lang="en-US" altLang="zh-TW" dirty="0">
                <a:solidFill>
                  <a:srgbClr val="FF0000"/>
                </a:solidFill>
              </a:rPr>
              <a:t>' 3 %}</a:t>
            </a:r>
            <a:r>
              <a:rPr lang="en-US" altLang="zh-TW" dirty="0"/>
              <a:t>'&gt;</a:t>
            </a:r>
            <a:r>
              <a:rPr lang="zh-TW" altLang="en-US" dirty="0"/>
              <a:t>華視</a:t>
            </a:r>
            <a:r>
              <a:rPr lang="en-US" altLang="zh-TW" dirty="0"/>
              <a:t>&lt;/a&gt;&lt;/li&gt;</a:t>
            </a:r>
          </a:p>
          <a:p>
            <a:pPr marL="274320" lvl="1" indent="0">
              <a:buNone/>
            </a:pPr>
            <a:r>
              <a:rPr lang="en-US" altLang="zh-TW" dirty="0"/>
              <a:t>	   &lt;/</a:t>
            </a:r>
            <a:r>
              <a:rPr lang="en-US" altLang="zh-TW" dirty="0" err="1"/>
              <a:t>ul</a:t>
            </a:r>
            <a:r>
              <a:rPr lang="en-US" altLang="zh-TW" dirty="0"/>
              <a:t>&gt;</a:t>
            </a:r>
          </a:p>
          <a:p>
            <a:pPr marL="274320" lvl="1" indent="0">
              <a:buNone/>
            </a:pPr>
            <a:r>
              <a:rPr lang="en-US" altLang="zh-TW" dirty="0"/>
              <a:t>	 &lt;/div&gt;</a:t>
            </a:r>
          </a:p>
          <a:p>
            <a:pPr marL="274320" lvl="1" indent="0">
              <a:buNone/>
            </a:pPr>
            <a:r>
              <a:rPr lang="en-US" altLang="zh-TW" dirty="0"/>
              <a:t>	&lt;/</a:t>
            </a:r>
            <a:r>
              <a:rPr lang="en-US" altLang="zh-TW" dirty="0" err="1"/>
              <a:t>nav</a:t>
            </a:r>
            <a:r>
              <a:rPr lang="en-US" altLang="zh-TW" dirty="0"/>
              <a:t>&gt;</a:t>
            </a:r>
          </a:p>
          <a:p>
            <a:pPr lvl="1"/>
            <a:endParaRPr lang="zh-TW" altLang="en-US" dirty="0"/>
          </a:p>
        </p:txBody>
      </p:sp>
    </p:spTree>
    <p:extLst>
      <p:ext uri="{BB962C8B-B14F-4D97-AF65-F5344CB8AC3E}">
        <p14:creationId xmlns:p14="http://schemas.microsoft.com/office/powerpoint/2010/main" val="404243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225068E-4B40-8EFA-0C0E-66C6BFC13FD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7F344A9-84A5-75D6-86D6-34D651E1815F}"/>
              </a:ext>
            </a:extLst>
          </p:cNvPr>
          <p:cNvSpPr>
            <a:spLocks noGrp="1"/>
          </p:cNvSpPr>
          <p:nvPr>
            <p:ph type="title"/>
          </p:nvPr>
        </p:nvSpPr>
        <p:spPr/>
        <p:txBody>
          <a:bodyPr/>
          <a:lstStyle/>
          <a:p>
            <a:r>
              <a:rPr lang="zh-TW" altLang="zh-TW" dirty="0"/>
              <a:t>直播電視網站應用範例</a:t>
            </a:r>
            <a:r>
              <a:rPr lang="en-US" altLang="zh-TW" dirty="0"/>
              <a:t>(for loop</a:t>
            </a:r>
            <a:r>
              <a:rPr lang="zh-TW" altLang="en-US" dirty="0"/>
              <a:t>寫法</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id="{D6A27A08-D142-3167-94CC-80E57E8BD1ED}"/>
              </a:ext>
            </a:extLst>
          </p:cNvPr>
          <p:cNvSpPr>
            <a:spLocks noGrp="1"/>
          </p:cNvSpPr>
          <p:nvPr>
            <p:ph type="sldNum" sz="quarter" idx="12"/>
          </p:nvPr>
        </p:nvSpPr>
        <p:spPr/>
        <p:txBody>
          <a:bodyPr/>
          <a:lstStyle/>
          <a:p>
            <a:fld id="{369E457D-EE12-4164-8E32-9DDD40A95892}" type="slidenum">
              <a:rPr lang="zh-TW" altLang="en-US" smtClean="0"/>
              <a:pPr/>
              <a:t>37</a:t>
            </a:fld>
            <a:endParaRPr lang="zh-TW" altLang="en-US"/>
          </a:p>
        </p:txBody>
      </p:sp>
      <p:sp>
        <p:nvSpPr>
          <p:cNvPr id="4" name="內容版面配置區 3">
            <a:extLst>
              <a:ext uri="{FF2B5EF4-FFF2-40B4-BE49-F238E27FC236}">
                <a16:creationId xmlns:a16="http://schemas.microsoft.com/office/drawing/2014/main" id="{E1E0764B-5164-F9DC-D4E4-5BEE8A21EE5D}"/>
              </a:ext>
            </a:extLst>
          </p:cNvPr>
          <p:cNvSpPr>
            <a:spLocks noGrp="1"/>
          </p:cNvSpPr>
          <p:nvPr>
            <p:ph sz="quarter" idx="1"/>
          </p:nvPr>
        </p:nvSpPr>
        <p:spPr>
          <a:xfrm>
            <a:off x="301752" y="1527048"/>
            <a:ext cx="8534400" cy="5142312"/>
          </a:xfrm>
        </p:spPr>
        <p:txBody>
          <a:bodyPr>
            <a:normAutofit fontScale="85000" lnSpcReduction="20000"/>
          </a:bodyPr>
          <a:lstStyle/>
          <a:p>
            <a:pPr marL="274320" lvl="1" indent="0">
              <a:buNone/>
            </a:pPr>
            <a:r>
              <a:rPr lang="en-US" altLang="zh-TW" dirty="0"/>
              <a:t>&lt;body&gt;</a:t>
            </a:r>
          </a:p>
          <a:p>
            <a:pPr marL="274320" lvl="1" indent="0">
              <a:buNone/>
            </a:pPr>
            <a:r>
              <a:rPr lang="en-US" altLang="zh-TW" dirty="0"/>
              <a:t>	&lt;</a:t>
            </a:r>
            <a:r>
              <a:rPr lang="en-US" altLang="zh-TW" dirty="0" err="1"/>
              <a:t>nav</a:t>
            </a:r>
            <a:r>
              <a:rPr lang="en-US" altLang="zh-TW" dirty="0"/>
              <a:t> class='</a:t>
            </a:r>
            <a:r>
              <a:rPr lang="en-US" altLang="zh-TW" dirty="0" err="1"/>
              <a:t>navbar</a:t>
            </a:r>
            <a:r>
              <a:rPr lang="en-US" altLang="zh-TW" dirty="0"/>
              <a:t> </a:t>
            </a:r>
            <a:r>
              <a:rPr lang="en-US" altLang="zh-TW" dirty="0" err="1"/>
              <a:t>navbar</a:t>
            </a:r>
            <a:r>
              <a:rPr lang="en-US" altLang="zh-TW" dirty="0"/>
              <a:t>-default'&gt;</a:t>
            </a:r>
          </a:p>
          <a:p>
            <a:pPr marL="274320" lvl="1" indent="0">
              <a:buNone/>
            </a:pPr>
            <a:r>
              <a:rPr lang="en-US" altLang="zh-TW" dirty="0"/>
              <a:t>	  &lt;div class='container-fluid'&gt;</a:t>
            </a:r>
          </a:p>
          <a:p>
            <a:pPr marL="274320" lvl="1" indent="0">
              <a:buNone/>
            </a:pPr>
            <a:r>
              <a:rPr lang="en-US" altLang="zh-TW" dirty="0"/>
              <a:t>	   &lt;div class='</a:t>
            </a:r>
            <a:r>
              <a:rPr lang="en-US" altLang="zh-TW" dirty="0" err="1"/>
              <a:t>navbar</a:t>
            </a:r>
            <a:r>
              <a:rPr lang="en-US" altLang="zh-TW" dirty="0"/>
              <a:t>-header'&gt;</a:t>
            </a:r>
          </a:p>
          <a:p>
            <a:pPr marL="274320" lvl="1" indent="0">
              <a:buNone/>
            </a:pPr>
            <a:r>
              <a:rPr lang="en-US" altLang="zh-TW" dirty="0"/>
              <a:t>	      &lt;a class='</a:t>
            </a:r>
            <a:r>
              <a:rPr lang="en-US" altLang="zh-TW" dirty="0" err="1"/>
              <a:t>navbar</a:t>
            </a:r>
            <a:r>
              <a:rPr lang="en-US" altLang="zh-TW" dirty="0"/>
              <a:t>-brand' </a:t>
            </a:r>
            <a:r>
              <a:rPr lang="en-US" altLang="zh-TW" dirty="0" err="1"/>
              <a:t>href</a:t>
            </a:r>
            <a:r>
              <a:rPr lang="en-US" altLang="zh-TW" dirty="0"/>
              <a:t>='#'&gt;</a:t>
            </a:r>
            <a:r>
              <a:rPr lang="zh-TW" altLang="en-US" dirty="0"/>
              <a:t>現正播出</a:t>
            </a:r>
            <a:r>
              <a:rPr lang="en-US" altLang="zh-TW" dirty="0"/>
              <a:t>{{tv.name}}&lt;/a&gt;</a:t>
            </a:r>
          </a:p>
          <a:p>
            <a:pPr marL="274320" lvl="1" indent="0">
              <a:buNone/>
            </a:pPr>
            <a:r>
              <a:rPr lang="en-US" altLang="zh-TW" dirty="0"/>
              <a:t>	   &lt;/div&gt;</a:t>
            </a:r>
          </a:p>
          <a:p>
            <a:pPr marL="274320" lvl="1" indent="0">
              <a:buNone/>
            </a:pPr>
            <a:r>
              <a:rPr lang="en-US" altLang="zh-TW" dirty="0"/>
              <a:t>	  &lt;</a:t>
            </a:r>
            <a:r>
              <a:rPr lang="en-US" altLang="zh-TW" dirty="0" err="1"/>
              <a:t>ul</a:t>
            </a:r>
            <a:r>
              <a:rPr lang="en-US" altLang="zh-TW" dirty="0"/>
              <a:t> class='</a:t>
            </a:r>
            <a:r>
              <a:rPr lang="en-US" altLang="zh-TW" dirty="0" err="1"/>
              <a:t>nav</a:t>
            </a:r>
            <a:r>
              <a:rPr lang="en-US" altLang="zh-TW" dirty="0"/>
              <a:t> </a:t>
            </a:r>
            <a:r>
              <a:rPr lang="en-US" altLang="zh-TW" dirty="0" err="1"/>
              <a:t>navbar-nav</a:t>
            </a:r>
            <a:r>
              <a:rPr lang="en-US" altLang="zh-TW" dirty="0"/>
              <a:t>'&gt;</a:t>
            </a:r>
          </a:p>
          <a:p>
            <a:pPr marL="274320" lvl="1" indent="0">
              <a:buNone/>
            </a:pPr>
            <a:r>
              <a:rPr lang="en-US" altLang="zh-TW" dirty="0"/>
              <a:t>	   &lt;li class='active'&gt;&lt;a </a:t>
            </a:r>
            <a:r>
              <a:rPr lang="en-US" altLang="zh-TW" dirty="0" err="1"/>
              <a:t>href</a:t>
            </a:r>
            <a:r>
              <a:rPr lang="en-US" altLang="zh-TW" dirty="0"/>
              <a:t>='/'&gt;Home&lt;/a&gt;&lt;/li&gt;</a:t>
            </a:r>
          </a:p>
          <a:p>
            <a:pPr marL="274320" lvl="1" indent="0">
              <a:buNone/>
            </a:pPr>
            <a:r>
              <a:rPr lang="en-US" altLang="zh-TW" dirty="0"/>
              <a:t>            </a:t>
            </a:r>
            <a:r>
              <a:rPr lang="en-US" altLang="zh-TW" dirty="0">
                <a:solidFill>
                  <a:srgbClr val="FF0000"/>
                </a:solidFill>
              </a:rPr>
              <a:t>{% for tv in </a:t>
            </a:r>
            <a:r>
              <a:rPr lang="en-US" altLang="zh-TW" dirty="0" err="1">
                <a:solidFill>
                  <a:srgbClr val="FF0000"/>
                </a:solidFill>
              </a:rPr>
              <a:t>tv_list</a:t>
            </a:r>
            <a:r>
              <a:rPr lang="en-US" altLang="zh-TW" dirty="0">
                <a:solidFill>
                  <a:srgbClr val="FF0000"/>
                </a:solidFill>
              </a:rPr>
              <a:t> %}</a:t>
            </a:r>
          </a:p>
          <a:p>
            <a:pPr marL="274320" lvl="1" indent="0">
              <a:buNone/>
            </a:pPr>
            <a:r>
              <a:rPr lang="en-US" altLang="zh-TW" dirty="0">
                <a:solidFill>
                  <a:srgbClr val="FF0000"/>
                </a:solidFill>
              </a:rPr>
              <a:t>            &lt;li&gt;</a:t>
            </a:r>
          </a:p>
          <a:p>
            <a:pPr marL="274320" lvl="1" indent="0">
              <a:buNone/>
            </a:pPr>
            <a:r>
              <a:rPr lang="en-US" altLang="zh-TW" dirty="0">
                <a:solidFill>
                  <a:srgbClr val="FF0000"/>
                </a:solidFill>
              </a:rPr>
              <a:t>&lt;a </a:t>
            </a:r>
            <a:r>
              <a:rPr lang="en-US" altLang="zh-TW" dirty="0" err="1">
                <a:solidFill>
                  <a:srgbClr val="FF0000"/>
                </a:solidFill>
              </a:rPr>
              <a:t>href</a:t>
            </a:r>
            <a:r>
              <a:rPr lang="en-US" altLang="zh-TW" dirty="0">
                <a:solidFill>
                  <a:srgbClr val="FF0000"/>
                </a:solidFill>
              </a:rPr>
              <a:t>='/{{ forloop.counter0 }}/'&gt;{{tv.name}}&lt;/a&gt;</a:t>
            </a:r>
          </a:p>
          <a:p>
            <a:pPr marL="274320" lvl="1" indent="0">
              <a:buNone/>
            </a:pPr>
            <a:r>
              <a:rPr lang="en-US" altLang="zh-TW" dirty="0">
                <a:solidFill>
                  <a:srgbClr val="FF0000"/>
                </a:solidFill>
              </a:rPr>
              <a:t>	&lt;/li&gt;</a:t>
            </a:r>
          </a:p>
          <a:p>
            <a:pPr marL="274320" lvl="1" indent="0">
              <a:buNone/>
            </a:pPr>
            <a:r>
              <a:rPr lang="en-US" altLang="zh-TW" dirty="0">
                <a:solidFill>
                  <a:srgbClr val="FF0000"/>
                </a:solidFill>
              </a:rPr>
              <a:t>            {% </a:t>
            </a:r>
            <a:r>
              <a:rPr lang="en-US" altLang="zh-TW" dirty="0" err="1">
                <a:solidFill>
                  <a:srgbClr val="FF0000"/>
                </a:solidFill>
              </a:rPr>
              <a:t>endfor</a:t>
            </a:r>
            <a:r>
              <a:rPr lang="en-US" altLang="zh-TW" dirty="0">
                <a:solidFill>
                  <a:srgbClr val="FF0000"/>
                </a:solidFill>
              </a:rPr>
              <a:t> %}</a:t>
            </a:r>
          </a:p>
          <a:p>
            <a:pPr marL="274320" lvl="1" indent="0">
              <a:buNone/>
            </a:pPr>
            <a:r>
              <a:rPr lang="en-US" altLang="zh-TW" dirty="0"/>
              <a:t>            &lt;/</a:t>
            </a:r>
            <a:r>
              <a:rPr lang="en-US" altLang="zh-TW" dirty="0" err="1"/>
              <a:t>ul</a:t>
            </a:r>
            <a:r>
              <a:rPr lang="en-US" altLang="zh-TW" dirty="0"/>
              <a:t>&gt;</a:t>
            </a:r>
          </a:p>
          <a:p>
            <a:pPr marL="274320" lvl="1" indent="0">
              <a:buNone/>
            </a:pPr>
            <a:r>
              <a:rPr lang="en-US" altLang="zh-TW" dirty="0"/>
              <a:t>	 &lt;/div&gt;</a:t>
            </a:r>
          </a:p>
          <a:p>
            <a:pPr marL="274320" lvl="1" indent="0">
              <a:buNone/>
            </a:pPr>
            <a:r>
              <a:rPr lang="en-US" altLang="zh-TW" dirty="0"/>
              <a:t>	&lt;/</a:t>
            </a:r>
            <a:r>
              <a:rPr lang="en-US" altLang="zh-TW" dirty="0" err="1"/>
              <a:t>nav</a:t>
            </a:r>
            <a:r>
              <a:rPr lang="en-US" altLang="zh-TW" dirty="0"/>
              <a:t>&gt;</a:t>
            </a:r>
          </a:p>
          <a:p>
            <a:pPr lvl="1"/>
            <a:endParaRPr lang="zh-TW" altLang="en-US" dirty="0"/>
          </a:p>
        </p:txBody>
      </p:sp>
    </p:spTree>
    <p:extLst>
      <p:ext uri="{BB962C8B-B14F-4D97-AF65-F5344CB8AC3E}">
        <p14:creationId xmlns:p14="http://schemas.microsoft.com/office/powerpoint/2010/main" val="3674349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sp>
        <p:nvSpPr>
          <p:cNvPr id="4" name="內容版面配置區 3"/>
          <p:cNvSpPr>
            <a:spLocks noGrp="1"/>
          </p:cNvSpPr>
          <p:nvPr>
            <p:ph sz="quarter" idx="1"/>
          </p:nvPr>
        </p:nvSpPr>
        <p:spPr>
          <a:xfrm>
            <a:off x="301752" y="1527048"/>
            <a:ext cx="8662736" cy="5330952"/>
          </a:xfrm>
        </p:spPr>
        <p:txBody>
          <a:bodyPr>
            <a:normAutofit fontScale="92500" lnSpcReduction="10000"/>
          </a:bodyPr>
          <a:lstStyle/>
          <a:p>
            <a:pPr marL="274320" lvl="1" indent="0">
              <a:buNone/>
            </a:pPr>
            <a:r>
              <a:rPr lang="en-US" altLang="zh-TW" dirty="0"/>
              <a:t>&lt;div class='</a:t>
            </a:r>
            <a:r>
              <a:rPr lang="en-US" altLang="zh-TW" dirty="0" err="1"/>
              <a:t>conatiner</a:t>
            </a:r>
            <a:r>
              <a:rPr lang="en-US" altLang="zh-TW" dirty="0"/>
              <a:t>'&gt;</a:t>
            </a:r>
          </a:p>
          <a:p>
            <a:pPr marL="274320" lvl="1" indent="0">
              <a:buNone/>
            </a:pPr>
            <a:r>
              <a:rPr lang="en-US" altLang="zh-TW" dirty="0"/>
              <a:t>   &lt;div id='</a:t>
            </a:r>
            <a:r>
              <a:rPr lang="en-US" altLang="zh-TW" dirty="0" err="1"/>
              <a:t>tvcode</a:t>
            </a:r>
            <a:r>
              <a:rPr lang="en-US" altLang="zh-TW" dirty="0"/>
              <a:t>' align='center'&gt;</a:t>
            </a:r>
          </a:p>
          <a:p>
            <a:pPr marL="274320" lvl="1" indent="0">
              <a:buNone/>
            </a:pPr>
            <a:r>
              <a:rPr lang="en-US" altLang="zh-TW" dirty="0"/>
              <a:t>	</a:t>
            </a:r>
            <a:r>
              <a:rPr lang="en-US" altLang="zh-TW" dirty="0">
                <a:solidFill>
                  <a:srgbClr val="FF0000"/>
                </a:solidFill>
              </a:rPr>
              <a:t>&lt;iframe width="560" height="315" </a:t>
            </a:r>
            <a:r>
              <a:rPr lang="en-US" altLang="zh-TW" dirty="0" err="1">
                <a:solidFill>
                  <a:srgbClr val="FF0000"/>
                </a:solidFill>
              </a:rPr>
              <a:t>src</a:t>
            </a:r>
            <a:r>
              <a:rPr lang="en-US" altLang="zh-TW" dirty="0">
                <a:solidFill>
                  <a:srgbClr val="FF0000"/>
                </a:solidFill>
              </a:rPr>
              <a:t>="https://www.youtube.com/embed/{{tv.tvcode}}?autoplay=1" frameborder="0" </a:t>
            </a:r>
            <a:r>
              <a:rPr lang="en-US" altLang="zh-TW" dirty="0" err="1">
                <a:solidFill>
                  <a:srgbClr val="FF0000"/>
                </a:solidFill>
              </a:rPr>
              <a:t>allowfullscreen</a:t>
            </a:r>
            <a:r>
              <a:rPr lang="en-US" altLang="zh-TW" dirty="0">
                <a:solidFill>
                  <a:srgbClr val="FF0000"/>
                </a:solidFill>
              </a:rPr>
              <a:t>&gt;&lt;/iframe&gt;</a:t>
            </a:r>
          </a:p>
          <a:p>
            <a:pPr marL="274320" lvl="1" indent="0">
              <a:buNone/>
            </a:pPr>
            <a:r>
              <a:rPr lang="en-US" altLang="zh-TW" dirty="0"/>
              <a:t>	 &lt;/div&gt;</a:t>
            </a:r>
          </a:p>
          <a:p>
            <a:pPr marL="274320" lvl="1" indent="0">
              <a:buNone/>
            </a:pPr>
            <a:r>
              <a:rPr lang="en-US" altLang="zh-TW" dirty="0"/>
              <a:t>	&lt;/div&gt;</a:t>
            </a:r>
          </a:p>
          <a:p>
            <a:pPr marL="274320" lvl="1" indent="0">
              <a:buNone/>
            </a:pPr>
            <a:r>
              <a:rPr lang="en-US" altLang="zh-TW" dirty="0"/>
              <a:t>&lt;div class='panel panel-default'&gt;</a:t>
            </a:r>
          </a:p>
          <a:p>
            <a:pPr marL="274320" lvl="1" indent="0">
              <a:buNone/>
            </a:pPr>
            <a:r>
              <a:rPr lang="en-US" altLang="zh-TW" dirty="0"/>
              <a:t>	&lt;div class='panel-footer'&gt;&lt;</a:t>
            </a:r>
            <a:r>
              <a:rPr lang="en-US" altLang="zh-TW" dirty="0" err="1"/>
              <a:t>em</a:t>
            </a:r>
            <a:r>
              <a:rPr lang="en-US" altLang="zh-TW" dirty="0"/>
              <a:t>&gt;{{ now }}&lt;/div&gt;</a:t>
            </a:r>
          </a:p>
          <a:p>
            <a:pPr marL="274320" lvl="1" indent="0">
              <a:buNone/>
            </a:pPr>
            <a:r>
              <a:rPr lang="en-US" altLang="zh-TW" dirty="0"/>
              <a:t>&lt;/div&gt;</a:t>
            </a:r>
          </a:p>
          <a:p>
            <a:pPr marL="274320" lvl="1" indent="0">
              <a:buNone/>
            </a:pPr>
            <a:r>
              <a:rPr lang="en-US" altLang="zh-TW" dirty="0"/>
              <a:t>&lt;script </a:t>
            </a:r>
            <a:r>
              <a:rPr lang="en-US" altLang="zh-TW" dirty="0" err="1"/>
              <a:t>src</a:t>
            </a:r>
            <a:r>
              <a:rPr lang="en-US" altLang="zh-TW" dirty="0"/>
              <a:t>="https://code.jquery.com/jquery-3.1.0.min.js" integrity="sha256-cCueBR6CsyA4/9szpPfrX3s49M9vUU5BgtiJj06wt/s=" </a:t>
            </a:r>
            <a:r>
              <a:rPr lang="en-US" altLang="zh-TW" dirty="0" err="1"/>
              <a:t>crossorigin</a:t>
            </a:r>
            <a:r>
              <a:rPr lang="en-US" altLang="zh-TW" dirty="0"/>
              <a:t>="anonymous"&gt;&lt;/script&gt;</a:t>
            </a:r>
          </a:p>
          <a:p>
            <a:pPr marL="274320" lvl="1" indent="0">
              <a:buNone/>
            </a:pPr>
            <a:r>
              <a:rPr lang="en-US" altLang="zh-TW" dirty="0"/>
              <a:t>&lt;/body&gt;</a:t>
            </a:r>
          </a:p>
          <a:p>
            <a:pPr marL="274320" lvl="1" indent="0">
              <a:buNone/>
            </a:pPr>
            <a:r>
              <a:rPr lang="en-US" altLang="zh-TW" dirty="0"/>
              <a:t>&lt;/html&gt;</a:t>
            </a:r>
          </a:p>
        </p:txBody>
      </p:sp>
    </p:spTree>
    <p:extLst>
      <p:ext uri="{BB962C8B-B14F-4D97-AF65-F5344CB8AC3E}">
        <p14:creationId xmlns:p14="http://schemas.microsoft.com/office/powerpoint/2010/main" val="2565432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直播電視網站應用範例</a:t>
            </a:r>
            <a:br>
              <a:rPr lang="en-US" altLang="zh-TW" dirty="0"/>
            </a:br>
            <a:r>
              <a:rPr lang="zh-TW" altLang="en-US" dirty="0"/>
              <a:t>說明指定預設值</a:t>
            </a:r>
            <a:r>
              <a:rPr lang="en-US" altLang="zh-TW" dirty="0"/>
              <a:t>def index(request, </a:t>
            </a:r>
            <a:r>
              <a:rPr lang="en-US" altLang="zh-TW" dirty="0" err="1">
                <a:solidFill>
                  <a:srgbClr val="FF0000"/>
                </a:solidFill>
              </a:rPr>
              <a:t>tvno</a:t>
            </a:r>
            <a:r>
              <a:rPr lang="en-US" altLang="zh-TW" dirty="0">
                <a:solidFill>
                  <a:srgbClr val="FF0000"/>
                </a:solidFill>
              </a:rPr>
              <a:t> = 0</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4" name="內容版面配置區 3"/>
          <p:cNvSpPr>
            <a:spLocks noGrp="1"/>
          </p:cNvSpPr>
          <p:nvPr>
            <p:ph sz="quarter" idx="1"/>
          </p:nvPr>
        </p:nvSpPr>
        <p:spPr/>
        <p:txBody>
          <a:bodyPr/>
          <a:lstStyle/>
          <a:p>
            <a:r>
              <a:rPr lang="zh-TW" altLang="zh-TW" dirty="0"/>
              <a:t>新聞直播網站的執行畫面</a:t>
            </a:r>
            <a:endParaRPr lang="zh-TW" altLang="en-US" dirty="0"/>
          </a:p>
        </p:txBody>
      </p:sp>
      <p:pic>
        <p:nvPicPr>
          <p:cNvPr id="6" name="圖片 5">
            <a:extLst>
              <a:ext uri="{FF2B5EF4-FFF2-40B4-BE49-F238E27FC236}">
                <a16:creationId xmlns:a16="http://schemas.microsoft.com/office/drawing/2014/main" id="{FF97E7B6-1ADA-BD20-742E-D590CAE863A3}"/>
              </a:ext>
            </a:extLst>
          </p:cNvPr>
          <p:cNvPicPr>
            <a:picLocks noChangeAspect="1"/>
          </p:cNvPicPr>
          <p:nvPr/>
        </p:nvPicPr>
        <p:blipFill>
          <a:blip r:embed="rId3"/>
          <a:stretch>
            <a:fillRect/>
          </a:stretch>
        </p:blipFill>
        <p:spPr>
          <a:xfrm>
            <a:off x="1259632" y="2035128"/>
            <a:ext cx="6912768" cy="4230119"/>
          </a:xfrm>
          <a:prstGeom prst="rect">
            <a:avLst/>
          </a:prstGeom>
        </p:spPr>
      </p:pic>
    </p:spTree>
    <p:extLst>
      <p:ext uri="{BB962C8B-B14F-4D97-AF65-F5344CB8AC3E}">
        <p14:creationId xmlns:p14="http://schemas.microsoft.com/office/powerpoint/2010/main" val="713992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template</a:t>
            </a:r>
            <a:r>
              <a:rPr lang="zh-TW" altLang="zh-TW" dirty="0"/>
              <a:t>中使用</a:t>
            </a:r>
            <a:r>
              <a:rPr lang="en-US" altLang="zh-TW" dirty="0"/>
              <a:t>static</a:t>
            </a:r>
            <a:r>
              <a:rPr lang="zh-TW" altLang="zh-TW" dirty="0"/>
              <a:t>檔案</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40</a:t>
            </a:fld>
            <a:endParaRPr lang="zh-TW" altLang="en-US"/>
          </a:p>
        </p:txBody>
      </p:sp>
      <p:sp>
        <p:nvSpPr>
          <p:cNvPr id="4" name="內容版面配置區 3"/>
          <p:cNvSpPr>
            <a:spLocks noGrp="1"/>
          </p:cNvSpPr>
          <p:nvPr>
            <p:ph sz="quarter" idx="1"/>
          </p:nvPr>
        </p:nvSpPr>
        <p:spPr/>
        <p:txBody>
          <a:bodyPr>
            <a:normAutofit fontScale="92500"/>
          </a:bodyPr>
          <a:lstStyle/>
          <a:p>
            <a:pPr lvl="0"/>
            <a:r>
              <a:rPr lang="zh-TW" altLang="zh-TW" dirty="0"/>
              <a:t>在</a:t>
            </a:r>
            <a:r>
              <a:rPr lang="en-US" altLang="zh-TW" dirty="0"/>
              <a:t>settings.py</a:t>
            </a:r>
            <a:r>
              <a:rPr lang="zh-TW" altLang="zh-TW" dirty="0"/>
              <a:t>中</a:t>
            </a:r>
            <a:endParaRPr lang="en-US" altLang="zh-TW" dirty="0"/>
          </a:p>
          <a:p>
            <a:pPr lvl="1"/>
            <a:r>
              <a:rPr lang="zh-TW" altLang="zh-TW" dirty="0"/>
              <a:t>設定</a:t>
            </a:r>
            <a:r>
              <a:rPr lang="en-US" altLang="zh-TW" dirty="0"/>
              <a:t>STATIC_URL</a:t>
            </a:r>
            <a:r>
              <a:rPr lang="zh-TW" altLang="zh-TW" dirty="0"/>
              <a:t>使用的網址</a:t>
            </a:r>
            <a:endParaRPr lang="en-US" altLang="zh-TW" dirty="0"/>
          </a:p>
          <a:p>
            <a:pPr lvl="2"/>
            <a:r>
              <a:rPr lang="zh-TW" altLang="zh-TW" dirty="0"/>
              <a:t>例如</a:t>
            </a:r>
            <a:r>
              <a:rPr lang="en-US" altLang="zh-TW" dirty="0"/>
              <a:t>STATIC_URL=’/static/’</a:t>
            </a:r>
            <a:r>
              <a:rPr lang="zh-TW" altLang="zh-TW" dirty="0"/>
              <a:t>，也就是指定在網址中以</a:t>
            </a:r>
            <a:r>
              <a:rPr lang="en-US" altLang="zh-TW" dirty="0"/>
              <a:t>/static/</a:t>
            </a:r>
            <a:r>
              <a:rPr lang="zh-TW" altLang="zh-TW" dirty="0"/>
              <a:t>為開頭的網址就視為是要對靜態檔案進行讀取</a:t>
            </a:r>
          </a:p>
          <a:p>
            <a:pPr lvl="1"/>
            <a:r>
              <a:rPr lang="zh-TW" altLang="zh-TW" dirty="0"/>
              <a:t>設定</a:t>
            </a:r>
            <a:r>
              <a:rPr lang="en-US" altLang="zh-TW" dirty="0"/>
              <a:t>STATICFILES_DIRS</a:t>
            </a:r>
          </a:p>
          <a:p>
            <a:pPr lvl="2"/>
            <a:r>
              <a:rPr lang="zh-TW" altLang="zh-TW" dirty="0"/>
              <a:t>設定靜態檔案真正要放置的檔案位置。一般而言都會放在網站目錄下的</a:t>
            </a:r>
            <a:r>
              <a:rPr lang="en-US" altLang="zh-TW" dirty="0"/>
              <a:t>static</a:t>
            </a:r>
            <a:r>
              <a:rPr lang="zh-TW" altLang="zh-TW" dirty="0"/>
              <a:t>資料夾，所以都會以</a:t>
            </a:r>
            <a:r>
              <a:rPr lang="en-US" altLang="zh-TW" dirty="0"/>
              <a:t>BASE_DIR / 'static'</a:t>
            </a:r>
            <a:r>
              <a:rPr lang="zh-TW" altLang="zh-TW" dirty="0"/>
              <a:t>進行設定</a:t>
            </a:r>
          </a:p>
          <a:p>
            <a:pPr lvl="1"/>
            <a:r>
              <a:rPr lang="zh-TW" altLang="zh-TW" dirty="0"/>
              <a:t>在</a:t>
            </a:r>
            <a:r>
              <a:rPr lang="en-US" altLang="zh-TW" dirty="0">
                <a:solidFill>
                  <a:srgbClr val="FF0000"/>
                </a:solidFill>
              </a:rPr>
              <a:t>template</a:t>
            </a:r>
            <a:r>
              <a:rPr lang="zh-TW" altLang="zh-TW" dirty="0">
                <a:solidFill>
                  <a:srgbClr val="FF0000"/>
                </a:solidFill>
              </a:rPr>
              <a:t>檔案中使用</a:t>
            </a:r>
            <a:r>
              <a:rPr lang="zh-TW" altLang="zh-TW" dirty="0"/>
              <a:t>靜態檔的專用載入方式</a:t>
            </a:r>
            <a:r>
              <a:rPr lang="en-US" altLang="zh-TW" dirty="0"/>
              <a:t>({% load static %})</a:t>
            </a:r>
          </a:p>
          <a:p>
            <a:pPr marL="0" indent="0">
              <a:buNone/>
            </a:pPr>
            <a:r>
              <a:rPr lang="en-US" altLang="zh-TW" sz="1900" kern="100" dirty="0">
                <a:effectLst/>
                <a:latin typeface="Courier New" panose="02070309020205020404" pitchFamily="49" charset="0"/>
                <a:ea typeface="標楷體" panose="03000509000000000000" pitchFamily="65" charset="-120"/>
              </a:rPr>
              <a:t>STATIC_URL = 'static/'</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STATIC_ROOT = BASE_DIR / '</a:t>
            </a:r>
            <a:r>
              <a:rPr lang="en-US" altLang="zh-TW" sz="1900" kern="100" dirty="0" err="1">
                <a:solidFill>
                  <a:srgbClr val="FF0000"/>
                </a:solidFill>
                <a:effectLst/>
                <a:latin typeface="Courier New" panose="02070309020205020404" pitchFamily="49" charset="0"/>
                <a:ea typeface="標楷體" panose="03000509000000000000" pitchFamily="65" charset="-120"/>
              </a:rPr>
              <a:t>staticfiles</a:t>
            </a:r>
            <a:r>
              <a:rPr lang="en-US" altLang="zh-TW" sz="1900" kern="100" dirty="0">
                <a:solidFill>
                  <a:srgbClr val="FF0000"/>
                </a:solidFill>
                <a:effectLst/>
                <a:latin typeface="Courier New" panose="02070309020205020404" pitchFamily="49" charset="0"/>
                <a:ea typeface="標楷體" panose="03000509000000000000" pitchFamily="65" charset="-120"/>
              </a:rPr>
              <a: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STATICFILES_DIRS = [</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    BASE_DIR / ‘static’   #</a:t>
            </a:r>
            <a:r>
              <a:rPr lang="zh-TW" altLang="en-US" sz="1900" kern="100" dirty="0">
                <a:solidFill>
                  <a:srgbClr val="FF0000"/>
                </a:solidFill>
                <a:effectLst/>
                <a:latin typeface="Courier New" panose="02070309020205020404" pitchFamily="49" charset="0"/>
                <a:ea typeface="標楷體" panose="03000509000000000000" pitchFamily="65" charset="-120"/>
              </a:rPr>
              <a:t>從這目錄下</a:t>
            </a:r>
            <a:r>
              <a:rPr lang="en-US" altLang="zh-TW" sz="1900" kern="100" dirty="0">
                <a:solidFill>
                  <a:srgbClr val="FF0000"/>
                </a:solidFill>
                <a:effectLst/>
                <a:latin typeface="Courier New" panose="02070309020205020404" pitchFamily="49" charset="0"/>
                <a:ea typeface="標楷體" panose="03000509000000000000" pitchFamily="65" charset="-120"/>
              </a:rPr>
              <a:t>copy</a:t>
            </a:r>
            <a:r>
              <a:rPr lang="zh-TW" altLang="en-US" sz="1900" kern="100" dirty="0">
                <a:solidFill>
                  <a:srgbClr val="FF0000"/>
                </a:solidFill>
                <a:effectLst/>
                <a:latin typeface="Courier New" panose="02070309020205020404" pitchFamily="49" charset="0"/>
                <a:ea typeface="標楷體" panose="03000509000000000000" pitchFamily="65" charset="-120"/>
              </a:rPr>
              <a:t>檔案到</a:t>
            </a:r>
            <a:r>
              <a:rPr lang="en-US" altLang="zh-TW" sz="1900" kern="100" dirty="0">
                <a:solidFill>
                  <a:srgbClr val="FF0000"/>
                </a:solidFill>
                <a:effectLst/>
                <a:latin typeface="Courier New" panose="02070309020205020404" pitchFamily="49" charset="0"/>
                <a:ea typeface="標楷體" panose="03000509000000000000" pitchFamily="65" charset="-120"/>
              </a:rPr>
              <a:t>STATIC_ROOT</a:t>
            </a:r>
            <a:r>
              <a:rPr lang="zh-TW" altLang="en-US" sz="1900" kern="100" dirty="0">
                <a:solidFill>
                  <a:srgbClr val="FF0000"/>
                </a:solidFill>
                <a:effectLst/>
                <a:latin typeface="Courier New" panose="02070309020205020404" pitchFamily="49" charset="0"/>
                <a:ea typeface="標楷體" panose="03000509000000000000" pitchFamily="65" charset="-120"/>
              </a:rPr>
              <a:t>目錄</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730971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29860" y="358945"/>
            <a:ext cx="8534400" cy="758952"/>
          </a:xfrm>
        </p:spPr>
        <p:txBody>
          <a:bodyPr>
            <a:normAutofit fontScale="90000"/>
          </a:bodyPr>
          <a:lstStyle/>
          <a:p>
            <a:r>
              <a:rPr lang="zh-TW" altLang="zh-TW" dirty="0"/>
              <a:t>本範例網站的目錄結構</a:t>
            </a:r>
            <a:br>
              <a:rPr lang="en-US" altLang="zh-TW" dirty="0"/>
            </a:br>
            <a:r>
              <a:rPr lang="en-US" altLang="zh-TW" dirty="0"/>
              <a:t>python manage.py </a:t>
            </a:r>
            <a:r>
              <a:rPr lang="en-US" altLang="zh-TW" dirty="0" err="1"/>
              <a:t>collectstatic</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41</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fontScale="47500" lnSpcReduction="20000"/>
          </a:bodyPr>
          <a:lstStyle/>
          <a:p>
            <a:pPr marL="0" indent="0">
              <a:buNone/>
            </a:pPr>
            <a:r>
              <a:rPr lang="en-US" altLang="zh-TW" sz="2500" kern="100" dirty="0">
                <a:effectLst/>
                <a:latin typeface="Courier New" panose="02070309020205020404" pitchFamily="49" charset="0"/>
                <a:ea typeface="標楷體" panose="03000509000000000000" pitchFamily="65" charset="-120"/>
              </a:rPr>
              <a:t>(dj4ch04) D:\projects\dj4book\dj4ch06&gt;tree</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列出磁碟區</a:t>
            </a:r>
            <a:r>
              <a:rPr lang="en-US" altLang="zh-TW" sz="2500" kern="100" dirty="0">
                <a:effectLst/>
                <a:latin typeface="Courier New" panose="02070309020205020404" pitchFamily="49" charset="0"/>
                <a:ea typeface="標楷體" panose="03000509000000000000" pitchFamily="65" charset="-120"/>
              </a:rPr>
              <a:t> Data </a:t>
            </a:r>
            <a:r>
              <a:rPr lang="zh-TW" altLang="zh-TW" sz="2500" kern="100" dirty="0">
                <a:effectLst/>
                <a:latin typeface="Courier New" panose="02070309020205020404" pitchFamily="49" charset="0"/>
                <a:ea typeface="標楷體" panose="03000509000000000000" pitchFamily="65" charset="-120"/>
              </a:rPr>
              <a:t>的資料夾</a:t>
            </a:r>
            <a:r>
              <a:rPr lang="en-US" altLang="zh-TW" sz="2500" kern="100" dirty="0">
                <a:effectLst/>
                <a:latin typeface="Courier New" panose="02070309020205020404" pitchFamily="49" charset="0"/>
                <a:ea typeface="標楷體" panose="03000509000000000000" pitchFamily="65" charset="-120"/>
              </a:rPr>
              <a:t> PATH</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磁碟區序號為</a:t>
            </a:r>
            <a:r>
              <a:rPr lang="en-US" altLang="zh-TW" sz="2500" kern="100" dirty="0">
                <a:effectLst/>
                <a:latin typeface="Courier New" panose="02070309020205020404" pitchFamily="49" charset="0"/>
                <a:ea typeface="標楷體" panose="03000509000000000000" pitchFamily="65" charset="-120"/>
              </a:rPr>
              <a:t> E2B3-EFA1</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D:.</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dj4ch06</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solidFill>
                  <a:schemeClr val="accent1"/>
                </a:solidFill>
                <a:effectLst/>
                <a:latin typeface="Courier New" panose="02070309020205020404" pitchFamily="49" charset="0"/>
                <a:ea typeface="標楷體" panose="03000509000000000000" pitchFamily="65" charset="-120"/>
              </a:rPr>
              <a:t>mysite</a:t>
            </a:r>
            <a:endParaRPr lang="zh-TW" altLang="zh-TW" sz="2500" kern="100" dirty="0">
              <a:solidFill>
                <a:schemeClr val="accent1"/>
              </a:solidFill>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migrations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templates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solidFill>
                  <a:schemeClr val="accent1"/>
                </a:solidFill>
                <a:effectLst/>
                <a:latin typeface="Courier New" panose="02070309020205020404" pitchFamily="49" charset="0"/>
                <a:ea typeface="標楷體" panose="03000509000000000000" pitchFamily="65" charset="-120"/>
              </a:rPr>
              <a:t>static</a:t>
            </a:r>
            <a:endParaRPr lang="zh-TW" altLang="zh-TW" sz="2500" kern="100" dirty="0">
              <a:solidFill>
                <a:schemeClr val="accent1"/>
              </a:solidFill>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images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solidFill>
                  <a:schemeClr val="accent1"/>
                </a:solidFill>
                <a:effectLst/>
                <a:latin typeface="Courier New" panose="02070309020205020404" pitchFamily="49" charset="0"/>
                <a:ea typeface="標楷體" panose="03000509000000000000" pitchFamily="65" charset="-120"/>
              </a:rPr>
              <a:t>staticfiles</a:t>
            </a:r>
            <a:endParaRPr lang="zh-TW" altLang="zh-TW" sz="2500" kern="100" dirty="0">
              <a:solidFill>
                <a:schemeClr val="accent1"/>
              </a:solidFill>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admin</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css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vendor</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select2</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fonts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img</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gis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js</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admin</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vendor</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jquery</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select2</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i18n</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err="1">
                <a:effectLst/>
                <a:latin typeface="Courier New" panose="02070309020205020404" pitchFamily="49" charset="0"/>
                <a:ea typeface="標楷體" panose="03000509000000000000" pitchFamily="65" charset="-120"/>
              </a:rPr>
              <a:t>xregexp</a:t>
            </a:r>
            <a:endParaRPr lang="zh-TW" altLang="zh-TW" sz="2500" kern="100" dirty="0">
              <a:effectLst/>
              <a:latin typeface="Courier New" panose="02070309020205020404" pitchFamily="49" charset="0"/>
              <a:ea typeface="標楷體" panose="03000509000000000000" pitchFamily="65" charset="-120"/>
            </a:endParaRPr>
          </a:p>
          <a:p>
            <a:pPr marL="0" indent="0">
              <a:buNone/>
            </a:pPr>
            <a:r>
              <a:rPr lang="en-US" altLang="zh-TW" sz="2500" kern="100" dirty="0">
                <a:effectLst/>
                <a:latin typeface="Courier New" panose="02070309020205020404" pitchFamily="49" charset="0"/>
                <a:ea typeface="標楷體" panose="03000509000000000000" pitchFamily="65" charset="-120"/>
              </a:rPr>
              <a:t>    </a:t>
            </a:r>
            <a:r>
              <a:rPr lang="zh-TW" altLang="zh-TW" sz="2500" kern="100" dirty="0">
                <a:effectLst/>
                <a:latin typeface="Courier New" panose="02070309020205020404" pitchFamily="49" charset="0"/>
                <a:ea typeface="標楷體" panose="03000509000000000000" pitchFamily="65" charset="-120"/>
              </a:rPr>
              <a:t>└─</a:t>
            </a:r>
            <a:r>
              <a:rPr lang="en-US" altLang="zh-TW" sz="2500" kern="100" dirty="0">
                <a:effectLst/>
                <a:latin typeface="Courier New" panose="02070309020205020404" pitchFamily="49" charset="0"/>
                <a:ea typeface="標楷體" panose="03000509000000000000" pitchFamily="65" charset="-120"/>
              </a:rPr>
              <a:t>images</a:t>
            </a:r>
            <a:endParaRPr lang="zh-TW" altLang="zh-TW" sz="2500" kern="100" dirty="0">
              <a:effectLst/>
              <a:latin typeface="Courier New" panose="02070309020205020404" pitchFamily="49" charset="0"/>
              <a:ea typeface="標楷體" panose="03000509000000000000" pitchFamily="65" charset="-120"/>
            </a:endParaRPr>
          </a:p>
          <a:p>
            <a:pPr lvl="1"/>
            <a:endParaRPr lang="zh-TW" altLang="zh-TW" dirty="0"/>
          </a:p>
        </p:txBody>
      </p:sp>
    </p:spTree>
    <p:extLst>
      <p:ext uri="{BB962C8B-B14F-4D97-AF65-F5344CB8AC3E}">
        <p14:creationId xmlns:p14="http://schemas.microsoft.com/office/powerpoint/2010/main" val="345686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42</a:t>
            </a:fld>
            <a:endParaRPr lang="zh-TW" altLang="en-US"/>
          </a:p>
        </p:txBody>
      </p:sp>
      <p:sp>
        <p:nvSpPr>
          <p:cNvPr id="4" name="內容版面配置區 3"/>
          <p:cNvSpPr>
            <a:spLocks noGrp="1"/>
          </p:cNvSpPr>
          <p:nvPr>
            <p:ph sz="quarter" idx="1"/>
          </p:nvPr>
        </p:nvSpPr>
        <p:spPr>
          <a:xfrm>
            <a:off x="301752" y="1527048"/>
            <a:ext cx="8662736" cy="4782272"/>
          </a:xfrm>
        </p:spPr>
        <p:txBody>
          <a:bodyPr/>
          <a:lstStyle/>
          <a:p>
            <a:r>
              <a:rPr lang="zh-TW" altLang="zh-TW" dirty="0"/>
              <a:t>例如放在</a:t>
            </a:r>
            <a:r>
              <a:rPr lang="en-US" altLang="zh-TW" dirty="0"/>
              <a:t>/images</a:t>
            </a:r>
            <a:r>
              <a:rPr lang="zh-TW" altLang="zh-TW" dirty="0"/>
              <a:t>資料夾之下的</a:t>
            </a:r>
            <a:r>
              <a:rPr lang="en-US" altLang="zh-TW" dirty="0"/>
              <a:t>logo.jpg</a:t>
            </a:r>
            <a:r>
              <a:rPr lang="zh-TW" altLang="zh-TW" dirty="0"/>
              <a:t>，在</a:t>
            </a:r>
            <a:r>
              <a:rPr lang="en-US" altLang="zh-TW" dirty="0"/>
              <a:t>Django</a:t>
            </a:r>
            <a:r>
              <a:rPr lang="zh-TW" altLang="zh-TW" dirty="0"/>
              <a:t>要使用以下的方式</a:t>
            </a:r>
            <a:endParaRPr lang="en-US" altLang="zh-TW" dirty="0"/>
          </a:p>
          <a:p>
            <a:r>
              <a:rPr lang="en-US" altLang="zh-TW" dirty="0"/>
              <a:t>{% load static %}</a:t>
            </a:r>
            <a:r>
              <a:rPr lang="zh-TW" altLang="en-US" dirty="0"/>
              <a:t>放在</a:t>
            </a:r>
            <a:r>
              <a:rPr lang="zh-TW" altLang="zh-TW" dirty="0"/>
              <a:t>整個</a:t>
            </a:r>
            <a:r>
              <a:rPr lang="zh-TW" altLang="zh-TW" dirty="0">
                <a:solidFill>
                  <a:srgbClr val="FF0000"/>
                </a:solidFill>
              </a:rPr>
              <a:t>檔案</a:t>
            </a:r>
            <a:r>
              <a:rPr lang="zh-TW" altLang="en-US" dirty="0">
                <a:solidFill>
                  <a:srgbClr val="FF0000"/>
                </a:solidFill>
              </a:rPr>
              <a:t>啟始處</a:t>
            </a:r>
            <a:endParaRPr lang="en-US" altLang="zh-TW" dirty="0">
              <a:solidFill>
                <a:srgbClr val="FF0000"/>
              </a:solidFill>
            </a:endParaRPr>
          </a:p>
          <a:p>
            <a:endParaRPr lang="zh-TW" altLang="zh-TW" dirty="0"/>
          </a:p>
          <a:p>
            <a:pPr marL="274320" lvl="1" indent="0">
              <a:buNone/>
            </a:pPr>
            <a:r>
              <a:rPr lang="en-US" altLang="zh-TW" dirty="0">
                <a:solidFill>
                  <a:srgbClr val="FF0000"/>
                </a:solidFill>
              </a:rPr>
              <a:t>{% load static %}</a:t>
            </a:r>
            <a:endParaRPr lang="zh-TW" altLang="zh-TW" dirty="0">
              <a:solidFill>
                <a:srgbClr val="FF0000"/>
              </a:solidFill>
            </a:endParaRPr>
          </a:p>
          <a:p>
            <a:pPr marL="274320" lvl="1" indent="0">
              <a:buNone/>
            </a:pPr>
            <a:r>
              <a:rPr lang="en-US" altLang="zh-TW" dirty="0"/>
              <a:t>&lt;</a:t>
            </a:r>
            <a:r>
              <a:rPr lang="en-US" altLang="zh-TW" dirty="0" err="1"/>
              <a:t>img</a:t>
            </a:r>
            <a:r>
              <a:rPr lang="en-US" altLang="zh-TW" dirty="0"/>
              <a:t> </a:t>
            </a:r>
            <a:r>
              <a:rPr lang="en-US" altLang="zh-TW" dirty="0" err="1"/>
              <a:t>src</a:t>
            </a:r>
            <a:r>
              <a:rPr lang="en-US" altLang="zh-TW" dirty="0"/>
              <a:t>="</a:t>
            </a:r>
            <a:r>
              <a:rPr lang="en-US" altLang="zh-TW" dirty="0">
                <a:solidFill>
                  <a:srgbClr val="FF0000"/>
                </a:solidFill>
              </a:rPr>
              <a:t>{% static "images/logo.png" %}</a:t>
            </a:r>
            <a:r>
              <a:rPr lang="en-US" altLang="zh-TW" dirty="0"/>
              <a:t>" width=60&gt;</a:t>
            </a:r>
            <a:endParaRPr lang="zh-TW" altLang="zh-TW" dirty="0"/>
          </a:p>
          <a:p>
            <a:endParaRPr lang="zh-TW" altLang="en-US" dirty="0"/>
          </a:p>
        </p:txBody>
      </p:sp>
    </p:spTree>
    <p:extLst>
      <p:ext uri="{BB962C8B-B14F-4D97-AF65-F5344CB8AC3E}">
        <p14:creationId xmlns:p14="http://schemas.microsoft.com/office/powerpoint/2010/main" val="113104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43</a:t>
            </a:fld>
            <a:endParaRPr lang="zh-TW" altLang="en-US"/>
          </a:p>
        </p:txBody>
      </p:sp>
      <p:sp>
        <p:nvSpPr>
          <p:cNvPr id="4" name="內容版面配置區 3"/>
          <p:cNvSpPr>
            <a:spLocks noGrp="1"/>
          </p:cNvSpPr>
          <p:nvPr>
            <p:ph sz="quarter" idx="1"/>
          </p:nvPr>
        </p:nvSpPr>
        <p:spPr/>
        <p:txBody>
          <a:bodyPr>
            <a:normAutofit/>
          </a:bodyPr>
          <a:lstStyle/>
          <a:p>
            <a:r>
              <a:rPr lang="zh-TW" altLang="zh-TW" dirty="0"/>
              <a:t>把</a:t>
            </a:r>
            <a:r>
              <a:rPr lang="en-US" altLang="zh-TW" dirty="0"/>
              <a:t>logo.png</a:t>
            </a:r>
            <a:r>
              <a:rPr lang="zh-TW" altLang="zh-TW" dirty="0"/>
              <a:t>放在</a:t>
            </a:r>
            <a:r>
              <a:rPr lang="en-US" altLang="zh-TW" dirty="0"/>
              <a:t>static/images</a:t>
            </a:r>
            <a:r>
              <a:rPr lang="zh-TW" altLang="zh-TW" dirty="0"/>
              <a:t>資料夾之內，接著再</a:t>
            </a:r>
            <a:r>
              <a:rPr lang="en-US" altLang="zh-TW" dirty="0"/>
              <a:t>index.html</a:t>
            </a:r>
            <a:r>
              <a:rPr lang="zh-TW" altLang="zh-TW" dirty="0"/>
              <a:t>中把這個</a:t>
            </a:r>
            <a:r>
              <a:rPr lang="en-US" altLang="zh-TW" dirty="0"/>
              <a:t>logo.png</a:t>
            </a:r>
            <a:r>
              <a:rPr lang="zh-TW" altLang="zh-TW" dirty="0"/>
              <a:t>加入到</a:t>
            </a:r>
            <a:r>
              <a:rPr lang="en-US" altLang="zh-TW" dirty="0"/>
              <a:t>Bootstrap</a:t>
            </a:r>
            <a:r>
              <a:rPr lang="zh-TW" altLang="zh-TW" dirty="0"/>
              <a:t>選單列的</a:t>
            </a:r>
            <a:r>
              <a:rPr lang="en-US" altLang="zh-TW" dirty="0" err="1"/>
              <a:t>navbar</a:t>
            </a:r>
            <a:r>
              <a:rPr lang="en-US" altLang="zh-TW" dirty="0"/>
              <a:t>-brand</a:t>
            </a:r>
            <a:r>
              <a:rPr lang="zh-TW" altLang="zh-TW" dirty="0"/>
              <a:t>中，如下所示：</a:t>
            </a:r>
            <a:endParaRPr lang="en-US" altLang="zh-TW" dirty="0"/>
          </a:p>
          <a:p>
            <a:endParaRPr lang="zh-TW" altLang="zh-TW" dirty="0"/>
          </a:p>
          <a:p>
            <a:pPr marL="0" indent="0">
              <a:buNone/>
            </a:pPr>
            <a:r>
              <a:rPr lang="en-US" altLang="zh-TW" sz="2000" kern="100" dirty="0">
                <a:effectLst/>
                <a:latin typeface="Courier New" panose="02070309020205020404" pitchFamily="49" charset="0"/>
                <a:ea typeface="標楷體" panose="03000509000000000000" pitchFamily="65" charset="-120"/>
              </a:rPr>
              <a:t>&lt;div class='navbar-header'&gt;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latin typeface="Courier New" panose="02070309020205020404" pitchFamily="49" charset="0"/>
                <a:ea typeface="標楷體" panose="03000509000000000000" pitchFamily="65" charset="-120"/>
              </a:rPr>
              <a:t>  </a:t>
            </a:r>
            <a:r>
              <a:rPr lang="en-US" altLang="zh-TW" sz="2000" kern="100" dirty="0">
                <a:effectLst/>
                <a:latin typeface="Courier New" panose="02070309020205020404" pitchFamily="49" charset="0"/>
                <a:ea typeface="標楷體" panose="03000509000000000000" pitchFamily="65" charset="-120"/>
              </a:rPr>
              <a:t>&lt;a class='navbar-brand' </a:t>
            </a:r>
            <a:r>
              <a:rPr lang="en-US" altLang="zh-TW" sz="2000" kern="100" dirty="0" err="1">
                <a:effectLst/>
                <a:latin typeface="Courier New" panose="02070309020205020404" pitchFamily="49" charset="0"/>
                <a:ea typeface="標楷體" panose="03000509000000000000" pitchFamily="65" charset="-120"/>
              </a:rPr>
              <a:t>href</a:t>
            </a:r>
            <a:r>
              <a:rPr lang="en-US" altLang="zh-TW" sz="2000" kern="100" dirty="0">
                <a:effectLst/>
                <a:latin typeface="Courier New" panose="02070309020205020404" pitchFamily="49" charset="0"/>
                <a:ea typeface="標楷體" panose="03000509000000000000" pitchFamily="65" charset="-120"/>
              </a:rPr>
              <a:t>='#'&gt;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solidFill>
                  <a:srgbClr val="FF0000"/>
                </a:solidFill>
                <a:latin typeface="Courier New" panose="02070309020205020404" pitchFamily="49" charset="0"/>
                <a:ea typeface="標楷體" panose="03000509000000000000" pitchFamily="65" charset="-120"/>
              </a:rPr>
              <a:t>    </a:t>
            </a:r>
            <a:r>
              <a:rPr lang="en-US" altLang="zh-TW" sz="2000" kern="100" dirty="0">
                <a:solidFill>
                  <a:srgbClr val="FF0000"/>
                </a:solidFill>
                <a:effectLst/>
                <a:latin typeface="Courier New" panose="02070309020205020404" pitchFamily="49" charset="0"/>
                <a:ea typeface="標楷體" panose="03000509000000000000" pitchFamily="65" charset="-120"/>
              </a:rPr>
              <a:t>{% load static %}</a:t>
            </a:r>
            <a:endParaRPr lang="zh-TW" altLang="zh-TW" sz="20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000" kern="100" dirty="0">
                <a:solidFill>
                  <a:srgbClr val="FF0000"/>
                </a:solidFill>
                <a:latin typeface="Courier New" panose="02070309020205020404" pitchFamily="49" charset="0"/>
                <a:ea typeface="標楷體" panose="03000509000000000000" pitchFamily="65" charset="-120"/>
              </a:rPr>
              <a:t>   </a:t>
            </a:r>
            <a:r>
              <a:rPr lang="en-US" altLang="zh-TW" sz="2000" kern="100" dirty="0">
                <a:solidFill>
                  <a:srgbClr val="FF0000"/>
                </a:solidFill>
                <a:effectLst/>
                <a:latin typeface="Courier New" panose="02070309020205020404" pitchFamily="49" charset="0"/>
                <a:ea typeface="標楷體" panose="03000509000000000000" pitchFamily="65" charset="-120"/>
              </a:rPr>
              <a:t>&lt;</a:t>
            </a:r>
            <a:r>
              <a:rPr lang="en-US" altLang="zh-TW" sz="2000" kern="100" dirty="0" err="1">
                <a:solidFill>
                  <a:srgbClr val="FF0000"/>
                </a:solidFill>
                <a:effectLst/>
                <a:latin typeface="Courier New" panose="02070309020205020404" pitchFamily="49" charset="0"/>
                <a:ea typeface="標楷體" panose="03000509000000000000" pitchFamily="65" charset="-120"/>
              </a:rPr>
              <a:t>img</a:t>
            </a:r>
            <a:r>
              <a:rPr lang="en-US" altLang="zh-TW" sz="2000" kern="100" dirty="0">
                <a:solidFill>
                  <a:srgbClr val="FF0000"/>
                </a:solidFill>
                <a:effectLst/>
                <a:latin typeface="Courier New" panose="02070309020205020404" pitchFamily="49" charset="0"/>
                <a:ea typeface="標楷體" panose="03000509000000000000" pitchFamily="65" charset="-120"/>
              </a:rPr>
              <a:t> </a:t>
            </a:r>
            <a:r>
              <a:rPr lang="en-US" altLang="zh-TW" sz="2000" kern="100" dirty="0" err="1">
                <a:solidFill>
                  <a:srgbClr val="FF0000"/>
                </a:solidFill>
                <a:effectLst/>
                <a:latin typeface="Courier New" panose="02070309020205020404" pitchFamily="49" charset="0"/>
                <a:ea typeface="標楷體" panose="03000509000000000000" pitchFamily="65" charset="-120"/>
              </a:rPr>
              <a:t>src</a:t>
            </a:r>
            <a:r>
              <a:rPr lang="en-US" altLang="zh-TW" sz="2000" kern="100" dirty="0">
                <a:solidFill>
                  <a:srgbClr val="FF0000"/>
                </a:solidFill>
                <a:effectLst/>
                <a:latin typeface="Courier New" panose="02070309020205020404" pitchFamily="49" charset="0"/>
                <a:ea typeface="標楷體" panose="03000509000000000000" pitchFamily="65" charset="-120"/>
              </a:rPr>
              <a:t>="{% static 'images/logo.png' %}" width=60&gt;</a:t>
            </a:r>
            <a:endParaRPr lang="zh-TW" altLang="zh-TW" sz="20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000" kern="100" dirty="0">
                <a:latin typeface="Courier New" panose="02070309020205020404" pitchFamily="49" charset="0"/>
                <a:ea typeface="標楷體" panose="03000509000000000000" pitchFamily="65" charset="-120"/>
              </a:rPr>
              <a:t>    </a:t>
            </a:r>
            <a:r>
              <a:rPr lang="zh-TW" altLang="zh-TW" sz="2000" kern="100" dirty="0">
                <a:effectLst/>
                <a:latin typeface="Courier New" panose="02070309020205020404" pitchFamily="49" charset="0"/>
                <a:ea typeface="標楷體" panose="03000509000000000000" pitchFamily="65" charset="-120"/>
              </a:rPr>
              <a:t>現正播出</a:t>
            </a:r>
            <a:r>
              <a:rPr lang="en-US" altLang="zh-TW" sz="2000" kern="100" dirty="0">
                <a:effectLst/>
                <a:latin typeface="Courier New" panose="02070309020205020404" pitchFamily="49" charset="0"/>
                <a:ea typeface="標楷體" panose="03000509000000000000" pitchFamily="65" charset="-120"/>
              </a:rPr>
              <a:t>{{tv.name}}&lt;/a&gt;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&lt;/div&gt;</a:t>
            </a:r>
            <a:endParaRPr lang="zh-TW" altLang="zh-TW" sz="20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26236915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直播電視網站應用範例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4" name="內容版面配置區 3"/>
          <p:cNvSpPr>
            <a:spLocks noGrp="1"/>
          </p:cNvSpPr>
          <p:nvPr>
            <p:ph sz="quarter" idx="1"/>
          </p:nvPr>
        </p:nvSpPr>
        <p:spPr/>
        <p:txBody>
          <a:bodyPr/>
          <a:lstStyle/>
          <a:p>
            <a:r>
              <a:rPr lang="zh-TW" altLang="zh-TW" dirty="0"/>
              <a:t>加上圖形</a:t>
            </a:r>
            <a:r>
              <a:rPr lang="en-US" altLang="zh-TW" dirty="0"/>
              <a:t>logo</a:t>
            </a:r>
            <a:r>
              <a:rPr lang="zh-TW" altLang="zh-TW" dirty="0"/>
              <a:t>的範例網站執行畫面</a:t>
            </a:r>
            <a:endParaRPr lang="zh-TW" altLang="en-US" dirty="0"/>
          </a:p>
        </p:txBody>
      </p:sp>
      <p:pic>
        <p:nvPicPr>
          <p:cNvPr id="6" name="圖片 5">
            <a:extLst>
              <a:ext uri="{FF2B5EF4-FFF2-40B4-BE49-F238E27FC236}">
                <a16:creationId xmlns:a16="http://schemas.microsoft.com/office/drawing/2014/main" id="{77EC5F84-6BE4-734A-B2FD-E2CFC76110A1}"/>
              </a:ext>
            </a:extLst>
          </p:cNvPr>
          <p:cNvPicPr>
            <a:picLocks noChangeAspect="1"/>
          </p:cNvPicPr>
          <p:nvPr/>
        </p:nvPicPr>
        <p:blipFill>
          <a:blip r:embed="rId2"/>
          <a:stretch>
            <a:fillRect/>
          </a:stretch>
        </p:blipFill>
        <p:spPr>
          <a:xfrm>
            <a:off x="1115616" y="2176233"/>
            <a:ext cx="6696744" cy="3885354"/>
          </a:xfrm>
          <a:prstGeom prst="rect">
            <a:avLst/>
          </a:prstGeom>
        </p:spPr>
      </p:pic>
    </p:spTree>
    <p:extLst>
      <p:ext uri="{BB962C8B-B14F-4D97-AF65-F5344CB8AC3E}">
        <p14:creationId xmlns:p14="http://schemas.microsoft.com/office/powerpoint/2010/main" val="3848207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進階</a:t>
            </a:r>
            <a:r>
              <a:rPr lang="en-US" altLang="zh-TW" dirty="0"/>
              <a:t>Template</a:t>
            </a:r>
            <a:r>
              <a:rPr lang="zh-TW" altLang="zh-TW" dirty="0"/>
              <a:t>技巧</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45</a:t>
            </a:fld>
            <a:endParaRPr lang="zh-TW" altLang="en-US"/>
          </a:p>
        </p:txBody>
      </p:sp>
      <p:sp>
        <p:nvSpPr>
          <p:cNvPr id="4" name="內容版面配置區 3"/>
          <p:cNvSpPr>
            <a:spLocks noGrp="1"/>
          </p:cNvSpPr>
          <p:nvPr>
            <p:ph sz="quarter" idx="1"/>
          </p:nvPr>
        </p:nvSpPr>
        <p:spPr/>
        <p:txBody>
          <a:bodyPr/>
          <a:lstStyle/>
          <a:p>
            <a:r>
              <a:rPr lang="en-US" altLang="zh-TW" dirty="0"/>
              <a:t>Template</a:t>
            </a:r>
            <a:r>
              <a:rPr lang="zh-TW" altLang="zh-TW" dirty="0"/>
              <a:t>本身提供了繼承的用法，使得大型的網站不用把每一個</a:t>
            </a:r>
            <a:r>
              <a:rPr lang="en-US" altLang="zh-TW" dirty="0"/>
              <a:t>.html</a:t>
            </a:r>
            <a:r>
              <a:rPr lang="zh-TW" altLang="zh-TW" dirty="0"/>
              <a:t>檔都弄到很大，只要把一些共用的資訊放在基礎的</a:t>
            </a:r>
            <a:r>
              <a:rPr lang="en-US" altLang="zh-TW" dirty="0"/>
              <a:t>template</a:t>
            </a:r>
            <a:r>
              <a:rPr lang="zh-TW" altLang="zh-TW" dirty="0"/>
              <a:t>中，然後在別的</a:t>
            </a:r>
            <a:r>
              <a:rPr lang="en-US" altLang="zh-TW" dirty="0"/>
              <a:t>.html</a:t>
            </a:r>
            <a:r>
              <a:rPr lang="zh-TW" altLang="zh-TW" dirty="0"/>
              <a:t>檔案中加上引用即可。</a:t>
            </a:r>
            <a:endParaRPr lang="en-US" altLang="zh-TW" dirty="0"/>
          </a:p>
          <a:p>
            <a:r>
              <a:rPr lang="zh-TW" altLang="zh-TW" dirty="0"/>
              <a:t>這樣做的好處不只讓每一個檔案變得比較簡單好管理，同時</a:t>
            </a:r>
            <a:r>
              <a:rPr lang="zh-TW" altLang="zh-TW" dirty="0">
                <a:solidFill>
                  <a:schemeClr val="accent1"/>
                </a:solidFill>
              </a:rPr>
              <a:t>如果有一些共通的資訊需要修改的話，只要改一個檔案即等於套用到所有引用到此檔案的</a:t>
            </a:r>
            <a:r>
              <a:rPr lang="en-US" altLang="zh-TW" dirty="0">
                <a:solidFill>
                  <a:schemeClr val="accent1"/>
                </a:solidFill>
              </a:rPr>
              <a:t>.html</a:t>
            </a:r>
            <a:r>
              <a:rPr lang="zh-TW" altLang="zh-TW" dirty="0">
                <a:solidFill>
                  <a:schemeClr val="accent1"/>
                </a:solidFill>
              </a:rPr>
              <a:t>檔案</a:t>
            </a:r>
            <a:r>
              <a:rPr lang="zh-TW" altLang="zh-TW" dirty="0"/>
              <a:t>，不至於產生資訊不同步的問題。</a:t>
            </a:r>
          </a:p>
        </p:txBody>
      </p:sp>
    </p:spTree>
    <p:extLst>
      <p:ext uri="{BB962C8B-B14F-4D97-AF65-F5344CB8AC3E}">
        <p14:creationId xmlns:p14="http://schemas.microsoft.com/office/powerpoint/2010/main" val="1258554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46</a:t>
            </a:fld>
            <a:endParaRPr lang="zh-TW" altLang="en-US"/>
          </a:p>
        </p:txBody>
      </p:sp>
      <p:sp>
        <p:nvSpPr>
          <p:cNvPr id="4" name="內容版面配置區 3"/>
          <p:cNvSpPr>
            <a:spLocks noGrp="1"/>
          </p:cNvSpPr>
          <p:nvPr>
            <p:ph sz="quarter" idx="1"/>
          </p:nvPr>
        </p:nvSpPr>
        <p:spPr/>
        <p:txBody>
          <a:bodyPr/>
          <a:lstStyle/>
          <a:p>
            <a:r>
              <a:rPr lang="en-US" altLang="zh-TW" dirty="0"/>
              <a:t>Template</a:t>
            </a:r>
            <a:r>
              <a:rPr lang="zh-TW" altLang="zh-TW" dirty="0"/>
              <a:t>的繼承與引入的關係的功能主要的原因是</a:t>
            </a:r>
            <a:endParaRPr lang="en-US" altLang="zh-TW" dirty="0"/>
          </a:p>
          <a:p>
            <a:pPr lvl="1"/>
            <a:r>
              <a:rPr lang="zh-TW" altLang="en-US" dirty="0"/>
              <a:t>網站中大部份的排版設計都是由幾個固定的部份構成</a:t>
            </a:r>
            <a:endParaRPr lang="en-US" altLang="zh-TW" dirty="0"/>
          </a:p>
          <a:p>
            <a:r>
              <a:rPr lang="zh-TW" altLang="zh-TW" dirty="0"/>
              <a:t>一個網頁，基本上可以看成由頁首、內容、以及頁腳三者所構成</a:t>
            </a:r>
            <a:endParaRPr lang="en-US" altLang="zh-TW" dirty="0"/>
          </a:p>
          <a:p>
            <a:r>
              <a:rPr lang="zh-TW" altLang="zh-TW" dirty="0"/>
              <a:t>設計一個</a:t>
            </a:r>
            <a:r>
              <a:rPr lang="en-US" altLang="zh-TW" dirty="0"/>
              <a:t>base.html</a:t>
            </a:r>
            <a:r>
              <a:rPr lang="zh-TW" altLang="zh-TW" dirty="0"/>
              <a:t>的基礎檔案，放置一些</a:t>
            </a:r>
            <a:r>
              <a:rPr lang="zh-TW" altLang="zh-TW" dirty="0">
                <a:solidFill>
                  <a:srgbClr val="FF0000"/>
                </a:solidFill>
              </a:rPr>
              <a:t>固定不變</a:t>
            </a:r>
            <a:r>
              <a:rPr lang="zh-TW" altLang="zh-TW" dirty="0"/>
              <a:t>的</a:t>
            </a:r>
            <a:r>
              <a:rPr lang="en-US" altLang="zh-TW" dirty="0"/>
              <a:t>HTML</a:t>
            </a:r>
            <a:r>
              <a:rPr lang="zh-TW" altLang="zh-TW" dirty="0"/>
              <a:t>網頁碼的部份，</a:t>
            </a:r>
            <a:r>
              <a:rPr lang="zh-TW" altLang="zh-TW" dirty="0">
                <a:solidFill>
                  <a:srgbClr val="FF0000"/>
                </a:solidFill>
              </a:rPr>
              <a:t>會做改變的內容</a:t>
            </a:r>
            <a:r>
              <a:rPr lang="zh-TW" altLang="zh-TW" dirty="0"/>
              <a:t>，則使用</a:t>
            </a:r>
            <a:r>
              <a:rPr lang="en-US" altLang="zh-TW" dirty="0"/>
              <a:t>{% block name %}{% </a:t>
            </a:r>
            <a:r>
              <a:rPr lang="en-US" altLang="zh-TW" dirty="0" err="1"/>
              <a:t>endblock</a:t>
            </a:r>
            <a:r>
              <a:rPr lang="en-US" altLang="zh-TW" dirty="0"/>
              <a:t> %}</a:t>
            </a:r>
            <a:r>
              <a:rPr lang="zh-TW" altLang="zh-TW" dirty="0"/>
              <a:t>做註記</a:t>
            </a:r>
            <a:endParaRPr lang="zh-TW" altLang="en-US" dirty="0"/>
          </a:p>
        </p:txBody>
      </p:sp>
    </p:spTree>
    <p:extLst>
      <p:ext uri="{BB962C8B-B14F-4D97-AF65-F5344CB8AC3E}">
        <p14:creationId xmlns:p14="http://schemas.microsoft.com/office/powerpoint/2010/main" val="3936476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47</a:t>
            </a:fld>
            <a:endParaRPr lang="zh-TW" altLang="en-US"/>
          </a:p>
        </p:txBody>
      </p:sp>
      <p:sp>
        <p:nvSpPr>
          <p:cNvPr id="4" name="內容版面配置區 3"/>
          <p:cNvSpPr>
            <a:spLocks noGrp="1"/>
          </p:cNvSpPr>
          <p:nvPr>
            <p:ph sz="quarter" idx="1"/>
          </p:nvPr>
        </p:nvSpPr>
        <p:spPr>
          <a:xfrm>
            <a:off x="301752" y="1527048"/>
            <a:ext cx="8590728" cy="5070304"/>
          </a:xfrm>
        </p:spPr>
        <p:txBody>
          <a:bodyPr>
            <a:normAutofit lnSpcReduction="10000"/>
          </a:bodyPr>
          <a:lstStyle/>
          <a:p>
            <a:r>
              <a:rPr lang="zh-TW" altLang="en-US" dirty="0"/>
              <a:t>修改</a:t>
            </a:r>
            <a:r>
              <a:rPr lang="zh-TW" altLang="zh-TW" dirty="0"/>
              <a:t>以上一節的直播新聞網站</a:t>
            </a:r>
            <a:r>
              <a:rPr lang="zh-TW" altLang="en-US" dirty="0"/>
              <a:t>，</a:t>
            </a:r>
            <a:r>
              <a:rPr lang="zh-TW" altLang="zh-TW" dirty="0"/>
              <a:t>先把</a:t>
            </a:r>
            <a:r>
              <a:rPr lang="en-US" altLang="zh-TW" dirty="0"/>
              <a:t>index.html</a:t>
            </a:r>
            <a:r>
              <a:rPr lang="zh-TW" altLang="zh-TW" dirty="0"/>
              <a:t>轉換成</a:t>
            </a:r>
            <a:r>
              <a:rPr lang="en-US" altLang="zh-TW" dirty="0"/>
              <a:t>base.html</a:t>
            </a:r>
            <a:r>
              <a:rPr lang="zh-TW" altLang="zh-TW" dirty="0"/>
              <a:t>，如下所示</a:t>
            </a:r>
            <a:r>
              <a:rPr lang="zh-TW" altLang="en-US" dirty="0"/>
              <a:t>：</a:t>
            </a:r>
            <a:endParaRPr lang="en-US" altLang="zh-TW" dirty="0"/>
          </a:p>
          <a:p>
            <a:pPr marL="274320" lvl="1" indent="0">
              <a:buNone/>
            </a:pPr>
            <a:r>
              <a:rPr lang="en-US" altLang="zh-TW" dirty="0"/>
              <a:t>&lt;!-- base.html (ch06 project) --&gt;</a:t>
            </a:r>
          </a:p>
          <a:p>
            <a:pPr marL="274320" lvl="1" indent="0">
              <a:buNone/>
            </a:pPr>
            <a:r>
              <a:rPr lang="en-US" altLang="zh-TW" dirty="0"/>
              <a:t>&lt;!DOCTYPE html&gt;</a:t>
            </a:r>
          </a:p>
          <a:p>
            <a:pPr marL="274320" lvl="1" indent="0">
              <a:buNone/>
            </a:pPr>
            <a:r>
              <a:rPr lang="en-US" altLang="zh-TW" dirty="0"/>
              <a:t>&lt;html&gt;</a:t>
            </a:r>
          </a:p>
          <a:p>
            <a:pPr marL="274320" lvl="1" indent="0">
              <a:buNone/>
            </a:pPr>
            <a:r>
              <a:rPr lang="en-US" altLang="zh-TW" dirty="0"/>
              <a:t>&lt;head&gt;</a:t>
            </a:r>
          </a:p>
          <a:p>
            <a:pPr marL="274320" lvl="1" indent="0">
              <a:buNone/>
            </a:pPr>
            <a:r>
              <a:rPr lang="en-US" altLang="zh-TW" dirty="0"/>
              <a:t>    &lt;meta charset='utf-8'&gt;</a:t>
            </a:r>
          </a:p>
          <a:p>
            <a:pPr marL="274320" lvl="1" indent="0">
              <a:buNone/>
            </a:pPr>
            <a:r>
              <a:rPr lang="en-US" altLang="zh-TW" dirty="0"/>
              <a:t>    &lt;title&gt;</a:t>
            </a:r>
            <a:r>
              <a:rPr lang="en-US" altLang="zh-TW" dirty="0">
                <a:solidFill>
                  <a:srgbClr val="FF0000"/>
                </a:solidFill>
              </a:rPr>
              <a:t>{% block title %}{% </a:t>
            </a:r>
            <a:r>
              <a:rPr lang="en-US" altLang="zh-TW" dirty="0" err="1">
                <a:solidFill>
                  <a:srgbClr val="FF0000"/>
                </a:solidFill>
              </a:rPr>
              <a:t>endblock</a:t>
            </a:r>
            <a:r>
              <a:rPr lang="en-US" altLang="zh-TW" dirty="0">
                <a:solidFill>
                  <a:srgbClr val="FF0000"/>
                </a:solidFill>
              </a:rPr>
              <a:t> %}</a:t>
            </a:r>
            <a:r>
              <a:rPr lang="en-US" altLang="zh-TW" dirty="0"/>
              <a:t>&lt;/title&gt;</a:t>
            </a:r>
          </a:p>
          <a:p>
            <a:pPr marL="274320" lvl="1" indent="0">
              <a:buNone/>
            </a:pPr>
            <a:r>
              <a:rPr lang="en-US" altLang="zh-TW" dirty="0"/>
              <a:t>&lt;!-- Latest compiled and minified CSS --&gt;</a:t>
            </a:r>
          </a:p>
          <a:p>
            <a:pPr marL="274320" lvl="1" indent="0">
              <a:buNone/>
            </a:pPr>
            <a:r>
              <a:rPr lang="en-US" altLang="zh-TW" dirty="0"/>
              <a:t>&lt;link </a:t>
            </a:r>
            <a:r>
              <a:rPr lang="en-US" altLang="zh-TW" dirty="0" err="1"/>
              <a:t>rel</a:t>
            </a:r>
            <a:r>
              <a:rPr lang="en-US" altLang="zh-TW" dirty="0"/>
              <a:t>="stylesheet" </a:t>
            </a:r>
            <a:r>
              <a:rPr lang="en-US" altLang="zh-TW" dirty="0" err="1"/>
              <a:t>href</a:t>
            </a:r>
            <a:r>
              <a:rPr lang="en-US" altLang="zh-TW" dirty="0"/>
              <a:t>="https://maxcdn.bootstrapcdn.com/bootstrap/3.3.6/</a:t>
            </a:r>
            <a:r>
              <a:rPr lang="en-US" altLang="zh-TW" dirty="0" err="1"/>
              <a:t>css</a:t>
            </a:r>
            <a:r>
              <a:rPr lang="en-US" altLang="zh-TW" dirty="0"/>
              <a:t>/bootstrap.min.css" integrity="sha384-1q8mTJOASx8j1Au+a5WDVnPi2lkFfwwEAa8hDDdjZlpLegxhjVME1fgjWPGmkzs7" </a:t>
            </a:r>
            <a:r>
              <a:rPr lang="en-US" altLang="zh-TW" dirty="0" err="1"/>
              <a:t>crossorigin</a:t>
            </a:r>
            <a:r>
              <a:rPr lang="en-US" altLang="zh-TW" dirty="0"/>
              <a:t>="anonymous"&gt;</a:t>
            </a:r>
          </a:p>
          <a:p>
            <a:pPr lvl="1"/>
            <a:endParaRPr lang="en-US" altLang="zh-TW" dirty="0"/>
          </a:p>
          <a:p>
            <a:pPr lvl="1"/>
            <a:endParaRPr lang="zh-TW" altLang="en-US" dirty="0"/>
          </a:p>
        </p:txBody>
      </p:sp>
    </p:spTree>
    <p:extLst>
      <p:ext uri="{BB962C8B-B14F-4D97-AF65-F5344CB8AC3E}">
        <p14:creationId xmlns:p14="http://schemas.microsoft.com/office/powerpoint/2010/main" val="1317493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內容版面配置區 3"/>
          <p:cNvSpPr>
            <a:spLocks noGrp="1"/>
          </p:cNvSpPr>
          <p:nvPr>
            <p:ph sz="quarter" idx="1"/>
          </p:nvPr>
        </p:nvSpPr>
        <p:spPr/>
        <p:txBody>
          <a:bodyPr>
            <a:normAutofit fontScale="92500" lnSpcReduction="10000"/>
          </a:bodyPr>
          <a:lstStyle/>
          <a:p>
            <a:pPr marL="274320" lvl="1" indent="0">
              <a:buNone/>
            </a:pPr>
            <a:r>
              <a:rPr lang="en-US" altLang="zh-TW" dirty="0"/>
              <a:t>&lt;!-- Optional theme --&gt;</a:t>
            </a:r>
          </a:p>
          <a:p>
            <a:pPr marL="274320" lvl="1" indent="0">
              <a:buNone/>
            </a:pPr>
            <a:r>
              <a:rPr lang="en-US" altLang="zh-TW" dirty="0"/>
              <a:t>&lt;link </a:t>
            </a:r>
            <a:r>
              <a:rPr lang="en-US" altLang="zh-TW" dirty="0" err="1"/>
              <a:t>rel</a:t>
            </a:r>
            <a:r>
              <a:rPr lang="en-US" altLang="zh-TW" dirty="0"/>
              <a:t>="stylesheet" </a:t>
            </a:r>
            <a:r>
              <a:rPr lang="en-US" altLang="zh-TW" dirty="0" err="1"/>
              <a:t>href</a:t>
            </a:r>
            <a:r>
              <a:rPr lang="en-US" altLang="zh-TW" dirty="0"/>
              <a:t>="https://maxcdn.bootstrapcdn.com/bootstrap/3.3.6/</a:t>
            </a:r>
            <a:r>
              <a:rPr lang="en-US" altLang="zh-TW" dirty="0" err="1"/>
              <a:t>css</a:t>
            </a:r>
            <a:r>
              <a:rPr lang="en-US" altLang="zh-TW" dirty="0"/>
              <a:t>/bootstrap-theme.min.css" integrity="sha384-fLW2N01lMqjakBkx3l/M9EahuwpSfeNvV63J5ezn3uZzapT0u7EYsXMjQV+0En5r" </a:t>
            </a:r>
            <a:r>
              <a:rPr lang="en-US" altLang="zh-TW" dirty="0" err="1"/>
              <a:t>crossorigin</a:t>
            </a:r>
            <a:r>
              <a:rPr lang="en-US" altLang="zh-TW" dirty="0"/>
              <a:t>="anonymous"&gt;</a:t>
            </a:r>
          </a:p>
          <a:p>
            <a:pPr marL="274320" lvl="1" indent="0">
              <a:buNone/>
            </a:pPr>
            <a:endParaRPr lang="en-US" altLang="zh-TW" dirty="0"/>
          </a:p>
          <a:p>
            <a:pPr marL="274320" lvl="1" indent="0">
              <a:buNone/>
            </a:pPr>
            <a:r>
              <a:rPr lang="en-US" altLang="zh-TW" dirty="0"/>
              <a:t>&lt;!-- Latest compiled and minified JavaScript --&gt;</a:t>
            </a:r>
          </a:p>
          <a:p>
            <a:pPr marL="274320" lvl="1" indent="0">
              <a:buNone/>
            </a:pPr>
            <a:r>
              <a:rPr lang="en-US" altLang="zh-TW" dirty="0"/>
              <a:t>&lt;script </a:t>
            </a:r>
            <a:r>
              <a:rPr lang="en-US" altLang="zh-TW" dirty="0" err="1"/>
              <a:t>src</a:t>
            </a:r>
            <a:r>
              <a:rPr lang="en-US" altLang="zh-TW" dirty="0"/>
              <a:t>="https://maxcdn.bootstrapcdn.com/bootstrap/3.3.6/</a:t>
            </a:r>
            <a:r>
              <a:rPr lang="en-US" altLang="zh-TW" dirty="0" err="1"/>
              <a:t>js</a:t>
            </a:r>
            <a:r>
              <a:rPr lang="en-US" altLang="zh-TW" dirty="0"/>
              <a:t>/bootstrap.min.js" integrity="sha384-0mSbJDEHialfmuBBQP6A4Qrprq5OVfW37PRR3j5ELqxss1yVqOtnepnHVP9aJ7xS" </a:t>
            </a:r>
            <a:r>
              <a:rPr lang="en-US" altLang="zh-TW" dirty="0" err="1"/>
              <a:t>crossorigin</a:t>
            </a:r>
            <a:r>
              <a:rPr lang="en-US" altLang="zh-TW" dirty="0"/>
              <a:t>="anonymous"&gt;&lt;/script&gt;</a:t>
            </a:r>
          </a:p>
          <a:p>
            <a:pPr marL="274320" lvl="1" indent="0">
              <a:buNone/>
            </a:pPr>
            <a:r>
              <a:rPr lang="en-US" altLang="zh-TW" dirty="0"/>
              <a:t>&lt;/head&gt;</a:t>
            </a:r>
          </a:p>
          <a:p>
            <a:pPr lvl="1"/>
            <a:endParaRPr lang="zh-TW" altLang="en-US" dirty="0"/>
          </a:p>
        </p:txBody>
      </p:sp>
    </p:spTree>
    <p:extLst>
      <p:ext uri="{BB962C8B-B14F-4D97-AF65-F5344CB8AC3E}">
        <p14:creationId xmlns:p14="http://schemas.microsoft.com/office/powerpoint/2010/main" val="3889146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49</a:t>
            </a:fld>
            <a:endParaRPr lang="zh-TW" altLang="en-US"/>
          </a:p>
        </p:txBody>
      </p:sp>
      <p:sp>
        <p:nvSpPr>
          <p:cNvPr id="4" name="內容版面配置區 3"/>
          <p:cNvSpPr>
            <a:spLocks noGrp="1"/>
          </p:cNvSpPr>
          <p:nvPr>
            <p:ph sz="quarter" idx="1"/>
          </p:nvPr>
        </p:nvSpPr>
        <p:spPr/>
        <p:txBody>
          <a:bodyPr>
            <a:normAutofit fontScale="92500" lnSpcReduction="20000"/>
          </a:bodyPr>
          <a:lstStyle/>
          <a:p>
            <a:pPr marL="274320" lvl="1" indent="0">
              <a:buNone/>
            </a:pPr>
            <a:r>
              <a:rPr lang="en-US" altLang="zh-TW" dirty="0"/>
              <a:t>&lt;body&gt;</a:t>
            </a:r>
          </a:p>
          <a:p>
            <a:pPr marL="274320" lvl="1" indent="0">
              <a:buNone/>
            </a:pPr>
            <a:r>
              <a:rPr lang="en-US" altLang="zh-TW" dirty="0"/>
              <a:t>    &lt;</a:t>
            </a:r>
            <a:r>
              <a:rPr lang="en-US" altLang="zh-TW" dirty="0" err="1"/>
              <a:t>nav</a:t>
            </a:r>
            <a:r>
              <a:rPr lang="en-US" altLang="zh-TW" dirty="0"/>
              <a:t> class='</a:t>
            </a:r>
            <a:r>
              <a:rPr lang="en-US" altLang="zh-TW" dirty="0" err="1"/>
              <a:t>navbar</a:t>
            </a:r>
            <a:r>
              <a:rPr lang="en-US" altLang="zh-TW" dirty="0"/>
              <a:t> </a:t>
            </a:r>
            <a:r>
              <a:rPr lang="en-US" altLang="zh-TW" dirty="0" err="1"/>
              <a:t>navbar</a:t>
            </a:r>
            <a:r>
              <a:rPr lang="en-US" altLang="zh-TW" dirty="0"/>
              <a:t>-default'&gt;</a:t>
            </a:r>
          </a:p>
          <a:p>
            <a:pPr marL="274320" lvl="1" indent="0">
              <a:buNone/>
            </a:pPr>
            <a:r>
              <a:rPr lang="en-US" altLang="zh-TW" dirty="0"/>
              <a:t>        &lt;div class='container-fluid'&gt;</a:t>
            </a:r>
          </a:p>
          <a:p>
            <a:pPr marL="274320" lvl="1" indent="0">
              <a:buNone/>
            </a:pPr>
            <a:r>
              <a:rPr lang="en-US" altLang="zh-TW" dirty="0"/>
              <a:t>            &lt;div class='</a:t>
            </a:r>
            <a:r>
              <a:rPr lang="en-US" altLang="zh-TW" dirty="0" err="1"/>
              <a:t>navbar</a:t>
            </a:r>
            <a:r>
              <a:rPr lang="en-US" altLang="zh-TW" dirty="0"/>
              <a:t>-header'&gt;</a:t>
            </a:r>
          </a:p>
          <a:p>
            <a:pPr marL="274320" lvl="1" indent="0">
              <a:buNone/>
            </a:pPr>
            <a:r>
              <a:rPr lang="en-US" altLang="zh-TW" dirty="0"/>
              <a:t>                &lt;div class='</a:t>
            </a:r>
            <a:r>
              <a:rPr lang="en-US" altLang="zh-TW" dirty="0" err="1"/>
              <a:t>navbar</a:t>
            </a:r>
            <a:r>
              <a:rPr lang="en-US" altLang="zh-TW" dirty="0"/>
              <a:t>-brand' align=center&gt;</a:t>
            </a:r>
          </a:p>
          <a:p>
            <a:pPr marL="274320" lvl="1" indent="0">
              <a:buNone/>
            </a:pPr>
            <a:r>
              <a:rPr lang="en-US" altLang="zh-TW" dirty="0"/>
              <a:t>                    {% load </a:t>
            </a:r>
            <a:r>
              <a:rPr lang="en-US" altLang="zh-TW" dirty="0" err="1"/>
              <a:t>staticfiles</a:t>
            </a:r>
            <a:r>
              <a:rPr lang="en-US" altLang="zh-TW" dirty="0"/>
              <a:t> %}</a:t>
            </a:r>
          </a:p>
          <a:p>
            <a:pPr marL="274320" lvl="1" indent="0">
              <a:buNone/>
            </a:pPr>
            <a:r>
              <a:rPr lang="en-US" altLang="zh-TW" dirty="0"/>
              <a:t>                    &lt;</a:t>
            </a:r>
            <a:r>
              <a:rPr lang="en-US" altLang="zh-TW" dirty="0" err="1"/>
              <a:t>img</a:t>
            </a:r>
            <a:r>
              <a:rPr lang="en-US" altLang="zh-TW" dirty="0"/>
              <a:t> </a:t>
            </a:r>
            <a:r>
              <a:rPr lang="en-US" altLang="zh-TW" dirty="0" err="1"/>
              <a:t>src</a:t>
            </a:r>
            <a:r>
              <a:rPr lang="en-US" altLang="zh-TW" dirty="0"/>
              <a:t>="{% static "images/logo.png" %}" width=60&gt;</a:t>
            </a:r>
          </a:p>
          <a:p>
            <a:pPr marL="274320" lvl="1" indent="0">
              <a:buNone/>
            </a:pPr>
            <a:r>
              <a:rPr lang="en-US" altLang="zh-TW" dirty="0">
                <a:solidFill>
                  <a:srgbClr val="FF0000"/>
                </a:solidFill>
              </a:rPr>
              <a:t>                    {% block </a:t>
            </a:r>
            <a:r>
              <a:rPr lang="en-US" altLang="zh-TW" dirty="0" err="1">
                <a:solidFill>
                  <a:srgbClr val="FF0000"/>
                </a:solidFill>
              </a:rPr>
              <a:t>tvname</a:t>
            </a:r>
            <a:r>
              <a:rPr lang="en-US" altLang="zh-TW" dirty="0">
                <a:solidFill>
                  <a:srgbClr val="FF0000"/>
                </a:solidFill>
              </a:rPr>
              <a:t>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&lt;/div&gt;</a:t>
            </a:r>
          </a:p>
          <a:p>
            <a:pPr marL="274320" lvl="1" indent="0">
              <a:buNone/>
            </a:pPr>
            <a:r>
              <a:rPr lang="en-US" altLang="zh-TW" dirty="0"/>
              <a:t>            &lt;/div&gt;</a:t>
            </a:r>
          </a:p>
          <a:p>
            <a:pPr marL="274320" lvl="1" indent="0">
              <a:buNone/>
            </a:pPr>
            <a:r>
              <a:rPr lang="en-US" altLang="zh-TW" dirty="0"/>
              <a:t>            </a:t>
            </a:r>
            <a:r>
              <a:rPr lang="en-US" altLang="zh-TW" dirty="0">
                <a:solidFill>
                  <a:srgbClr val="FF0000"/>
                </a:solidFill>
              </a:rPr>
              <a:t>{% block menu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        &lt;/div&gt;</a:t>
            </a:r>
          </a:p>
          <a:p>
            <a:pPr marL="274320" lvl="1" indent="0">
              <a:buNone/>
            </a:pPr>
            <a:r>
              <a:rPr lang="en-US" altLang="zh-TW" dirty="0"/>
              <a:t>    &lt;/</a:t>
            </a:r>
            <a:r>
              <a:rPr lang="en-US" altLang="zh-TW" dirty="0" err="1"/>
              <a:t>nav</a:t>
            </a:r>
            <a:r>
              <a:rPr lang="en-US" altLang="zh-TW" dirty="0"/>
              <a:t>&gt;</a:t>
            </a:r>
          </a:p>
        </p:txBody>
      </p:sp>
    </p:spTree>
    <p:extLst>
      <p:ext uri="{BB962C8B-B14F-4D97-AF65-F5344CB8AC3E}">
        <p14:creationId xmlns:p14="http://schemas.microsoft.com/office/powerpoint/2010/main" val="34138027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50</a:t>
            </a:fld>
            <a:endParaRPr lang="zh-TW" altLang="en-US"/>
          </a:p>
        </p:txBody>
      </p:sp>
      <p:sp>
        <p:nvSpPr>
          <p:cNvPr id="4" name="內容版面配置區 3"/>
          <p:cNvSpPr>
            <a:spLocks noGrp="1"/>
          </p:cNvSpPr>
          <p:nvPr>
            <p:ph sz="quarter" idx="1"/>
          </p:nvPr>
        </p:nvSpPr>
        <p:spPr/>
        <p:txBody>
          <a:bodyPr/>
          <a:lstStyle/>
          <a:p>
            <a:pPr marL="274320" lvl="1" indent="0">
              <a:buNone/>
            </a:pPr>
            <a:r>
              <a:rPr lang="en-US" altLang="zh-TW" dirty="0">
                <a:solidFill>
                  <a:srgbClr val="FF0000"/>
                </a:solidFill>
              </a:rPr>
              <a:t>{% block content %}{% </a:t>
            </a:r>
            <a:r>
              <a:rPr lang="en-US" altLang="zh-TW" dirty="0" err="1">
                <a:solidFill>
                  <a:srgbClr val="FF0000"/>
                </a:solidFill>
              </a:rPr>
              <a:t>endblock</a:t>
            </a:r>
            <a:r>
              <a:rPr lang="en-US" altLang="zh-TW" dirty="0">
                <a:solidFill>
                  <a:srgbClr val="FF0000"/>
                </a:solidFill>
              </a:rPr>
              <a:t> %}</a:t>
            </a:r>
          </a:p>
          <a:p>
            <a:pPr marL="274320" lvl="1" indent="0">
              <a:buNone/>
            </a:pPr>
            <a:r>
              <a:rPr lang="en-US" altLang="zh-TW" dirty="0"/>
              <a:t>&lt;div class='panel panel-default'&gt;</a:t>
            </a:r>
          </a:p>
          <a:p>
            <a:pPr marL="274320" lvl="1" indent="0">
              <a:buNone/>
            </a:pPr>
            <a:r>
              <a:rPr lang="en-US" altLang="zh-TW" dirty="0"/>
              <a:t>    &lt;div class='panel-footer'&gt;&lt;</a:t>
            </a:r>
            <a:r>
              <a:rPr lang="en-US" altLang="zh-TW" dirty="0" err="1"/>
              <a:t>em</a:t>
            </a:r>
            <a:r>
              <a:rPr lang="en-US" altLang="zh-TW" dirty="0"/>
              <a:t>&gt;{{ now }}&lt;/div&gt;</a:t>
            </a:r>
          </a:p>
          <a:p>
            <a:pPr marL="274320" lvl="1" indent="0">
              <a:buNone/>
            </a:pPr>
            <a:r>
              <a:rPr lang="en-US" altLang="zh-TW" dirty="0"/>
              <a:t>&lt;/div&gt;</a:t>
            </a:r>
          </a:p>
          <a:p>
            <a:pPr marL="274320" lvl="1" indent="0">
              <a:buNone/>
            </a:pPr>
            <a:r>
              <a:rPr lang="en-US" altLang="zh-TW" dirty="0"/>
              <a:t>&lt;script </a:t>
            </a:r>
            <a:r>
              <a:rPr lang="en-US" altLang="zh-TW" dirty="0" err="1"/>
              <a:t>src</a:t>
            </a:r>
            <a:r>
              <a:rPr lang="en-US" altLang="zh-TW" dirty="0"/>
              <a:t>="https://code.jquery.com/jquery-3.1.0.min.js" integrity="sha256-cCueBR6CsyA4/9szpPfrX3s49M9vUU5BgtiJj06wt/s=" </a:t>
            </a:r>
            <a:r>
              <a:rPr lang="en-US" altLang="zh-TW" dirty="0" err="1"/>
              <a:t>crossorigin</a:t>
            </a:r>
            <a:r>
              <a:rPr lang="en-US" altLang="zh-TW" dirty="0"/>
              <a:t>="anonymous"&gt;&lt;/script&gt;</a:t>
            </a:r>
          </a:p>
          <a:p>
            <a:pPr marL="274320" lvl="1" indent="0">
              <a:buNone/>
            </a:pPr>
            <a:r>
              <a:rPr lang="en-US" altLang="zh-TW" dirty="0"/>
              <a:t>&lt;/body&gt;</a:t>
            </a:r>
          </a:p>
          <a:p>
            <a:pPr marL="274320" lvl="1" indent="0">
              <a:buNone/>
            </a:pPr>
            <a:r>
              <a:rPr lang="en-US" altLang="zh-TW" dirty="0"/>
              <a:t>&lt;/html&gt;</a:t>
            </a:r>
          </a:p>
          <a:p>
            <a:pPr lvl="1"/>
            <a:endParaRPr lang="zh-TW" altLang="en-US" dirty="0"/>
          </a:p>
        </p:txBody>
      </p:sp>
    </p:spTree>
    <p:extLst>
      <p:ext uri="{BB962C8B-B14F-4D97-AF65-F5344CB8AC3E}">
        <p14:creationId xmlns:p14="http://schemas.microsoft.com/office/powerpoint/2010/main" val="1136061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在各個</a:t>
            </a:r>
            <a:r>
              <a:rPr lang="en-US" altLang="zh-TW" dirty="0"/>
              <a:t>.html</a:t>
            </a:r>
            <a:r>
              <a:rPr lang="zh-TW" altLang="zh-TW" dirty="0"/>
              <a:t>檔案間共用的</a:t>
            </a:r>
            <a:r>
              <a:rPr lang="en-US" altLang="zh-TW" dirty="0"/>
              <a:t>HTML</a:t>
            </a:r>
            <a:r>
              <a:rPr lang="zh-TW" altLang="zh-TW" dirty="0"/>
              <a:t>片段，也可以製作成</a:t>
            </a:r>
            <a:r>
              <a:rPr lang="en-US" altLang="zh-TW" dirty="0"/>
              <a:t>.html</a:t>
            </a:r>
            <a:r>
              <a:rPr lang="zh-TW" altLang="zh-TW" dirty="0"/>
              <a:t>檔案，然後在需要的時候再使用</a:t>
            </a:r>
            <a:r>
              <a:rPr lang="en-US" altLang="zh-TW" dirty="0"/>
              <a:t>(% include "</a:t>
            </a:r>
            <a:r>
              <a:rPr lang="zh-TW" altLang="zh-TW" dirty="0"/>
              <a:t>檔案名稱</a:t>
            </a:r>
            <a:r>
              <a:rPr lang="en-US" altLang="zh-TW" dirty="0"/>
              <a:t>" %) </a:t>
            </a:r>
            <a:r>
              <a:rPr lang="zh-TW" altLang="zh-TW" dirty="0"/>
              <a:t>來引入，例如以下的</a:t>
            </a:r>
            <a:r>
              <a:rPr lang="en-US" altLang="zh-TW" dirty="0"/>
              <a:t>footer.html</a:t>
            </a:r>
            <a:r>
              <a:rPr lang="zh-TW" altLang="zh-TW" dirty="0"/>
              <a:t>：</a:t>
            </a:r>
          </a:p>
          <a:p>
            <a:pPr marL="274320" lvl="1" indent="0">
              <a:buNone/>
            </a:pPr>
            <a:r>
              <a:rPr lang="en-US" altLang="zh-TW" dirty="0"/>
              <a:t>&lt;!-- footer.html --&gt;</a:t>
            </a:r>
          </a:p>
          <a:p>
            <a:pPr marL="274320" lvl="1" indent="0">
              <a:buNone/>
            </a:pPr>
            <a:r>
              <a:rPr lang="en-US" altLang="zh-TW" dirty="0"/>
              <a:t>&lt;</a:t>
            </a:r>
            <a:r>
              <a:rPr lang="en-US" altLang="zh-TW" dirty="0" err="1"/>
              <a:t>em</a:t>
            </a:r>
            <a:r>
              <a:rPr lang="en-US" altLang="zh-TW" dirty="0"/>
              <a:t>&gt;Copyright 2023 https://104.es,  All rights reserved.&lt;/</a:t>
            </a:r>
            <a:r>
              <a:rPr lang="en-US" altLang="zh-TW" dirty="0" err="1"/>
              <a:t>em</a:t>
            </a:r>
            <a:r>
              <a:rPr lang="en-US" altLang="zh-TW" dirty="0"/>
              <a:t>&gt;</a:t>
            </a:r>
          </a:p>
          <a:p>
            <a:pPr marL="274320" lvl="1" indent="0">
              <a:buNone/>
            </a:pPr>
            <a:r>
              <a:rPr lang="zh-TW" altLang="en-US" dirty="0"/>
              <a:t>現在時刻：</a:t>
            </a:r>
            <a:r>
              <a:rPr lang="en-US" altLang="zh-TW" dirty="0"/>
              <a:t>{{ now }}</a:t>
            </a:r>
          </a:p>
          <a:p>
            <a:r>
              <a:rPr lang="zh-TW" altLang="zh-TW" dirty="0"/>
              <a:t>在</a:t>
            </a:r>
            <a:r>
              <a:rPr lang="en-US" altLang="zh-TW" dirty="0"/>
              <a:t>base.html</a:t>
            </a:r>
            <a:r>
              <a:rPr lang="zh-TW" altLang="zh-TW" dirty="0"/>
              <a:t>中的</a:t>
            </a:r>
            <a:r>
              <a:rPr lang="en-US" altLang="zh-TW" dirty="0"/>
              <a:t>&lt;/body&gt;</a:t>
            </a:r>
            <a:r>
              <a:rPr lang="zh-TW" altLang="zh-TW" dirty="0"/>
              <a:t>之前就可以使用以下的指令把這一個檔案</a:t>
            </a:r>
            <a:r>
              <a:rPr lang="zh-TW" altLang="zh-TW" dirty="0">
                <a:solidFill>
                  <a:srgbClr val="FF0000"/>
                </a:solidFill>
              </a:rPr>
              <a:t>引入到</a:t>
            </a:r>
            <a:r>
              <a:rPr lang="en-US" altLang="zh-TW" dirty="0">
                <a:solidFill>
                  <a:srgbClr val="FF0000"/>
                </a:solidFill>
              </a:rPr>
              <a:t>base.html</a:t>
            </a:r>
            <a:r>
              <a:rPr lang="zh-TW" altLang="zh-TW" dirty="0"/>
              <a:t>中使用：</a:t>
            </a:r>
          </a:p>
          <a:p>
            <a:pPr marL="274320" lvl="1" indent="0">
              <a:buNone/>
            </a:pPr>
            <a:r>
              <a:rPr lang="en-US" altLang="zh-TW" dirty="0">
                <a:solidFill>
                  <a:srgbClr val="FF0000"/>
                </a:solidFill>
              </a:rPr>
              <a:t>{% include "footer.html" %}</a:t>
            </a:r>
            <a:endParaRPr lang="zh-TW" altLang="zh-TW" dirty="0">
              <a:solidFill>
                <a:srgbClr val="FF0000"/>
              </a:solidFill>
            </a:endParaRPr>
          </a:p>
          <a:p>
            <a:endParaRPr lang="zh-TW" altLang="en-US" dirty="0"/>
          </a:p>
        </p:txBody>
      </p:sp>
    </p:spTree>
    <p:extLst>
      <p:ext uri="{BB962C8B-B14F-4D97-AF65-F5344CB8AC3E}">
        <p14:creationId xmlns:p14="http://schemas.microsoft.com/office/powerpoint/2010/main" val="7771934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en-US" dirty="0"/>
              <a:t>調整</a:t>
            </a:r>
            <a:r>
              <a:rPr lang="en-US" altLang="zh-TW" dirty="0">
                <a:solidFill>
                  <a:srgbClr val="FF0000"/>
                </a:solidFill>
              </a:rPr>
              <a:t>index.html</a:t>
            </a:r>
            <a:r>
              <a:rPr lang="zh-TW" altLang="zh-TW"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&lt;!-- index.html (ch06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extends 'base.html' </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電視新聞直播</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a:t>
            </a:r>
            <a:r>
              <a:rPr lang="en-US" altLang="zh-TW" sz="1800" kern="100" dirty="0" err="1">
                <a:effectLst/>
                <a:latin typeface="Courier New" panose="02070309020205020404" pitchFamily="49" charset="0"/>
                <a:ea typeface="標楷體" panose="03000509000000000000" pitchFamily="65" charset="-120"/>
              </a:rPr>
              <a:t>tvname</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現正播出</a:t>
            </a:r>
            <a:r>
              <a:rPr lang="en-US" altLang="zh-TW" sz="1800" kern="100" dirty="0">
                <a:effectLst/>
                <a:latin typeface="Courier New" panose="02070309020205020404" pitchFamily="49" charset="0"/>
                <a:ea typeface="標楷體" panose="03000509000000000000" pitchFamily="65" charset="-120"/>
              </a:rPr>
              <a:t>{{tv.name}} {%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menu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ul</a:t>
            </a:r>
            <a:r>
              <a:rPr lang="en-US" altLang="zh-TW" sz="1800" kern="100" dirty="0">
                <a:effectLst/>
                <a:latin typeface="Courier New" panose="02070309020205020404" pitchFamily="49" charset="0"/>
                <a:ea typeface="標楷體" panose="03000509000000000000" pitchFamily="65" charset="-120"/>
              </a:rPr>
              <a:t> class='nav navbar-nav'&gt;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 class='active'&gt;&lt;a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='/'&gt;Home&lt;/a&gt;&lt;/li&gt;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for tv in </a:t>
            </a:r>
            <a:r>
              <a:rPr lang="en-US" altLang="zh-TW" sz="1800" kern="100" dirty="0" err="1">
                <a:effectLst/>
                <a:latin typeface="Courier New" panose="02070309020205020404" pitchFamily="49" charset="0"/>
                <a:ea typeface="標楷體" panose="03000509000000000000" pitchFamily="65" charset="-120"/>
              </a:rPr>
              <a:t>tv_list</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 forloop.counter0 }}/'&gt;{{tv.name}}&lt;/a&gt;&lt;/li&gt;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ul</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lvl="1"/>
            <a:endParaRPr lang="zh-TW" altLang="zh-TW" dirty="0">
              <a:solidFill>
                <a:srgbClr val="FF0000"/>
              </a:solidFill>
            </a:endParaRPr>
          </a:p>
        </p:txBody>
      </p:sp>
    </p:spTree>
    <p:extLst>
      <p:ext uri="{BB962C8B-B14F-4D97-AF65-F5344CB8AC3E}">
        <p14:creationId xmlns:p14="http://schemas.microsoft.com/office/powerpoint/2010/main" val="3209084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53</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000" kern="100" dirty="0">
                <a:effectLst/>
                <a:latin typeface="Courier New" panose="02070309020205020404" pitchFamily="49" charset="0"/>
                <a:ea typeface="標楷體" panose="03000509000000000000" pitchFamily="65" charset="-120"/>
              </a:rPr>
              <a:t>{% block content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&lt;div class='</a:t>
            </a:r>
            <a:r>
              <a:rPr lang="en-US" altLang="zh-TW" sz="2000" kern="100" dirty="0" err="1">
                <a:effectLst/>
                <a:latin typeface="Courier New" panose="02070309020205020404" pitchFamily="49" charset="0"/>
                <a:ea typeface="標楷體" panose="03000509000000000000" pitchFamily="65" charset="-120"/>
              </a:rPr>
              <a:t>conatiner</a:t>
            </a:r>
            <a:r>
              <a:rPr lang="en-US" altLang="zh-TW" sz="2000" kern="100" dirty="0">
                <a:effectLst/>
                <a:latin typeface="Courier New" panose="02070309020205020404" pitchFamily="49" charset="0"/>
                <a:ea typeface="標楷體" panose="03000509000000000000" pitchFamily="65" charset="-120"/>
              </a:rPr>
              <a:t>'&gt;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&lt;div id='</a:t>
            </a:r>
            <a:r>
              <a:rPr lang="en-US" altLang="zh-TW" sz="2000" kern="100" dirty="0" err="1">
                <a:effectLst/>
                <a:latin typeface="Courier New" panose="02070309020205020404" pitchFamily="49" charset="0"/>
                <a:ea typeface="標楷體" panose="03000509000000000000" pitchFamily="65" charset="-120"/>
              </a:rPr>
              <a:t>tvcode</a:t>
            </a:r>
            <a:r>
              <a:rPr lang="en-US" altLang="zh-TW" sz="2000" kern="100" dirty="0">
                <a:effectLst/>
                <a:latin typeface="Courier New" panose="02070309020205020404" pitchFamily="49" charset="0"/>
                <a:ea typeface="標楷體" panose="03000509000000000000" pitchFamily="65" charset="-120"/>
              </a:rPr>
              <a:t>' align='center'&gt;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&lt;</a:t>
            </a:r>
            <a:r>
              <a:rPr lang="en-US" altLang="zh-TW" sz="2000" kern="100" dirty="0" err="1">
                <a:effectLst/>
                <a:latin typeface="Courier New" panose="02070309020205020404" pitchFamily="49" charset="0"/>
                <a:ea typeface="標楷體" panose="03000509000000000000" pitchFamily="65" charset="-120"/>
              </a:rPr>
              <a:t>iframe</a:t>
            </a:r>
            <a:r>
              <a:rPr lang="en-US" altLang="zh-TW" sz="2000" kern="100" dirty="0">
                <a:effectLst/>
                <a:latin typeface="Courier New" panose="02070309020205020404" pitchFamily="49" charset="0"/>
                <a:ea typeface="標楷體" panose="03000509000000000000" pitchFamily="65" charset="-120"/>
              </a:rPr>
              <a:t> width="560" height="315" </a:t>
            </a:r>
            <a:r>
              <a:rPr lang="en-US" altLang="zh-TW" sz="2000" kern="100" dirty="0" err="1">
                <a:effectLst/>
                <a:latin typeface="Courier New" panose="02070309020205020404" pitchFamily="49" charset="0"/>
                <a:ea typeface="標楷體" panose="03000509000000000000" pitchFamily="65" charset="-120"/>
              </a:rPr>
              <a:t>src</a:t>
            </a:r>
            <a:r>
              <a:rPr lang="en-US" altLang="zh-TW" sz="2000" kern="100" dirty="0">
                <a:effectLst/>
                <a:latin typeface="Courier New" panose="02070309020205020404" pitchFamily="49" charset="0"/>
                <a:ea typeface="標楷體" panose="03000509000000000000" pitchFamily="65" charset="-120"/>
              </a:rPr>
              <a:t>="https://www.youtube.com/embed/{{tv.tvcode}}?autoplay=1" frameborder="0" </a:t>
            </a:r>
            <a:r>
              <a:rPr lang="en-US" altLang="zh-TW" sz="2000" kern="100" dirty="0" err="1">
                <a:effectLst/>
                <a:latin typeface="Courier New" panose="02070309020205020404" pitchFamily="49" charset="0"/>
                <a:ea typeface="標楷體" panose="03000509000000000000" pitchFamily="65" charset="-120"/>
              </a:rPr>
              <a:t>allowfullscreen</a:t>
            </a:r>
            <a:r>
              <a:rPr lang="en-US" altLang="zh-TW" sz="2000" kern="100" dirty="0">
                <a:effectLst/>
                <a:latin typeface="Courier New" panose="02070309020205020404" pitchFamily="49" charset="0"/>
                <a:ea typeface="標楷體" panose="03000509000000000000" pitchFamily="65" charset="-120"/>
              </a:rPr>
              <a:t>&gt;&lt;/</a:t>
            </a:r>
            <a:r>
              <a:rPr lang="en-US" altLang="zh-TW" sz="2000" kern="100" dirty="0" err="1">
                <a:effectLst/>
                <a:latin typeface="Courier New" panose="02070309020205020404" pitchFamily="49" charset="0"/>
                <a:ea typeface="標楷體" panose="03000509000000000000" pitchFamily="65" charset="-120"/>
              </a:rPr>
              <a:t>iframe</a:t>
            </a:r>
            <a:r>
              <a:rPr lang="en-US" altLang="zh-TW" sz="2000" kern="100" dirty="0">
                <a:effectLst/>
                <a:latin typeface="Courier New" panose="02070309020205020404" pitchFamily="49" charset="0"/>
                <a:ea typeface="標楷體" panose="03000509000000000000" pitchFamily="65" charset="-120"/>
              </a:rPr>
              <a:t>&gt;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&lt;/div&gt;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&lt;/div&gt;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endblock</a:t>
            </a: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274320" lvl="1" indent="0">
              <a:buNone/>
            </a:pPr>
            <a:endParaRPr lang="zh-TW" altLang="en-US" sz="2400" dirty="0"/>
          </a:p>
        </p:txBody>
      </p:sp>
    </p:spTree>
    <p:extLst>
      <p:ext uri="{BB962C8B-B14F-4D97-AF65-F5344CB8AC3E}">
        <p14:creationId xmlns:p14="http://schemas.microsoft.com/office/powerpoint/2010/main" val="29619374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共用模板的使用範例</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fontScale="92500"/>
          </a:bodyPr>
          <a:lstStyle/>
          <a:p>
            <a:r>
              <a:rPr lang="zh-TW" altLang="zh-TW" dirty="0"/>
              <a:t>增加</a:t>
            </a:r>
            <a:r>
              <a:rPr lang="zh-TW" altLang="zh-TW" dirty="0">
                <a:solidFill>
                  <a:srgbClr val="FF0000"/>
                </a:solidFill>
              </a:rPr>
              <a:t>英文新聞</a:t>
            </a:r>
            <a:r>
              <a:rPr lang="zh-TW" altLang="zh-TW" dirty="0"/>
              <a:t>直播功能，在</a:t>
            </a:r>
            <a:r>
              <a:rPr lang="en-US" altLang="zh-TW" dirty="0"/>
              <a:t>urls.py</a:t>
            </a:r>
            <a:r>
              <a:rPr lang="zh-TW" altLang="zh-TW" dirty="0"/>
              <a:t>中加入兩行設定：</a:t>
            </a:r>
            <a:endParaRPr lang="en-US" altLang="zh-TW" dirty="0"/>
          </a:p>
          <a:p>
            <a:pPr marL="274320" lvl="1" indent="0">
              <a:buNone/>
            </a:pPr>
            <a:r>
              <a:rPr lang="en-US" altLang="zh-TW" dirty="0"/>
              <a:t> path('</a:t>
            </a:r>
            <a:r>
              <a:rPr lang="en-US" altLang="zh-TW" dirty="0" err="1"/>
              <a:t>engtv</a:t>
            </a:r>
            <a:r>
              <a:rPr lang="en-US" altLang="zh-TW" dirty="0"/>
              <a:t>/', </a:t>
            </a:r>
            <a:r>
              <a:rPr lang="en-US" altLang="zh-TW" dirty="0" err="1"/>
              <a:t>views.engtv</a:t>
            </a:r>
            <a:r>
              <a:rPr lang="en-US" altLang="zh-TW" dirty="0"/>
              <a:t>),</a:t>
            </a:r>
          </a:p>
          <a:p>
            <a:pPr marL="274320" lvl="1" indent="0">
              <a:buNone/>
            </a:pPr>
            <a:r>
              <a:rPr lang="en-US" altLang="zh-TW" dirty="0"/>
              <a:t> path('</a:t>
            </a:r>
            <a:r>
              <a:rPr lang="en-US" altLang="zh-TW" dirty="0" err="1"/>
              <a:t>engtv</a:t>
            </a:r>
            <a:r>
              <a:rPr lang="en-US" altLang="zh-TW" dirty="0"/>
              <a:t>/&lt;</a:t>
            </a:r>
            <a:r>
              <a:rPr lang="en-US" altLang="zh-TW" dirty="0" err="1"/>
              <a:t>int:tvno</a:t>
            </a:r>
            <a:r>
              <a:rPr lang="en-US" altLang="zh-TW" dirty="0"/>
              <a:t>&gt;/', </a:t>
            </a:r>
            <a:r>
              <a:rPr lang="en-US" altLang="zh-TW" dirty="0" err="1"/>
              <a:t>views.engtv</a:t>
            </a:r>
            <a:r>
              <a:rPr lang="en-US" altLang="zh-TW" dirty="0"/>
              <a:t>, name='</a:t>
            </a:r>
            <a:r>
              <a:rPr lang="en-US" altLang="zh-TW" dirty="0" err="1"/>
              <a:t>engtv-url</a:t>
            </a:r>
            <a:r>
              <a:rPr lang="en-US" altLang="zh-TW" dirty="0"/>
              <a:t>'),</a:t>
            </a:r>
          </a:p>
          <a:p>
            <a:r>
              <a:rPr lang="zh-TW" altLang="zh-TW" dirty="0"/>
              <a:t>在</a:t>
            </a:r>
            <a:r>
              <a:rPr lang="en-US" altLang="zh-TW" dirty="0"/>
              <a:t>views.py</a:t>
            </a:r>
            <a:r>
              <a:rPr lang="zh-TW" altLang="zh-TW" dirty="0"/>
              <a:t>中加入</a:t>
            </a:r>
            <a:r>
              <a:rPr lang="en-US" altLang="zh-TW" dirty="0" err="1"/>
              <a:t>engtv</a:t>
            </a:r>
            <a:r>
              <a:rPr lang="en-US" altLang="zh-TW" dirty="0"/>
              <a:t>()</a:t>
            </a:r>
            <a:r>
              <a:rPr lang="zh-TW" altLang="zh-TW" dirty="0"/>
              <a:t>函數：</a:t>
            </a:r>
            <a:endParaRPr lang="en-US" altLang="zh-TW" dirty="0"/>
          </a:p>
          <a:p>
            <a:pPr marL="274320" lvl="1" indent="0">
              <a:buNone/>
            </a:pPr>
            <a:r>
              <a:rPr lang="en-US" altLang="zh-TW" dirty="0" err="1"/>
              <a:t>def</a:t>
            </a:r>
            <a:r>
              <a:rPr lang="en-US" altLang="zh-TW" dirty="0"/>
              <a:t> </a:t>
            </a:r>
            <a:r>
              <a:rPr lang="en-US" altLang="zh-TW" dirty="0" err="1"/>
              <a:t>engtv</a:t>
            </a:r>
            <a:r>
              <a:rPr lang="en-US" altLang="zh-TW" dirty="0"/>
              <a:t>(request, </a:t>
            </a:r>
            <a:r>
              <a:rPr lang="en-US" altLang="zh-TW" dirty="0" err="1"/>
              <a:t>tvno</a:t>
            </a:r>
            <a:r>
              <a:rPr lang="en-US" altLang="zh-TW" dirty="0"/>
              <a:t>='0'):</a:t>
            </a:r>
          </a:p>
          <a:p>
            <a:pPr marL="274320" lvl="1" indent="0">
              <a:buNone/>
            </a:pPr>
            <a:r>
              <a:rPr lang="en-US" altLang="zh-TW" dirty="0"/>
              <a:t>	</a:t>
            </a:r>
            <a:r>
              <a:rPr lang="en-US" altLang="zh-TW" dirty="0" err="1"/>
              <a:t>tv_list</a:t>
            </a:r>
            <a:r>
              <a:rPr lang="en-US" altLang="zh-TW" dirty="0"/>
              <a:t> = [{'name':'</a:t>
            </a:r>
            <a:r>
              <a:rPr lang="en-US" altLang="zh-TW" dirty="0" err="1"/>
              <a:t>SkyNews</a:t>
            </a:r>
            <a:r>
              <a:rPr lang="en-US" altLang="zh-TW" dirty="0"/>
              <a:t>', 'tvcode':'9Auq9mYxFEE'},</a:t>
            </a:r>
          </a:p>
          <a:p>
            <a:pPr marL="274320" lvl="1" indent="0">
              <a:buNone/>
            </a:pPr>
            <a:r>
              <a:rPr lang="en-US" altLang="zh-TW" dirty="0"/>
              <a:t>		{'</a:t>
            </a:r>
            <a:r>
              <a:rPr lang="en-US" altLang="zh-TW" dirty="0" err="1"/>
              <a:t>name':'Euro</a:t>
            </a:r>
            <a:r>
              <a:rPr lang="en-US" altLang="zh-TW" dirty="0"/>
              <a:t> News', 'tvcode':'pykpO5kQJ98'},</a:t>
            </a:r>
          </a:p>
          <a:p>
            <a:pPr marL="274320" lvl="1" indent="0">
              <a:buNone/>
            </a:pPr>
            <a:r>
              <a:rPr lang="en-US" altLang="zh-TW" dirty="0"/>
              <a:t>		{'</a:t>
            </a:r>
            <a:r>
              <a:rPr lang="en-US" altLang="zh-TW" dirty="0" err="1"/>
              <a:t>name':'India</a:t>
            </a:r>
            <a:r>
              <a:rPr lang="en-US" altLang="zh-TW" dirty="0"/>
              <a:t> News', 'tvcode':'Xmm3Kr5P1Uw'},</a:t>
            </a:r>
          </a:p>
          <a:p>
            <a:pPr marL="274320" lvl="1" indent="0">
              <a:buNone/>
            </a:pPr>
            <a:r>
              <a:rPr lang="en-US" altLang="zh-TW" dirty="0"/>
              <a:t>		{'</a:t>
            </a:r>
            <a:r>
              <a:rPr lang="en-US" altLang="zh-TW" dirty="0" err="1"/>
              <a:t>name':'CCTV</a:t>
            </a:r>
            <a:r>
              <a:rPr lang="en-US" altLang="zh-TW" dirty="0"/>
              <a:t>', 'tvcode':'XWq5kBlakcQ'},]</a:t>
            </a:r>
          </a:p>
          <a:p>
            <a:pPr marL="274320" lvl="1" indent="0">
              <a:buNone/>
            </a:pPr>
            <a:r>
              <a:rPr lang="en-US" altLang="zh-TW" dirty="0"/>
              <a:t>	now = </a:t>
            </a:r>
            <a:r>
              <a:rPr lang="en-US" altLang="zh-TW" dirty="0" err="1"/>
              <a:t>datetime.now</a:t>
            </a:r>
            <a:r>
              <a:rPr lang="en-US" altLang="zh-TW" dirty="0"/>
              <a:t>()</a:t>
            </a:r>
          </a:p>
          <a:p>
            <a:pPr marL="274320" lvl="1" indent="0">
              <a:buNone/>
            </a:pPr>
            <a:r>
              <a:rPr lang="en-US" altLang="zh-TW" dirty="0"/>
              <a:t>	</a:t>
            </a:r>
            <a:r>
              <a:rPr lang="en-US" altLang="zh-TW" dirty="0" err="1"/>
              <a:t>tvno</a:t>
            </a:r>
            <a:r>
              <a:rPr lang="en-US" altLang="zh-TW" dirty="0"/>
              <a:t> = </a:t>
            </a:r>
            <a:r>
              <a:rPr lang="en-US" altLang="zh-TW" dirty="0" err="1"/>
              <a:t>tvno</a:t>
            </a:r>
            <a:endParaRPr lang="en-US" altLang="zh-TW" dirty="0"/>
          </a:p>
          <a:p>
            <a:pPr marL="274320" lvl="1" indent="0">
              <a:buNone/>
            </a:pPr>
            <a:r>
              <a:rPr lang="en-US" altLang="zh-TW" dirty="0"/>
              <a:t>	</a:t>
            </a:r>
            <a:r>
              <a:rPr lang="en-US" altLang="zh-TW" dirty="0" err="1"/>
              <a:t>tv</a:t>
            </a:r>
            <a:r>
              <a:rPr lang="en-US" altLang="zh-TW" dirty="0"/>
              <a:t> = </a:t>
            </a:r>
            <a:r>
              <a:rPr lang="en-US" altLang="zh-TW" dirty="0" err="1"/>
              <a:t>tv_list</a:t>
            </a:r>
            <a:r>
              <a:rPr lang="en-US" altLang="zh-TW" dirty="0"/>
              <a:t>[</a:t>
            </a:r>
            <a:r>
              <a:rPr lang="en-US" altLang="zh-TW" dirty="0" err="1"/>
              <a:t>int</a:t>
            </a:r>
            <a:r>
              <a:rPr lang="en-US" altLang="zh-TW" dirty="0"/>
              <a:t>(</a:t>
            </a:r>
            <a:r>
              <a:rPr lang="en-US" altLang="zh-TW" dirty="0" err="1"/>
              <a:t>tvno</a:t>
            </a:r>
            <a:r>
              <a:rPr lang="en-US" altLang="zh-TW" dirty="0"/>
              <a:t>)]</a:t>
            </a:r>
          </a:p>
          <a:p>
            <a:pPr marL="274320" lvl="1" indent="0">
              <a:buNone/>
            </a:pPr>
            <a:r>
              <a:rPr lang="en-US" altLang="zh-TW" dirty="0"/>
              <a:t>	return render(request, 'engtv.html', locals())</a:t>
            </a:r>
          </a:p>
          <a:p>
            <a:pPr lvl="1"/>
            <a:endParaRPr lang="zh-TW" altLang="en-US" dirty="0"/>
          </a:p>
        </p:txBody>
      </p:sp>
    </p:spTree>
    <p:extLst>
      <p:ext uri="{BB962C8B-B14F-4D97-AF65-F5344CB8AC3E}">
        <p14:creationId xmlns:p14="http://schemas.microsoft.com/office/powerpoint/2010/main" val="2166188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a:xfrm>
            <a:off x="301752" y="1527048"/>
            <a:ext cx="8534400" cy="5330952"/>
          </a:xfrm>
        </p:spPr>
        <p:txBody>
          <a:bodyPr>
            <a:normAutofit fontScale="92500" lnSpcReduction="10000"/>
          </a:bodyPr>
          <a:lstStyle/>
          <a:p>
            <a:r>
              <a:rPr lang="en-US" altLang="zh-TW" sz="3200" dirty="0"/>
              <a:t>engtv.html</a:t>
            </a:r>
            <a:r>
              <a:rPr lang="zh-TW" altLang="en-US" sz="3200"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&lt;!-- engtv.html (ch06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extends "base.html</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en-US" altLang="zh-TW" sz="1800" kern="100" dirty="0">
                <a:solidFill>
                  <a:srgbClr val="FF0000"/>
                </a:solidFill>
                <a:effectLst/>
                <a:latin typeface="Courier New" panose="02070309020205020404" pitchFamily="49" charset="0"/>
                <a:ea typeface="標楷體" panose="03000509000000000000" pitchFamily="65" charset="-120"/>
              </a:rPr>
              <a:t>English News </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a:t>
            </a:r>
            <a:r>
              <a:rPr lang="en-US" altLang="zh-TW" sz="1800" kern="100" dirty="0" err="1">
                <a:effectLst/>
                <a:latin typeface="Courier New" panose="02070309020205020404" pitchFamily="49" charset="0"/>
                <a:ea typeface="標楷體" panose="03000509000000000000" pitchFamily="65" charset="-120"/>
              </a:rPr>
              <a:t>tvname</a:t>
            </a:r>
            <a:r>
              <a:rPr lang="en-US" altLang="zh-TW" sz="1800" kern="100" dirty="0">
                <a:effectLst/>
                <a:latin typeface="Courier New" panose="02070309020205020404" pitchFamily="49" charset="0"/>
                <a:ea typeface="標楷體" panose="03000509000000000000" pitchFamily="65" charset="-120"/>
              </a:rPr>
              <a:t> %} {{tv.name}} {%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menu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ul</a:t>
            </a:r>
            <a:r>
              <a:rPr lang="en-US" altLang="zh-TW" sz="1800" kern="100" dirty="0">
                <a:effectLst/>
                <a:latin typeface="Courier New" panose="02070309020205020404" pitchFamily="49" charset="0"/>
                <a:ea typeface="標楷體" panose="03000509000000000000" pitchFamily="65" charset="-120"/>
              </a:rPr>
              <a:t> class='nav navbar-nav'&gt;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 class='active'&gt;&lt;a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='/'&gt;Home&lt;/a&gt;&lt;/li&gt;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url</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engtv-url</a:t>
            </a:r>
            <a:r>
              <a:rPr lang="en-US" altLang="zh-TW" sz="1800" kern="100" dirty="0">
                <a:effectLst/>
                <a:latin typeface="Courier New" panose="02070309020205020404" pitchFamily="49" charset="0"/>
                <a:ea typeface="標楷體" panose="03000509000000000000" pitchFamily="65" charset="-120"/>
              </a:rPr>
              <a:t>' 0 %}'&gt;Sky News&lt;/a&gt;&lt;/li&gt;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url</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engtv-url</a:t>
            </a:r>
            <a:r>
              <a:rPr lang="en-US" altLang="zh-TW" sz="1800" kern="100" dirty="0">
                <a:effectLst/>
                <a:latin typeface="Courier New" panose="02070309020205020404" pitchFamily="49" charset="0"/>
                <a:ea typeface="標楷體" panose="03000509000000000000" pitchFamily="65" charset="-120"/>
              </a:rPr>
              <a:t>' 1 %}'&gt;Euro News&lt;/a&gt;&lt;/li&gt;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url</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engtv-url</a:t>
            </a:r>
            <a:r>
              <a:rPr lang="en-US" altLang="zh-TW" sz="1800" kern="100" dirty="0">
                <a:effectLst/>
                <a:latin typeface="Courier New" panose="02070309020205020404" pitchFamily="49" charset="0"/>
                <a:ea typeface="標楷體" panose="03000509000000000000" pitchFamily="65" charset="-120"/>
              </a:rPr>
              <a:t>' 2 %}'&gt;</a:t>
            </a:r>
            <a:r>
              <a:rPr lang="en-US" altLang="zh-TW" sz="1800" kern="100" dirty="0" err="1">
                <a:effectLst/>
                <a:latin typeface="Courier New" panose="02070309020205020404" pitchFamily="49" charset="0"/>
                <a:ea typeface="標楷體" panose="03000509000000000000" pitchFamily="65" charset="-120"/>
              </a:rPr>
              <a:t>Indea</a:t>
            </a:r>
            <a:r>
              <a:rPr lang="en-US" altLang="zh-TW" sz="1800" kern="100" dirty="0">
                <a:effectLst/>
                <a:latin typeface="Courier New" panose="02070309020205020404" pitchFamily="49" charset="0"/>
                <a:ea typeface="標楷體" panose="03000509000000000000" pitchFamily="65" charset="-120"/>
              </a:rPr>
              <a:t> News&lt;/a&gt;&lt;/li&gt;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&lt;li&gt;&lt;a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url</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engtv-url</a:t>
            </a:r>
            <a:r>
              <a:rPr lang="en-US" altLang="zh-TW" sz="1800" kern="100" dirty="0">
                <a:effectLst/>
                <a:latin typeface="Courier New" panose="02070309020205020404" pitchFamily="49" charset="0"/>
                <a:ea typeface="標楷體" panose="03000509000000000000" pitchFamily="65" charset="-120"/>
              </a:rPr>
              <a:t>' 3 %}'&gt;CNA News&lt;/a&gt;&lt;/li&gt;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t>
            </a:r>
            <a:r>
              <a:rPr lang="en-US" altLang="zh-TW" sz="1800" kern="100" dirty="0" err="1">
                <a:effectLst/>
                <a:latin typeface="Courier New" panose="02070309020205020404" pitchFamily="49" charset="0"/>
                <a:ea typeface="標楷體" panose="03000509000000000000" pitchFamily="65" charset="-120"/>
              </a:rPr>
              <a:t>ul</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lvl="1"/>
            <a:endParaRPr lang="en-US" altLang="zh-TW" sz="2600" dirty="0"/>
          </a:p>
        </p:txBody>
      </p:sp>
    </p:spTree>
    <p:extLst>
      <p:ext uri="{BB962C8B-B14F-4D97-AF65-F5344CB8AC3E}">
        <p14:creationId xmlns:p14="http://schemas.microsoft.com/office/powerpoint/2010/main" val="577792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模板的繼承</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400" kern="100" dirty="0">
                <a:effectLst/>
                <a:latin typeface="Courier New" panose="02070309020205020404" pitchFamily="49" charset="0"/>
                <a:ea typeface="標楷體" panose="03000509000000000000" pitchFamily="65" charset="-120"/>
              </a:rPr>
              <a:t>{% block content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&lt;div class='</a:t>
            </a:r>
            <a:r>
              <a:rPr lang="en-US" altLang="zh-TW" sz="2400" kern="100" dirty="0" err="1">
                <a:effectLst/>
                <a:latin typeface="Courier New" panose="02070309020205020404" pitchFamily="49" charset="0"/>
                <a:ea typeface="標楷體" panose="03000509000000000000" pitchFamily="65" charset="-120"/>
              </a:rPr>
              <a:t>conatiner</a:t>
            </a:r>
            <a:r>
              <a:rPr lang="en-US" altLang="zh-TW" sz="2400" kern="100" dirty="0">
                <a:effectLst/>
                <a:latin typeface="Courier New" panose="02070309020205020404" pitchFamily="49" charset="0"/>
                <a:ea typeface="標楷體" panose="03000509000000000000" pitchFamily="65" charset="-120"/>
              </a:rPr>
              <a:t>'&gt;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&lt;div id='</a:t>
            </a:r>
            <a:r>
              <a:rPr lang="en-US" altLang="zh-TW" sz="2400" kern="100" dirty="0" err="1">
                <a:effectLst/>
                <a:latin typeface="Courier New" panose="02070309020205020404" pitchFamily="49" charset="0"/>
                <a:ea typeface="標楷體" panose="03000509000000000000" pitchFamily="65" charset="-120"/>
              </a:rPr>
              <a:t>tvcode</a:t>
            </a:r>
            <a:r>
              <a:rPr lang="en-US" altLang="zh-TW" sz="2400" kern="100" dirty="0">
                <a:effectLst/>
                <a:latin typeface="Courier New" panose="02070309020205020404" pitchFamily="49" charset="0"/>
                <a:ea typeface="標楷體" panose="03000509000000000000" pitchFamily="65" charset="-120"/>
              </a:rPr>
              <a:t>' align='center'&gt;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a:t>
            </a:r>
            <a:r>
              <a:rPr lang="en-US" altLang="zh-TW" sz="2400" kern="100" dirty="0" err="1">
                <a:effectLst/>
                <a:latin typeface="Courier New" panose="02070309020205020404" pitchFamily="49" charset="0"/>
                <a:ea typeface="標楷體" panose="03000509000000000000" pitchFamily="65" charset="-120"/>
              </a:rPr>
              <a:t>iframe</a:t>
            </a:r>
            <a:r>
              <a:rPr lang="en-US" altLang="zh-TW" sz="2400" kern="100" dirty="0">
                <a:effectLst/>
                <a:latin typeface="Courier New" panose="02070309020205020404" pitchFamily="49" charset="0"/>
                <a:ea typeface="標楷體" panose="03000509000000000000" pitchFamily="65" charset="-120"/>
              </a:rPr>
              <a:t> width="560" height="315" </a:t>
            </a:r>
            <a:r>
              <a:rPr lang="en-US" altLang="zh-TW" sz="2400" kern="100" dirty="0" err="1">
                <a:effectLst/>
                <a:latin typeface="Courier New" panose="02070309020205020404" pitchFamily="49" charset="0"/>
                <a:ea typeface="標楷體" panose="03000509000000000000" pitchFamily="65" charset="-120"/>
              </a:rPr>
              <a:t>src</a:t>
            </a:r>
            <a:r>
              <a:rPr lang="en-US" altLang="zh-TW" sz="2400" kern="100" dirty="0">
                <a:effectLst/>
                <a:latin typeface="Courier New" panose="02070309020205020404" pitchFamily="49" charset="0"/>
                <a:ea typeface="標楷體" panose="03000509000000000000" pitchFamily="65" charset="-120"/>
              </a:rPr>
              <a:t>="https://www.youtube.com/embed/{{tv.tvcode}}?autoplay=1" frameborder="0" </a:t>
            </a:r>
            <a:r>
              <a:rPr lang="en-US" altLang="zh-TW" sz="2400" kern="100" dirty="0" err="1">
                <a:effectLst/>
                <a:latin typeface="Courier New" panose="02070309020205020404" pitchFamily="49" charset="0"/>
                <a:ea typeface="標楷體" panose="03000509000000000000" pitchFamily="65" charset="-120"/>
              </a:rPr>
              <a:t>allowfullscreen</a:t>
            </a:r>
            <a:r>
              <a:rPr lang="en-US" altLang="zh-TW" sz="2400" kern="100" dirty="0">
                <a:effectLst/>
                <a:latin typeface="Courier New" panose="02070309020205020404" pitchFamily="49" charset="0"/>
                <a:ea typeface="標楷體" panose="03000509000000000000" pitchFamily="65" charset="-120"/>
              </a:rPr>
              <a:t>&gt;&lt;/</a:t>
            </a:r>
            <a:r>
              <a:rPr lang="en-US" altLang="zh-TW" sz="2400" kern="100" dirty="0" err="1">
                <a:effectLst/>
                <a:latin typeface="Courier New" panose="02070309020205020404" pitchFamily="49" charset="0"/>
                <a:ea typeface="標楷體" panose="03000509000000000000" pitchFamily="65" charset="-120"/>
              </a:rPr>
              <a:t>iframe</a:t>
            </a:r>
            <a:r>
              <a:rPr lang="en-US" altLang="zh-TW" sz="2400" kern="100" dirty="0">
                <a:effectLst/>
                <a:latin typeface="Courier New" panose="02070309020205020404" pitchFamily="49" charset="0"/>
                <a:ea typeface="標楷體" panose="03000509000000000000" pitchFamily="65" charset="-120"/>
              </a:rPr>
              <a:t>&gt;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&lt;/div&gt;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&lt;/div&gt;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err="1">
                <a:effectLst/>
                <a:latin typeface="Courier New" panose="02070309020205020404" pitchFamily="49" charset="0"/>
                <a:ea typeface="標楷體" panose="03000509000000000000" pitchFamily="65" charset="-120"/>
              </a:rPr>
              <a:t>endblock</a:t>
            </a:r>
            <a:r>
              <a:rPr lang="en-US" altLang="zh-TW" sz="2400" kern="100" dirty="0">
                <a:effectLst/>
                <a:latin typeface="Courier New" panose="02070309020205020404" pitchFamily="49" charset="0"/>
                <a:ea typeface="標楷體" panose="03000509000000000000" pitchFamily="65" charset="-120"/>
              </a:rPr>
              <a:t> %}</a:t>
            </a:r>
            <a:endParaRPr lang="zh-TW" altLang="zh-TW" sz="2400" kern="100" dirty="0">
              <a:effectLst/>
              <a:latin typeface="Courier New" panose="02070309020205020404" pitchFamily="49" charset="0"/>
              <a:ea typeface="標楷體" panose="03000509000000000000" pitchFamily="65" charset="-120"/>
            </a:endParaRPr>
          </a:p>
          <a:p>
            <a:pPr marL="274320" lvl="1" indent="0">
              <a:buNone/>
            </a:pPr>
            <a:endParaRPr lang="zh-TW" altLang="en-US" sz="2800" dirty="0"/>
          </a:p>
        </p:txBody>
      </p:sp>
    </p:spTree>
    <p:extLst>
      <p:ext uri="{BB962C8B-B14F-4D97-AF65-F5344CB8AC3E}">
        <p14:creationId xmlns:p14="http://schemas.microsoft.com/office/powerpoint/2010/main" val="4152551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語言</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4" name="內容版面配置區 3"/>
          <p:cNvSpPr>
            <a:spLocks noGrp="1"/>
          </p:cNvSpPr>
          <p:nvPr>
            <p:ph sz="quarter" idx="1"/>
          </p:nvPr>
        </p:nvSpPr>
        <p:spPr>
          <a:xfrm>
            <a:off x="107504" y="1527048"/>
            <a:ext cx="8928992" cy="4572000"/>
          </a:xfrm>
        </p:spPr>
        <p:txBody>
          <a:bodyPr/>
          <a:lstStyle/>
          <a:p>
            <a:r>
              <a:rPr lang="en-US" altLang="zh-TW" dirty="0"/>
              <a:t>Template</a:t>
            </a:r>
            <a:r>
              <a:rPr lang="zh-TW" altLang="zh-TW" dirty="0"/>
              <a:t>本身也有自己的語言和語法。</a:t>
            </a:r>
            <a:endParaRPr lang="en-US" altLang="zh-TW" dirty="0"/>
          </a:p>
          <a:p>
            <a:r>
              <a:rPr lang="en-US" altLang="zh-TW" dirty="0"/>
              <a:t>{{id</a:t>
            </a:r>
            <a:r>
              <a:rPr lang="zh-TW" altLang="en-US" dirty="0"/>
              <a:t>變數名稱</a:t>
            </a:r>
            <a:r>
              <a:rPr lang="en-US" altLang="zh-TW" dirty="0"/>
              <a:t>}}</a:t>
            </a:r>
            <a:r>
              <a:rPr lang="zh-TW" altLang="zh-TW" dirty="0"/>
              <a:t>就可以把變數的內容直接顯示出來</a:t>
            </a:r>
            <a:endParaRPr lang="en-US" altLang="zh-TW" dirty="0"/>
          </a:p>
          <a:p>
            <a:r>
              <a:rPr lang="zh-TW" altLang="zh-TW" dirty="0"/>
              <a:t>如果是</a:t>
            </a:r>
            <a:r>
              <a:rPr lang="zh-TW" altLang="zh-TW" dirty="0">
                <a:solidFill>
                  <a:srgbClr val="FF0000"/>
                </a:solidFill>
              </a:rPr>
              <a:t>字典型態</a:t>
            </a:r>
            <a:r>
              <a:rPr lang="zh-TW" altLang="zh-TW" dirty="0"/>
              <a:t>的變數，可以利用</a:t>
            </a:r>
            <a:r>
              <a:rPr lang="en-US" altLang="zh-TW" dirty="0"/>
              <a:t>{{</a:t>
            </a:r>
            <a:r>
              <a:rPr lang="en-US" altLang="zh-TW" dirty="0" err="1"/>
              <a:t>id.field</a:t>
            </a:r>
            <a:r>
              <a:rPr lang="en-US" altLang="zh-TW" dirty="0"/>
              <a:t>}}</a:t>
            </a:r>
            <a:r>
              <a:rPr lang="zh-TW" altLang="zh-TW" dirty="0"/>
              <a:t>句點運算元把其中的欄位內容的值顯示出來</a:t>
            </a:r>
            <a:endParaRPr lang="en-US" altLang="zh-TW" dirty="0"/>
          </a:p>
          <a:p>
            <a:r>
              <a:rPr lang="zh-TW" altLang="zh-TW" dirty="0"/>
              <a:t>如果是</a:t>
            </a:r>
            <a:r>
              <a:rPr lang="zh-TW" altLang="en-US" dirty="0">
                <a:solidFill>
                  <a:srgbClr val="FF0000"/>
                </a:solidFill>
              </a:rPr>
              <a:t>串列</a:t>
            </a:r>
            <a:r>
              <a:rPr lang="zh-TW" altLang="zh-TW" dirty="0">
                <a:solidFill>
                  <a:srgbClr val="FF0000"/>
                </a:solidFill>
              </a:rPr>
              <a:t>型態</a:t>
            </a:r>
            <a:r>
              <a:rPr lang="zh-TW" altLang="zh-TW" dirty="0"/>
              <a:t>的變數</a:t>
            </a:r>
            <a:r>
              <a:rPr lang="zh-TW" altLang="en-US" dirty="0"/>
              <a:t>，</a:t>
            </a:r>
            <a:r>
              <a:rPr lang="zh-TW" altLang="zh-TW" dirty="0"/>
              <a:t>可以利用</a:t>
            </a:r>
            <a:r>
              <a:rPr lang="en-US" altLang="zh-TW" dirty="0"/>
              <a:t>{{id.0}}</a:t>
            </a:r>
            <a:r>
              <a:rPr lang="zh-TW" altLang="en-US" dirty="0"/>
              <a:t>和</a:t>
            </a:r>
            <a:r>
              <a:rPr lang="en-US" altLang="zh-TW" dirty="0"/>
              <a:t>{{id.1}}</a:t>
            </a:r>
          </a:p>
          <a:p>
            <a:r>
              <a:rPr lang="en-US" altLang="zh-TW" dirty="0"/>
              <a:t>Template</a:t>
            </a:r>
            <a:r>
              <a:rPr lang="zh-TW" altLang="zh-TW" dirty="0"/>
              <a:t>語言只用來處理簡單的資料顯示即可，如果有太複雜的程式邏輯，應該是放在</a:t>
            </a:r>
            <a:r>
              <a:rPr lang="en-US" altLang="zh-TW" dirty="0"/>
              <a:t>views.py</a:t>
            </a:r>
            <a:r>
              <a:rPr lang="zh-TW" altLang="zh-TW" dirty="0"/>
              <a:t>中的函數</a:t>
            </a:r>
            <a:r>
              <a:rPr lang="zh-TW" altLang="en-US" dirty="0"/>
              <a:t>，讓</a:t>
            </a:r>
            <a:r>
              <a:rPr lang="en-US" altLang="zh-TW" dirty="0"/>
              <a:t>Python</a:t>
            </a:r>
            <a:r>
              <a:rPr lang="zh-TW" altLang="zh-TW" dirty="0"/>
              <a:t>來處理。</a:t>
            </a:r>
          </a:p>
          <a:p>
            <a:endParaRPr lang="zh-TW" altLang="en-US" dirty="0"/>
          </a:p>
        </p:txBody>
      </p:sp>
    </p:spTree>
    <p:extLst>
      <p:ext uri="{BB962C8B-B14F-4D97-AF65-F5344CB8AC3E}">
        <p14:creationId xmlns:p14="http://schemas.microsoft.com/office/powerpoint/2010/main" val="20522106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判斷</a:t>
            </a:r>
            <a:r>
              <a:rPr lang="zh-TW" altLang="zh-TW" dirty="0"/>
              <a:t>決策指令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a:xfrm>
            <a:off x="301752" y="1527048"/>
            <a:ext cx="8503920" cy="5102352"/>
          </a:xfrm>
        </p:spPr>
        <p:txBody>
          <a:bodyPr>
            <a:normAutofit lnSpcReduction="10000"/>
          </a:bodyPr>
          <a:lstStyle/>
          <a:p>
            <a:pPr lvl="0"/>
            <a:r>
              <a:rPr lang="zh-TW" altLang="zh-TW" sz="2800" dirty="0"/>
              <a:t>在條件的表示式上，許多運算子包括 </a:t>
            </a:r>
            <a:r>
              <a:rPr lang="en-US" altLang="zh-TW" sz="2800" dirty="0"/>
              <a:t>(&gt;, &lt;, &lt;=, &gt;=, !=, ==)</a:t>
            </a:r>
            <a:r>
              <a:rPr lang="zh-TW" altLang="zh-TW" sz="2800" dirty="0"/>
              <a:t> ，也可以使用</a:t>
            </a:r>
            <a:r>
              <a:rPr lang="en-US" altLang="zh-TW" sz="2800" dirty="0"/>
              <a:t>and/or</a:t>
            </a:r>
            <a:r>
              <a:rPr lang="zh-TW" altLang="zh-TW" sz="2800" dirty="0"/>
              <a:t>串接</a:t>
            </a:r>
            <a:r>
              <a:rPr lang="en-US" altLang="zh-TW" sz="2800" dirty="0"/>
              <a:t>2</a:t>
            </a:r>
            <a:r>
              <a:rPr lang="zh-TW" altLang="zh-TW" sz="2800" dirty="0"/>
              <a:t>個以上的條件，並使用</a:t>
            </a:r>
            <a:r>
              <a:rPr lang="en-US" altLang="zh-TW" sz="2800" dirty="0"/>
              <a:t>not</a:t>
            </a:r>
            <a:r>
              <a:rPr lang="zh-TW" altLang="zh-TW" sz="2800" dirty="0"/>
              <a:t>做否定條件，或是某一些字元有沒有存在於另外一個字串裡面，則可以使用「</a:t>
            </a:r>
            <a:r>
              <a:rPr lang="en-US" altLang="zh-TW" sz="2800" dirty="0"/>
              <a:t>in</a:t>
            </a:r>
            <a:r>
              <a:rPr lang="zh-TW" altLang="zh-TW" sz="2800" dirty="0"/>
              <a:t>」這個運算子</a:t>
            </a:r>
            <a:endParaRPr lang="en-US" altLang="zh-TW" sz="2800" dirty="0"/>
          </a:p>
          <a:p>
            <a:pPr lvl="1"/>
            <a:r>
              <a:rPr lang="en-US" altLang="zh-TW" dirty="0"/>
              <a:t>{% if  </a:t>
            </a:r>
            <a:r>
              <a:rPr lang="zh-TW" altLang="zh-TW" dirty="0"/>
              <a:t>條件 </a:t>
            </a:r>
            <a:r>
              <a:rPr lang="en-US" altLang="zh-TW" dirty="0"/>
              <a:t>%} ... {% </a:t>
            </a:r>
            <a:r>
              <a:rPr lang="en-US" altLang="zh-TW" dirty="0" err="1"/>
              <a:t>endif</a:t>
            </a:r>
            <a:r>
              <a:rPr lang="en-US" altLang="zh-TW" dirty="0"/>
              <a:t> %}</a:t>
            </a:r>
            <a:endParaRPr lang="zh-TW" altLang="zh-TW" dirty="0"/>
          </a:p>
          <a:p>
            <a:pPr lvl="1"/>
            <a:r>
              <a:rPr lang="en-US" altLang="zh-TW" sz="2400" dirty="0"/>
              <a:t>{% if  </a:t>
            </a:r>
            <a:r>
              <a:rPr lang="zh-TW" altLang="zh-TW" sz="2400" dirty="0"/>
              <a:t>條件 </a:t>
            </a:r>
            <a:r>
              <a:rPr lang="en-US" altLang="zh-TW" sz="2400" dirty="0"/>
              <a:t>%} ... {% </a:t>
            </a:r>
            <a:r>
              <a:rPr lang="en-US" altLang="zh-TW" sz="2400" dirty="0" err="1">
                <a:solidFill>
                  <a:srgbClr val="FF0000"/>
                </a:solidFill>
              </a:rPr>
              <a:t>elif</a:t>
            </a:r>
            <a:r>
              <a:rPr lang="en-US" altLang="zh-TW" sz="2400" dirty="0"/>
              <a:t>  </a:t>
            </a:r>
            <a:r>
              <a:rPr lang="zh-TW" altLang="zh-TW" sz="2400" dirty="0"/>
              <a:t>條件 </a:t>
            </a:r>
            <a:r>
              <a:rPr lang="en-US" altLang="zh-TW" sz="2400" dirty="0"/>
              <a:t>%} ... {% </a:t>
            </a:r>
            <a:r>
              <a:rPr lang="en-US" altLang="zh-TW" sz="2400" dirty="0" err="1"/>
              <a:t>endif</a:t>
            </a:r>
            <a:r>
              <a:rPr lang="en-US" altLang="zh-TW" sz="2400" dirty="0"/>
              <a:t> %}</a:t>
            </a:r>
            <a:endParaRPr lang="zh-TW" altLang="zh-TW" sz="2400" dirty="0"/>
          </a:p>
          <a:p>
            <a:pPr lvl="1"/>
            <a:r>
              <a:rPr lang="en-US" altLang="zh-TW" sz="2400" dirty="0"/>
              <a:t>{% if  </a:t>
            </a:r>
            <a:r>
              <a:rPr lang="zh-TW" altLang="zh-TW" sz="2400" dirty="0"/>
              <a:t>條件 </a:t>
            </a:r>
            <a:r>
              <a:rPr lang="en-US" altLang="zh-TW" sz="2400" dirty="0"/>
              <a:t>%} ... {% </a:t>
            </a:r>
            <a:r>
              <a:rPr lang="en-US" altLang="zh-TW" sz="2400" dirty="0" err="1">
                <a:solidFill>
                  <a:srgbClr val="FF0000"/>
                </a:solidFill>
              </a:rPr>
              <a:t>elif</a:t>
            </a:r>
            <a:r>
              <a:rPr lang="en-US" altLang="zh-TW" sz="2400" dirty="0"/>
              <a:t>  </a:t>
            </a:r>
            <a:r>
              <a:rPr lang="zh-TW" altLang="zh-TW" sz="2400" dirty="0"/>
              <a:t>條件 </a:t>
            </a:r>
            <a:r>
              <a:rPr lang="en-US" altLang="zh-TW" sz="2400" dirty="0"/>
              <a:t>%} ... {% else %}... {% endif %}</a:t>
            </a:r>
          </a:p>
          <a:p>
            <a:pPr lvl="1"/>
            <a:endParaRPr lang="en-US" altLang="zh-TW" sz="2400" dirty="0"/>
          </a:p>
          <a:p>
            <a:pPr lvl="1"/>
            <a:r>
              <a:rPr lang="en-US" altLang="zh-TW" sz="2400" dirty="0"/>
              <a:t>{% if car </a:t>
            </a:r>
            <a:r>
              <a:rPr lang="en-US" altLang="zh-TW" sz="2400" dirty="0">
                <a:solidFill>
                  <a:schemeClr val="accent1"/>
                </a:solidFill>
              </a:rPr>
              <a:t>in</a:t>
            </a:r>
            <a:r>
              <a:rPr lang="en-US" altLang="zh-TW" sz="2400" dirty="0"/>
              <a:t> cars %} ... {% endif %}</a:t>
            </a:r>
          </a:p>
          <a:p>
            <a:pPr lvl="1"/>
            <a:r>
              <a:rPr lang="en-US" altLang="zh-TW" sz="2400" dirty="0"/>
              <a:t>{% if 'a' </a:t>
            </a:r>
            <a:r>
              <a:rPr lang="en-US" altLang="zh-TW" sz="2400" dirty="0">
                <a:solidFill>
                  <a:schemeClr val="accent1"/>
                </a:solidFill>
              </a:rPr>
              <a:t>in</a:t>
            </a:r>
            <a:r>
              <a:rPr lang="en-US" altLang="zh-TW" sz="2400" dirty="0"/>
              <a:t> '</a:t>
            </a:r>
            <a:r>
              <a:rPr lang="en-US" altLang="zh-TW" sz="2400" dirty="0" err="1"/>
              <a:t>abcdef</a:t>
            </a:r>
            <a:r>
              <a:rPr lang="en-US" altLang="zh-TW" sz="2400" dirty="0"/>
              <a:t>’ %} ... {% endif %}</a:t>
            </a:r>
          </a:p>
          <a:p>
            <a:pPr lvl="1"/>
            <a:endParaRPr lang="zh-TW" altLang="zh-TW" sz="2400" dirty="0"/>
          </a:p>
          <a:p>
            <a:pPr marL="0" indent="0">
              <a:buNone/>
            </a:pPr>
            <a:endParaRPr lang="zh-TW" altLang="en-US" dirty="0"/>
          </a:p>
        </p:txBody>
      </p:sp>
    </p:spTree>
    <p:extLst>
      <p:ext uri="{BB962C8B-B14F-4D97-AF65-F5344CB8AC3E}">
        <p14:creationId xmlns:p14="http://schemas.microsoft.com/office/powerpoint/2010/main" val="27088543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決策指令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a:xfrm>
            <a:off x="301752" y="1527048"/>
            <a:ext cx="8662736" cy="5142312"/>
          </a:xfrm>
        </p:spPr>
        <p:txBody>
          <a:bodyPr>
            <a:normAutofit lnSpcReduction="10000"/>
          </a:bodyPr>
          <a:lstStyle/>
          <a:p>
            <a:r>
              <a:rPr lang="zh-TW" altLang="zh-TW" dirty="0"/>
              <a:t>提供一個可以根據目前的系統時間來對瀏覽者顯示早安或晚安的訊息</a:t>
            </a:r>
            <a:endParaRPr lang="en-US" altLang="zh-TW" dirty="0"/>
          </a:p>
          <a:p>
            <a:pPr lvl="1"/>
            <a:r>
              <a:rPr lang="zh-TW" altLang="en-US" dirty="0"/>
              <a:t>在</a:t>
            </a:r>
            <a:r>
              <a:rPr lang="en-US" altLang="zh-TW" dirty="0"/>
              <a:t>views.py</a:t>
            </a:r>
            <a:r>
              <a:rPr lang="zh-TW" altLang="en-US" dirty="0"/>
              <a:t>的</a:t>
            </a:r>
            <a:r>
              <a:rPr lang="en-US" altLang="zh-TW" dirty="0"/>
              <a:t>index()</a:t>
            </a:r>
            <a:r>
              <a:rPr lang="zh-TW" altLang="en-US" dirty="0"/>
              <a:t>可以使用以下的方法找出目前系統時間的小時這個項目：</a:t>
            </a:r>
          </a:p>
          <a:p>
            <a:pPr marL="594360" lvl="2" indent="0">
              <a:buNone/>
            </a:pPr>
            <a:r>
              <a:rPr lang="en-US" altLang="zh-TW" dirty="0">
                <a:solidFill>
                  <a:srgbClr val="FF0000"/>
                </a:solidFill>
              </a:rPr>
              <a:t>hour = </a:t>
            </a:r>
            <a:r>
              <a:rPr lang="en-US" altLang="zh-TW" dirty="0" err="1">
                <a:solidFill>
                  <a:srgbClr val="FF0000"/>
                </a:solidFill>
              </a:rPr>
              <a:t>now.timetuple</a:t>
            </a:r>
            <a:r>
              <a:rPr lang="en-US" altLang="zh-TW" dirty="0">
                <a:solidFill>
                  <a:srgbClr val="FF0000"/>
                </a:solidFill>
              </a:rPr>
              <a:t>().</a:t>
            </a:r>
            <a:r>
              <a:rPr lang="en-US" altLang="zh-TW" dirty="0" err="1">
                <a:solidFill>
                  <a:srgbClr val="FF0000"/>
                </a:solidFill>
              </a:rPr>
              <a:t>tm_hour</a:t>
            </a:r>
            <a:endParaRPr lang="en-US" altLang="zh-TW" dirty="0">
              <a:solidFill>
                <a:srgbClr val="FF0000"/>
              </a:solidFill>
            </a:endParaRPr>
          </a:p>
          <a:p>
            <a:pPr marL="594360" lvl="2" indent="0">
              <a:buNone/>
            </a:pPr>
            <a:r>
              <a:rPr lang="zh-TW" altLang="en-US" dirty="0">
                <a:solidFill>
                  <a:srgbClr val="FF0000"/>
                </a:solidFill>
              </a:rPr>
              <a:t>或是</a:t>
            </a:r>
            <a:endParaRPr lang="en-US" altLang="zh-TW" dirty="0">
              <a:solidFill>
                <a:srgbClr val="FF0000"/>
              </a:solidFill>
            </a:endParaRPr>
          </a:p>
          <a:p>
            <a:pPr marL="594360" lvl="2" indent="0">
              <a:buNone/>
            </a:pPr>
            <a:r>
              <a:rPr lang="en-US" altLang="zh-TW" dirty="0"/>
              <a:t>hour = </a:t>
            </a:r>
            <a:r>
              <a:rPr lang="en-US" altLang="zh-TW" dirty="0" err="1"/>
              <a:t>now.hour</a:t>
            </a:r>
            <a:endParaRPr lang="en-US" altLang="zh-TW" dirty="0">
              <a:solidFill>
                <a:srgbClr val="FF0000"/>
              </a:solidFill>
            </a:endParaRPr>
          </a:p>
          <a:p>
            <a:pPr lvl="1"/>
            <a:r>
              <a:rPr lang="zh-TW" altLang="en-US" dirty="0"/>
              <a:t>接著在</a:t>
            </a:r>
            <a:r>
              <a:rPr lang="en-US" altLang="zh-TW" dirty="0"/>
              <a:t>index.html</a:t>
            </a:r>
            <a:r>
              <a:rPr lang="zh-TW" altLang="en-US" dirty="0"/>
              <a:t>中加入以下的程式碼：</a:t>
            </a:r>
          </a:p>
          <a:p>
            <a:pPr marL="594360" lvl="2" indent="0">
              <a:buNone/>
            </a:pPr>
            <a:r>
              <a:rPr lang="en-US" altLang="zh-TW" dirty="0"/>
              <a:t>{% if hour &gt; 18 %}</a:t>
            </a:r>
          </a:p>
          <a:p>
            <a:pPr marL="594360" lvl="2" indent="0">
              <a:buNone/>
            </a:pPr>
            <a:r>
              <a:rPr lang="zh-TW" altLang="en-US" dirty="0"/>
              <a:t>        晚安 </a:t>
            </a:r>
          </a:p>
          <a:p>
            <a:pPr marL="594360" lvl="2" indent="0">
              <a:buNone/>
            </a:pPr>
            <a:r>
              <a:rPr lang="en-US" altLang="zh-TW" dirty="0"/>
              <a:t>{% </a:t>
            </a:r>
            <a:r>
              <a:rPr lang="en-US" altLang="zh-TW" dirty="0" err="1"/>
              <a:t>elif</a:t>
            </a:r>
            <a:r>
              <a:rPr lang="en-US" altLang="zh-TW" dirty="0"/>
              <a:t> hour &lt; 10 %}</a:t>
            </a:r>
          </a:p>
          <a:p>
            <a:pPr marL="594360" lvl="2" indent="0">
              <a:buNone/>
            </a:pPr>
            <a:r>
              <a:rPr lang="zh-TW" altLang="en-US" dirty="0"/>
              <a:t>        早安</a:t>
            </a:r>
          </a:p>
          <a:p>
            <a:pPr marL="594360" lvl="2" indent="0">
              <a:buNone/>
            </a:pPr>
            <a:r>
              <a:rPr lang="en-US" altLang="zh-TW" dirty="0"/>
              <a:t>{% </a:t>
            </a:r>
            <a:r>
              <a:rPr lang="en-US" altLang="zh-TW" dirty="0" err="1"/>
              <a:t>endif</a:t>
            </a:r>
            <a:r>
              <a:rPr lang="en-US" altLang="zh-TW" dirty="0"/>
              <a:t> %}</a:t>
            </a:r>
          </a:p>
          <a:p>
            <a:pPr marL="594360" lvl="2" indent="0">
              <a:buNone/>
            </a:pPr>
            <a:r>
              <a:rPr lang="en-US" altLang="zh-TW" dirty="0"/>
              <a:t>&lt;</a:t>
            </a:r>
            <a:r>
              <a:rPr lang="en-US" altLang="zh-TW" dirty="0" err="1"/>
              <a:t>br</a:t>
            </a:r>
            <a:r>
              <a:rPr lang="en-US" altLang="zh-TW" dirty="0"/>
              <a:t>&gt;</a:t>
            </a:r>
          </a:p>
          <a:p>
            <a:pPr lvl="1"/>
            <a:endParaRPr lang="en-US" altLang="zh-TW" dirty="0"/>
          </a:p>
          <a:p>
            <a:pPr lvl="1"/>
            <a:endParaRPr lang="zh-TW" altLang="en-US" dirty="0"/>
          </a:p>
        </p:txBody>
      </p:sp>
    </p:spTree>
    <p:extLst>
      <p:ext uri="{BB962C8B-B14F-4D97-AF65-F5344CB8AC3E}">
        <p14:creationId xmlns:p14="http://schemas.microsoft.com/office/powerpoint/2010/main" val="18278978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決策指令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p:txBody>
          <a:bodyPr/>
          <a:lstStyle/>
          <a:p>
            <a:r>
              <a:rPr lang="zh-TW" altLang="zh-TW" dirty="0"/>
              <a:t>加入早晚安訊息功能的網站執行畫面</a:t>
            </a:r>
            <a:endParaRPr lang="zh-TW" altLang="en-US" dirty="0"/>
          </a:p>
        </p:txBody>
      </p:sp>
      <p:pic>
        <p:nvPicPr>
          <p:cNvPr id="6" name="圖片 5">
            <a:extLst>
              <a:ext uri="{FF2B5EF4-FFF2-40B4-BE49-F238E27FC236}">
                <a16:creationId xmlns:a16="http://schemas.microsoft.com/office/drawing/2014/main" id="{AE5C773C-297C-136A-1A16-1C7EC886BBB5}"/>
              </a:ext>
            </a:extLst>
          </p:cNvPr>
          <p:cNvPicPr>
            <a:picLocks noChangeAspect="1"/>
          </p:cNvPicPr>
          <p:nvPr/>
        </p:nvPicPr>
        <p:blipFill>
          <a:blip r:embed="rId2"/>
          <a:stretch>
            <a:fillRect/>
          </a:stretch>
        </p:blipFill>
        <p:spPr>
          <a:xfrm>
            <a:off x="971600" y="2132856"/>
            <a:ext cx="7200800" cy="4183398"/>
          </a:xfrm>
          <a:prstGeom prst="rect">
            <a:avLst/>
          </a:prstGeom>
        </p:spPr>
      </p:pic>
    </p:spTree>
    <p:extLst>
      <p:ext uri="{BB962C8B-B14F-4D97-AF65-F5344CB8AC3E}">
        <p14:creationId xmlns:p14="http://schemas.microsoft.com/office/powerpoint/2010/main" val="15218821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迴圈指令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4" name="內容版面配置區 3"/>
          <p:cNvSpPr>
            <a:spLocks noGrp="1"/>
          </p:cNvSpPr>
          <p:nvPr>
            <p:ph sz="quarter" idx="1"/>
          </p:nvPr>
        </p:nvSpPr>
        <p:spPr/>
        <p:txBody>
          <a:bodyPr>
            <a:normAutofit fontScale="92500" lnSpcReduction="10000"/>
          </a:bodyPr>
          <a:lstStyle/>
          <a:p>
            <a:r>
              <a:rPr lang="zh-TW" altLang="zh-TW" dirty="0"/>
              <a:t>二手車庫存顯示網頁的例子。假設網站有以下的資料要依使用者的選擇顯示在網頁上：</a:t>
            </a:r>
            <a:endParaRPr lang="en-US" altLang="zh-TW" dirty="0"/>
          </a:p>
          <a:p>
            <a:pPr lvl="1"/>
            <a:r>
              <a:rPr lang="en-US" altLang="zh-TW" dirty="0" err="1"/>
              <a:t>car_maker</a:t>
            </a:r>
            <a:r>
              <a:rPr lang="zh-TW" altLang="zh-TW" dirty="0"/>
              <a:t>是車廠的名稱串列，而</a:t>
            </a:r>
            <a:r>
              <a:rPr lang="en-US" altLang="zh-TW" dirty="0" err="1"/>
              <a:t>car_list</a:t>
            </a:r>
            <a:r>
              <a:rPr lang="zh-TW" altLang="zh-TW" dirty="0"/>
              <a:t>則</a:t>
            </a:r>
            <a:r>
              <a:rPr lang="zh-TW" altLang="zh-TW"/>
              <a:t>是依</a:t>
            </a:r>
            <a:r>
              <a:rPr lang="en-US" altLang="zh-TW"/>
              <a:t>car_maker</a:t>
            </a:r>
            <a:r>
              <a:rPr lang="zh-TW" altLang="zh-TW"/>
              <a:t>中的順序填入目前有庫存的汽車型號</a:t>
            </a:r>
            <a:endParaRPr lang="en-US" altLang="zh-TW"/>
          </a:p>
          <a:p>
            <a:pPr marL="594360" lvl="2" indent="0">
              <a:buNone/>
            </a:pPr>
            <a:r>
              <a:rPr lang="en-US" altLang="zh-TW">
                <a:solidFill>
                  <a:srgbClr val="FF0000"/>
                </a:solidFill>
              </a:rPr>
              <a:t>car</a:t>
            </a:r>
            <a:r>
              <a:rPr lang="en-US" altLang="zh-TW" dirty="0" err="1">
                <a:solidFill>
                  <a:srgbClr val="FF0000"/>
                </a:solidFill>
              </a:rPr>
              <a:t>_maker</a:t>
            </a:r>
            <a:r>
              <a:rPr lang="en-US" altLang="zh-TW" dirty="0">
                <a:solidFill>
                  <a:srgbClr val="FF0000"/>
                </a:solidFill>
              </a:rPr>
              <a:t> </a:t>
            </a:r>
            <a:r>
              <a:rPr lang="en-US" altLang="zh-TW" dirty="0"/>
              <a:t>= ['SAAB', 'Ford', 'Honda', 'Mazda', '</a:t>
            </a:r>
            <a:r>
              <a:rPr lang="en-US" altLang="zh-TW" dirty="0" err="1"/>
              <a:t>Nissan','Toyota</a:t>
            </a:r>
            <a:r>
              <a:rPr lang="en-US" altLang="zh-TW" dirty="0"/>
              <a:t>' ]</a:t>
            </a:r>
          </a:p>
          <a:p>
            <a:pPr marL="594360" lvl="2" indent="0">
              <a:buNone/>
            </a:pPr>
            <a:r>
              <a:rPr lang="en-US" altLang="zh-TW" dirty="0" err="1">
                <a:solidFill>
                  <a:srgbClr val="FF0000"/>
                </a:solidFill>
              </a:rPr>
              <a:t>car_list</a:t>
            </a:r>
            <a:r>
              <a:rPr lang="en-US" altLang="zh-TW" dirty="0">
                <a:solidFill>
                  <a:srgbClr val="FF0000"/>
                </a:solidFill>
              </a:rPr>
              <a:t> </a:t>
            </a:r>
            <a:r>
              <a:rPr lang="en-US" altLang="zh-TW" dirty="0"/>
              <a:t>= [ [],</a:t>
            </a:r>
          </a:p>
          <a:p>
            <a:pPr marL="594360" lvl="2" indent="0">
              <a:buNone/>
            </a:pPr>
            <a:r>
              <a:rPr lang="en-US" altLang="zh-TW" dirty="0"/>
              <a:t>	['Fiesta', 'Focus', '</a:t>
            </a:r>
            <a:r>
              <a:rPr lang="en-US" altLang="zh-TW" dirty="0" err="1"/>
              <a:t>Modeo</a:t>
            </a:r>
            <a:r>
              <a:rPr lang="en-US" altLang="zh-TW" dirty="0"/>
              <a:t>', '</a:t>
            </a:r>
            <a:r>
              <a:rPr lang="en-US" altLang="zh-TW" dirty="0" err="1"/>
              <a:t>EcoSport</a:t>
            </a:r>
            <a:r>
              <a:rPr lang="en-US" altLang="zh-TW" dirty="0"/>
              <a:t>', 'Kuga', 'Mustang'],</a:t>
            </a:r>
          </a:p>
          <a:p>
            <a:pPr marL="594360" lvl="2" indent="0">
              <a:buNone/>
            </a:pPr>
            <a:r>
              <a:rPr lang="en-US" altLang="zh-TW" dirty="0"/>
              <a:t>		['Fit', 'Odyssey', 'CR-V', 'City', 'NSX'],</a:t>
            </a:r>
          </a:p>
          <a:p>
            <a:pPr marL="594360" lvl="2" indent="0">
              <a:buNone/>
            </a:pPr>
            <a:r>
              <a:rPr lang="en-US" altLang="zh-TW" dirty="0"/>
              <a:t>		['Mazda3', 'Mazda5', 'Mazda6', 'CX-3', 'CX-5', 'MX-5'],</a:t>
            </a:r>
          </a:p>
          <a:p>
            <a:pPr marL="594360" lvl="2" indent="0">
              <a:buNone/>
            </a:pPr>
            <a:r>
              <a:rPr lang="en-US" altLang="zh-TW" dirty="0"/>
              <a:t>	['</a:t>
            </a:r>
            <a:r>
              <a:rPr lang="en-US" altLang="zh-TW" dirty="0" err="1"/>
              <a:t>Tida</a:t>
            </a:r>
            <a:r>
              <a:rPr lang="en-US" altLang="zh-TW" dirty="0"/>
              <a:t>', 'March', '</a:t>
            </a:r>
            <a:r>
              <a:rPr lang="en-US" altLang="zh-TW" dirty="0" err="1"/>
              <a:t>Livina</a:t>
            </a:r>
            <a:r>
              <a:rPr lang="en-US" altLang="zh-TW" dirty="0"/>
              <a:t>', 'Sentra', '</a:t>
            </a:r>
            <a:r>
              <a:rPr lang="en-US" altLang="zh-TW" dirty="0" err="1"/>
              <a:t>Teana</a:t>
            </a:r>
            <a:r>
              <a:rPr lang="en-US" altLang="zh-TW" dirty="0"/>
              <a:t>', 'X-Trail', 'Juke', 'Murano'],</a:t>
            </a:r>
          </a:p>
          <a:p>
            <a:pPr marL="594360" lvl="2" indent="0">
              <a:buNone/>
            </a:pPr>
            <a:r>
              <a:rPr lang="en-US" altLang="zh-TW" dirty="0"/>
              <a:t>		['Camry','Altis','Yaris','86','Prius','Vios', 'RAV4', 'Wish']</a:t>
            </a:r>
          </a:p>
          <a:p>
            <a:pPr marL="594360" lvl="2" indent="0">
              <a:buNone/>
            </a:pPr>
            <a:r>
              <a:rPr lang="en-US" altLang="zh-TW" dirty="0"/>
              <a:t>]</a:t>
            </a:r>
          </a:p>
          <a:p>
            <a:pPr lvl="2"/>
            <a:endParaRPr lang="zh-TW" altLang="en-US" dirty="0"/>
          </a:p>
        </p:txBody>
      </p:sp>
    </p:spTree>
    <p:extLst>
      <p:ext uri="{BB962C8B-B14F-4D97-AF65-F5344CB8AC3E}">
        <p14:creationId xmlns:p14="http://schemas.microsoft.com/office/powerpoint/2010/main" val="1665133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迴圈指令</a:t>
            </a:r>
            <a:r>
              <a:rPr lang="en-US" altLang="zh-TW" dirty="0"/>
              <a:t>urls.py Views.py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62</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fontScale="77500" lnSpcReduction="20000"/>
          </a:bodyPr>
          <a:lstStyle/>
          <a:p>
            <a:r>
              <a:rPr lang="en-US" altLang="zh-TW" dirty="0"/>
              <a:t>urls.py</a:t>
            </a:r>
            <a:r>
              <a:rPr lang="zh-TW" altLang="zh-TW" dirty="0"/>
              <a:t>中的網址對應設計如下：</a:t>
            </a:r>
          </a:p>
          <a:p>
            <a:pPr marL="274320" lvl="1" indent="0">
              <a:buNone/>
            </a:pPr>
            <a:r>
              <a:rPr lang="en-US" altLang="zh-TW" dirty="0"/>
              <a:t>path('</a:t>
            </a:r>
            <a:r>
              <a:rPr lang="en-US" altLang="zh-TW" dirty="0" err="1"/>
              <a:t>carlist</a:t>
            </a:r>
            <a:r>
              <a:rPr lang="en-US" altLang="zh-TW" dirty="0"/>
              <a:t>/', </a:t>
            </a:r>
            <a:r>
              <a:rPr lang="en-US" altLang="zh-TW" dirty="0" err="1"/>
              <a:t>views.carlist</a:t>
            </a:r>
            <a:r>
              <a:rPr lang="en-US" altLang="zh-TW" dirty="0"/>
              <a:t>),</a:t>
            </a:r>
            <a:endParaRPr lang="zh-TW" altLang="zh-TW" dirty="0"/>
          </a:p>
          <a:p>
            <a:pPr marL="274320" lvl="1" indent="0">
              <a:buNone/>
            </a:pPr>
            <a:r>
              <a:rPr lang="en-US" altLang="zh-TW" dirty="0"/>
              <a:t>path('</a:t>
            </a:r>
            <a:r>
              <a:rPr lang="en-US" altLang="zh-TW" dirty="0" err="1"/>
              <a:t>carlist</a:t>
            </a:r>
            <a:r>
              <a:rPr lang="en-US" altLang="zh-TW" dirty="0"/>
              <a:t>/</a:t>
            </a:r>
            <a:r>
              <a:rPr lang="en-US" altLang="zh-TW" dirty="0">
                <a:solidFill>
                  <a:srgbClr val="FF0000"/>
                </a:solidFill>
              </a:rPr>
              <a:t>&lt;</a:t>
            </a:r>
            <a:r>
              <a:rPr lang="en-US" altLang="zh-TW" dirty="0" err="1">
                <a:solidFill>
                  <a:srgbClr val="FF0000"/>
                </a:solidFill>
              </a:rPr>
              <a:t>int:maker</a:t>
            </a:r>
            <a:r>
              <a:rPr lang="en-US" altLang="zh-TW" dirty="0">
                <a:solidFill>
                  <a:srgbClr val="FF0000"/>
                </a:solidFill>
              </a:rPr>
              <a:t>&gt;</a:t>
            </a:r>
            <a:r>
              <a:rPr lang="en-US" altLang="zh-TW" dirty="0"/>
              <a:t>/', </a:t>
            </a:r>
            <a:r>
              <a:rPr lang="en-US" altLang="zh-TW" dirty="0" err="1"/>
              <a:t>views.carlist</a:t>
            </a:r>
            <a:r>
              <a:rPr lang="en-US" altLang="zh-TW" dirty="0"/>
              <a:t>, name='</a:t>
            </a:r>
            <a:r>
              <a:rPr lang="en-US" altLang="zh-TW" dirty="0" err="1"/>
              <a:t>carlist-url</a:t>
            </a:r>
            <a:r>
              <a:rPr lang="en-US" altLang="zh-TW" dirty="0"/>
              <a:t>'),</a:t>
            </a:r>
          </a:p>
          <a:p>
            <a:r>
              <a:rPr lang="en-US" altLang="zh-TW" dirty="0"/>
              <a:t>Views.py</a:t>
            </a:r>
            <a:r>
              <a:rPr lang="zh-TW" altLang="en-US" dirty="0"/>
              <a:t>中定義</a:t>
            </a:r>
            <a:r>
              <a:rPr lang="en-US" altLang="zh-TW" dirty="0" err="1"/>
              <a:t>carlist</a:t>
            </a:r>
            <a:r>
              <a:rPr lang="zh-TW" altLang="zh-TW" dirty="0"/>
              <a:t>函數設計如下：</a:t>
            </a:r>
          </a:p>
          <a:p>
            <a:pPr marL="274320" lvl="1" indent="0">
              <a:buNone/>
            </a:pPr>
            <a:r>
              <a:rPr lang="en-US" altLang="zh-TW" dirty="0" err="1"/>
              <a:t>def</a:t>
            </a:r>
            <a:r>
              <a:rPr lang="en-US" altLang="zh-TW" dirty="0"/>
              <a:t> </a:t>
            </a:r>
            <a:r>
              <a:rPr lang="en-US" altLang="zh-TW" dirty="0" err="1"/>
              <a:t>carlist</a:t>
            </a:r>
            <a:r>
              <a:rPr lang="en-US" altLang="zh-TW" dirty="0"/>
              <a:t>(request, </a:t>
            </a:r>
            <a:r>
              <a:rPr lang="en-US" altLang="zh-TW" dirty="0">
                <a:solidFill>
                  <a:srgbClr val="FF0000"/>
                </a:solidFill>
              </a:rPr>
              <a:t>maker=0</a:t>
            </a:r>
            <a:r>
              <a:rPr lang="en-US" altLang="zh-TW" dirty="0"/>
              <a:t>):</a:t>
            </a:r>
          </a:p>
          <a:p>
            <a:pPr marL="274320" lvl="1" indent="0">
              <a:buNone/>
            </a:pPr>
            <a:r>
              <a:rPr lang="en-US" altLang="zh-TW" dirty="0"/>
              <a:t>	</a:t>
            </a:r>
            <a:r>
              <a:rPr lang="en-US" altLang="zh-TW" dirty="0" err="1"/>
              <a:t>car_maker</a:t>
            </a:r>
            <a:r>
              <a:rPr lang="en-US" altLang="zh-TW" dirty="0"/>
              <a:t> = ['SAAB', 'Ford', 'Honda', 'Mazda', '</a:t>
            </a:r>
            <a:r>
              <a:rPr lang="en-US" altLang="zh-TW" dirty="0" err="1"/>
              <a:t>Nissan','Toyota</a:t>
            </a:r>
            <a:r>
              <a:rPr lang="en-US" altLang="zh-TW" dirty="0"/>
              <a:t>' ]</a:t>
            </a:r>
          </a:p>
          <a:p>
            <a:pPr marL="274320" lvl="1" indent="0">
              <a:buNone/>
            </a:pPr>
            <a:r>
              <a:rPr lang="en-US" altLang="zh-TW" dirty="0"/>
              <a:t>	</a:t>
            </a:r>
            <a:r>
              <a:rPr lang="en-US" altLang="zh-TW" dirty="0" err="1"/>
              <a:t>car_list</a:t>
            </a:r>
            <a:r>
              <a:rPr lang="en-US" altLang="zh-TW" dirty="0"/>
              <a:t> = [ [],</a:t>
            </a:r>
          </a:p>
          <a:p>
            <a:pPr marL="274320" lvl="1" indent="0">
              <a:buNone/>
            </a:pPr>
            <a:r>
              <a:rPr lang="en-US" altLang="zh-TW" dirty="0"/>
              <a:t>	['Fiesta', 'Focus', '</a:t>
            </a:r>
            <a:r>
              <a:rPr lang="en-US" altLang="zh-TW" dirty="0" err="1"/>
              <a:t>Modeo</a:t>
            </a:r>
            <a:r>
              <a:rPr lang="en-US" altLang="zh-TW" dirty="0"/>
              <a:t>', '</a:t>
            </a:r>
            <a:r>
              <a:rPr lang="en-US" altLang="zh-TW" dirty="0" err="1"/>
              <a:t>EcoSport</a:t>
            </a:r>
            <a:r>
              <a:rPr lang="en-US" altLang="zh-TW" dirty="0"/>
              <a:t>', 'Kuga', 'Mustang'],</a:t>
            </a:r>
          </a:p>
          <a:p>
            <a:pPr marL="274320" lvl="1" indent="0">
              <a:buNone/>
            </a:pPr>
            <a:r>
              <a:rPr lang="en-US" altLang="zh-TW" dirty="0"/>
              <a:t>	['Fit', 'Odyssey', 'CR-V', 'City', 'NSX'],</a:t>
            </a:r>
          </a:p>
          <a:p>
            <a:pPr marL="274320" lvl="1" indent="0">
              <a:buNone/>
            </a:pPr>
            <a:r>
              <a:rPr lang="en-US" altLang="zh-TW" dirty="0"/>
              <a:t>	['Mazda3', 'Mazda5', 'Mazda6', 'CX-3', 'CX-5', 'MX-5'],</a:t>
            </a:r>
          </a:p>
          <a:p>
            <a:pPr marL="274320" lvl="1" indent="0">
              <a:buNone/>
            </a:pPr>
            <a:r>
              <a:rPr lang="en-US" altLang="zh-TW" dirty="0"/>
              <a:t>	['</a:t>
            </a:r>
            <a:r>
              <a:rPr lang="en-US" altLang="zh-TW" dirty="0" err="1"/>
              <a:t>Tida</a:t>
            </a:r>
            <a:r>
              <a:rPr lang="en-US" altLang="zh-TW" dirty="0"/>
              <a:t>', 'March', '</a:t>
            </a:r>
            <a:r>
              <a:rPr lang="en-US" altLang="zh-TW" dirty="0" err="1"/>
              <a:t>Livina</a:t>
            </a:r>
            <a:r>
              <a:rPr lang="en-US" altLang="zh-TW" dirty="0"/>
              <a:t>', 'Sentra', '</a:t>
            </a:r>
            <a:r>
              <a:rPr lang="en-US" altLang="zh-TW" dirty="0" err="1"/>
              <a:t>Teana</a:t>
            </a:r>
            <a:r>
              <a:rPr lang="en-US" altLang="zh-TW" dirty="0"/>
              <a:t>', 'X-Trail', 'Juke', 'Murano'],</a:t>
            </a:r>
          </a:p>
          <a:p>
            <a:pPr marL="274320" lvl="1" indent="0">
              <a:buNone/>
            </a:pPr>
            <a:r>
              <a:rPr lang="en-US" altLang="zh-TW" dirty="0"/>
              <a:t>	['Camry','Altis','Yaris','86','Prius','Vios', 'RAV4', 'Wish']</a:t>
            </a:r>
          </a:p>
          <a:p>
            <a:pPr marL="274320" lvl="1" indent="0">
              <a:buNone/>
            </a:pPr>
            <a:r>
              <a:rPr lang="en-US" altLang="zh-TW" dirty="0"/>
              <a:t>	]</a:t>
            </a:r>
          </a:p>
          <a:p>
            <a:pPr marL="274320" lvl="1" indent="0">
              <a:buNone/>
            </a:pPr>
            <a:r>
              <a:rPr lang="en-US" altLang="zh-TW" dirty="0"/>
              <a:t>	</a:t>
            </a:r>
            <a:r>
              <a:rPr lang="en-US" altLang="zh-TW" dirty="0">
                <a:solidFill>
                  <a:srgbClr val="FF0000"/>
                </a:solidFill>
              </a:rPr>
              <a:t>maker = maker</a:t>
            </a:r>
          </a:p>
          <a:p>
            <a:pPr marL="274320" lvl="1" indent="0">
              <a:buNone/>
            </a:pPr>
            <a:r>
              <a:rPr lang="en-US" altLang="zh-TW" dirty="0">
                <a:solidFill>
                  <a:srgbClr val="FF0000"/>
                </a:solidFill>
              </a:rPr>
              <a:t>	</a:t>
            </a:r>
            <a:r>
              <a:rPr lang="en-US" altLang="zh-TW" dirty="0" err="1">
                <a:solidFill>
                  <a:srgbClr val="FF0000"/>
                </a:solidFill>
              </a:rPr>
              <a:t>maker_name</a:t>
            </a:r>
            <a:r>
              <a:rPr lang="en-US" altLang="zh-TW" dirty="0">
                <a:solidFill>
                  <a:srgbClr val="FF0000"/>
                </a:solidFill>
              </a:rPr>
              <a:t> =  </a:t>
            </a:r>
            <a:r>
              <a:rPr lang="en-US" altLang="zh-TW" dirty="0" err="1">
                <a:solidFill>
                  <a:srgbClr val="FF0000"/>
                </a:solidFill>
              </a:rPr>
              <a:t>car_maker</a:t>
            </a:r>
            <a:r>
              <a:rPr lang="en-US" altLang="zh-TW" dirty="0">
                <a:solidFill>
                  <a:srgbClr val="FF0000"/>
                </a:solidFill>
              </a:rPr>
              <a:t>[maker]</a:t>
            </a:r>
          </a:p>
          <a:p>
            <a:pPr marL="274320" lvl="1" indent="0">
              <a:buNone/>
            </a:pPr>
            <a:r>
              <a:rPr lang="en-US" altLang="zh-TW" dirty="0">
                <a:solidFill>
                  <a:srgbClr val="FF0000"/>
                </a:solidFill>
              </a:rPr>
              <a:t>	cars = </a:t>
            </a:r>
            <a:r>
              <a:rPr lang="en-US" altLang="zh-TW" dirty="0" err="1">
                <a:solidFill>
                  <a:srgbClr val="FF0000"/>
                </a:solidFill>
              </a:rPr>
              <a:t>car_list</a:t>
            </a:r>
            <a:r>
              <a:rPr lang="en-US" altLang="zh-TW" dirty="0">
                <a:solidFill>
                  <a:srgbClr val="FF0000"/>
                </a:solidFill>
              </a:rPr>
              <a:t>[maker]</a:t>
            </a:r>
          </a:p>
          <a:p>
            <a:pPr marL="274320" lvl="1" indent="0">
              <a:buNone/>
            </a:pPr>
            <a:r>
              <a:rPr lang="en-US" altLang="zh-TW" dirty="0"/>
              <a:t>	return render(request, 'carlist.html', locals())</a:t>
            </a:r>
          </a:p>
          <a:p>
            <a:pPr lvl="1"/>
            <a:endParaRPr lang="zh-TW" altLang="zh-TW" dirty="0"/>
          </a:p>
        </p:txBody>
      </p:sp>
    </p:spTree>
    <p:extLst>
      <p:ext uri="{BB962C8B-B14F-4D97-AF65-F5344CB8AC3E}">
        <p14:creationId xmlns:p14="http://schemas.microsoft.com/office/powerpoint/2010/main" val="39031708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迴圈指令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63</a:t>
            </a:fld>
            <a:endParaRPr lang="zh-TW" altLang="en-US"/>
          </a:p>
        </p:txBody>
      </p:sp>
      <p:sp>
        <p:nvSpPr>
          <p:cNvPr id="4" name="內容版面配置區 3"/>
          <p:cNvSpPr>
            <a:spLocks noGrp="1"/>
          </p:cNvSpPr>
          <p:nvPr>
            <p:ph sz="quarter" idx="1"/>
          </p:nvPr>
        </p:nvSpPr>
        <p:spPr>
          <a:xfrm>
            <a:off x="301752" y="1527048"/>
            <a:ext cx="8662736" cy="5142312"/>
          </a:xfrm>
        </p:spPr>
        <p:txBody>
          <a:bodyPr>
            <a:normAutofit fontScale="85000" lnSpcReduction="20000"/>
          </a:bodyPr>
          <a:lstStyle/>
          <a:p>
            <a:r>
              <a:rPr lang="en-US" altLang="zh-TW" dirty="0"/>
              <a:t>carlist.html</a:t>
            </a:r>
            <a:r>
              <a:rPr lang="zh-TW" altLang="zh-TW" dirty="0"/>
              <a:t>的內容如下：</a:t>
            </a:r>
            <a:endParaRPr lang="en-US" altLang="zh-TW" dirty="0"/>
          </a:p>
          <a:p>
            <a:pPr marL="0" indent="0">
              <a:buNone/>
            </a:pPr>
            <a:r>
              <a:rPr lang="en-US" altLang="zh-TW" sz="1900" kern="100" dirty="0">
                <a:effectLst/>
                <a:latin typeface="Courier New" panose="02070309020205020404" pitchFamily="49" charset="0"/>
                <a:ea typeface="標楷體" panose="03000509000000000000" pitchFamily="65" charset="-120"/>
              </a:rPr>
              <a:t>&lt;!-- carlist.html (ch06 project) --&gt;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&lt;!DOCTYPE html&gt;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&lt;html&gt;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&lt;head&gt;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&lt;meta charset='utf-8'&gt;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&lt;title&gt;</a:t>
            </a:r>
            <a:r>
              <a:rPr lang="zh-TW" altLang="zh-TW" sz="1900" kern="100" dirty="0">
                <a:effectLst/>
                <a:latin typeface="Courier New" panose="02070309020205020404" pitchFamily="49" charset="0"/>
                <a:ea typeface="標楷體" panose="03000509000000000000" pitchFamily="65" charset="-120"/>
              </a:rPr>
              <a:t>二手車賣場</a:t>
            </a:r>
            <a:r>
              <a:rPr lang="en-US" altLang="zh-TW" sz="1900" kern="100" dirty="0">
                <a:effectLst/>
                <a:latin typeface="Courier New" panose="02070309020205020404" pitchFamily="49" charset="0"/>
                <a:ea typeface="標楷體" panose="03000509000000000000" pitchFamily="65" charset="-120"/>
              </a:rPr>
              <a:t>&lt;/title&gt;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&lt;/head&gt;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&lt;body&gt;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&lt;h2&gt;</a:t>
            </a:r>
            <a:r>
              <a:rPr lang="zh-TW" altLang="zh-TW" sz="1900" kern="100" dirty="0">
                <a:effectLst/>
                <a:latin typeface="Courier New" panose="02070309020205020404" pitchFamily="49" charset="0"/>
                <a:ea typeface="標楷體" panose="03000509000000000000" pitchFamily="65" charset="-120"/>
              </a:rPr>
              <a:t>歡迎光臨</a:t>
            </a:r>
            <a:r>
              <a:rPr lang="en-US" altLang="zh-TW" sz="1900" kern="100" dirty="0">
                <a:effectLst/>
                <a:latin typeface="Courier New" panose="02070309020205020404" pitchFamily="49" charset="0"/>
                <a:ea typeface="標楷體" panose="03000509000000000000" pitchFamily="65" charset="-120"/>
              </a:rPr>
              <a:t>DJ</a:t>
            </a:r>
            <a:r>
              <a:rPr lang="zh-TW" altLang="zh-TW" sz="1900" kern="100" dirty="0">
                <a:effectLst/>
                <a:latin typeface="Courier New" panose="02070309020205020404" pitchFamily="49" charset="0"/>
                <a:ea typeface="標楷體" panose="03000509000000000000" pitchFamily="65" charset="-120"/>
              </a:rPr>
              <a:t>二手車賣場</a:t>
            </a:r>
            <a:r>
              <a:rPr lang="en-US" altLang="zh-TW" sz="1900" kern="100" dirty="0">
                <a:effectLst/>
                <a:latin typeface="Courier New" panose="02070309020205020404" pitchFamily="49" charset="0"/>
                <a:ea typeface="標楷體" panose="03000509000000000000" pitchFamily="65" charset="-120"/>
              </a:rPr>
              <a:t>&lt;/h2&gt;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a:t>
            </a:r>
            <a:r>
              <a:rPr lang="en-US" altLang="zh-TW" sz="1900" kern="100" dirty="0">
                <a:solidFill>
                  <a:srgbClr val="FF0000"/>
                </a:solidFill>
                <a:effectLst/>
                <a:latin typeface="Courier New" panose="02070309020205020404" pitchFamily="49" charset="0"/>
                <a:ea typeface="標楷體" panose="03000509000000000000" pitchFamily="65" charset="-120"/>
              </a:rPr>
              <a:t>&lt;table&gt;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a:t>
            </a:r>
            <a:r>
              <a:rPr lang="en-US" altLang="zh-TW" sz="1900" kern="100" dirty="0">
                <a:solidFill>
                  <a:srgbClr val="FF0000"/>
                </a:solidFill>
                <a:effectLst/>
                <a:latin typeface="Courier New" panose="02070309020205020404" pitchFamily="49" charset="0"/>
                <a:ea typeface="標楷體" panose="03000509000000000000" pitchFamily="65" charset="-120"/>
              </a:rPr>
              <a:t>&lt;tr&gt;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 for </a:t>
            </a:r>
            <a:r>
              <a:rPr lang="en-US" altLang="zh-TW" sz="1900" kern="100" dirty="0">
                <a:latin typeface="Courier New" panose="02070309020205020404" pitchFamily="49" charset="0"/>
                <a:ea typeface="標楷體" panose="03000509000000000000" pitchFamily="65" charset="-120"/>
              </a:rPr>
              <a:t>maker</a:t>
            </a:r>
            <a:r>
              <a:rPr lang="en-US" altLang="zh-TW" sz="1900" kern="100" dirty="0">
                <a:effectLst/>
                <a:latin typeface="Courier New" panose="02070309020205020404" pitchFamily="49" charset="0"/>
                <a:ea typeface="標楷體" panose="03000509000000000000" pitchFamily="65" charset="-120"/>
              </a:rPr>
              <a:t> in </a:t>
            </a:r>
            <a:r>
              <a:rPr lang="en-US" altLang="zh-TW" sz="1900" kern="100" dirty="0" err="1">
                <a:effectLst/>
                <a:latin typeface="Courier New" panose="02070309020205020404" pitchFamily="49" charset="0"/>
                <a:ea typeface="標楷體" panose="03000509000000000000" pitchFamily="65" charset="-120"/>
              </a:rPr>
              <a:t>car_maker</a:t>
            </a:r>
            <a:r>
              <a:rPr lang="en-US" altLang="zh-TW" sz="1900" kern="100" dirty="0">
                <a:effectLst/>
                <a:latin typeface="Courier New" panose="02070309020205020404" pitchFamily="49" charset="0"/>
                <a:ea typeface="標楷體" panose="03000509000000000000" pitchFamily="65" charset="-120"/>
              </a:rPr>
              <a:t> %}</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&lt;td </a:t>
            </a:r>
            <a:r>
              <a:rPr lang="en-US" altLang="zh-TW" sz="1900" kern="100" dirty="0" err="1">
                <a:effectLst/>
                <a:latin typeface="Courier New" panose="02070309020205020404" pitchFamily="49" charset="0"/>
                <a:ea typeface="標楷體" panose="03000509000000000000" pitchFamily="65" charset="-120"/>
              </a:rPr>
              <a:t>bgcolor</a:t>
            </a:r>
            <a:r>
              <a:rPr lang="en-US" altLang="zh-TW" sz="1900" kern="100" dirty="0">
                <a:effectLst/>
                <a:latin typeface="Courier New" panose="02070309020205020404" pitchFamily="49" charset="0"/>
                <a:ea typeface="標楷體" panose="03000509000000000000" pitchFamily="65" charset="-120"/>
              </a:rPr>
              <a:t>="#</a:t>
            </a:r>
            <a:r>
              <a:rPr lang="en-US" altLang="zh-TW" sz="1900" kern="100" dirty="0" err="1">
                <a:effectLst/>
                <a:latin typeface="Courier New" panose="02070309020205020404" pitchFamily="49" charset="0"/>
                <a:ea typeface="標楷體" panose="03000509000000000000" pitchFamily="65" charset="-120"/>
              </a:rPr>
              <a:t>ccffcc</a:t>
            </a:r>
            <a:r>
              <a:rPr lang="en-US" altLang="zh-TW" sz="1900" kern="100" dirty="0">
                <a:effectLst/>
                <a:latin typeface="Courier New" panose="02070309020205020404" pitchFamily="49" charset="0"/>
                <a:ea typeface="標楷體" panose="03000509000000000000" pitchFamily="65" charset="-120"/>
              </a:rPr>
              <a:t>"&gt;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&lt;a </a:t>
            </a:r>
            <a:r>
              <a:rPr lang="en-US" altLang="zh-TW" sz="1900" kern="100" dirty="0" err="1">
                <a:effectLst/>
                <a:latin typeface="Courier New" panose="02070309020205020404" pitchFamily="49" charset="0"/>
                <a:ea typeface="標楷體" panose="03000509000000000000" pitchFamily="65" charset="-120"/>
              </a:rPr>
              <a:t>href</a:t>
            </a:r>
            <a:r>
              <a:rPr lang="en-US" altLang="zh-TW" sz="1900" kern="100" dirty="0">
                <a:effectLst/>
                <a:latin typeface="Courier New" panose="02070309020205020404" pitchFamily="49" charset="0"/>
                <a:ea typeface="標楷體" panose="03000509000000000000" pitchFamily="65" charset="-120"/>
              </a:rPr>
              <a:t>="{% </a:t>
            </a:r>
            <a:r>
              <a:rPr lang="en-US" altLang="zh-TW" sz="1900" kern="100" dirty="0" err="1">
                <a:effectLst/>
                <a:latin typeface="Courier New" panose="02070309020205020404" pitchFamily="49" charset="0"/>
                <a:ea typeface="標楷體" panose="03000509000000000000" pitchFamily="65" charset="-120"/>
              </a:rPr>
              <a:t>url</a:t>
            </a:r>
            <a:r>
              <a:rPr lang="en-US" altLang="zh-TW" sz="1900" kern="100" dirty="0">
                <a:effectLst/>
                <a:latin typeface="Courier New" panose="02070309020205020404" pitchFamily="49" charset="0"/>
                <a:ea typeface="標楷體" panose="03000509000000000000" pitchFamily="65" charset="-120"/>
              </a:rPr>
              <a:t> '</a:t>
            </a:r>
            <a:r>
              <a:rPr lang="en-US" altLang="zh-TW" sz="1900" kern="100" dirty="0" err="1">
                <a:effectLst/>
                <a:latin typeface="Courier New" panose="02070309020205020404" pitchFamily="49" charset="0"/>
                <a:ea typeface="標楷體" panose="03000509000000000000" pitchFamily="65" charset="-120"/>
              </a:rPr>
              <a:t>carlist-url</a:t>
            </a:r>
            <a:r>
              <a:rPr lang="en-US" altLang="zh-TW" sz="1900" kern="100" dirty="0">
                <a:effectLst/>
                <a:latin typeface="Courier New" panose="02070309020205020404" pitchFamily="49" charset="0"/>
                <a:ea typeface="標楷體" panose="03000509000000000000" pitchFamily="65" charset="-120"/>
              </a:rPr>
              <a:t>' </a:t>
            </a:r>
            <a:r>
              <a:rPr lang="en-US" altLang="zh-TW" sz="1900" kern="100" dirty="0">
                <a:solidFill>
                  <a:srgbClr val="FF0000"/>
                </a:solidFill>
                <a:effectLst/>
                <a:latin typeface="Courier New" panose="02070309020205020404" pitchFamily="49" charset="0"/>
                <a:ea typeface="標楷體" panose="03000509000000000000" pitchFamily="65" charset="-120"/>
              </a:rPr>
              <a:t>forloop.counter0 </a:t>
            </a:r>
            <a:r>
              <a:rPr lang="en-US" altLang="zh-TW" sz="1900" kern="100" dirty="0">
                <a:effectLst/>
                <a:latin typeface="Courier New" panose="02070309020205020404" pitchFamily="49" charset="0"/>
                <a:ea typeface="標楷體" panose="03000509000000000000" pitchFamily="65" charset="-120"/>
              </a:rPr>
              <a:t>%}"&gt;{{maker}}&lt;/a&gt;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&lt;/td&gt;</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effectLst/>
                <a:latin typeface="Courier New" panose="02070309020205020404" pitchFamily="49" charset="0"/>
                <a:ea typeface="標楷體" panose="03000509000000000000" pitchFamily="65" charset="-120"/>
              </a:rPr>
              <a:t>    {% </a:t>
            </a:r>
            <a:r>
              <a:rPr lang="en-US" altLang="zh-TW" sz="1900" kern="100" dirty="0" err="1">
                <a:effectLst/>
                <a:latin typeface="Courier New" panose="02070309020205020404" pitchFamily="49" charset="0"/>
                <a:ea typeface="標楷體" panose="03000509000000000000" pitchFamily="65" charset="-120"/>
              </a:rPr>
              <a:t>endfor</a:t>
            </a:r>
            <a:r>
              <a:rPr lang="en-US" altLang="zh-TW" sz="1900" kern="100" dirty="0">
                <a:effectLst/>
                <a:latin typeface="Courier New" panose="02070309020205020404" pitchFamily="49" charset="0"/>
                <a:ea typeface="標楷體" panose="03000509000000000000" pitchFamily="65" charset="-120"/>
              </a:rPr>
              <a:t> %}</a:t>
            </a:r>
            <a:endParaRPr lang="zh-TW" altLang="zh-TW" sz="1900" kern="100" dirty="0">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        &lt;/tr&gt;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900" kern="100" dirty="0">
                <a:solidFill>
                  <a:srgbClr val="FF0000"/>
                </a:solidFill>
                <a:effectLst/>
                <a:latin typeface="Courier New" panose="02070309020205020404" pitchFamily="49" charset="0"/>
                <a:ea typeface="標楷體" panose="03000509000000000000" pitchFamily="65" charset="-120"/>
              </a:rPr>
              <a:t>    &lt;/table&gt;</a:t>
            </a:r>
            <a:endParaRPr lang="zh-TW" altLang="zh-TW" sz="19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endParaRPr lang="zh-TW" altLang="en-US" dirty="0"/>
          </a:p>
        </p:txBody>
      </p:sp>
    </p:spTree>
    <p:extLst>
      <p:ext uri="{BB962C8B-B14F-4D97-AF65-F5344CB8AC3E}">
        <p14:creationId xmlns:p14="http://schemas.microsoft.com/office/powerpoint/2010/main" val="39453351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迴圈指令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64</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lnSpcReduction="10000"/>
          </a:bodyPr>
          <a:lstStyle/>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if cars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&lt;table&gt;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&lt;tr&gt;&lt;td&gt;</a:t>
            </a:r>
            <a:r>
              <a:rPr lang="zh-TW" altLang="zh-TW" sz="1800" kern="100" dirty="0">
                <a:effectLst/>
                <a:latin typeface="Courier New" panose="02070309020205020404" pitchFamily="49" charset="0"/>
                <a:ea typeface="標楷體" panose="03000509000000000000" pitchFamily="65" charset="-120"/>
              </a:rPr>
              <a:t>車廠</a:t>
            </a:r>
            <a:r>
              <a:rPr lang="en-US" altLang="zh-TW" sz="1800" kern="100" dirty="0">
                <a:effectLst/>
                <a:latin typeface="Courier New" panose="02070309020205020404" pitchFamily="49" charset="0"/>
                <a:ea typeface="標楷體" panose="03000509000000000000" pitchFamily="65" charset="-120"/>
              </a:rPr>
              <a:t>&lt;/td&gt;&lt;td&gt;</a:t>
            </a:r>
            <a:r>
              <a:rPr lang="zh-TW" altLang="zh-TW" sz="1800" kern="100" dirty="0">
                <a:effectLst/>
                <a:latin typeface="Courier New" panose="02070309020205020404" pitchFamily="49" charset="0"/>
                <a:ea typeface="標楷體" panose="03000509000000000000" pitchFamily="65" charset="-120"/>
              </a:rPr>
              <a:t>車款</a:t>
            </a:r>
            <a:r>
              <a:rPr lang="en-US" altLang="zh-TW" sz="1800" kern="100" dirty="0">
                <a:effectLst/>
                <a:latin typeface="Courier New" panose="02070309020205020404" pitchFamily="49" charset="0"/>
                <a:ea typeface="標楷體" panose="03000509000000000000" pitchFamily="65" charset="-120"/>
              </a:rPr>
              <a:t>&lt;/td&gt;&lt;/tr&gt;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endif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for c in cars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 </a:t>
            </a:r>
            <a:r>
              <a:rPr lang="en-US" altLang="zh-TW" sz="1800" kern="100" dirty="0" err="1">
                <a:effectLst/>
                <a:latin typeface="Courier New" panose="02070309020205020404" pitchFamily="49" charset="0"/>
                <a:ea typeface="標楷體" panose="03000509000000000000" pitchFamily="65" charset="-120"/>
              </a:rPr>
              <a:t>bgcolor</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cycle</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eeeeee</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cccccc</a:t>
            </a:r>
            <a:r>
              <a:rPr lang="en-US" altLang="zh-TW" sz="1800" kern="100" dirty="0">
                <a:effectLst/>
                <a:latin typeface="Courier New" panose="02070309020205020404" pitchFamily="49" charset="0"/>
                <a:ea typeface="標楷體" panose="03000509000000000000" pitchFamily="65" charset="-120"/>
              </a:rPr>
              <a: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en-US" altLang="zh-TW" sz="1800" kern="100" dirty="0" err="1">
                <a:effectLst/>
                <a:latin typeface="Courier New" panose="02070309020205020404" pitchFamily="49" charset="0"/>
                <a:ea typeface="標楷體" panose="03000509000000000000" pitchFamily="65" charset="-120"/>
              </a:rPr>
              <a:t>maker_name</a:t>
            </a:r>
            <a:r>
              <a:rPr lang="en-US" altLang="zh-TW" sz="1800" kern="100" dirty="0">
                <a:effectLst/>
                <a:latin typeface="Courier New" panose="02070309020205020404" pitchFamily="49" charset="0"/>
                <a:ea typeface="標楷體" panose="03000509000000000000" pitchFamily="65" charset="-120"/>
              </a:rPr>
              <a:t>}}&lt;/td&gt;&lt;td&gt;{{ c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a:solidFill>
                  <a:srgbClr val="FF0000"/>
                </a:solidFill>
                <a:effectLst/>
                <a:latin typeface="Courier New" panose="02070309020205020404" pitchFamily="49" charset="0"/>
                <a:ea typeface="標楷體" panose="03000509000000000000" pitchFamily="65" charset="-120"/>
              </a:rPr>
              <a:t>empty</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&lt;h3&gt;</a:t>
            </a:r>
            <a:r>
              <a:rPr lang="zh-TW" altLang="zh-TW" sz="1800" kern="100" dirty="0">
                <a:effectLst/>
                <a:latin typeface="Courier New" panose="02070309020205020404" pitchFamily="49" charset="0"/>
                <a:ea typeface="標楷體" panose="03000509000000000000" pitchFamily="65" charset="-120"/>
              </a:rPr>
              <a:t>車廠</a:t>
            </a:r>
            <a:r>
              <a:rPr lang="en-US" altLang="zh-TW" sz="1800" kern="100" dirty="0">
                <a:effectLst/>
                <a:latin typeface="Courier New" panose="02070309020205020404" pitchFamily="49" charset="0"/>
                <a:ea typeface="標楷體" panose="03000509000000000000" pitchFamily="65" charset="-120"/>
              </a:rPr>
              <a:t>&lt;</a:t>
            </a:r>
            <a:r>
              <a:rPr lang="en-US" altLang="zh-TW" sz="1800" kern="100" dirty="0" err="1">
                <a:effectLst/>
                <a:latin typeface="Courier New" panose="02070309020205020404" pitchFamily="49" charset="0"/>
                <a:ea typeface="標楷體" panose="03000509000000000000" pitchFamily="65" charset="-120"/>
              </a:rPr>
              <a:t>em</a:t>
            </a:r>
            <a:r>
              <a:rPr lang="en-US" altLang="zh-TW" sz="1800" kern="100" dirty="0">
                <a:effectLst/>
                <a:latin typeface="Courier New" panose="02070309020205020404" pitchFamily="49" charset="0"/>
                <a:ea typeface="標楷體" panose="03000509000000000000" pitchFamily="65" charset="-120"/>
              </a:rPr>
              <a:t>&gt;{{</a:t>
            </a:r>
            <a:r>
              <a:rPr lang="en-US" altLang="zh-TW" sz="1800" kern="100" dirty="0" err="1">
                <a:effectLst/>
                <a:latin typeface="Courier New" panose="02070309020205020404" pitchFamily="49" charset="0"/>
                <a:ea typeface="標楷體" panose="03000509000000000000" pitchFamily="65" charset="-120"/>
              </a:rPr>
              <a:t>maker_name</a:t>
            </a:r>
            <a:r>
              <a:rPr lang="en-US" altLang="zh-TW" sz="1800" kern="100" dirty="0">
                <a:effectLst/>
                <a:latin typeface="Courier New" panose="02070309020205020404" pitchFamily="49" charset="0"/>
                <a:ea typeface="標楷體" panose="03000509000000000000" pitchFamily="65" charset="-120"/>
              </a:rPr>
              <a:t>}}&lt;/</a:t>
            </a:r>
            <a:r>
              <a:rPr lang="en-US" altLang="zh-TW" sz="1800" kern="100" dirty="0" err="1">
                <a:effectLst/>
                <a:latin typeface="Courier New" panose="02070309020205020404" pitchFamily="49" charset="0"/>
                <a:ea typeface="標楷體" panose="03000509000000000000" pitchFamily="65" charset="-120"/>
              </a:rPr>
              <a:t>em</a:t>
            </a:r>
            <a:r>
              <a:rPr lang="en-US" altLang="zh-TW" sz="1800" kern="100" dirty="0">
                <a:effectLst/>
                <a:latin typeface="Courier New" panose="02070309020205020404" pitchFamily="49" charset="0"/>
                <a:ea typeface="標楷體" panose="03000509000000000000" pitchFamily="65" charset="-120"/>
              </a:rPr>
              <a:t>&gt;</a:t>
            </a:r>
            <a:r>
              <a:rPr lang="zh-TW" altLang="zh-TW" sz="1800" kern="100" dirty="0">
                <a:effectLst/>
                <a:latin typeface="Courier New" panose="02070309020205020404" pitchFamily="49" charset="0"/>
                <a:ea typeface="標楷體" panose="03000509000000000000" pitchFamily="65" charset="-120"/>
              </a:rPr>
              <a:t>目前無庫存車</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if cars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&lt;/table&gt;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endif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&lt;/body&gt;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&lt;/html&gt;</a:t>
            </a:r>
            <a:endParaRPr lang="zh-TW" altLang="en-US" dirty="0"/>
          </a:p>
        </p:txBody>
      </p:sp>
    </p:spTree>
    <p:extLst>
      <p:ext uri="{BB962C8B-B14F-4D97-AF65-F5344CB8AC3E}">
        <p14:creationId xmlns:p14="http://schemas.microsoft.com/office/powerpoint/2010/main" val="14334073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迴圈指令</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65</a:t>
            </a:fld>
            <a:endParaRPr lang="zh-TW" altLang="en-US"/>
          </a:p>
        </p:txBody>
      </p:sp>
      <p:sp>
        <p:nvSpPr>
          <p:cNvPr id="4" name="內容版面配置區 3"/>
          <p:cNvSpPr>
            <a:spLocks noGrp="1"/>
          </p:cNvSpPr>
          <p:nvPr>
            <p:ph sz="quarter" idx="1"/>
          </p:nvPr>
        </p:nvSpPr>
        <p:spPr/>
        <p:txBody>
          <a:bodyPr>
            <a:normAutofit/>
          </a:bodyPr>
          <a:lstStyle/>
          <a:p>
            <a:r>
              <a:rPr lang="zh-TW" altLang="en-US" sz="2400" dirty="0"/>
              <a:t>顯示指定車廠之車款列表</a:t>
            </a:r>
          </a:p>
          <a:p>
            <a:endParaRPr lang="zh-TW" altLang="en-US" sz="2400" dirty="0"/>
          </a:p>
        </p:txBody>
      </p:sp>
      <p:sp>
        <p:nvSpPr>
          <p:cNvPr id="7" name="文字方塊 6"/>
          <p:cNvSpPr txBox="1"/>
          <p:nvPr/>
        </p:nvSpPr>
        <p:spPr>
          <a:xfrm>
            <a:off x="4716016" y="1527175"/>
            <a:ext cx="4185761" cy="461665"/>
          </a:xfrm>
          <a:prstGeom prst="rect">
            <a:avLst/>
          </a:prstGeom>
          <a:noFill/>
        </p:spPr>
        <p:txBody>
          <a:bodyPr wrap="none" rtlCol="0">
            <a:spAutoFit/>
          </a:bodyPr>
          <a:lstStyle/>
          <a:p>
            <a:r>
              <a:rPr lang="zh-TW" altLang="zh-TW" sz="2400" dirty="0"/>
              <a:t>指定車廠無車款時之顯示畫面</a:t>
            </a:r>
            <a:endParaRPr lang="zh-TW" altLang="en-US" sz="2400" dirty="0"/>
          </a:p>
        </p:txBody>
      </p:sp>
      <p:pic>
        <p:nvPicPr>
          <p:cNvPr id="8" name="圖片 7" descr="一張含有 文字 的圖片&#10;&#10;自動產生的描述">
            <a:extLst>
              <a:ext uri="{FF2B5EF4-FFF2-40B4-BE49-F238E27FC236}">
                <a16:creationId xmlns:a16="http://schemas.microsoft.com/office/drawing/2014/main" id="{70BC2941-431E-EEC8-31D8-35CE21914D13}"/>
              </a:ext>
            </a:extLst>
          </p:cNvPr>
          <p:cNvPicPr>
            <a:picLocks noChangeAspect="1"/>
          </p:cNvPicPr>
          <p:nvPr/>
        </p:nvPicPr>
        <p:blipFill>
          <a:blip r:embed="rId3"/>
          <a:stretch>
            <a:fillRect/>
          </a:stretch>
        </p:blipFill>
        <p:spPr>
          <a:xfrm>
            <a:off x="299677" y="2474003"/>
            <a:ext cx="4200315" cy="3523914"/>
          </a:xfrm>
          <a:prstGeom prst="rect">
            <a:avLst/>
          </a:prstGeom>
        </p:spPr>
      </p:pic>
      <p:pic>
        <p:nvPicPr>
          <p:cNvPr id="9" name="圖片 8" descr="一張含有 文字 的圖片&#10;&#10;自動產生的描述">
            <a:extLst>
              <a:ext uri="{FF2B5EF4-FFF2-40B4-BE49-F238E27FC236}">
                <a16:creationId xmlns:a16="http://schemas.microsoft.com/office/drawing/2014/main" id="{BECA3FC0-AE1B-BD73-CCE5-3524877F8144}"/>
              </a:ext>
            </a:extLst>
          </p:cNvPr>
          <p:cNvPicPr>
            <a:picLocks noChangeAspect="1"/>
          </p:cNvPicPr>
          <p:nvPr/>
        </p:nvPicPr>
        <p:blipFill>
          <a:blip r:embed="rId4"/>
          <a:stretch>
            <a:fillRect/>
          </a:stretch>
        </p:blipFill>
        <p:spPr>
          <a:xfrm>
            <a:off x="4679120" y="2470031"/>
            <a:ext cx="4215616" cy="3523913"/>
          </a:xfrm>
          <a:prstGeom prst="rect">
            <a:avLst/>
          </a:prstGeom>
        </p:spPr>
      </p:pic>
    </p:spTree>
    <p:extLst>
      <p:ext uri="{BB962C8B-B14F-4D97-AF65-F5344CB8AC3E}">
        <p14:creationId xmlns:p14="http://schemas.microsoft.com/office/powerpoint/2010/main" val="26975313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B41E4D-608B-C2A7-2A28-21545439369A}"/>
              </a:ext>
            </a:extLst>
          </p:cNvPr>
          <p:cNvSpPr>
            <a:spLocks noGrp="1"/>
          </p:cNvSpPr>
          <p:nvPr>
            <p:ph type="title"/>
          </p:nvPr>
        </p:nvSpPr>
        <p:spPr/>
        <p:txBody>
          <a:bodyPr/>
          <a:lstStyle/>
          <a:p>
            <a:r>
              <a:rPr lang="en-US" altLang="zh-TW"/>
              <a:t>forloop</a:t>
            </a:r>
            <a:r>
              <a:rPr lang="zh-TW" altLang="en-US"/>
              <a:t>的計數器相關變數</a:t>
            </a:r>
          </a:p>
        </p:txBody>
      </p:sp>
      <p:sp>
        <p:nvSpPr>
          <p:cNvPr id="3" name="投影片編號版面配置區 2">
            <a:extLst>
              <a:ext uri="{FF2B5EF4-FFF2-40B4-BE49-F238E27FC236}">
                <a16:creationId xmlns:a16="http://schemas.microsoft.com/office/drawing/2014/main" id="{A23C32BA-94E9-EF96-0A3E-F8309B78D04D}"/>
              </a:ext>
            </a:extLst>
          </p:cNvPr>
          <p:cNvSpPr>
            <a:spLocks noGrp="1"/>
          </p:cNvSpPr>
          <p:nvPr>
            <p:ph type="sldNum" sz="quarter" idx="12"/>
          </p:nvPr>
        </p:nvSpPr>
        <p:spPr/>
        <p:txBody>
          <a:bodyPr/>
          <a:lstStyle/>
          <a:p>
            <a:fld id="{369E457D-EE12-4164-8E32-9DDD40A95892}" type="slidenum">
              <a:rPr lang="zh-TW" altLang="en-US" smtClean="0"/>
              <a:pPr/>
              <a:t>66</a:t>
            </a:fld>
            <a:endParaRPr lang="zh-TW" altLang="en-US"/>
          </a:p>
        </p:txBody>
      </p:sp>
      <p:graphicFrame>
        <p:nvGraphicFramePr>
          <p:cNvPr id="5" name="內容版面配置區 4">
            <a:extLst>
              <a:ext uri="{FF2B5EF4-FFF2-40B4-BE49-F238E27FC236}">
                <a16:creationId xmlns:a16="http://schemas.microsoft.com/office/drawing/2014/main" id="{17E9F61C-918F-E121-EF0B-F78BCEB9295C}"/>
              </a:ext>
            </a:extLst>
          </p:cNvPr>
          <p:cNvGraphicFramePr>
            <a:graphicFrameLocks noGrp="1"/>
          </p:cNvGraphicFramePr>
          <p:nvPr>
            <p:ph sz="quarter" idx="1"/>
            <p:extLst>
              <p:ext uri="{D42A27DB-BD31-4B8C-83A1-F6EECF244321}">
                <p14:modId xmlns:p14="http://schemas.microsoft.com/office/powerpoint/2010/main" val="3367294634"/>
              </p:ext>
            </p:extLst>
          </p:nvPr>
        </p:nvGraphicFramePr>
        <p:xfrm>
          <a:off x="369980" y="1844824"/>
          <a:ext cx="8440616" cy="4265634"/>
        </p:xfrm>
        <a:graphic>
          <a:graphicData uri="http://schemas.openxmlformats.org/drawingml/2006/table">
            <a:tbl>
              <a:tblPr firstRow="1" firstCol="1" bandRow="1">
                <a:tableStyleId>{5C22544A-7EE6-4342-B048-85BDC9FD1C3A}</a:tableStyleId>
              </a:tblPr>
              <a:tblGrid>
                <a:gridCol w="3312368">
                  <a:extLst>
                    <a:ext uri="{9D8B030D-6E8A-4147-A177-3AD203B41FA5}">
                      <a16:colId xmlns:a16="http://schemas.microsoft.com/office/drawing/2014/main" val="4123821860"/>
                    </a:ext>
                  </a:extLst>
                </a:gridCol>
                <a:gridCol w="5128248">
                  <a:extLst>
                    <a:ext uri="{9D8B030D-6E8A-4147-A177-3AD203B41FA5}">
                      <a16:colId xmlns:a16="http://schemas.microsoft.com/office/drawing/2014/main" val="4105854117"/>
                    </a:ext>
                  </a:extLst>
                </a:gridCol>
              </a:tblGrid>
              <a:tr h="432048">
                <a:tc>
                  <a:txBody>
                    <a:bodyPr/>
                    <a:lstStyle/>
                    <a:p>
                      <a:pPr algn="just"/>
                      <a:r>
                        <a:rPr lang="en-US" sz="1800" kern="100">
                          <a:effectLst/>
                        </a:rPr>
                        <a:t>forloop</a:t>
                      </a:r>
                      <a:r>
                        <a:rPr lang="zh-TW" sz="1800" kern="100">
                          <a:effectLst/>
                        </a:rPr>
                        <a:t>變數名稱</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說明</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468783452"/>
                  </a:ext>
                </a:extLst>
              </a:tr>
              <a:tr h="432048">
                <a:tc>
                  <a:txBody>
                    <a:bodyPr/>
                    <a:lstStyle/>
                    <a:p>
                      <a:pPr algn="just"/>
                      <a:r>
                        <a:rPr lang="en-US" sz="1800" kern="100">
                          <a:effectLst/>
                        </a:rPr>
                        <a:t>forloop.counter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從</a:t>
                      </a:r>
                      <a:r>
                        <a:rPr lang="en-US" sz="1800" kern="100">
                          <a:effectLst/>
                        </a:rPr>
                        <a:t>1</a:t>
                      </a:r>
                      <a:r>
                        <a:rPr lang="zh-TW" sz="1800" kern="100">
                          <a:effectLst/>
                        </a:rPr>
                        <a:t>開始計算的當前計數器</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467795412"/>
                  </a:ext>
                </a:extLst>
              </a:tr>
              <a:tr h="432048">
                <a:tc>
                  <a:txBody>
                    <a:bodyPr/>
                    <a:lstStyle/>
                    <a:p>
                      <a:pPr algn="just"/>
                      <a:r>
                        <a:rPr lang="en-US" sz="1800" kern="100">
                          <a:effectLst/>
                        </a:rPr>
                        <a:t>forloop.counter0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從</a:t>
                      </a:r>
                      <a:r>
                        <a:rPr lang="en-US" sz="1800" kern="100">
                          <a:effectLst/>
                        </a:rPr>
                        <a:t>0</a:t>
                      </a:r>
                      <a:r>
                        <a:rPr lang="zh-TW" sz="1800" kern="100">
                          <a:effectLst/>
                        </a:rPr>
                        <a:t>開始計算的當前計數器</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643870292"/>
                  </a:ext>
                </a:extLst>
              </a:tr>
              <a:tr h="432048">
                <a:tc>
                  <a:txBody>
                    <a:bodyPr/>
                    <a:lstStyle/>
                    <a:p>
                      <a:pPr algn="just"/>
                      <a:r>
                        <a:rPr lang="en-US" sz="1800" kern="100">
                          <a:effectLst/>
                        </a:rPr>
                        <a:t>forloop.revcounter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從</a:t>
                      </a:r>
                      <a:r>
                        <a:rPr lang="en-US" sz="1800" kern="100">
                          <a:effectLst/>
                        </a:rPr>
                        <a:t>1</a:t>
                      </a:r>
                      <a:r>
                        <a:rPr lang="zh-TW" sz="1800" kern="100">
                          <a:effectLst/>
                        </a:rPr>
                        <a:t>開始索引的當前倒數計數器</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24208691"/>
                  </a:ext>
                </a:extLst>
              </a:tr>
              <a:tr h="576066">
                <a:tc>
                  <a:txBody>
                    <a:bodyPr/>
                    <a:lstStyle/>
                    <a:p>
                      <a:pPr algn="just"/>
                      <a:r>
                        <a:rPr lang="en-US" sz="1800" kern="100">
                          <a:effectLst/>
                        </a:rPr>
                        <a:t>forloop.revcounter0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從</a:t>
                      </a:r>
                      <a:r>
                        <a:rPr lang="en-US" sz="1800" kern="100">
                          <a:effectLst/>
                        </a:rPr>
                        <a:t>0</a:t>
                      </a:r>
                      <a:r>
                        <a:rPr lang="zh-TW" sz="1800" kern="100">
                          <a:effectLst/>
                        </a:rPr>
                        <a:t>開始索引的當前倒數計數器</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906860998"/>
                  </a:ext>
                </a:extLst>
              </a:tr>
              <a:tr h="432048">
                <a:tc>
                  <a:txBody>
                    <a:bodyPr/>
                    <a:lstStyle/>
                    <a:p>
                      <a:pPr algn="just"/>
                      <a:r>
                        <a:rPr lang="en-US" sz="1800" kern="100">
                          <a:effectLst/>
                        </a:rPr>
                        <a:t>forloop.first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如果現在是迴圈的第</a:t>
                      </a:r>
                      <a:r>
                        <a:rPr lang="en-US" sz="1800" kern="100">
                          <a:effectLst/>
                        </a:rPr>
                        <a:t>1</a:t>
                      </a:r>
                      <a:r>
                        <a:rPr lang="zh-TW" sz="1800" kern="100">
                          <a:effectLst/>
                        </a:rPr>
                        <a:t>圈，則它的內容為</a:t>
                      </a:r>
                      <a:r>
                        <a:rPr lang="en-US" sz="1800" kern="100">
                          <a:effectLst/>
                        </a:rPr>
                        <a:t>True</a:t>
                      </a:r>
                      <a:r>
                        <a:rPr lang="zh-TW" sz="1800" kern="100">
                          <a:effectLst/>
                        </a:rPr>
                        <a:t>，否則為</a:t>
                      </a:r>
                      <a:r>
                        <a:rPr lang="en-US" sz="1800" kern="100">
                          <a:effectLst/>
                        </a:rPr>
                        <a:t>False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449218300"/>
                  </a:ext>
                </a:extLst>
              </a:tr>
              <a:tr h="432048">
                <a:tc>
                  <a:txBody>
                    <a:bodyPr/>
                    <a:lstStyle/>
                    <a:p>
                      <a:pPr algn="just"/>
                      <a:r>
                        <a:rPr lang="en-US" sz="1800" kern="100">
                          <a:effectLst/>
                        </a:rPr>
                        <a:t>forloop.last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如果現在是迴圈的最後</a:t>
                      </a:r>
                      <a:r>
                        <a:rPr lang="en-US" sz="1800" kern="100">
                          <a:effectLst/>
                        </a:rPr>
                        <a:t>1</a:t>
                      </a:r>
                      <a:r>
                        <a:rPr lang="zh-TW" sz="1800" kern="100">
                          <a:effectLst/>
                        </a:rPr>
                        <a:t>圈，則它的內容為</a:t>
                      </a:r>
                      <a:r>
                        <a:rPr lang="en-US" sz="1800" kern="100">
                          <a:effectLst/>
                        </a:rPr>
                        <a:t>True</a:t>
                      </a:r>
                      <a:r>
                        <a:rPr lang="zh-TW" sz="1800" kern="100">
                          <a:effectLst/>
                        </a:rPr>
                        <a:t>，否則為</a:t>
                      </a:r>
                      <a:r>
                        <a:rPr lang="en-US" sz="1800" kern="100">
                          <a:effectLst/>
                        </a:rPr>
                        <a:t>False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85308274"/>
                  </a:ext>
                </a:extLst>
              </a:tr>
              <a:tr h="864096">
                <a:tc>
                  <a:txBody>
                    <a:bodyPr/>
                    <a:lstStyle/>
                    <a:p>
                      <a:pPr algn="just"/>
                      <a:r>
                        <a:rPr lang="en-US" sz="1800" kern="100">
                          <a:effectLst/>
                        </a:rPr>
                        <a:t>forloop.parentloop</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r>
                        <a:rPr lang="zh-TW" sz="1800" kern="100">
                          <a:effectLst/>
                        </a:rPr>
                        <a:t>如果是在巢狀迴圈的狀態下，可以讓內層的迴圈瞭解目前外層迴圈的當前計數</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829109753"/>
                  </a:ext>
                </a:extLst>
              </a:tr>
            </a:tbl>
          </a:graphicData>
        </a:graphic>
      </p:graphicFrame>
    </p:spTree>
    <p:extLst>
      <p:ext uri="{BB962C8B-B14F-4D97-AF65-F5344CB8AC3E}">
        <p14:creationId xmlns:p14="http://schemas.microsoft.com/office/powerpoint/2010/main" val="1122753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過濾器與其它的語法標記</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67</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754814838"/>
              </p:ext>
            </p:extLst>
          </p:nvPr>
        </p:nvGraphicFramePr>
        <p:xfrm>
          <a:off x="179512" y="1412776"/>
          <a:ext cx="8784977" cy="5426761"/>
        </p:xfrm>
        <a:graphic>
          <a:graphicData uri="http://schemas.openxmlformats.org/drawingml/2006/table">
            <a:tbl>
              <a:tblPr firstRow="1" firstCol="1" bandRow="1">
                <a:tableStyleId>{5C22544A-7EE6-4342-B048-85BDC9FD1C3A}</a:tableStyleId>
              </a:tblPr>
              <a:tblGrid>
                <a:gridCol w="1800200">
                  <a:extLst>
                    <a:ext uri="{9D8B030D-6E8A-4147-A177-3AD203B41FA5}">
                      <a16:colId xmlns:a16="http://schemas.microsoft.com/office/drawing/2014/main" val="20000"/>
                    </a:ext>
                  </a:extLst>
                </a:gridCol>
                <a:gridCol w="1894493">
                  <a:extLst>
                    <a:ext uri="{9D8B030D-6E8A-4147-A177-3AD203B41FA5}">
                      <a16:colId xmlns:a16="http://schemas.microsoft.com/office/drawing/2014/main" val="20001"/>
                    </a:ext>
                  </a:extLst>
                </a:gridCol>
                <a:gridCol w="5090284">
                  <a:extLst>
                    <a:ext uri="{9D8B030D-6E8A-4147-A177-3AD203B41FA5}">
                      <a16:colId xmlns:a16="http://schemas.microsoft.com/office/drawing/2014/main" val="20002"/>
                    </a:ext>
                  </a:extLst>
                </a:gridCol>
              </a:tblGrid>
              <a:tr h="333037">
                <a:tc>
                  <a:txBody>
                    <a:bodyPr/>
                    <a:lstStyle/>
                    <a:p>
                      <a:pPr algn="just">
                        <a:spcBef>
                          <a:spcPts val="600"/>
                        </a:spcBef>
                        <a:spcAft>
                          <a:spcPts val="600"/>
                        </a:spcAft>
                      </a:pPr>
                      <a:r>
                        <a:rPr lang="zh-TW" sz="1800" kern="100" dirty="0">
                          <a:effectLst/>
                        </a:rPr>
                        <a:t>過濾器名稱</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用法</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範例</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66074">
                <a:tc>
                  <a:txBody>
                    <a:bodyPr/>
                    <a:lstStyle/>
                    <a:p>
                      <a:pPr algn="just">
                        <a:spcBef>
                          <a:spcPts val="600"/>
                        </a:spcBef>
                        <a:spcAft>
                          <a:spcPts val="600"/>
                        </a:spcAft>
                      </a:pPr>
                      <a:r>
                        <a:rPr lang="en-US" sz="1800" kern="100" dirty="0" err="1">
                          <a:effectLst/>
                        </a:rPr>
                        <a:t>addslashes</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為字串需要的地方加上跳脫字元</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msg | </a:t>
                      </a:r>
                      <a:r>
                        <a:rPr lang="en-US" sz="1800" kern="100" dirty="0" err="1">
                          <a:effectLst/>
                        </a:rPr>
                        <a:t>addslashes</a:t>
                      </a:r>
                      <a:r>
                        <a:rPr lang="en-US" sz="1800" kern="100" dirty="0">
                          <a:effectLst/>
                        </a:rPr>
                        <a:t>}}</a:t>
                      </a:r>
                      <a:r>
                        <a:rPr lang="zh-TW" sz="1800" kern="100" dirty="0">
                          <a:effectLst/>
                        </a:rPr>
                        <a:t>。如</a:t>
                      </a:r>
                      <a:r>
                        <a:rPr lang="en-US" sz="1800" kern="100" dirty="0">
                          <a:effectLst/>
                        </a:rPr>
                        <a:t>msg</a:t>
                      </a:r>
                      <a:r>
                        <a:rPr lang="zh-TW" sz="1800" kern="100" dirty="0">
                          <a:effectLst/>
                        </a:rPr>
                        <a:t>的內容為</a:t>
                      </a:r>
                      <a:r>
                        <a:rPr lang="en-US" sz="1800" kern="100" dirty="0">
                          <a:effectLst/>
                        </a:rPr>
                        <a:t>”It’s a cat”</a:t>
                      </a:r>
                      <a:r>
                        <a:rPr lang="zh-TW" sz="1800" kern="100" dirty="0">
                          <a:effectLst/>
                        </a:rPr>
                        <a:t>會變為</a:t>
                      </a:r>
                      <a:r>
                        <a:rPr lang="en-US" sz="1800" kern="100" dirty="0">
                          <a:effectLst/>
                        </a:rPr>
                        <a:t>”It\’s a cat”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66074">
                <a:tc>
                  <a:txBody>
                    <a:bodyPr/>
                    <a:lstStyle/>
                    <a:p>
                      <a:pPr algn="just">
                        <a:spcBef>
                          <a:spcPts val="600"/>
                        </a:spcBef>
                        <a:spcAft>
                          <a:spcPts val="600"/>
                        </a:spcAft>
                      </a:pPr>
                      <a:r>
                        <a:rPr lang="en-US" sz="1800" kern="100" dirty="0" err="1">
                          <a:effectLst/>
                        </a:rPr>
                        <a:t>capfirst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為字串加上首字</a:t>
                      </a:r>
                      <a:r>
                        <a:rPr lang="zh-TW" sz="1800" kern="100" dirty="0">
                          <a:solidFill>
                            <a:srgbClr val="FF0000"/>
                          </a:solidFill>
                          <a:effectLst/>
                        </a:rPr>
                        <a:t>大寫</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msg | </a:t>
                      </a:r>
                      <a:r>
                        <a:rPr lang="en-US" sz="1800" kern="100" dirty="0" err="1">
                          <a:effectLst/>
                        </a:rPr>
                        <a:t>capfirst</a:t>
                      </a:r>
                      <a:r>
                        <a:rPr lang="en-US" sz="1800" kern="100" dirty="0">
                          <a:effectLst/>
                        </a:rPr>
                        <a:t> }}</a:t>
                      </a:r>
                      <a:r>
                        <a:rPr lang="zh-TW" sz="1800" kern="100" dirty="0">
                          <a:effectLst/>
                        </a:rPr>
                        <a:t>。如</a:t>
                      </a:r>
                      <a:r>
                        <a:rPr lang="en-US" sz="1800" kern="100" dirty="0">
                          <a:effectLst/>
                        </a:rPr>
                        <a:t>msg</a:t>
                      </a:r>
                      <a:r>
                        <a:rPr lang="zh-TW" sz="1800" kern="100" dirty="0">
                          <a:effectLst/>
                        </a:rPr>
                        <a:t>的內容為</a:t>
                      </a:r>
                      <a:r>
                        <a:rPr lang="en-US" sz="1800" kern="100" dirty="0">
                          <a:effectLst/>
                        </a:rPr>
                        <a:t>”</a:t>
                      </a:r>
                      <a:r>
                        <a:rPr lang="en-US" sz="1800" kern="100" dirty="0" err="1">
                          <a:effectLst/>
                        </a:rPr>
                        <a:t>django</a:t>
                      </a:r>
                      <a:r>
                        <a:rPr lang="en-US" sz="1800" kern="100" dirty="0">
                          <a:effectLst/>
                        </a:rPr>
                        <a:t>”</a:t>
                      </a:r>
                      <a:r>
                        <a:rPr lang="zh-TW" sz="1800" kern="100" dirty="0">
                          <a:effectLst/>
                        </a:rPr>
                        <a:t>，會變為</a:t>
                      </a:r>
                      <a:r>
                        <a:rPr lang="en-US" sz="1800" kern="100" dirty="0">
                          <a:effectLst/>
                        </a:rPr>
                        <a:t>”Django”</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999111">
                <a:tc>
                  <a:txBody>
                    <a:bodyPr/>
                    <a:lstStyle/>
                    <a:p>
                      <a:pPr algn="just">
                        <a:spcBef>
                          <a:spcPts val="600"/>
                        </a:spcBef>
                        <a:spcAft>
                          <a:spcPts val="600"/>
                        </a:spcAft>
                      </a:pPr>
                      <a:r>
                        <a:rPr lang="en-US" sz="1800" kern="100">
                          <a:effectLst/>
                        </a:rPr>
                        <a:t>center, ljust, rjust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為字串內容加上指定空格之後置中，靠左、靠右</a:t>
                      </a:r>
                      <a:r>
                        <a:rPr lang="zh-TW" sz="1800" kern="100" dirty="0">
                          <a:solidFill>
                            <a:srgbClr val="FF0000"/>
                          </a:solidFill>
                          <a:effectLst/>
                        </a:rPr>
                        <a:t>對齊</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r>
                        <a:rPr lang="en-US" sz="1800" kern="100" dirty="0" err="1">
                          <a:effectLst/>
                        </a:rPr>
                        <a:t>msg</a:t>
                      </a:r>
                      <a:r>
                        <a:rPr lang="en-US" sz="1800" kern="100" dirty="0">
                          <a:effectLst/>
                        </a:rPr>
                        <a:t> | center:”15”}}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66074">
                <a:tc>
                  <a:txBody>
                    <a:bodyPr/>
                    <a:lstStyle/>
                    <a:p>
                      <a:pPr algn="just">
                        <a:spcBef>
                          <a:spcPts val="600"/>
                        </a:spcBef>
                        <a:spcAft>
                          <a:spcPts val="600"/>
                        </a:spcAft>
                      </a:pPr>
                      <a:r>
                        <a:rPr lang="en-US" sz="1800" kern="100">
                          <a:effectLst/>
                        </a:rPr>
                        <a:t>cut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在字串中移除指定之子字串</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msg | cut:” “ }}</a:t>
                      </a:r>
                      <a:r>
                        <a:rPr lang="zh-TW" sz="1800" kern="100" dirty="0">
                          <a:effectLst/>
                        </a:rPr>
                        <a:t>。移除所有的空白</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332148">
                <a:tc>
                  <a:txBody>
                    <a:bodyPr/>
                    <a:lstStyle/>
                    <a:p>
                      <a:pPr algn="just">
                        <a:spcBef>
                          <a:spcPts val="600"/>
                        </a:spcBef>
                        <a:spcAft>
                          <a:spcPts val="600"/>
                        </a:spcAft>
                      </a:pPr>
                      <a:r>
                        <a:rPr lang="en-US" sz="1800" kern="100">
                          <a:effectLst/>
                        </a:rPr>
                        <a:t>date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設定日期的顯示格式</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value | </a:t>
                      </a:r>
                      <a:r>
                        <a:rPr lang="en-US" sz="1800" kern="100" dirty="0" err="1">
                          <a:effectLst/>
                        </a:rPr>
                        <a:t>date:”D</a:t>
                      </a:r>
                      <a:r>
                        <a:rPr lang="en-US" sz="1800" kern="100" dirty="0">
                          <a:effectLst/>
                        </a:rPr>
                        <a:t> d M Y”}}</a:t>
                      </a:r>
                      <a:r>
                        <a:rPr lang="zh-TW" sz="1800" kern="100" dirty="0">
                          <a:effectLst/>
                        </a:rPr>
                        <a:t>。</a:t>
                      </a:r>
                      <a:r>
                        <a:rPr lang="en-US" sz="1800" kern="100" dirty="0">
                          <a:effectLst/>
                        </a:rPr>
                        <a:t>value</a:t>
                      </a:r>
                      <a:r>
                        <a:rPr lang="zh-TW" sz="1800" kern="100" dirty="0">
                          <a:effectLst/>
                        </a:rPr>
                        <a:t>為</a:t>
                      </a:r>
                      <a:r>
                        <a:rPr lang="en-US" sz="1800" kern="100" dirty="0">
                          <a:effectLst/>
                        </a:rPr>
                        <a:t>datetime</a:t>
                      </a:r>
                      <a:r>
                        <a:rPr lang="zh-TW" sz="1800" kern="100" dirty="0">
                          <a:effectLst/>
                        </a:rPr>
                        <a:t>的標準格式，而我們可以使用</a:t>
                      </a:r>
                      <a:r>
                        <a:rPr lang="en-US" sz="1800" kern="100" dirty="0">
                          <a:effectLst/>
                        </a:rPr>
                        <a:t>date</a:t>
                      </a:r>
                      <a:r>
                        <a:rPr lang="zh-TW" sz="1800" kern="100" dirty="0">
                          <a:effectLst/>
                        </a:rPr>
                        <a:t>來指定按顯示的格式與內容。詳細的設定方法請參考網頁上的說明。</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666074">
                <a:tc>
                  <a:txBody>
                    <a:bodyPr/>
                    <a:lstStyle/>
                    <a:p>
                      <a:pPr algn="just">
                        <a:spcBef>
                          <a:spcPts val="600"/>
                        </a:spcBef>
                        <a:spcAft>
                          <a:spcPts val="600"/>
                        </a:spcAft>
                      </a:pPr>
                      <a:r>
                        <a:rPr lang="en-US" sz="1800" kern="100" dirty="0">
                          <a:effectLst/>
                        </a:rPr>
                        <a:t>default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如果沒有值，則使用</a:t>
                      </a:r>
                      <a:r>
                        <a:rPr lang="zh-TW" sz="1800" kern="100" dirty="0">
                          <a:solidFill>
                            <a:srgbClr val="FF0000"/>
                          </a:solidFill>
                          <a:effectLst/>
                        </a:rPr>
                        <a:t>預設值</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r>
                        <a:rPr lang="en-US" sz="1800" kern="100" dirty="0" err="1">
                          <a:effectLst/>
                        </a:rPr>
                        <a:t>msg</a:t>
                      </a:r>
                      <a:r>
                        <a:rPr lang="en-US" sz="1800" kern="100" dirty="0">
                          <a:effectLst/>
                        </a:rPr>
                        <a:t> | default:”</a:t>
                      </a:r>
                      <a:r>
                        <a:rPr lang="zh-TW" sz="1800" kern="100" dirty="0">
                          <a:effectLst/>
                        </a:rPr>
                        <a:t>沒有訊息</a:t>
                      </a: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59320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過濾器與其它的語法標記</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68</a:t>
            </a:fld>
            <a:endParaRPr lang="zh-TW" altLang="en-US"/>
          </a:p>
        </p:txBody>
      </p:sp>
      <p:graphicFrame>
        <p:nvGraphicFramePr>
          <p:cNvPr id="7" name="內容版面配置區 6"/>
          <p:cNvGraphicFramePr>
            <a:graphicFrameLocks noGrp="1"/>
          </p:cNvGraphicFramePr>
          <p:nvPr>
            <p:ph sz="quarter" idx="1"/>
            <p:extLst>
              <p:ext uri="{D42A27DB-BD31-4B8C-83A1-F6EECF244321}">
                <p14:modId xmlns:p14="http://schemas.microsoft.com/office/powerpoint/2010/main" val="705181411"/>
              </p:ext>
            </p:extLst>
          </p:nvPr>
        </p:nvGraphicFramePr>
        <p:xfrm>
          <a:off x="179512" y="1340768"/>
          <a:ext cx="8784977" cy="5533264"/>
        </p:xfrm>
        <a:graphic>
          <a:graphicData uri="http://schemas.openxmlformats.org/drawingml/2006/table">
            <a:tbl>
              <a:tblPr firstRow="1" firstCol="1" bandRow="1">
                <a:tableStyleId>{5C22544A-7EE6-4342-B048-85BDC9FD1C3A}</a:tableStyleId>
              </a:tblPr>
              <a:tblGrid>
                <a:gridCol w="1944216">
                  <a:extLst>
                    <a:ext uri="{9D8B030D-6E8A-4147-A177-3AD203B41FA5}">
                      <a16:colId xmlns:a16="http://schemas.microsoft.com/office/drawing/2014/main" val="20000"/>
                    </a:ext>
                  </a:extLst>
                </a:gridCol>
                <a:gridCol w="1750477">
                  <a:extLst>
                    <a:ext uri="{9D8B030D-6E8A-4147-A177-3AD203B41FA5}">
                      <a16:colId xmlns:a16="http://schemas.microsoft.com/office/drawing/2014/main" val="20001"/>
                    </a:ext>
                  </a:extLst>
                </a:gridCol>
                <a:gridCol w="5090284">
                  <a:extLst>
                    <a:ext uri="{9D8B030D-6E8A-4147-A177-3AD203B41FA5}">
                      <a16:colId xmlns:a16="http://schemas.microsoft.com/office/drawing/2014/main" val="20002"/>
                    </a:ext>
                  </a:extLst>
                </a:gridCol>
              </a:tblGrid>
              <a:tr h="697516">
                <a:tc>
                  <a:txBody>
                    <a:bodyPr/>
                    <a:lstStyle/>
                    <a:p>
                      <a:pPr algn="just">
                        <a:spcBef>
                          <a:spcPts val="600"/>
                        </a:spcBef>
                        <a:spcAft>
                          <a:spcPts val="600"/>
                        </a:spcAft>
                      </a:pPr>
                      <a:r>
                        <a:rPr lang="en-US" sz="1800" kern="100" dirty="0" err="1">
                          <a:effectLst/>
                        </a:rPr>
                        <a:t>dictsort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b="0" kern="100" dirty="0">
                          <a:solidFill>
                            <a:schemeClr val="tx1"/>
                          </a:solidFill>
                          <a:effectLst/>
                        </a:rPr>
                        <a:t>為字典型式內容的變數</a:t>
                      </a:r>
                      <a:r>
                        <a:rPr lang="zh-TW" sz="1800" b="0" kern="100" dirty="0">
                          <a:solidFill>
                            <a:srgbClr val="FF0000"/>
                          </a:solidFill>
                          <a:effectLst/>
                        </a:rPr>
                        <a:t>排列順序</a:t>
                      </a:r>
                      <a:endParaRPr lang="zh-TW" sz="1800" b="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AE9"/>
                    </a:solidFill>
                  </a:tcPr>
                </a:tc>
                <a:tc>
                  <a:txBody>
                    <a:bodyPr/>
                    <a:lstStyle/>
                    <a:p>
                      <a:pPr algn="just">
                        <a:spcBef>
                          <a:spcPts val="600"/>
                        </a:spcBef>
                        <a:spcAft>
                          <a:spcPts val="600"/>
                        </a:spcAft>
                      </a:pPr>
                      <a:r>
                        <a:rPr lang="en-US" sz="1800" b="0" kern="100" dirty="0">
                          <a:solidFill>
                            <a:schemeClr val="tx1"/>
                          </a:solidFill>
                          <a:effectLst/>
                        </a:rPr>
                        <a:t>{{ value | </a:t>
                      </a:r>
                      <a:r>
                        <a:rPr lang="en-US" sz="1800" b="0" kern="100" dirty="0" err="1">
                          <a:solidFill>
                            <a:schemeClr val="tx1"/>
                          </a:solidFill>
                          <a:effectLst/>
                        </a:rPr>
                        <a:t>dictsort</a:t>
                      </a:r>
                      <a:r>
                        <a:rPr lang="en-US" sz="1800" b="0" kern="100" dirty="0">
                          <a:solidFill>
                            <a:schemeClr val="tx1"/>
                          </a:solidFill>
                          <a:effectLst/>
                        </a:rPr>
                        <a:t>:”name”}}</a:t>
                      </a:r>
                      <a:r>
                        <a:rPr lang="zh-TW" sz="1800" b="0" kern="100" dirty="0">
                          <a:solidFill>
                            <a:schemeClr val="tx1"/>
                          </a:solidFill>
                          <a:effectLst/>
                        </a:rPr>
                        <a:t>。以名字欄位來做為排序的依據。</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AE9"/>
                    </a:solidFill>
                  </a:tcPr>
                </a:tc>
                <a:extLst>
                  <a:ext uri="{0D108BD9-81ED-4DB2-BD59-A6C34878D82A}">
                    <a16:rowId xmlns:a16="http://schemas.microsoft.com/office/drawing/2014/main" val="10000"/>
                  </a:ext>
                </a:extLst>
              </a:tr>
              <a:tr h="697516">
                <a:tc>
                  <a:txBody>
                    <a:bodyPr/>
                    <a:lstStyle/>
                    <a:p>
                      <a:pPr algn="just">
                        <a:spcBef>
                          <a:spcPts val="600"/>
                        </a:spcBef>
                        <a:spcAft>
                          <a:spcPts val="600"/>
                        </a:spcAft>
                      </a:pPr>
                      <a:r>
                        <a:rPr lang="en-US" sz="1800" kern="100">
                          <a:effectLst/>
                        </a:rPr>
                        <a:t>dictsortreversed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上一指令的反向排序</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97516">
                <a:tc>
                  <a:txBody>
                    <a:bodyPr/>
                    <a:lstStyle/>
                    <a:p>
                      <a:pPr algn="just">
                        <a:spcBef>
                          <a:spcPts val="600"/>
                        </a:spcBef>
                        <a:spcAft>
                          <a:spcPts val="600"/>
                        </a:spcAft>
                      </a:pPr>
                      <a:r>
                        <a:rPr lang="en-US" sz="1800" kern="100">
                          <a:effectLst/>
                        </a:rPr>
                        <a:t>divisibleby</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測試數值資料是否可被指定的數整除</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value | divisibleby:5}}</a:t>
                      </a:r>
                      <a:r>
                        <a:rPr lang="zh-TW" sz="1800" kern="100">
                          <a:effectLst/>
                        </a:rPr>
                        <a:t>。測試</a:t>
                      </a:r>
                      <a:r>
                        <a:rPr lang="en-US" sz="1800" kern="100">
                          <a:effectLst/>
                        </a:rPr>
                        <a:t>value</a:t>
                      </a:r>
                      <a:r>
                        <a:rPr lang="zh-TW" sz="1800" kern="100">
                          <a:effectLst/>
                        </a:rPr>
                        <a:t>是否可為</a:t>
                      </a:r>
                      <a:r>
                        <a:rPr lang="en-US" sz="1800" kern="100">
                          <a:effectLst/>
                        </a:rPr>
                        <a:t>5</a:t>
                      </a:r>
                      <a:r>
                        <a:rPr lang="zh-TW" sz="1800" kern="100">
                          <a:effectLst/>
                        </a:rPr>
                        <a:t>整除。</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97516">
                <a:tc>
                  <a:txBody>
                    <a:bodyPr/>
                    <a:lstStyle/>
                    <a:p>
                      <a:pPr algn="just">
                        <a:spcBef>
                          <a:spcPts val="600"/>
                        </a:spcBef>
                        <a:spcAft>
                          <a:spcPts val="600"/>
                        </a:spcAft>
                      </a:pPr>
                      <a:r>
                        <a:rPr lang="en-US" sz="1800" kern="100">
                          <a:effectLst/>
                        </a:rPr>
                        <a:t>escape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把字串中的</a:t>
                      </a:r>
                      <a:r>
                        <a:rPr lang="en-US" sz="1800" kern="100">
                          <a:effectLst/>
                        </a:rPr>
                        <a:t>HTML</a:t>
                      </a:r>
                      <a:r>
                        <a:rPr lang="zh-TW" sz="1800" kern="100">
                          <a:effectLst/>
                        </a:rPr>
                        <a:t>標記變成顯示用的字串</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escape }}</a:t>
                      </a:r>
                      <a:r>
                        <a:rPr lang="zh-TW" sz="1800" kern="100">
                          <a:effectLst/>
                        </a:rPr>
                        <a:t>。</a:t>
                      </a:r>
                      <a:r>
                        <a:rPr lang="en-US" sz="1800" kern="100">
                          <a:effectLst/>
                        </a:rPr>
                        <a:t>msg</a:t>
                      </a:r>
                      <a:r>
                        <a:rPr lang="zh-TW" sz="1800" kern="100">
                          <a:effectLst/>
                        </a:rPr>
                        <a:t>中若有</a:t>
                      </a:r>
                      <a:r>
                        <a:rPr lang="en-US" sz="1800" kern="100">
                          <a:effectLst/>
                        </a:rPr>
                        <a:t>HTML</a:t>
                      </a:r>
                      <a:r>
                        <a:rPr lang="zh-TW" sz="1800" kern="100">
                          <a:effectLst/>
                        </a:rPr>
                        <a:t>標誌，會失去作用且被以文字的型式顯示出來。</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046273">
                <a:tc>
                  <a:txBody>
                    <a:bodyPr/>
                    <a:lstStyle/>
                    <a:p>
                      <a:pPr algn="just">
                        <a:spcBef>
                          <a:spcPts val="600"/>
                        </a:spcBef>
                        <a:spcAft>
                          <a:spcPts val="600"/>
                        </a:spcAft>
                      </a:pPr>
                      <a:r>
                        <a:rPr lang="en-US" sz="1800" kern="100">
                          <a:effectLst/>
                        </a:rPr>
                        <a:t>filesizeformat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以人們習慣的方式顯示</a:t>
                      </a:r>
                      <a:r>
                        <a:rPr lang="zh-TW" sz="1800" kern="100" dirty="0">
                          <a:solidFill>
                            <a:srgbClr val="FF0000"/>
                          </a:solidFill>
                          <a:effectLst/>
                        </a:rPr>
                        <a:t>檔案大小的格式</a:t>
                      </a:r>
                      <a:r>
                        <a:rPr lang="zh-TW" sz="1800" kern="100" dirty="0">
                          <a:effectLst/>
                        </a:rPr>
                        <a:t>（</a:t>
                      </a:r>
                      <a:r>
                        <a:rPr lang="en-US" sz="1800" kern="100" dirty="0">
                          <a:effectLst/>
                        </a:rPr>
                        <a:t>KB, MB</a:t>
                      </a:r>
                      <a:r>
                        <a:rPr lang="zh-TW" sz="1800" kern="100" dirty="0">
                          <a:effectLst/>
                        </a:rPr>
                        <a:t>等等）</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value | filesizeformat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97516">
                <a:tc>
                  <a:txBody>
                    <a:bodyPr/>
                    <a:lstStyle/>
                    <a:p>
                      <a:pPr algn="just">
                        <a:spcBef>
                          <a:spcPts val="600"/>
                        </a:spcBef>
                        <a:spcAft>
                          <a:spcPts val="600"/>
                        </a:spcAft>
                      </a:pPr>
                      <a:r>
                        <a:rPr lang="en-US" sz="1800" kern="100">
                          <a:effectLst/>
                        </a:rPr>
                        <a:t>first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只取出串列資料中的第</a:t>
                      </a:r>
                      <a:r>
                        <a:rPr lang="en-US" sz="1800" kern="100" dirty="0">
                          <a:effectLst/>
                        </a:rPr>
                        <a:t>1</a:t>
                      </a:r>
                      <a:r>
                        <a:rPr lang="zh-TW" sz="1800" kern="100" dirty="0">
                          <a:effectLst/>
                        </a:rPr>
                        <a:t>個</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values | first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697516">
                <a:tc>
                  <a:txBody>
                    <a:bodyPr/>
                    <a:lstStyle/>
                    <a:p>
                      <a:pPr algn="just">
                        <a:spcBef>
                          <a:spcPts val="600"/>
                        </a:spcBef>
                        <a:spcAft>
                          <a:spcPts val="600"/>
                        </a:spcAft>
                      </a:pPr>
                      <a:r>
                        <a:rPr lang="en-US" sz="1800" kern="100">
                          <a:effectLst/>
                        </a:rPr>
                        <a:t>last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只取出串列資料中的最後</a:t>
                      </a:r>
                      <a:r>
                        <a:rPr lang="en-US" sz="1800" kern="100">
                          <a:effectLst/>
                        </a:rPr>
                        <a:t>1</a:t>
                      </a:r>
                      <a:r>
                        <a:rPr lang="zh-TW" sz="1800" kern="100">
                          <a:effectLst/>
                        </a:rPr>
                        <a:t>個</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values | last}}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312018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過濾器與其它的語法標記</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69</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3477120936"/>
              </p:ext>
            </p:extLst>
          </p:nvPr>
        </p:nvGraphicFramePr>
        <p:xfrm>
          <a:off x="179512" y="1340768"/>
          <a:ext cx="8784977" cy="5319963"/>
        </p:xfrm>
        <a:graphic>
          <a:graphicData uri="http://schemas.openxmlformats.org/drawingml/2006/table">
            <a:tbl>
              <a:tblPr firstRow="1" firstCol="1" bandRow="1">
                <a:tableStyleId>{5C22544A-7EE6-4342-B048-85BDC9FD1C3A}</a:tableStyleId>
              </a:tblPr>
              <a:tblGrid>
                <a:gridCol w="1944216">
                  <a:extLst>
                    <a:ext uri="{9D8B030D-6E8A-4147-A177-3AD203B41FA5}">
                      <a16:colId xmlns:a16="http://schemas.microsoft.com/office/drawing/2014/main" val="20000"/>
                    </a:ext>
                  </a:extLst>
                </a:gridCol>
                <a:gridCol w="1750477">
                  <a:extLst>
                    <a:ext uri="{9D8B030D-6E8A-4147-A177-3AD203B41FA5}">
                      <a16:colId xmlns:a16="http://schemas.microsoft.com/office/drawing/2014/main" val="20001"/>
                    </a:ext>
                  </a:extLst>
                </a:gridCol>
                <a:gridCol w="5090284">
                  <a:extLst>
                    <a:ext uri="{9D8B030D-6E8A-4147-A177-3AD203B41FA5}">
                      <a16:colId xmlns:a16="http://schemas.microsoft.com/office/drawing/2014/main" val="20002"/>
                    </a:ext>
                  </a:extLst>
                </a:gridCol>
              </a:tblGrid>
              <a:tr h="554133">
                <a:tc>
                  <a:txBody>
                    <a:bodyPr/>
                    <a:lstStyle/>
                    <a:p>
                      <a:pPr algn="just">
                        <a:spcBef>
                          <a:spcPts val="600"/>
                        </a:spcBef>
                        <a:spcAft>
                          <a:spcPts val="600"/>
                        </a:spcAft>
                      </a:pPr>
                      <a:r>
                        <a:rPr lang="en-US" sz="1800" kern="100" dirty="0">
                          <a:effectLst/>
                        </a:rPr>
                        <a:t>length</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marL="0" algn="just" rtl="0" eaLnBrk="1" latinLnBrk="0" hangingPunct="1">
                        <a:spcBef>
                          <a:spcPts val="600"/>
                        </a:spcBef>
                        <a:spcAft>
                          <a:spcPts val="600"/>
                        </a:spcAft>
                      </a:pPr>
                      <a:r>
                        <a:rPr kumimoji="0" lang="zh-TW" sz="1800" b="0" kern="100" dirty="0">
                          <a:solidFill>
                            <a:schemeClr val="tx1"/>
                          </a:solidFill>
                          <a:effectLst/>
                          <a:latin typeface="+mn-lt"/>
                          <a:ea typeface="+mn-ea"/>
                          <a:cs typeface="+mn-cs"/>
                        </a:rPr>
                        <a:t>傳回串列資料的長度</a:t>
                      </a:r>
                    </a:p>
                  </a:txBody>
                  <a:tcPr marL="68580" marR="68580" marT="0" marB="0">
                    <a:solidFill>
                      <a:srgbClr val="F7EAE9"/>
                    </a:solidFill>
                  </a:tcPr>
                </a:tc>
                <a:tc>
                  <a:txBody>
                    <a:bodyPr/>
                    <a:lstStyle/>
                    <a:p>
                      <a:pPr marL="0" algn="just" rtl="0" eaLnBrk="1" latinLnBrk="0" hangingPunct="1">
                        <a:spcBef>
                          <a:spcPts val="600"/>
                        </a:spcBef>
                        <a:spcAft>
                          <a:spcPts val="600"/>
                        </a:spcAft>
                      </a:pPr>
                      <a:r>
                        <a:rPr kumimoji="0" lang="en-US" sz="1800" b="0" kern="100" dirty="0">
                          <a:solidFill>
                            <a:schemeClr val="tx1"/>
                          </a:solidFill>
                          <a:effectLst/>
                          <a:latin typeface="+mn-lt"/>
                          <a:ea typeface="+mn-ea"/>
                          <a:cs typeface="+mn-cs"/>
                        </a:rPr>
                        <a:t>{{ values | length }}</a:t>
                      </a:r>
                      <a:endParaRPr kumimoji="0" lang="zh-TW" sz="1800" b="0" kern="100" dirty="0">
                        <a:solidFill>
                          <a:schemeClr val="tx1"/>
                        </a:solidFill>
                        <a:effectLst/>
                        <a:latin typeface="+mn-lt"/>
                        <a:ea typeface="+mn-ea"/>
                        <a:cs typeface="+mn-cs"/>
                      </a:endParaRPr>
                    </a:p>
                  </a:txBody>
                  <a:tcPr marL="68580" marR="68580" marT="0" marB="0">
                    <a:solidFill>
                      <a:srgbClr val="F7EAE9"/>
                    </a:solidFill>
                  </a:tcPr>
                </a:tc>
                <a:extLst>
                  <a:ext uri="{0D108BD9-81ED-4DB2-BD59-A6C34878D82A}">
                    <a16:rowId xmlns:a16="http://schemas.microsoft.com/office/drawing/2014/main" val="10000"/>
                  </a:ext>
                </a:extLst>
              </a:tr>
              <a:tr h="788574">
                <a:tc>
                  <a:txBody>
                    <a:bodyPr/>
                    <a:lstStyle/>
                    <a:p>
                      <a:pPr algn="just">
                        <a:spcBef>
                          <a:spcPts val="600"/>
                        </a:spcBef>
                        <a:spcAft>
                          <a:spcPts val="600"/>
                        </a:spcAft>
                      </a:pPr>
                      <a:r>
                        <a:rPr lang="en-US" sz="1800" kern="100">
                          <a:effectLst/>
                        </a:rPr>
                        <a:t>length_is</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測試資料是否為指定長度</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values | length_is:”3” }}</a:t>
                      </a:r>
                      <a:r>
                        <a:rPr lang="zh-TW" sz="1800" kern="100" dirty="0">
                          <a:effectLst/>
                        </a:rPr>
                        <a:t>。測試</a:t>
                      </a:r>
                      <a:r>
                        <a:rPr lang="en-US" sz="1800" kern="100" dirty="0">
                          <a:effectLst/>
                        </a:rPr>
                        <a:t>values</a:t>
                      </a:r>
                      <a:r>
                        <a:rPr lang="zh-TW" sz="1800" kern="100" dirty="0">
                          <a:effectLst/>
                        </a:rPr>
                        <a:t>的長度是否為</a:t>
                      </a: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88574">
                <a:tc>
                  <a:txBody>
                    <a:bodyPr/>
                    <a:lstStyle/>
                    <a:p>
                      <a:pPr algn="just">
                        <a:spcBef>
                          <a:spcPts val="600"/>
                        </a:spcBef>
                        <a:spcAft>
                          <a:spcPts val="600"/>
                        </a:spcAft>
                      </a:pPr>
                      <a:r>
                        <a:rPr lang="en-US" sz="1800" kern="100">
                          <a:effectLst/>
                        </a:rPr>
                        <a:t>floatformat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以指定的</a:t>
                      </a:r>
                      <a:r>
                        <a:rPr lang="zh-TW" sz="1800" kern="100" dirty="0">
                          <a:solidFill>
                            <a:srgbClr val="FF0000"/>
                          </a:solidFill>
                          <a:effectLst/>
                        </a:rPr>
                        <a:t>符點數格式來顯示資料</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{{value | floatformat:3}}</a:t>
                      </a:r>
                      <a:r>
                        <a:rPr lang="zh-TW" sz="1800" kern="100" dirty="0">
                          <a:effectLst/>
                        </a:rPr>
                        <a:t>。指定</a:t>
                      </a:r>
                      <a:r>
                        <a:rPr lang="en-US" sz="1800" kern="100" dirty="0">
                          <a:effectLst/>
                        </a:rPr>
                        <a:t>3</a:t>
                      </a:r>
                      <a:r>
                        <a:rPr lang="zh-TW" sz="1800" kern="100" dirty="0">
                          <a:effectLst/>
                        </a:rPr>
                        <a:t>位小數位數。</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577148">
                <a:tc>
                  <a:txBody>
                    <a:bodyPr/>
                    <a:lstStyle/>
                    <a:p>
                      <a:pPr algn="just">
                        <a:spcBef>
                          <a:spcPts val="600"/>
                        </a:spcBef>
                        <a:spcAft>
                          <a:spcPts val="600"/>
                        </a:spcAft>
                      </a:pPr>
                      <a:r>
                        <a:rPr lang="en-US" sz="1800" kern="100">
                          <a:effectLst/>
                        </a:rPr>
                        <a:t>linebreaks</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把文字的內容之換行符號轉換為</a:t>
                      </a:r>
                      <a:r>
                        <a:rPr lang="en-US" sz="1800" kern="100" dirty="0">
                          <a:effectLst/>
                        </a:rPr>
                        <a:t>HTML</a:t>
                      </a:r>
                      <a:r>
                        <a:rPr lang="zh-TW" sz="1800" kern="100" dirty="0">
                          <a:effectLst/>
                        </a:rPr>
                        <a:t>的</a:t>
                      </a:r>
                      <a:r>
                        <a:rPr lang="en-US" sz="1800" kern="100" dirty="0">
                          <a:effectLst/>
                        </a:rPr>
                        <a:t>&lt;</a:t>
                      </a:r>
                      <a:r>
                        <a:rPr lang="en-US" sz="1800" kern="100" dirty="0" err="1">
                          <a:effectLst/>
                        </a:rPr>
                        <a:t>br</a:t>
                      </a:r>
                      <a:r>
                        <a:rPr lang="en-US" sz="1800" kern="100" dirty="0">
                          <a:effectLst/>
                        </a:rPr>
                        <a:t> /&gt;</a:t>
                      </a:r>
                      <a:r>
                        <a:rPr lang="zh-TW" sz="1800" kern="100" dirty="0">
                          <a:effectLst/>
                        </a:rPr>
                        <a:t>和</a:t>
                      </a:r>
                      <a:r>
                        <a:rPr lang="en-US" sz="1800" kern="100" dirty="0">
                          <a:effectLst/>
                        </a:rPr>
                        <a:t>&lt;p&gt;&lt;/p&gt;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linebreaks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791630">
                <a:tc>
                  <a:txBody>
                    <a:bodyPr/>
                    <a:lstStyle/>
                    <a:p>
                      <a:pPr algn="just">
                        <a:spcBef>
                          <a:spcPts val="600"/>
                        </a:spcBef>
                        <a:spcAft>
                          <a:spcPts val="600"/>
                        </a:spcAft>
                      </a:pPr>
                      <a:r>
                        <a:rPr lang="en-US" sz="1800" kern="100">
                          <a:effectLst/>
                        </a:rPr>
                        <a:t>linebreaksbr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把文字的內容之換行符號轉換為</a:t>
                      </a:r>
                      <a:r>
                        <a:rPr lang="en-US" sz="1800" kern="100">
                          <a:effectLst/>
                        </a:rPr>
                        <a:t>&lt;br /&gt;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linebreaksbr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88574">
                <a:tc>
                  <a:txBody>
                    <a:bodyPr/>
                    <a:lstStyle/>
                    <a:p>
                      <a:pPr algn="just">
                        <a:spcBef>
                          <a:spcPts val="600"/>
                        </a:spcBef>
                        <a:spcAft>
                          <a:spcPts val="600"/>
                        </a:spcAft>
                      </a:pPr>
                      <a:r>
                        <a:rPr lang="en-US" sz="1800" kern="100">
                          <a:effectLst/>
                        </a:rPr>
                        <a:t>linenumber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把顯示的文字加上行號</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r>
                        <a:rPr lang="en-US" sz="1800" kern="100" dirty="0" err="1">
                          <a:effectLst/>
                        </a:rPr>
                        <a:t>msg</a:t>
                      </a:r>
                      <a:r>
                        <a:rPr lang="en-US" sz="1800" kern="100" dirty="0">
                          <a:effectLst/>
                        </a:rPr>
                        <a:t> | </a:t>
                      </a:r>
                      <a:r>
                        <a:rPr lang="en-US" sz="1800" kern="100" dirty="0" err="1">
                          <a:effectLst/>
                        </a:rPr>
                        <a:t>linenumbers</a:t>
                      </a: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731627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過濾器與其它的語法標記</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70</a:t>
            </a:fld>
            <a:endParaRPr lang="zh-TW" altLang="en-US"/>
          </a:p>
        </p:txBody>
      </p:sp>
      <p:graphicFrame>
        <p:nvGraphicFramePr>
          <p:cNvPr id="9" name="內容版面配置區 8"/>
          <p:cNvGraphicFramePr>
            <a:graphicFrameLocks noGrp="1"/>
          </p:cNvGraphicFramePr>
          <p:nvPr>
            <p:ph sz="quarter" idx="1"/>
            <p:extLst>
              <p:ext uri="{D42A27DB-BD31-4B8C-83A1-F6EECF244321}">
                <p14:modId xmlns:p14="http://schemas.microsoft.com/office/powerpoint/2010/main" val="1129388427"/>
              </p:ext>
            </p:extLst>
          </p:nvPr>
        </p:nvGraphicFramePr>
        <p:xfrm>
          <a:off x="179512" y="1340768"/>
          <a:ext cx="8784977" cy="5331768"/>
        </p:xfrm>
        <a:graphic>
          <a:graphicData uri="http://schemas.openxmlformats.org/drawingml/2006/table">
            <a:tbl>
              <a:tblPr firstRow="1" firstCol="1" bandRow="1">
                <a:tableStyleId>{5C22544A-7EE6-4342-B048-85BDC9FD1C3A}</a:tableStyleId>
              </a:tblPr>
              <a:tblGrid>
                <a:gridCol w="1872208">
                  <a:extLst>
                    <a:ext uri="{9D8B030D-6E8A-4147-A177-3AD203B41FA5}">
                      <a16:colId xmlns:a16="http://schemas.microsoft.com/office/drawing/2014/main" val="20000"/>
                    </a:ext>
                  </a:extLst>
                </a:gridCol>
                <a:gridCol w="1822485">
                  <a:extLst>
                    <a:ext uri="{9D8B030D-6E8A-4147-A177-3AD203B41FA5}">
                      <a16:colId xmlns:a16="http://schemas.microsoft.com/office/drawing/2014/main" val="20001"/>
                    </a:ext>
                  </a:extLst>
                </a:gridCol>
                <a:gridCol w="5090284">
                  <a:extLst>
                    <a:ext uri="{9D8B030D-6E8A-4147-A177-3AD203B41FA5}">
                      <a16:colId xmlns:a16="http://schemas.microsoft.com/office/drawing/2014/main" val="20002"/>
                    </a:ext>
                  </a:extLst>
                </a:gridCol>
              </a:tblGrid>
              <a:tr h="819783">
                <a:tc>
                  <a:txBody>
                    <a:bodyPr/>
                    <a:lstStyle/>
                    <a:p>
                      <a:pPr algn="just">
                        <a:spcBef>
                          <a:spcPts val="600"/>
                        </a:spcBef>
                        <a:spcAft>
                          <a:spcPts val="600"/>
                        </a:spcAft>
                      </a:pPr>
                      <a:r>
                        <a:rPr lang="en-US" sz="1800" kern="100" dirty="0">
                          <a:effectLst/>
                        </a:rPr>
                        <a:t>lower/upper</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b="0" kern="100" dirty="0">
                          <a:solidFill>
                            <a:schemeClr val="tx1"/>
                          </a:solidFill>
                          <a:effectLst/>
                        </a:rPr>
                        <a:t>把字串內容全部換成小寫</a:t>
                      </a:r>
                      <a:r>
                        <a:rPr lang="en-US" sz="1800" b="0" kern="100" dirty="0">
                          <a:solidFill>
                            <a:schemeClr val="tx1"/>
                          </a:solidFill>
                          <a:effectLst/>
                        </a:rPr>
                        <a:t>/</a:t>
                      </a:r>
                      <a:r>
                        <a:rPr lang="zh-TW" sz="1800" b="0" kern="100" dirty="0">
                          <a:solidFill>
                            <a:schemeClr val="tx1"/>
                          </a:solidFill>
                          <a:effectLst/>
                        </a:rPr>
                        <a:t>大寫</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9EA"/>
                    </a:solidFill>
                  </a:tcPr>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9EA"/>
                    </a:solidFill>
                  </a:tcPr>
                </a:tc>
                <a:extLst>
                  <a:ext uri="{0D108BD9-81ED-4DB2-BD59-A6C34878D82A}">
                    <a16:rowId xmlns:a16="http://schemas.microsoft.com/office/drawing/2014/main" val="10000"/>
                  </a:ext>
                </a:extLst>
              </a:tr>
              <a:tr h="819783">
                <a:tc>
                  <a:txBody>
                    <a:bodyPr/>
                    <a:lstStyle/>
                    <a:p>
                      <a:pPr algn="just">
                        <a:spcBef>
                          <a:spcPts val="600"/>
                        </a:spcBef>
                        <a:spcAft>
                          <a:spcPts val="600"/>
                        </a:spcAft>
                      </a:pPr>
                      <a:r>
                        <a:rPr lang="en-US" sz="1800" kern="100">
                          <a:effectLst/>
                        </a:rPr>
                        <a:t>random</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以</a:t>
                      </a:r>
                      <a:r>
                        <a:rPr lang="zh-TW" sz="1800" kern="100" dirty="0">
                          <a:solidFill>
                            <a:srgbClr val="FF0000"/>
                          </a:solidFill>
                          <a:effectLst/>
                        </a:rPr>
                        <a:t>亂數</a:t>
                      </a:r>
                      <a:r>
                        <a:rPr lang="zh-TW" sz="1800" kern="100" dirty="0">
                          <a:effectLst/>
                        </a:rPr>
                        <a:t>來把前面的資料內容擇一顯示</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values | random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229675">
                <a:tc>
                  <a:txBody>
                    <a:bodyPr/>
                    <a:lstStyle/>
                    <a:p>
                      <a:pPr algn="just">
                        <a:spcBef>
                          <a:spcPts val="600"/>
                        </a:spcBef>
                        <a:spcAft>
                          <a:spcPts val="600"/>
                        </a:spcAft>
                      </a:pPr>
                      <a:r>
                        <a:rPr lang="en-US" sz="1800" kern="100">
                          <a:effectLst/>
                        </a:rPr>
                        <a:t>safe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標記字串為安全的，不需要再處理跳脫字元</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safe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639567">
                <a:tc>
                  <a:txBody>
                    <a:bodyPr/>
                    <a:lstStyle/>
                    <a:p>
                      <a:pPr algn="just">
                        <a:spcBef>
                          <a:spcPts val="600"/>
                        </a:spcBef>
                        <a:spcAft>
                          <a:spcPts val="600"/>
                        </a:spcAft>
                      </a:pPr>
                      <a:r>
                        <a:rPr lang="en-US" sz="1800" kern="100">
                          <a:effectLst/>
                        </a:rPr>
                        <a:t>slugify</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把前面的字串空格變成「</a:t>
                      </a:r>
                      <a:r>
                        <a:rPr lang="en-US" sz="1800" kern="100">
                          <a:effectLst/>
                        </a:rPr>
                        <a:t>-</a:t>
                      </a:r>
                      <a:r>
                        <a:rPr lang="zh-TW" sz="1800" kern="100">
                          <a:effectLst/>
                        </a:rPr>
                        <a:t>」號，讓此字串可以安全地放在網址列上</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slugify }}</a:t>
                      </a:r>
                      <a:r>
                        <a:rPr lang="zh-TW" sz="1800" kern="100">
                          <a:effectLst/>
                        </a:rPr>
                        <a:t>。若原本的</a:t>
                      </a:r>
                      <a:r>
                        <a:rPr lang="en-US" sz="1800" kern="100">
                          <a:effectLst/>
                        </a:rPr>
                        <a:t>msg</a:t>
                      </a:r>
                      <a:r>
                        <a:rPr lang="zh-TW" sz="1800" kern="100">
                          <a:effectLst/>
                        </a:rPr>
                        <a:t>內容為</a:t>
                      </a:r>
                      <a:r>
                        <a:rPr lang="en-US" sz="1800" kern="100">
                          <a:effectLst/>
                        </a:rPr>
                        <a:t>”It’s a cat”</a:t>
                      </a:r>
                      <a:r>
                        <a:rPr lang="zh-TW" sz="1800" kern="100">
                          <a:effectLst/>
                        </a:rPr>
                        <a:t>，則會傳回</a:t>
                      </a:r>
                      <a:r>
                        <a:rPr lang="en-US" sz="1800" kern="100">
                          <a:effectLst/>
                        </a:rPr>
                        <a:t>”its-a-cat”</a:t>
                      </a:r>
                      <a:r>
                        <a:rPr lang="zh-TW" sz="1800" kern="100">
                          <a:effectLst/>
                        </a:rPr>
                        <a: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819783">
                <a:tc>
                  <a:txBody>
                    <a:bodyPr/>
                    <a:lstStyle/>
                    <a:p>
                      <a:pPr algn="just">
                        <a:spcBef>
                          <a:spcPts val="600"/>
                        </a:spcBef>
                        <a:spcAft>
                          <a:spcPts val="600"/>
                        </a:spcAft>
                      </a:pPr>
                      <a:r>
                        <a:rPr lang="en-US" sz="1800" kern="100">
                          <a:effectLst/>
                        </a:rPr>
                        <a:t>striptags</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把所有的</a:t>
                      </a:r>
                      <a:r>
                        <a:rPr lang="en-US" sz="1800" kern="100" dirty="0">
                          <a:solidFill>
                            <a:srgbClr val="FF0000"/>
                          </a:solidFill>
                          <a:effectLst/>
                        </a:rPr>
                        <a:t>HTML</a:t>
                      </a:r>
                      <a:r>
                        <a:rPr lang="zh-TW" sz="1800" kern="100" dirty="0">
                          <a:solidFill>
                            <a:srgbClr val="FF0000"/>
                          </a:solidFill>
                          <a:effectLst/>
                        </a:rPr>
                        <a:t>標記均移除</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r>
                        <a:rPr lang="en-US" sz="1800" kern="100" dirty="0" err="1">
                          <a:effectLst/>
                        </a:rPr>
                        <a:t>msg</a:t>
                      </a:r>
                      <a:r>
                        <a:rPr lang="en-US" sz="1800" kern="100" dirty="0">
                          <a:effectLst/>
                        </a:rPr>
                        <a:t> | </a:t>
                      </a:r>
                      <a:r>
                        <a:rPr lang="en-US" sz="1800" kern="100" dirty="0" err="1">
                          <a:effectLst/>
                        </a:rPr>
                        <a:t>striptags</a:t>
                      </a: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635634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過濾器與其它的語法標記</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71</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57952979"/>
              </p:ext>
            </p:extLst>
          </p:nvPr>
        </p:nvGraphicFramePr>
        <p:xfrm>
          <a:off x="177384" y="1450577"/>
          <a:ext cx="8787104" cy="4517706"/>
        </p:xfrm>
        <a:graphic>
          <a:graphicData uri="http://schemas.openxmlformats.org/drawingml/2006/table">
            <a:tbl>
              <a:tblPr firstRow="1" firstCol="1" bandRow="1">
                <a:tableStyleId>{5C22544A-7EE6-4342-B048-85BDC9FD1C3A}</a:tableStyleId>
              </a:tblPr>
              <a:tblGrid>
                <a:gridCol w="2234376">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4608512">
                  <a:extLst>
                    <a:ext uri="{9D8B030D-6E8A-4147-A177-3AD203B41FA5}">
                      <a16:colId xmlns:a16="http://schemas.microsoft.com/office/drawing/2014/main" val="20002"/>
                    </a:ext>
                  </a:extLst>
                </a:gridCol>
              </a:tblGrid>
              <a:tr h="1618383">
                <a:tc>
                  <a:txBody>
                    <a:bodyPr/>
                    <a:lstStyle/>
                    <a:p>
                      <a:pPr algn="just">
                        <a:spcBef>
                          <a:spcPts val="600"/>
                        </a:spcBef>
                        <a:spcAft>
                          <a:spcPts val="600"/>
                        </a:spcAft>
                      </a:pPr>
                      <a:r>
                        <a:rPr lang="en-US" sz="1800" kern="100" dirty="0" err="1">
                          <a:effectLst/>
                        </a:rPr>
                        <a:t>truncatechars</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b="0" kern="100" dirty="0">
                          <a:solidFill>
                            <a:schemeClr val="tx1"/>
                          </a:solidFill>
                          <a:effectLst/>
                        </a:rPr>
                        <a:t>把過長的字串</a:t>
                      </a:r>
                      <a:r>
                        <a:rPr lang="zh-TW" sz="1800" b="0" kern="100" dirty="0">
                          <a:solidFill>
                            <a:srgbClr val="FF0000"/>
                          </a:solidFill>
                          <a:effectLst/>
                        </a:rPr>
                        <a:t>裁切成指定的長度</a:t>
                      </a:r>
                      <a:r>
                        <a:rPr lang="zh-TW" sz="1800" b="0" kern="100" dirty="0">
                          <a:solidFill>
                            <a:schemeClr val="tx1"/>
                          </a:solidFill>
                          <a:effectLst/>
                        </a:rPr>
                        <a:t>，同時在最後面的</a:t>
                      </a:r>
                      <a:r>
                        <a:rPr lang="en-US" sz="1800" b="0" kern="100" dirty="0">
                          <a:solidFill>
                            <a:schemeClr val="tx1"/>
                          </a:solidFill>
                          <a:effectLst/>
                        </a:rPr>
                        <a:t>3</a:t>
                      </a:r>
                      <a:r>
                        <a:rPr lang="zh-TW" sz="1800" b="0" kern="100" dirty="0">
                          <a:solidFill>
                            <a:schemeClr val="tx1"/>
                          </a:solidFill>
                          <a:effectLst/>
                        </a:rPr>
                        <a:t>個字元會換成「</a:t>
                      </a:r>
                      <a:r>
                        <a:rPr lang="en-US" sz="1800" b="0" kern="100" dirty="0">
                          <a:solidFill>
                            <a:schemeClr val="tx1"/>
                          </a:solidFill>
                          <a:effectLst/>
                        </a:rPr>
                        <a:t>...</a:t>
                      </a:r>
                      <a:r>
                        <a:rPr lang="zh-TW" sz="1800" b="0" kern="100" dirty="0">
                          <a:solidFill>
                            <a:schemeClr val="tx1"/>
                          </a:solidFill>
                          <a:effectLst/>
                        </a:rPr>
                        <a:t>」</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AE9"/>
                    </a:solidFill>
                  </a:tcPr>
                </a:tc>
                <a:tc>
                  <a:txBody>
                    <a:bodyPr/>
                    <a:lstStyle/>
                    <a:p>
                      <a:pPr algn="just">
                        <a:spcBef>
                          <a:spcPts val="600"/>
                        </a:spcBef>
                        <a:spcAft>
                          <a:spcPts val="600"/>
                        </a:spcAft>
                      </a:pPr>
                      <a:r>
                        <a:rPr lang="en-US" sz="1800" b="0" kern="100" dirty="0">
                          <a:solidFill>
                            <a:schemeClr val="tx1"/>
                          </a:solidFill>
                          <a:effectLst/>
                        </a:rPr>
                        <a:t>{{ </a:t>
                      </a:r>
                      <a:r>
                        <a:rPr lang="en-US" sz="1800" b="0" kern="100" dirty="0" err="1">
                          <a:solidFill>
                            <a:schemeClr val="tx1"/>
                          </a:solidFill>
                          <a:effectLst/>
                        </a:rPr>
                        <a:t>msg</a:t>
                      </a:r>
                      <a:r>
                        <a:rPr lang="en-US" sz="1800" b="0" kern="100" dirty="0">
                          <a:solidFill>
                            <a:schemeClr val="tx1"/>
                          </a:solidFill>
                          <a:effectLst/>
                        </a:rPr>
                        <a:t> | truncatechars:12 }}</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rgbClr val="F7EAE9"/>
                    </a:solidFill>
                  </a:tcPr>
                </a:tc>
                <a:extLst>
                  <a:ext uri="{0D108BD9-81ED-4DB2-BD59-A6C34878D82A}">
                    <a16:rowId xmlns:a16="http://schemas.microsoft.com/office/drawing/2014/main" val="10000"/>
                  </a:ext>
                </a:extLst>
              </a:tr>
              <a:tr h="579864">
                <a:tc>
                  <a:txBody>
                    <a:bodyPr/>
                    <a:lstStyle/>
                    <a:p>
                      <a:pPr algn="just">
                        <a:spcBef>
                          <a:spcPts val="600"/>
                        </a:spcBef>
                        <a:spcAft>
                          <a:spcPts val="600"/>
                        </a:spcAft>
                      </a:pPr>
                      <a:r>
                        <a:rPr lang="en-US" sz="1800" kern="100">
                          <a:effectLst/>
                        </a:rPr>
                        <a:t>wordcount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計算字數</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msg | wordcount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319459">
                <a:tc>
                  <a:txBody>
                    <a:bodyPr/>
                    <a:lstStyle/>
                    <a:p>
                      <a:pPr algn="just">
                        <a:spcBef>
                          <a:spcPts val="600"/>
                        </a:spcBef>
                        <a:spcAft>
                          <a:spcPts val="600"/>
                        </a:spcAft>
                      </a:pPr>
                      <a:r>
                        <a:rPr lang="en-US" sz="1800" kern="100">
                          <a:effectLst/>
                        </a:rPr>
                        <a:t>yesno</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solidFill>
                            <a:srgbClr val="FF0000"/>
                          </a:solidFill>
                          <a:effectLst/>
                        </a:rPr>
                        <a:t>依照值的內容是</a:t>
                      </a:r>
                      <a:r>
                        <a:rPr lang="en-US" sz="1800" kern="100" dirty="0">
                          <a:solidFill>
                            <a:srgbClr val="FF0000"/>
                          </a:solidFill>
                          <a:effectLst/>
                        </a:rPr>
                        <a:t>True, False</a:t>
                      </a:r>
                      <a:r>
                        <a:rPr lang="zh-TW" sz="1800" kern="100" dirty="0">
                          <a:effectLst/>
                        </a:rPr>
                        <a:t>還是</a:t>
                      </a:r>
                      <a:r>
                        <a:rPr lang="en-US" sz="1800" kern="100" dirty="0">
                          <a:effectLst/>
                        </a:rPr>
                        <a:t>None</a:t>
                      </a:r>
                      <a:r>
                        <a:rPr lang="zh-TW" sz="1800" kern="100" dirty="0">
                          <a:effectLst/>
                        </a:rPr>
                        <a:t>，顯示出有意義的內容</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value | </a:t>
                      </a:r>
                      <a:r>
                        <a:rPr lang="en-US" sz="1800" kern="100" dirty="0" err="1">
                          <a:effectLst/>
                        </a:rPr>
                        <a:t>yesno</a:t>
                      </a:r>
                      <a:r>
                        <a:rPr lang="en-US" sz="1800" kern="100" dirty="0">
                          <a:effectLst/>
                        </a:rPr>
                        <a:t>:”</a:t>
                      </a:r>
                      <a:r>
                        <a:rPr lang="zh-TW" sz="1800" kern="100" dirty="0">
                          <a:effectLst/>
                        </a:rPr>
                        <a:t>是，否，可能吧</a:t>
                      </a: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963754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err="1"/>
              <a:t>django.contrib.humanize</a:t>
            </a:r>
            <a:r>
              <a:rPr lang="zh-TW" altLang="en-US" dirty="0"/>
              <a:t>模組</a:t>
            </a:r>
            <a:br>
              <a:rPr lang="en-US" altLang="zh-TW" dirty="0"/>
            </a:br>
            <a:r>
              <a:rPr lang="zh-TW" altLang="en-US" dirty="0">
                <a:solidFill>
                  <a:srgbClr val="FF0000"/>
                </a:solidFill>
              </a:rPr>
              <a:t>要放在</a:t>
            </a:r>
            <a:r>
              <a:rPr lang="en-US" altLang="zh-TW" dirty="0" err="1">
                <a:solidFill>
                  <a:srgbClr val="FF0000"/>
                </a:solidFill>
              </a:rPr>
              <a:t>mysite</a:t>
            </a:r>
            <a:r>
              <a:rPr lang="zh-TW" altLang="en-US" dirty="0">
                <a:solidFill>
                  <a:srgbClr val="FF0000"/>
                </a:solidFill>
              </a:rPr>
              <a:t>之前</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72</a:t>
            </a:fld>
            <a:endParaRPr lang="zh-TW" altLang="en-US"/>
          </a:p>
        </p:txBody>
      </p:sp>
      <p:sp>
        <p:nvSpPr>
          <p:cNvPr id="4" name="內容版面配置區 3"/>
          <p:cNvSpPr>
            <a:spLocks noGrp="1"/>
          </p:cNvSpPr>
          <p:nvPr>
            <p:ph sz="quarter" idx="1"/>
          </p:nvPr>
        </p:nvSpPr>
        <p:spPr/>
        <p:txBody>
          <a:bodyPr/>
          <a:lstStyle/>
          <a:p>
            <a:r>
              <a:rPr lang="zh-TW" altLang="en-US" dirty="0"/>
              <a:t>能使</a:t>
            </a:r>
            <a:r>
              <a:rPr lang="zh-TW" altLang="zh-TW" dirty="0"/>
              <a:t>顯示內容的表達想要更人性化</a:t>
            </a:r>
            <a:endParaRPr lang="en-US" altLang="zh-TW" dirty="0"/>
          </a:p>
          <a:p>
            <a:r>
              <a:rPr lang="zh-TW" altLang="en-US" dirty="0"/>
              <a:t>將</a:t>
            </a:r>
            <a:r>
              <a:rPr lang="en-US" altLang="zh-TW" dirty="0"/>
              <a:t>'</a:t>
            </a:r>
            <a:r>
              <a:rPr lang="en-US" altLang="zh-TW" dirty="0" err="1"/>
              <a:t>django.contrib.humanize</a:t>
            </a:r>
            <a:r>
              <a:rPr lang="en-US" altLang="zh-TW" dirty="0"/>
              <a:t>',</a:t>
            </a:r>
          </a:p>
          <a:p>
            <a:r>
              <a:rPr lang="zh-TW" altLang="en-US" dirty="0"/>
              <a:t>加入到</a:t>
            </a:r>
            <a:r>
              <a:rPr lang="en-US" altLang="zh-TW" dirty="0"/>
              <a:t>settings.py</a:t>
            </a:r>
            <a:r>
              <a:rPr lang="zh-TW" altLang="zh-TW" dirty="0"/>
              <a:t>中的</a:t>
            </a:r>
            <a:r>
              <a:rPr lang="en-US" altLang="zh-TW" dirty="0"/>
              <a:t>INSTALLED_APP</a:t>
            </a:r>
            <a:r>
              <a:rPr lang="zh-TW" altLang="zh-TW" dirty="0"/>
              <a:t>中</a:t>
            </a:r>
            <a:endParaRPr lang="en-US" altLang="zh-TW" dirty="0"/>
          </a:p>
          <a:p>
            <a:r>
              <a:rPr lang="zh-TW" altLang="en-US" dirty="0"/>
              <a:t>使用</a:t>
            </a:r>
            <a:r>
              <a:rPr lang="en-US" altLang="zh-TW" dirty="0" err="1"/>
              <a:t>intcomma</a:t>
            </a:r>
            <a:r>
              <a:rPr lang="zh-TW" altLang="zh-TW" dirty="0"/>
              <a:t>過濾器，把數字加上千分位顯示</a:t>
            </a:r>
            <a:endParaRPr lang="en-US" altLang="zh-TW" dirty="0"/>
          </a:p>
          <a:p>
            <a:r>
              <a:rPr lang="zh-TW" altLang="en-US" dirty="0"/>
              <a:t>簡</a:t>
            </a:r>
            <a:r>
              <a:rPr lang="zh-TW" altLang="zh-TW" dirty="0"/>
              <a:t>化二手車的資料項目數，但增加一個價格的欄位，如下所示：</a:t>
            </a:r>
            <a:endParaRPr lang="en-US" altLang="zh-TW" dirty="0"/>
          </a:p>
          <a:p>
            <a:pPr marL="274320" lvl="1" indent="0">
              <a:buNone/>
            </a:pPr>
            <a:r>
              <a:rPr lang="en-US" altLang="zh-TW" dirty="0" err="1"/>
              <a:t>def</a:t>
            </a:r>
            <a:r>
              <a:rPr lang="en-US" altLang="zh-TW" dirty="0"/>
              <a:t> </a:t>
            </a:r>
            <a:r>
              <a:rPr lang="en-US" altLang="zh-TW" dirty="0" err="1">
                <a:solidFill>
                  <a:srgbClr val="FF0000"/>
                </a:solidFill>
              </a:rPr>
              <a:t>carprice</a:t>
            </a:r>
            <a:r>
              <a:rPr lang="en-US" altLang="zh-TW" dirty="0"/>
              <a:t>(request, </a:t>
            </a:r>
            <a:r>
              <a:rPr lang="en-US" altLang="zh-TW" dirty="0">
                <a:solidFill>
                  <a:srgbClr val="FF0000"/>
                </a:solidFill>
              </a:rPr>
              <a:t>maker=0</a:t>
            </a:r>
            <a:r>
              <a:rPr lang="en-US" altLang="zh-TW" dirty="0"/>
              <a:t>):</a:t>
            </a:r>
          </a:p>
          <a:p>
            <a:pPr marL="274320" lvl="1" indent="0">
              <a:buNone/>
            </a:pPr>
            <a:r>
              <a:rPr lang="en-US" altLang="zh-TW" dirty="0"/>
              <a:t>	</a:t>
            </a:r>
            <a:r>
              <a:rPr lang="en-US" altLang="zh-TW" dirty="0" err="1"/>
              <a:t>car_maker</a:t>
            </a:r>
            <a:r>
              <a:rPr lang="en-US" altLang="zh-TW" dirty="0"/>
              <a:t> = ['Ford', 'Honda', 'Mazda’]</a:t>
            </a:r>
          </a:p>
          <a:p>
            <a:pPr marL="274320" lvl="1" indent="0">
              <a:buNone/>
            </a:pPr>
            <a:r>
              <a:rPr lang="en-US" altLang="zh-TW" dirty="0"/>
              <a:t>	</a:t>
            </a:r>
            <a:r>
              <a:rPr lang="en-US" altLang="zh-TW" dirty="0" err="1"/>
              <a:t>car_list</a:t>
            </a:r>
            <a:r>
              <a:rPr lang="en-US" altLang="zh-TW" dirty="0"/>
              <a:t> = [[	{'</a:t>
            </a:r>
            <a:r>
              <a:rPr lang="en-US" altLang="zh-TW" dirty="0" err="1"/>
              <a:t>model':'Fiesta</a:t>
            </a:r>
            <a:r>
              <a:rPr lang="en-US" altLang="zh-TW" dirty="0"/>
              <a:t>', 'price': 203500},</a:t>
            </a:r>
            <a:endParaRPr lang="zh-TW" altLang="zh-TW" dirty="0"/>
          </a:p>
          <a:p>
            <a:pPr marL="274320" lvl="1" indent="0">
              <a:buNone/>
            </a:pPr>
            <a:r>
              <a:rPr lang="zh-TW" altLang="en-US" dirty="0"/>
              <a:t>                       </a:t>
            </a:r>
            <a:r>
              <a:rPr lang="en-US" altLang="zh-TW" dirty="0"/>
              <a:t>{'</a:t>
            </a:r>
            <a:r>
              <a:rPr lang="en-US" altLang="zh-TW" dirty="0" err="1"/>
              <a:t>model':'Focus','price</a:t>
            </a:r>
            <a:r>
              <a:rPr lang="en-US" altLang="zh-TW" dirty="0"/>
              <a:t>': 605000},</a:t>
            </a:r>
            <a:endParaRPr lang="zh-TW" altLang="zh-TW" dirty="0"/>
          </a:p>
          <a:p>
            <a:endParaRPr lang="zh-TW" altLang="en-US" dirty="0"/>
          </a:p>
        </p:txBody>
      </p:sp>
    </p:spTree>
    <p:extLst>
      <p:ext uri="{BB962C8B-B14F-4D97-AF65-F5344CB8AC3E}">
        <p14:creationId xmlns:p14="http://schemas.microsoft.com/office/powerpoint/2010/main" val="40553740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django.contrib.humanize</a:t>
            </a:r>
            <a:r>
              <a:rPr lang="zh-TW" altLang="en-US" dirty="0"/>
              <a:t>模組</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73</a:t>
            </a:fld>
            <a:endParaRPr lang="zh-TW" altLang="en-US"/>
          </a:p>
        </p:txBody>
      </p:sp>
      <p:sp>
        <p:nvSpPr>
          <p:cNvPr id="4" name="內容版面配置區 3"/>
          <p:cNvSpPr>
            <a:spLocks noGrp="1"/>
          </p:cNvSpPr>
          <p:nvPr>
            <p:ph sz="quarter" idx="1"/>
          </p:nvPr>
        </p:nvSpPr>
        <p:spPr/>
        <p:txBody>
          <a:bodyPr>
            <a:normAutofit/>
          </a:bodyPr>
          <a:lstStyle/>
          <a:p>
            <a:pPr marL="274320" lvl="1" indent="0">
              <a:buNone/>
            </a:pPr>
            <a:r>
              <a:rPr lang="en-US" altLang="zh-TW" dirty="0"/>
              <a:t>{		'</a:t>
            </a:r>
            <a:r>
              <a:rPr lang="en-US" altLang="zh-TW" dirty="0" err="1"/>
              <a:t>model':'Mustang','price</a:t>
            </a:r>
            <a:r>
              <a:rPr lang="en-US" altLang="zh-TW" dirty="0"/>
              <a:t>': 900000}],</a:t>
            </a:r>
          </a:p>
          <a:p>
            <a:pPr marL="274320" lvl="1" indent="0">
              <a:buNone/>
            </a:pPr>
            <a:r>
              <a:rPr lang="en-US" altLang="zh-TW" dirty="0"/>
              <a:t>		[{'</a:t>
            </a:r>
            <a:r>
              <a:rPr lang="en-US" altLang="zh-TW" dirty="0" err="1"/>
              <a:t>model':'Fit</a:t>
            </a:r>
            <a:r>
              <a:rPr lang="en-US" altLang="zh-TW" dirty="0"/>
              <a:t>', 'price': 450000}, </a:t>
            </a:r>
          </a:p>
          <a:p>
            <a:pPr marL="274320" lvl="1" indent="0">
              <a:buNone/>
            </a:pPr>
            <a:r>
              <a:rPr lang="en-US" altLang="zh-TW" dirty="0"/>
              <a:t>		</a:t>
            </a:r>
            <a:r>
              <a:rPr lang="zh-TW" altLang="en-US" dirty="0"/>
              <a:t> </a:t>
            </a:r>
            <a:r>
              <a:rPr lang="en-US" altLang="zh-TW" dirty="0"/>
              <a:t>{'</a:t>
            </a:r>
            <a:r>
              <a:rPr lang="en-US" altLang="zh-TW" dirty="0" err="1"/>
              <a:t>model':'City</a:t>
            </a:r>
            <a:r>
              <a:rPr lang="en-US" altLang="zh-TW" dirty="0"/>
              <a:t>', 'price': 150000}, </a:t>
            </a:r>
          </a:p>
          <a:p>
            <a:pPr marL="274320" lvl="1" indent="0">
              <a:buNone/>
            </a:pPr>
            <a:r>
              <a:rPr lang="en-US" altLang="zh-TW" dirty="0"/>
              <a:t>		 {'</a:t>
            </a:r>
            <a:r>
              <a:rPr lang="en-US" altLang="zh-TW" dirty="0" err="1"/>
              <a:t>model':'NSX</a:t>
            </a:r>
            <a:r>
              <a:rPr lang="en-US" altLang="zh-TW" dirty="0"/>
              <a:t>', 'price':1200000}],</a:t>
            </a:r>
          </a:p>
          <a:p>
            <a:pPr marL="274320" lvl="1" indent="0">
              <a:buNone/>
            </a:pPr>
            <a:r>
              <a:rPr lang="en-US" altLang="zh-TW" dirty="0"/>
              <a:t>		[{'model':'Mazda3', 'price': 329999}, </a:t>
            </a:r>
          </a:p>
          <a:p>
            <a:pPr marL="274320" lvl="1" indent="0">
              <a:buNone/>
            </a:pPr>
            <a:r>
              <a:rPr lang="en-US" altLang="zh-TW" dirty="0"/>
              <a:t>		</a:t>
            </a:r>
            <a:r>
              <a:rPr lang="zh-TW" altLang="en-US" dirty="0"/>
              <a:t> </a:t>
            </a:r>
            <a:r>
              <a:rPr lang="en-US" altLang="zh-TW" dirty="0"/>
              <a:t>{'model':'Mazda5', 'price': 603000},</a:t>
            </a:r>
          </a:p>
          <a:p>
            <a:pPr marL="274320" lvl="1" indent="0">
              <a:buNone/>
            </a:pPr>
            <a:r>
              <a:rPr lang="en-US" altLang="zh-TW" dirty="0"/>
              <a:t>		</a:t>
            </a:r>
            <a:r>
              <a:rPr lang="zh-TW" altLang="en-US" dirty="0"/>
              <a:t> </a:t>
            </a:r>
            <a:r>
              <a:rPr lang="en-US" altLang="zh-TW" dirty="0"/>
              <a:t>{'model':'Mazda6', 'price':850000}],]</a:t>
            </a:r>
          </a:p>
          <a:p>
            <a:pPr marL="274320" lvl="1" indent="0">
              <a:buNone/>
            </a:pPr>
            <a:r>
              <a:rPr lang="en-US" altLang="zh-TW" dirty="0"/>
              <a:t>	maker = maker</a:t>
            </a:r>
          </a:p>
          <a:p>
            <a:pPr marL="274320" lvl="1" indent="0">
              <a:buNone/>
            </a:pPr>
            <a:r>
              <a:rPr lang="en-US" altLang="zh-TW" dirty="0"/>
              <a:t>	</a:t>
            </a:r>
            <a:r>
              <a:rPr lang="en-US" altLang="zh-TW" dirty="0" err="1"/>
              <a:t>maker_name</a:t>
            </a:r>
            <a:r>
              <a:rPr lang="en-US" altLang="zh-TW" dirty="0"/>
              <a:t> =  </a:t>
            </a:r>
            <a:r>
              <a:rPr lang="en-US" altLang="zh-TW" dirty="0" err="1"/>
              <a:t>car_maker</a:t>
            </a:r>
            <a:r>
              <a:rPr lang="en-US" altLang="zh-TW" dirty="0"/>
              <a:t>[maker]</a:t>
            </a:r>
          </a:p>
          <a:p>
            <a:pPr marL="274320" lvl="1" indent="0">
              <a:buNone/>
            </a:pPr>
            <a:r>
              <a:rPr lang="en-US" altLang="zh-TW" dirty="0"/>
              <a:t>	cars = </a:t>
            </a:r>
            <a:r>
              <a:rPr lang="en-US" altLang="zh-TW" dirty="0" err="1"/>
              <a:t>car_list</a:t>
            </a:r>
            <a:r>
              <a:rPr lang="en-US" altLang="zh-TW" dirty="0"/>
              <a:t>[maker]</a:t>
            </a:r>
          </a:p>
          <a:p>
            <a:pPr marL="274320" lvl="1" indent="0">
              <a:buNone/>
            </a:pPr>
            <a:r>
              <a:rPr lang="en-US" altLang="zh-TW" dirty="0"/>
              <a:t>	return render(request, </a:t>
            </a:r>
            <a:r>
              <a:rPr lang="en-US" altLang="zh-TW" dirty="0">
                <a:solidFill>
                  <a:srgbClr val="FF0000"/>
                </a:solidFill>
              </a:rPr>
              <a:t>'carprice.html</a:t>
            </a:r>
            <a:r>
              <a:rPr lang="en-US" altLang="zh-TW" dirty="0"/>
              <a:t>', locals())</a:t>
            </a:r>
          </a:p>
        </p:txBody>
      </p:sp>
    </p:spTree>
    <p:extLst>
      <p:ext uri="{BB962C8B-B14F-4D97-AF65-F5344CB8AC3E}">
        <p14:creationId xmlns:p14="http://schemas.microsoft.com/office/powerpoint/2010/main" val="30318292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err="1"/>
              <a:t>django.contrib.humanize</a:t>
            </a:r>
            <a:r>
              <a:rPr lang="zh-TW" altLang="en-US" dirty="0"/>
              <a:t>模組</a:t>
            </a:r>
            <a:br>
              <a:rPr lang="en-US" altLang="zh-TW" dirty="0"/>
            </a:br>
            <a:r>
              <a:rPr lang="en-US" altLang="zh-TW" dirty="0"/>
              <a:t>copy carlist.html</a:t>
            </a:r>
            <a:r>
              <a:rPr lang="zh-TW" altLang="en-US" dirty="0"/>
              <a:t>來改</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74</a:t>
            </a:fld>
            <a:endParaRPr lang="zh-TW" altLang="en-US"/>
          </a:p>
        </p:txBody>
      </p:sp>
      <p:sp>
        <p:nvSpPr>
          <p:cNvPr id="4" name="內容版面配置區 3"/>
          <p:cNvSpPr>
            <a:spLocks noGrp="1"/>
          </p:cNvSpPr>
          <p:nvPr>
            <p:ph sz="quarter" idx="1"/>
          </p:nvPr>
        </p:nvSpPr>
        <p:spPr>
          <a:xfrm>
            <a:off x="301752" y="1516429"/>
            <a:ext cx="8503920" cy="4572000"/>
          </a:xfrm>
        </p:spPr>
        <p:txBody>
          <a:bodyPr/>
          <a:lstStyle/>
          <a:p>
            <a:r>
              <a:rPr lang="zh-TW" altLang="zh-TW" dirty="0"/>
              <a:t>把這個網頁叫做</a:t>
            </a:r>
            <a:r>
              <a:rPr lang="en-US" altLang="zh-TW" dirty="0" err="1"/>
              <a:t>carprice</a:t>
            </a:r>
            <a:r>
              <a:rPr lang="zh-TW" altLang="zh-TW" dirty="0"/>
              <a:t>，因此在</a:t>
            </a:r>
            <a:r>
              <a:rPr lang="en-US" altLang="zh-TW" dirty="0"/>
              <a:t>urls.py</a:t>
            </a:r>
            <a:r>
              <a:rPr lang="zh-TW" altLang="zh-TW" dirty="0"/>
              <a:t>也別忘了做相對應的修正</a:t>
            </a:r>
            <a:endParaRPr lang="en-US" altLang="zh-TW" dirty="0"/>
          </a:p>
          <a:p>
            <a:endParaRPr lang="en-US" altLang="zh-TW" dirty="0"/>
          </a:p>
          <a:p>
            <a:endParaRPr lang="en-US" altLang="zh-TW" dirty="0"/>
          </a:p>
          <a:p>
            <a:r>
              <a:rPr lang="zh-TW" altLang="en-US" dirty="0"/>
              <a:t>為了可以顯示出正確的價格格式，在顯示價格時使用了以下的過濾器：</a:t>
            </a:r>
            <a:endParaRPr lang="en-US" altLang="zh-TW" dirty="0"/>
          </a:p>
          <a:p>
            <a:r>
              <a:rPr lang="en-US" altLang="zh-TW" sz="2000" dirty="0"/>
              <a:t>&lt;td&gt;{{</a:t>
            </a:r>
            <a:r>
              <a:rPr lang="en-US" altLang="zh-TW" sz="2000" dirty="0" err="1"/>
              <a:t>maker_name</a:t>
            </a:r>
            <a:r>
              <a:rPr lang="en-US" altLang="zh-TW" sz="2000" dirty="0"/>
              <a:t>}}&lt;/td&gt;&lt;td&gt;{{ </a:t>
            </a:r>
            <a:r>
              <a:rPr lang="en-US" altLang="zh-TW" sz="2000" dirty="0" err="1">
                <a:solidFill>
                  <a:srgbClr val="FF0000"/>
                </a:solidFill>
              </a:rPr>
              <a:t>c.model</a:t>
            </a:r>
            <a:r>
              <a:rPr lang="en-US" altLang="zh-TW" sz="2000" dirty="0">
                <a:solidFill>
                  <a:srgbClr val="FF0000"/>
                </a:solidFill>
              </a:rPr>
              <a:t> </a:t>
            </a:r>
            <a:r>
              <a:rPr lang="en-US" altLang="zh-TW" sz="2000" dirty="0"/>
              <a:t>}}&lt;/td&gt;</a:t>
            </a:r>
            <a:endParaRPr lang="zh-TW" altLang="en-US" sz="2000" dirty="0"/>
          </a:p>
          <a:p>
            <a:pPr marL="274320" lvl="1" indent="0">
              <a:buNone/>
            </a:pPr>
            <a:r>
              <a:rPr lang="en-US" altLang="zh-TW" dirty="0"/>
              <a:t>&lt;td align='right'&gt;NT${{ </a:t>
            </a:r>
            <a:r>
              <a:rPr lang="en-US" altLang="zh-TW" dirty="0" err="1">
                <a:solidFill>
                  <a:srgbClr val="FF0000"/>
                </a:solidFill>
              </a:rPr>
              <a:t>c.price</a:t>
            </a:r>
            <a:r>
              <a:rPr lang="en-US" altLang="zh-TW" dirty="0">
                <a:solidFill>
                  <a:srgbClr val="FF0000"/>
                </a:solidFill>
              </a:rPr>
              <a:t> | floatformat:2 | </a:t>
            </a:r>
            <a:r>
              <a:rPr lang="en-US" altLang="zh-TW" dirty="0" err="1">
                <a:solidFill>
                  <a:srgbClr val="FF0000"/>
                </a:solidFill>
              </a:rPr>
              <a:t>intcomma</a:t>
            </a:r>
            <a:r>
              <a:rPr lang="en-US" altLang="zh-TW" dirty="0">
                <a:solidFill>
                  <a:srgbClr val="FF0000"/>
                </a:solidFill>
              </a:rPr>
              <a:t> </a:t>
            </a:r>
            <a:r>
              <a:rPr lang="en-US" altLang="zh-TW" dirty="0"/>
              <a:t>}}&lt;/td&gt;</a:t>
            </a:r>
          </a:p>
          <a:p>
            <a:endParaRPr lang="zh-TW" altLang="en-US" dirty="0"/>
          </a:p>
        </p:txBody>
      </p:sp>
      <p:sp>
        <p:nvSpPr>
          <p:cNvPr id="6" name="文字方塊 5">
            <a:extLst>
              <a:ext uri="{FF2B5EF4-FFF2-40B4-BE49-F238E27FC236}">
                <a16:creationId xmlns:a16="http://schemas.microsoft.com/office/drawing/2014/main" id="{DA4E3D90-E992-B207-8434-89FA23836CD5}"/>
              </a:ext>
            </a:extLst>
          </p:cNvPr>
          <p:cNvSpPr txBox="1"/>
          <p:nvPr/>
        </p:nvSpPr>
        <p:spPr>
          <a:xfrm>
            <a:off x="611560" y="2420888"/>
            <a:ext cx="7762064" cy="646331"/>
          </a:xfrm>
          <a:prstGeom prst="rect">
            <a:avLst/>
          </a:prstGeom>
          <a:noFill/>
        </p:spPr>
        <p:txBody>
          <a:bodyPr wrap="square">
            <a:spAutoFit/>
          </a:bodyPr>
          <a:lstStyle/>
          <a:p>
            <a:r>
              <a:rPr lang="en-US" altLang="zh-TW" dirty="0"/>
              <a:t> path('</a:t>
            </a:r>
            <a:r>
              <a:rPr lang="en-US" altLang="zh-TW" dirty="0" err="1"/>
              <a:t>carprice</a:t>
            </a:r>
            <a:r>
              <a:rPr lang="en-US" altLang="zh-TW" dirty="0"/>
              <a:t>/', </a:t>
            </a:r>
            <a:r>
              <a:rPr lang="en-US" altLang="zh-TW" dirty="0" err="1"/>
              <a:t>carprice</a:t>
            </a:r>
            <a:r>
              <a:rPr lang="en-US" altLang="zh-TW" dirty="0"/>
              <a:t>),</a:t>
            </a:r>
          </a:p>
          <a:p>
            <a:r>
              <a:rPr lang="en-US" altLang="zh-TW" dirty="0"/>
              <a:t> path('</a:t>
            </a:r>
            <a:r>
              <a:rPr lang="en-US" altLang="zh-TW" dirty="0" err="1"/>
              <a:t>carprice</a:t>
            </a:r>
            <a:r>
              <a:rPr lang="en-US" altLang="zh-TW" dirty="0"/>
              <a:t>/&lt;</a:t>
            </a:r>
            <a:r>
              <a:rPr lang="en-US" altLang="zh-TW" dirty="0" err="1"/>
              <a:t>int:maker</a:t>
            </a:r>
            <a:r>
              <a:rPr lang="en-US" altLang="zh-TW" dirty="0"/>
              <a:t>&gt;/', </a:t>
            </a:r>
            <a:r>
              <a:rPr lang="en-US" altLang="zh-TW" dirty="0" err="1"/>
              <a:t>carprice</a:t>
            </a:r>
            <a:r>
              <a:rPr lang="en-US" altLang="zh-TW" dirty="0"/>
              <a:t>, name='</a:t>
            </a:r>
            <a:r>
              <a:rPr lang="en-US" altLang="zh-TW" dirty="0" err="1"/>
              <a:t>carprice-url</a:t>
            </a:r>
            <a:r>
              <a:rPr lang="en-US" altLang="zh-TW" dirty="0"/>
              <a:t>'),</a:t>
            </a:r>
            <a:endParaRPr lang="zh-TW" altLang="en-US" dirty="0"/>
          </a:p>
        </p:txBody>
      </p:sp>
      <p:pic>
        <p:nvPicPr>
          <p:cNvPr id="8" name="圖片 7">
            <a:extLst>
              <a:ext uri="{FF2B5EF4-FFF2-40B4-BE49-F238E27FC236}">
                <a16:creationId xmlns:a16="http://schemas.microsoft.com/office/drawing/2014/main" id="{42837BFF-3113-B22A-4B92-167516926409}"/>
              </a:ext>
            </a:extLst>
          </p:cNvPr>
          <p:cNvPicPr>
            <a:picLocks noChangeAspect="1"/>
          </p:cNvPicPr>
          <p:nvPr/>
        </p:nvPicPr>
        <p:blipFill>
          <a:blip r:embed="rId3"/>
          <a:stretch>
            <a:fillRect/>
          </a:stretch>
        </p:blipFill>
        <p:spPr>
          <a:xfrm>
            <a:off x="997530" y="5460637"/>
            <a:ext cx="7830643" cy="1352739"/>
          </a:xfrm>
          <a:prstGeom prst="rect">
            <a:avLst/>
          </a:prstGeom>
        </p:spPr>
      </p:pic>
      <p:pic>
        <p:nvPicPr>
          <p:cNvPr id="10" name="圖片 9">
            <a:extLst>
              <a:ext uri="{FF2B5EF4-FFF2-40B4-BE49-F238E27FC236}">
                <a16:creationId xmlns:a16="http://schemas.microsoft.com/office/drawing/2014/main" id="{19FC6A28-A699-91FF-54AB-167C9ADA4E59}"/>
              </a:ext>
            </a:extLst>
          </p:cNvPr>
          <p:cNvPicPr>
            <a:picLocks noChangeAspect="1"/>
          </p:cNvPicPr>
          <p:nvPr/>
        </p:nvPicPr>
        <p:blipFill>
          <a:blip r:embed="rId4"/>
          <a:stretch>
            <a:fillRect/>
          </a:stretch>
        </p:blipFill>
        <p:spPr>
          <a:xfrm>
            <a:off x="6002182" y="2105969"/>
            <a:ext cx="2534004" cy="581106"/>
          </a:xfrm>
          <a:prstGeom prst="rect">
            <a:avLst/>
          </a:prstGeom>
        </p:spPr>
      </p:pic>
    </p:spTree>
    <p:extLst>
      <p:ext uri="{BB962C8B-B14F-4D97-AF65-F5344CB8AC3E}">
        <p14:creationId xmlns:p14="http://schemas.microsoft.com/office/powerpoint/2010/main" val="23967602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django.contrib.humanize</a:t>
            </a:r>
            <a:r>
              <a:rPr lang="zh-TW" altLang="en-US" dirty="0"/>
              <a:t>模組</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75</a:t>
            </a:fld>
            <a:endParaRPr lang="zh-TW" altLang="en-US"/>
          </a:p>
        </p:txBody>
      </p:sp>
      <p:sp>
        <p:nvSpPr>
          <p:cNvPr id="4" name="內容版面配置區 3"/>
          <p:cNvSpPr>
            <a:spLocks noGrp="1"/>
          </p:cNvSpPr>
          <p:nvPr>
            <p:ph sz="quarter" idx="1"/>
          </p:nvPr>
        </p:nvSpPr>
        <p:spPr/>
        <p:txBody>
          <a:bodyPr/>
          <a:lstStyle/>
          <a:p>
            <a:r>
              <a:rPr lang="zh-TW" altLang="zh-TW" dirty="0"/>
              <a:t>加上千分位以及小數點格式的價格列表網頁</a:t>
            </a:r>
            <a:endParaRPr lang="zh-TW" altLang="en-US" dirty="0"/>
          </a:p>
        </p:txBody>
      </p:sp>
      <p:pic>
        <p:nvPicPr>
          <p:cNvPr id="6" name="圖片 5" descr="一張含有 文字 的圖片&#10;&#10;自動產生的描述">
            <a:extLst>
              <a:ext uri="{FF2B5EF4-FFF2-40B4-BE49-F238E27FC236}">
                <a16:creationId xmlns:a16="http://schemas.microsoft.com/office/drawing/2014/main" id="{CDBB1186-704B-E545-B02A-8716BD9F2864}"/>
              </a:ext>
            </a:extLst>
          </p:cNvPr>
          <p:cNvPicPr>
            <a:picLocks noChangeAspect="1"/>
          </p:cNvPicPr>
          <p:nvPr/>
        </p:nvPicPr>
        <p:blipFill>
          <a:blip r:embed="rId2"/>
          <a:stretch>
            <a:fillRect/>
          </a:stretch>
        </p:blipFill>
        <p:spPr>
          <a:xfrm>
            <a:off x="971600" y="2036618"/>
            <a:ext cx="6956259" cy="4142544"/>
          </a:xfrm>
          <a:prstGeom prst="rect">
            <a:avLst/>
          </a:prstGeom>
        </p:spPr>
      </p:pic>
    </p:spTree>
    <p:extLst>
      <p:ext uri="{BB962C8B-B14F-4D97-AF65-F5344CB8AC3E}">
        <p14:creationId xmlns:p14="http://schemas.microsoft.com/office/powerpoint/2010/main" val="3405273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D1C83F-341C-6354-B5DA-18D9A38A72A2}"/>
              </a:ext>
            </a:extLst>
          </p:cNvPr>
          <p:cNvSpPr>
            <a:spLocks noGrp="1"/>
          </p:cNvSpPr>
          <p:nvPr>
            <p:ph type="title"/>
          </p:nvPr>
        </p:nvSpPr>
        <p:spPr/>
        <p:txBody>
          <a:bodyPr/>
          <a:lstStyle/>
          <a:p>
            <a:r>
              <a:rPr lang="zh-TW" altLang="en-US"/>
              <a:t>補充</a:t>
            </a:r>
          </a:p>
        </p:txBody>
      </p:sp>
      <p:sp>
        <p:nvSpPr>
          <p:cNvPr id="3" name="投影片編號版面配置區 2">
            <a:extLst>
              <a:ext uri="{FF2B5EF4-FFF2-40B4-BE49-F238E27FC236}">
                <a16:creationId xmlns:a16="http://schemas.microsoft.com/office/drawing/2014/main" id="{AF8F4D58-B9F4-640C-7F47-7BDDF655C971}"/>
              </a:ext>
            </a:extLst>
          </p:cNvPr>
          <p:cNvSpPr>
            <a:spLocks noGrp="1"/>
          </p:cNvSpPr>
          <p:nvPr>
            <p:ph type="sldNum" sz="quarter" idx="12"/>
          </p:nvPr>
        </p:nvSpPr>
        <p:spPr/>
        <p:txBody>
          <a:bodyPr/>
          <a:lstStyle/>
          <a:p>
            <a:fld id="{369E457D-EE12-4164-8E32-9DDD40A95892}" type="slidenum">
              <a:rPr lang="zh-TW" altLang="en-US" smtClean="0"/>
              <a:pPr/>
              <a:t>76</a:t>
            </a:fld>
            <a:endParaRPr lang="zh-TW" altLang="en-US"/>
          </a:p>
        </p:txBody>
      </p:sp>
      <p:sp>
        <p:nvSpPr>
          <p:cNvPr id="4" name="內容版面配置區 3">
            <a:extLst>
              <a:ext uri="{FF2B5EF4-FFF2-40B4-BE49-F238E27FC236}">
                <a16:creationId xmlns:a16="http://schemas.microsoft.com/office/drawing/2014/main" id="{B0735FD0-3691-C18C-799E-6C6AD7DADDEC}"/>
              </a:ext>
            </a:extLst>
          </p:cNvPr>
          <p:cNvSpPr>
            <a:spLocks noGrp="1"/>
          </p:cNvSpPr>
          <p:nvPr>
            <p:ph sz="quarter" idx="1"/>
          </p:nvPr>
        </p:nvSpPr>
        <p:spPr>
          <a:xfrm>
            <a:off x="107504" y="1527048"/>
            <a:ext cx="8928992" cy="4572000"/>
          </a:xfrm>
        </p:spPr>
        <p:txBody>
          <a:bodyPr>
            <a:normAutofit lnSpcReduction="10000"/>
          </a:bodyPr>
          <a:lstStyle/>
          <a:p>
            <a:r>
              <a:rPr lang="en-US" altLang="zh-TW" dirty="0"/>
              <a:t>{%now</a:t>
            </a:r>
            <a:r>
              <a:rPr lang="zh-TW" altLang="en-US" dirty="0"/>
              <a:t>格式字串</a:t>
            </a:r>
            <a:r>
              <a:rPr lang="en-US" altLang="zh-TW" dirty="0"/>
              <a:t>%},</a:t>
            </a:r>
            <a:r>
              <a:rPr lang="zh-TW" altLang="en-US" dirty="0"/>
              <a:t>例如在網頁中使用以下的標記</a:t>
            </a:r>
            <a:r>
              <a:rPr lang="en-US" altLang="zh-TW" dirty="0"/>
              <a:t>:</a:t>
            </a:r>
          </a:p>
          <a:p>
            <a:r>
              <a:rPr lang="en-US" altLang="zh-TW" dirty="0"/>
              <a:t>{% now ‘D M Y h:m:s a’%}</a:t>
            </a:r>
          </a:p>
          <a:p>
            <a:r>
              <a:rPr lang="zh-TW" altLang="en-US" dirty="0"/>
              <a:t>則會顯示像是</a:t>
            </a:r>
            <a:r>
              <a:rPr lang="en-US" altLang="zh-TW" dirty="0"/>
              <a:t>:</a:t>
            </a:r>
            <a:r>
              <a:rPr lang="zh-TW" altLang="en-US" dirty="0"/>
              <a:t>「</a:t>
            </a:r>
            <a:r>
              <a:rPr lang="en-US" altLang="zh-TW" dirty="0"/>
              <a:t>Wed Jul 2016 08:07:46 </a:t>
            </a:r>
            <a:r>
              <a:rPr lang="en-US" altLang="zh-TW" dirty="0" err="1"/>
              <a:t>p.m</a:t>
            </a:r>
            <a:r>
              <a:rPr lang="zh-TW" altLang="en-US" dirty="0"/>
              <a:t>。這樣的字串</a:t>
            </a:r>
            <a:r>
              <a:rPr lang="en-US" altLang="zh-TW" dirty="0"/>
              <a:t>,</a:t>
            </a:r>
            <a:r>
              <a:rPr lang="zh-TW" altLang="en-US" dirty="0"/>
              <a:t>如此就不用在</a:t>
            </a:r>
            <a:r>
              <a:rPr lang="en-US" altLang="zh-TW" dirty="0"/>
              <a:t>views</a:t>
            </a:r>
            <a:r>
              <a:rPr lang="zh-TW" altLang="en-US" dirty="0"/>
              <a:t>的函式中取得現在時間了。</a:t>
            </a:r>
            <a:endParaRPr lang="en-US" altLang="zh-TW" dirty="0"/>
          </a:p>
          <a:p>
            <a:r>
              <a:rPr lang="en-US" altLang="zh-TW" dirty="0"/>
              <a:t>{% now "DATE_FORMAT" %}</a:t>
            </a:r>
          </a:p>
          <a:p>
            <a:r>
              <a:rPr lang="en-US" altLang="zh-TW" dirty="0"/>
              <a:t>{% lorem [count] [method][random] %}</a:t>
            </a:r>
          </a:p>
          <a:p>
            <a:r>
              <a:rPr lang="zh-TW" altLang="en-US" dirty="0"/>
              <a:t>後面接受</a:t>
            </a:r>
            <a:r>
              <a:rPr lang="en-US" altLang="zh-TW" dirty="0"/>
              <a:t>3</a:t>
            </a:r>
            <a:r>
              <a:rPr lang="zh-TW" altLang="en-US" dirty="0"/>
              <a:t>個參數</a:t>
            </a:r>
            <a:r>
              <a:rPr lang="en-US" altLang="zh-TW" dirty="0"/>
              <a:t>,count</a:t>
            </a:r>
            <a:r>
              <a:rPr lang="zh-TW" altLang="en-US" dirty="0"/>
              <a:t>是次數</a:t>
            </a:r>
            <a:r>
              <a:rPr lang="en-US" altLang="zh-TW" dirty="0"/>
              <a:t>,</a:t>
            </a:r>
            <a:r>
              <a:rPr lang="zh-TW" altLang="en-US" dirty="0"/>
              <a:t>而</a:t>
            </a:r>
            <a:r>
              <a:rPr lang="en-US" altLang="zh-TW" dirty="0"/>
              <a:t>method </a:t>
            </a:r>
            <a:r>
              <a:rPr lang="zh-TW" altLang="en-US" dirty="0"/>
              <a:t>可以設定為 </a:t>
            </a:r>
            <a:r>
              <a:rPr lang="en-US" altLang="zh-TW" dirty="0"/>
              <a:t>w</a:t>
            </a:r>
            <a:r>
              <a:rPr lang="zh-TW" altLang="en-US" dirty="0"/>
              <a:t>表示文字</a:t>
            </a:r>
            <a:r>
              <a:rPr lang="en-US" altLang="zh-TW" dirty="0"/>
              <a:t>,p</a:t>
            </a:r>
            <a:r>
              <a:rPr lang="zh-TW" altLang="en-US" dirty="0"/>
              <a:t>表示段落</a:t>
            </a:r>
            <a:r>
              <a:rPr lang="en-US" altLang="zh-TW" dirty="0"/>
              <a:t>,</a:t>
            </a:r>
            <a:r>
              <a:rPr lang="zh-TW" altLang="en-US" dirty="0"/>
              <a:t>最後面如果加上</a:t>
            </a:r>
            <a:r>
              <a:rPr lang="en-US" altLang="zh-TW" dirty="0"/>
              <a:t>random,</a:t>
            </a:r>
            <a:r>
              <a:rPr lang="zh-TW" altLang="en-US" dirty="0"/>
              <a:t>則會以亂數的方式產生這些字串。</a:t>
            </a:r>
            <a:endParaRPr lang="en-US" altLang="zh-TW" dirty="0"/>
          </a:p>
          <a:p>
            <a:r>
              <a:rPr lang="zh-TW" altLang="en-US" dirty="0"/>
              <a:t>例如使用</a:t>
            </a:r>
            <a:r>
              <a:rPr lang="en-US" altLang="zh-TW" dirty="0"/>
              <a:t>{% lorem 2 p random %}</a:t>
            </a:r>
            <a:endParaRPr lang="zh-TW" altLang="en-US" dirty="0"/>
          </a:p>
        </p:txBody>
      </p:sp>
    </p:spTree>
    <p:extLst>
      <p:ext uri="{BB962C8B-B14F-4D97-AF65-F5344CB8AC3E}">
        <p14:creationId xmlns:p14="http://schemas.microsoft.com/office/powerpoint/2010/main" val="1679480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2BCA09-09D3-167E-EEB2-383276413219}"/>
              </a:ext>
            </a:extLst>
          </p:cNvPr>
          <p:cNvSpPr>
            <a:spLocks noGrp="1"/>
          </p:cNvSpPr>
          <p:nvPr>
            <p:ph type="title"/>
          </p:nvPr>
        </p:nvSpPr>
        <p:spPr>
          <a:xfrm>
            <a:off x="0" y="44624"/>
            <a:ext cx="9144000" cy="758952"/>
          </a:xfrm>
        </p:spPr>
        <p:txBody>
          <a:bodyPr>
            <a:noAutofit/>
          </a:bodyPr>
          <a:lstStyle/>
          <a:p>
            <a:r>
              <a:rPr lang="zh-TW" altLang="en-US" sz="2400" dirty="0"/>
              <a:t>習題</a:t>
            </a:r>
            <a:r>
              <a:rPr lang="en-US" altLang="zh-TW" sz="2400" dirty="0"/>
              <a:t>-</a:t>
            </a:r>
            <a:r>
              <a:rPr lang="zh-TW" altLang="en-US" sz="2400" dirty="0"/>
              <a:t>拆解</a:t>
            </a:r>
            <a:r>
              <a:rPr lang="en-US" altLang="zh-TW" sz="2400" dirty="0"/>
              <a:t>-</a:t>
            </a:r>
            <a:r>
              <a:rPr lang="zh-TW" altLang="en-US" sz="2400" dirty="0"/>
              <a:t>檔案在</a:t>
            </a:r>
            <a:r>
              <a:rPr lang="en-US" altLang="zh-TW" sz="2400" dirty="0"/>
              <a:t>06template\</a:t>
            </a:r>
            <a:r>
              <a:rPr lang="en-US" altLang="zh-TW" sz="2400" dirty="0" err="1"/>
              <a:t>livetv</a:t>
            </a:r>
            <a:r>
              <a:rPr lang="en-US" altLang="zh-TW" sz="2400" dirty="0"/>
              <a:t>\</a:t>
            </a:r>
            <a:r>
              <a:rPr lang="en-US" altLang="zh-TW" sz="2400" dirty="0" err="1"/>
              <a:t>mysite</a:t>
            </a:r>
            <a:r>
              <a:rPr lang="en-US" altLang="zh-TW" sz="2400" dirty="0"/>
              <a:t>\templates</a:t>
            </a:r>
            <a:endParaRPr lang="zh-TW" altLang="en-US" sz="2400" dirty="0"/>
          </a:p>
        </p:txBody>
      </p:sp>
      <p:sp>
        <p:nvSpPr>
          <p:cNvPr id="3" name="投影片編號版面配置區 2">
            <a:extLst>
              <a:ext uri="{FF2B5EF4-FFF2-40B4-BE49-F238E27FC236}">
                <a16:creationId xmlns:a16="http://schemas.microsoft.com/office/drawing/2014/main" id="{0E682505-20FE-6383-DCF0-CE92FCB5622C}"/>
              </a:ext>
            </a:extLst>
          </p:cNvPr>
          <p:cNvSpPr>
            <a:spLocks noGrp="1"/>
          </p:cNvSpPr>
          <p:nvPr>
            <p:ph type="sldNum" sz="quarter" idx="12"/>
          </p:nvPr>
        </p:nvSpPr>
        <p:spPr/>
        <p:txBody>
          <a:bodyPr/>
          <a:lstStyle/>
          <a:p>
            <a:fld id="{369E457D-EE12-4164-8E32-9DDD40A95892}" type="slidenum">
              <a:rPr lang="zh-TW" altLang="en-US" smtClean="0"/>
              <a:pPr/>
              <a:t>77</a:t>
            </a:fld>
            <a:endParaRPr lang="zh-TW" altLang="en-US"/>
          </a:p>
        </p:txBody>
      </p:sp>
      <p:sp>
        <p:nvSpPr>
          <p:cNvPr id="6" name="文字方塊 5">
            <a:extLst>
              <a:ext uri="{FF2B5EF4-FFF2-40B4-BE49-F238E27FC236}">
                <a16:creationId xmlns:a16="http://schemas.microsoft.com/office/drawing/2014/main" id="{307B9700-4421-2755-D7BD-FC2865A9CD61}"/>
              </a:ext>
            </a:extLst>
          </p:cNvPr>
          <p:cNvSpPr txBox="1"/>
          <p:nvPr/>
        </p:nvSpPr>
        <p:spPr>
          <a:xfrm>
            <a:off x="0" y="764704"/>
            <a:ext cx="9144000" cy="6124754"/>
          </a:xfrm>
          <a:prstGeom prst="rect">
            <a:avLst/>
          </a:prstGeom>
          <a:noFill/>
        </p:spPr>
        <p:txBody>
          <a:bodyPr wrap="square" rtlCol="0">
            <a:spAutoFit/>
          </a:bodyPr>
          <a:lstStyle/>
          <a:p>
            <a:r>
              <a:rPr lang="zh-TW" altLang="en-US" sz="2800" dirty="0"/>
              <a:t>第</a:t>
            </a:r>
            <a:r>
              <a:rPr lang="en-US" altLang="zh-TW" sz="2800" dirty="0"/>
              <a:t>0</a:t>
            </a:r>
            <a:r>
              <a:rPr lang="zh-TW" altLang="en-US" sz="2800" dirty="0"/>
              <a:t>步：已有</a:t>
            </a:r>
            <a:r>
              <a:rPr lang="en-US" altLang="zh-TW" sz="2800" dirty="0"/>
              <a:t>xxx_all.html</a:t>
            </a:r>
            <a:r>
              <a:rPr lang="zh-TW" altLang="en-US" sz="2800" dirty="0"/>
              <a:t>，建立新的空的</a:t>
            </a:r>
            <a:r>
              <a:rPr lang="en-US" altLang="zh-TW" sz="2800" dirty="0"/>
              <a:t>base.html</a:t>
            </a:r>
          </a:p>
          <a:p>
            <a:endParaRPr lang="en-US" altLang="zh-TW" sz="2800" dirty="0"/>
          </a:p>
          <a:p>
            <a:r>
              <a:rPr lang="zh-TW" altLang="en-US" sz="2800" dirty="0"/>
              <a:t>第一步：原則</a:t>
            </a:r>
            <a:r>
              <a:rPr lang="en-US" altLang="zh-TW" sz="2800" dirty="0"/>
              <a:t>Base</a:t>
            </a:r>
            <a:r>
              <a:rPr lang="zh-TW" altLang="en-US" sz="2800" dirty="0"/>
              <a:t>部份先包含</a:t>
            </a:r>
            <a:r>
              <a:rPr lang="en-US" altLang="zh-TW" sz="2800" dirty="0"/>
              <a:t>header &amp; footer</a:t>
            </a:r>
            <a:r>
              <a:rPr lang="zh-TW" altLang="en-US" sz="2800" dirty="0"/>
              <a:t>：先視為共同都有的部份，只拆出個別</a:t>
            </a:r>
            <a:r>
              <a:rPr lang="zh-TW" altLang="en-US" sz="2800" b="1" dirty="0">
                <a:solidFill>
                  <a:srgbClr val="FF0000"/>
                </a:solidFill>
              </a:rPr>
              <a:t>有差異</a:t>
            </a:r>
            <a:r>
              <a:rPr lang="zh-TW" altLang="en-US" sz="2800" dirty="0"/>
              <a:t>的</a:t>
            </a:r>
            <a:r>
              <a:rPr lang="en-US" altLang="zh-TW" sz="2800" dirty="0"/>
              <a:t>content</a:t>
            </a:r>
            <a:r>
              <a:rPr lang="zh-TW" altLang="en-US" sz="2800" dirty="0"/>
              <a:t>、</a:t>
            </a:r>
            <a:r>
              <a:rPr lang="en-US" altLang="zh-TW" sz="2800" dirty="0"/>
              <a:t>extra </a:t>
            </a:r>
            <a:r>
              <a:rPr lang="en-US" altLang="zh-TW" sz="2800" dirty="0" err="1"/>
              <a:t>css</a:t>
            </a:r>
            <a:r>
              <a:rPr lang="zh-TW" altLang="en-US" sz="2800" dirty="0"/>
              <a:t>、</a:t>
            </a:r>
            <a:r>
              <a:rPr lang="en-US" altLang="zh-TW" sz="2800" dirty="0"/>
              <a:t>extra </a:t>
            </a:r>
            <a:r>
              <a:rPr lang="en-US" altLang="zh-TW" sz="2800" dirty="0" err="1"/>
              <a:t>js</a:t>
            </a:r>
            <a:r>
              <a:rPr lang="zh-TW" altLang="en-US" sz="2800" dirty="0"/>
              <a:t>，所以將</a:t>
            </a:r>
            <a:r>
              <a:rPr lang="en-US" altLang="zh-TW" sz="2800" dirty="0">
                <a:solidFill>
                  <a:srgbClr val="FF0000"/>
                </a:solidFill>
              </a:rPr>
              <a:t>about_all.html</a:t>
            </a:r>
            <a:r>
              <a:rPr lang="zh-TW" altLang="en-US" sz="2800" dirty="0"/>
              <a:t>共同的部分</a:t>
            </a:r>
            <a:r>
              <a:rPr lang="en-US" altLang="zh-TW" sz="2800" dirty="0"/>
              <a:t>(</a:t>
            </a:r>
            <a:r>
              <a:rPr lang="zh-TW" altLang="en-US" sz="2800" dirty="0"/>
              <a:t>含</a:t>
            </a:r>
            <a:r>
              <a:rPr lang="en-US" altLang="zh-TW" sz="2800" dirty="0"/>
              <a:t>header &amp; footer)</a:t>
            </a:r>
            <a:r>
              <a:rPr lang="zh-TW" altLang="en-US" sz="2800" dirty="0"/>
              <a:t>拆開搬到</a:t>
            </a:r>
            <a:r>
              <a:rPr lang="en-US" altLang="zh-TW" sz="2800" dirty="0"/>
              <a:t>base.html</a:t>
            </a:r>
            <a:r>
              <a:rPr lang="zh-TW" altLang="en-US" sz="2800" dirty="0"/>
              <a:t>，其餘有差異的保留</a:t>
            </a:r>
            <a:endParaRPr lang="en-US" altLang="zh-TW" sz="2800" dirty="0"/>
          </a:p>
          <a:p>
            <a:endParaRPr lang="en-US" altLang="zh-TW" sz="2800" dirty="0"/>
          </a:p>
          <a:p>
            <a:r>
              <a:rPr lang="zh-TW" altLang="en-US" sz="2800" dirty="0"/>
              <a:t>第二步：再將其他的</a:t>
            </a:r>
            <a:r>
              <a:rPr lang="en-US" altLang="zh-TW" sz="2800" dirty="0"/>
              <a:t>xxx_all.html </a:t>
            </a:r>
            <a:r>
              <a:rPr lang="zh-TW" altLang="en-US" sz="2800" dirty="0"/>
              <a:t>和 </a:t>
            </a:r>
            <a:r>
              <a:rPr lang="en-US" altLang="zh-TW" sz="2800" dirty="0"/>
              <a:t>base.html</a:t>
            </a:r>
            <a:r>
              <a:rPr lang="zh-TW" altLang="en-US" sz="2800" dirty="0"/>
              <a:t>比對，有相同的部份，表示</a:t>
            </a:r>
            <a:r>
              <a:rPr lang="en-US" altLang="zh-TW" sz="2800" dirty="0"/>
              <a:t>base</a:t>
            </a:r>
            <a:r>
              <a:rPr lang="zh-TW" altLang="en-US" sz="2800" dirty="0"/>
              <a:t>已有，就要去掉，只保留不同的部份，也就是個別</a:t>
            </a:r>
            <a:r>
              <a:rPr lang="en-US" altLang="zh-TW" sz="2800" dirty="0"/>
              <a:t>html</a:t>
            </a:r>
            <a:r>
              <a:rPr lang="zh-TW" altLang="en-US" sz="2800" dirty="0"/>
              <a:t>有差異的部份</a:t>
            </a:r>
            <a:endParaRPr lang="en-US" altLang="zh-TW" sz="2800" dirty="0"/>
          </a:p>
          <a:p>
            <a:endParaRPr lang="en-US" altLang="zh-TW" sz="2800" dirty="0"/>
          </a:p>
          <a:p>
            <a:r>
              <a:rPr lang="zh-TW" altLang="en-US" sz="2800" dirty="0"/>
              <a:t>第三步：再將</a:t>
            </a:r>
            <a:r>
              <a:rPr lang="en-US" altLang="zh-TW" sz="2800" dirty="0"/>
              <a:t>base.html</a:t>
            </a:r>
            <a:r>
              <a:rPr lang="zh-TW" altLang="en-US" sz="2800" dirty="0"/>
              <a:t>拆開成</a:t>
            </a:r>
            <a:r>
              <a:rPr lang="en-US" altLang="zh-TW" sz="2800" dirty="0"/>
              <a:t>base &amp; header &amp; footer</a:t>
            </a:r>
            <a:endParaRPr lang="zh-TW" altLang="en-US" sz="2800" dirty="0"/>
          </a:p>
        </p:txBody>
      </p:sp>
    </p:spTree>
    <p:extLst>
      <p:ext uri="{BB962C8B-B14F-4D97-AF65-F5344CB8AC3E}">
        <p14:creationId xmlns:p14="http://schemas.microsoft.com/office/powerpoint/2010/main" val="38730297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4175026-9220-4099-F358-C82CBC0643A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C24B8BC-4F13-CC3C-1D9F-3597FCBD1FDA}"/>
              </a:ext>
            </a:extLst>
          </p:cNvPr>
          <p:cNvSpPr>
            <a:spLocks noGrp="1"/>
          </p:cNvSpPr>
          <p:nvPr>
            <p:ph type="title"/>
          </p:nvPr>
        </p:nvSpPr>
        <p:spPr/>
        <p:txBody>
          <a:bodyPr/>
          <a:lstStyle/>
          <a:p>
            <a:r>
              <a:rPr lang="zh-TW" altLang="zh-TW" dirty="0"/>
              <a:t>共用模版的使用</a:t>
            </a:r>
            <a:r>
              <a:rPr lang="en-US" altLang="zh-TW" dirty="0"/>
              <a:t>-</a:t>
            </a:r>
            <a:r>
              <a:rPr lang="zh-TW" altLang="en-US" dirty="0"/>
              <a:t>習題</a:t>
            </a:r>
            <a:r>
              <a:rPr lang="en-US" altLang="zh-TW" dirty="0"/>
              <a:t>-</a:t>
            </a:r>
            <a:r>
              <a:rPr lang="zh-TW" altLang="en-US" dirty="0"/>
              <a:t>公司官網模板</a:t>
            </a:r>
          </a:p>
        </p:txBody>
      </p:sp>
      <p:sp>
        <p:nvSpPr>
          <p:cNvPr id="3" name="投影片編號版面配置區 2">
            <a:extLst>
              <a:ext uri="{FF2B5EF4-FFF2-40B4-BE49-F238E27FC236}">
                <a16:creationId xmlns:a16="http://schemas.microsoft.com/office/drawing/2014/main" id="{C38BECED-852F-FFC1-E1B5-E88717AC650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69E457D-EE12-4164-8E32-9DDD40A95892}" type="slidenum">
              <a:rPr kumimoji="0" lang="zh-TW" altLang="en-US" sz="1600" b="0" i="0" u="none" strike="noStrike" kern="1200" cap="none" spc="0" normalizeH="0" baseline="0" noProof="0" smtClean="0">
                <a:ln>
                  <a:noFill/>
                </a:ln>
                <a:solidFill>
                  <a:srgbClr val="8CADAE">
                    <a:shade val="75000"/>
                  </a:srgbClr>
                </a:solidFill>
                <a:effectLst/>
                <a:uLnTx/>
                <a:uFillTx/>
                <a:latin typeface="Verdana"/>
                <a:ea typeface="微軟正黑體" panose="020B0604030504040204" pitchFamily="34" charset="-120"/>
                <a:cs typeface="+mn-cs"/>
              </a:rPr>
              <a:pPr marL="0" marR="0" lvl="0" indent="0" algn="ctr" defTabSz="914400" rtl="0" eaLnBrk="1" fontAlgn="auto" latinLnBrk="0" hangingPunct="1">
                <a:lnSpc>
                  <a:spcPct val="100000"/>
                </a:lnSpc>
                <a:spcBef>
                  <a:spcPts val="0"/>
                </a:spcBef>
                <a:spcAft>
                  <a:spcPts val="0"/>
                </a:spcAft>
                <a:buClrTx/>
                <a:buSzTx/>
                <a:buFontTx/>
                <a:buNone/>
                <a:tabLst/>
                <a:defRPr/>
              </a:pPr>
              <a:t>78</a:t>
            </a:fld>
            <a:endParaRPr kumimoji="0" lang="zh-TW" altLang="en-US" sz="1600" b="0" i="0" u="none" strike="noStrike" kern="1200" cap="none" spc="0" normalizeH="0" baseline="0" noProof="0">
              <a:ln>
                <a:noFill/>
              </a:ln>
              <a:solidFill>
                <a:srgbClr val="8CADAE">
                  <a:shade val="75000"/>
                </a:srgbClr>
              </a:solidFill>
              <a:effectLst/>
              <a:uLnTx/>
              <a:uFillTx/>
              <a:latin typeface="Verdana"/>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FC066A80-0108-F62D-E634-49F49915E362}"/>
              </a:ext>
            </a:extLst>
          </p:cNvPr>
          <p:cNvPicPr>
            <a:picLocks noChangeAspect="1"/>
          </p:cNvPicPr>
          <p:nvPr/>
        </p:nvPicPr>
        <p:blipFill>
          <a:blip r:embed="rId2"/>
          <a:stretch>
            <a:fillRect/>
          </a:stretch>
        </p:blipFill>
        <p:spPr>
          <a:xfrm>
            <a:off x="0" y="1418710"/>
            <a:ext cx="9144000" cy="4746594"/>
          </a:xfrm>
          <a:prstGeom prst="rect">
            <a:avLst/>
          </a:prstGeom>
        </p:spPr>
      </p:pic>
    </p:spTree>
    <p:extLst>
      <p:ext uri="{BB962C8B-B14F-4D97-AF65-F5344CB8AC3E}">
        <p14:creationId xmlns:p14="http://schemas.microsoft.com/office/powerpoint/2010/main" val="17804491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16475</TotalTime>
  <Words>9038</Words>
  <Application>Microsoft Office PowerPoint</Application>
  <PresentationFormat>如螢幕大小 (4:3)</PresentationFormat>
  <Paragraphs>1025</Paragraphs>
  <Slides>78</Slides>
  <Notes>36</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78</vt:i4>
      </vt:variant>
    </vt:vector>
  </HeadingPairs>
  <TitlesOfParts>
    <vt:vector size="86" baseType="lpstr">
      <vt:lpstr>Calibri</vt:lpstr>
      <vt:lpstr>Consolas</vt:lpstr>
      <vt:lpstr>Courier New</vt:lpstr>
      <vt:lpstr>Verdana</vt:lpstr>
      <vt:lpstr>Wingdings</vt:lpstr>
      <vt:lpstr>Wingdings 2</vt:lpstr>
      <vt:lpstr>市鎮</vt:lpstr>
      <vt:lpstr>1_市鎮</vt:lpstr>
      <vt:lpstr>第六堂 Template深入探討</vt:lpstr>
      <vt:lpstr>學習目標</vt:lpstr>
      <vt:lpstr>Template的設定與運作</vt:lpstr>
      <vt:lpstr> settings.py設定</vt:lpstr>
      <vt:lpstr> settings.py設定(demo說明優先順序)</vt:lpstr>
      <vt:lpstr> settings.py設定</vt:lpstr>
      <vt:lpstr> settings.py設定</vt:lpstr>
      <vt:lpstr> (demo 不同app的順序) URLs.py設定</vt:lpstr>
      <vt:lpstr>index.html</vt:lpstr>
      <vt:lpstr>模板工作原理</vt:lpstr>
      <vt:lpstr>建立templates檔案</vt:lpstr>
      <vt:lpstr>模板的工作原理</vt:lpstr>
      <vt:lpstr>模板的工作原理</vt:lpstr>
      <vt:lpstr>共用模版的使用</vt:lpstr>
      <vt:lpstr>共用模版的使用</vt:lpstr>
      <vt:lpstr>共用模版的使用</vt:lpstr>
      <vt:lpstr>共用模版的使用 file:02mblog\mblog\mysite\templates ch02\mblog\templates也有(可用這個)</vt:lpstr>
      <vt:lpstr>共用模版的使用</vt:lpstr>
      <vt:lpstr>共用模版的使用</vt:lpstr>
      <vt:lpstr>共用模版的使用</vt:lpstr>
      <vt:lpstr>共用模版的使用 以下這段內容會無條件出現在所有引用footer.html的頁面中(雖然有加block)未解??</vt:lpstr>
      <vt:lpstr>模板在templates檔案中使用現有的網頁框架的工作原理 base.html  !b5-script</vt:lpstr>
      <vt:lpstr>模板的工作原理</vt:lpstr>
      <vt:lpstr>共用模版的使用</vt:lpstr>
      <vt:lpstr>共用模版的使用</vt:lpstr>
      <vt:lpstr> 產生第一個網站框架 請在Anaconda Prompt之下執行以下指令</vt:lpstr>
      <vt:lpstr>編輯settings.py</vt:lpstr>
      <vt:lpstr>編輯settings.py</vt:lpstr>
      <vt:lpstr>直播電視網站應用範例</vt:lpstr>
      <vt:lpstr>直播電視網站應用範例</vt:lpstr>
      <vt:lpstr>直播電視網站應用範例</vt:lpstr>
      <vt:lpstr>直播電視網站應用範例</vt:lpstr>
      <vt:lpstr>直播電視網站應用範例</vt:lpstr>
      <vt:lpstr>直播電視網站應用範例</vt:lpstr>
      <vt:lpstr>直播電視網站應用範例</vt:lpstr>
      <vt:lpstr>直播電視網站應用範例</vt:lpstr>
      <vt:lpstr>直播電視網站應用範例(for loop寫法)</vt:lpstr>
      <vt:lpstr>直播電視網站應用範例</vt:lpstr>
      <vt:lpstr>直播電視網站應用範例 說明指定預設值def index(request, tvno = 0):</vt:lpstr>
      <vt:lpstr>在template中使用static檔案</vt:lpstr>
      <vt:lpstr>本範例網站的目錄結構 python manage.py collectstatic</vt:lpstr>
      <vt:lpstr>直播電視網站應用範例</vt:lpstr>
      <vt:lpstr>直播電視網站應用範例</vt:lpstr>
      <vt:lpstr>直播電視網站應用範例</vt:lpstr>
      <vt:lpstr>進階Template技巧</vt:lpstr>
      <vt:lpstr>Template模板的繼承</vt:lpstr>
      <vt:lpstr>Template模板的繼承</vt:lpstr>
      <vt:lpstr>Template模板的繼承</vt:lpstr>
      <vt:lpstr>Template模板的繼承</vt:lpstr>
      <vt:lpstr>Template模板的繼承</vt:lpstr>
      <vt:lpstr>Template模板的繼承</vt:lpstr>
      <vt:lpstr>Template模板的繼承</vt:lpstr>
      <vt:lpstr>Template模板的繼承</vt:lpstr>
      <vt:lpstr>共用模板的使用範例</vt:lpstr>
      <vt:lpstr>Template模板的繼承</vt:lpstr>
      <vt:lpstr>Template模板的繼承</vt:lpstr>
      <vt:lpstr>Template語言</vt:lpstr>
      <vt:lpstr>判斷決策指令</vt:lpstr>
      <vt:lpstr>決策指令</vt:lpstr>
      <vt:lpstr>決策指令</vt:lpstr>
      <vt:lpstr>迴圈指令</vt:lpstr>
      <vt:lpstr>迴圈指令urls.py Views.py</vt:lpstr>
      <vt:lpstr>迴圈指令</vt:lpstr>
      <vt:lpstr>迴圈指令</vt:lpstr>
      <vt:lpstr>迴圈指令</vt:lpstr>
      <vt:lpstr>forloop的計數器相關變數</vt:lpstr>
      <vt:lpstr>過濾器與其它的語法標記</vt:lpstr>
      <vt:lpstr>過濾器與其它的語法標記</vt:lpstr>
      <vt:lpstr>過濾器與其它的語法標記</vt:lpstr>
      <vt:lpstr>過濾器與其它的語法標記</vt:lpstr>
      <vt:lpstr>過濾器與其它的語法標記</vt:lpstr>
      <vt:lpstr>django.contrib.humanize模組 要放在mysite之前</vt:lpstr>
      <vt:lpstr>django.contrib.humanize模組</vt:lpstr>
      <vt:lpstr>django.contrib.humanize模組 copy carlist.html來改</vt:lpstr>
      <vt:lpstr>django.contrib.humanize模組</vt:lpstr>
      <vt:lpstr>補充</vt:lpstr>
      <vt:lpstr>習題-拆解-檔案在06template\livetv\mysite\templates</vt:lpstr>
      <vt:lpstr>共用模版的使用-習題-公司官網模板</vt:lpstr>
    </vt:vector>
  </TitlesOfParts>
  <Company>SYNNEX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炳志 林</cp:lastModifiedBy>
  <cp:revision>216</cp:revision>
  <dcterms:created xsi:type="dcterms:W3CDTF">2017-10-09T22:32:02Z</dcterms:created>
  <dcterms:modified xsi:type="dcterms:W3CDTF">2026-05-27T11:53:43Z</dcterms:modified>
</cp:coreProperties>
</file>