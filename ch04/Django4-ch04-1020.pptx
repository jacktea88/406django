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9"/>
  </p:notesMasterIdLst>
  <p:sldIdLst>
    <p:sldId id="256" r:id="rId2"/>
    <p:sldId id="257" r:id="rId3"/>
    <p:sldId id="259" r:id="rId4"/>
    <p:sldId id="260" r:id="rId5"/>
    <p:sldId id="261" r:id="rId6"/>
    <p:sldId id="262" r:id="rId7"/>
    <p:sldId id="325" r:id="rId8"/>
    <p:sldId id="317" r:id="rId9"/>
    <p:sldId id="318" r:id="rId10"/>
    <p:sldId id="263" r:id="rId11"/>
    <p:sldId id="324" r:id="rId12"/>
    <p:sldId id="264" r:id="rId13"/>
    <p:sldId id="265" r:id="rId14"/>
    <p:sldId id="266" r:id="rId15"/>
    <p:sldId id="267" r:id="rId16"/>
    <p:sldId id="268" r:id="rId17"/>
    <p:sldId id="269" r:id="rId18"/>
    <p:sldId id="270" r:id="rId19"/>
    <p:sldId id="271" r:id="rId20"/>
    <p:sldId id="330" r:id="rId21"/>
    <p:sldId id="305" r:id="rId22"/>
    <p:sldId id="272" r:id="rId23"/>
    <p:sldId id="306" r:id="rId24"/>
    <p:sldId id="273" r:id="rId25"/>
    <p:sldId id="274" r:id="rId26"/>
    <p:sldId id="275" r:id="rId27"/>
    <p:sldId id="276" r:id="rId28"/>
    <p:sldId id="277" r:id="rId29"/>
    <p:sldId id="307" r:id="rId30"/>
    <p:sldId id="308" r:id="rId31"/>
    <p:sldId id="278" r:id="rId32"/>
    <p:sldId id="279" r:id="rId33"/>
    <p:sldId id="280" r:id="rId34"/>
    <p:sldId id="281" r:id="rId35"/>
    <p:sldId id="319" r:id="rId36"/>
    <p:sldId id="282" r:id="rId37"/>
    <p:sldId id="283" r:id="rId38"/>
    <p:sldId id="284" r:id="rId39"/>
    <p:sldId id="285" r:id="rId40"/>
    <p:sldId id="309" r:id="rId41"/>
    <p:sldId id="320" r:id="rId42"/>
    <p:sldId id="310" r:id="rId43"/>
    <p:sldId id="321" r:id="rId44"/>
    <p:sldId id="328" r:id="rId45"/>
    <p:sldId id="331" r:id="rId46"/>
    <p:sldId id="286" r:id="rId47"/>
    <p:sldId id="336" r:id="rId48"/>
    <p:sldId id="287" r:id="rId49"/>
    <p:sldId id="311" r:id="rId50"/>
    <p:sldId id="322" r:id="rId51"/>
    <p:sldId id="294" r:id="rId52"/>
    <p:sldId id="295" r:id="rId53"/>
    <p:sldId id="332" r:id="rId54"/>
    <p:sldId id="298" r:id="rId55"/>
    <p:sldId id="299" r:id="rId56"/>
    <p:sldId id="288" r:id="rId57"/>
    <p:sldId id="304" r:id="rId58"/>
    <p:sldId id="293" r:id="rId59"/>
    <p:sldId id="301" r:id="rId60"/>
    <p:sldId id="300" r:id="rId61"/>
    <p:sldId id="291" r:id="rId62"/>
    <p:sldId id="315" r:id="rId63"/>
    <p:sldId id="316" r:id="rId64"/>
    <p:sldId id="323" r:id="rId65"/>
    <p:sldId id="329" r:id="rId66"/>
    <p:sldId id="333" r:id="rId67"/>
    <p:sldId id="335" r:id="rId68"/>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7654" autoAdjust="0"/>
  </p:normalViewPr>
  <p:slideViewPr>
    <p:cSldViewPr>
      <p:cViewPr varScale="1">
        <p:scale>
          <a:sx n="79" d="100"/>
          <a:sy n="79" d="100"/>
        </p:scale>
        <p:origin x="2544" y="10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074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E2433-649F-42E5-AECB-94990831C40A}" type="datetimeFigureOut">
              <a:rPr lang="zh-TW" altLang="en-US" smtClean="0"/>
              <a:pPr/>
              <a:t>2026/10/20</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27FE99C-3BAC-4305-ABBB-3890AB1B4510}" type="slidenum">
              <a:rPr lang="zh-TW" altLang="en-US" smtClean="0"/>
              <a:pPr/>
              <a:t>‹#›</a:t>
            </a:fld>
            <a:endParaRPr lang="zh-TW" altLang="en-US"/>
          </a:p>
        </p:txBody>
      </p:sp>
    </p:spTree>
    <p:extLst>
      <p:ext uri="{BB962C8B-B14F-4D97-AF65-F5344CB8AC3E}">
        <p14:creationId xmlns:p14="http://schemas.microsoft.com/office/powerpoint/2010/main" val="28081963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把一個系統拆成這樣有</a:t>
            </a:r>
            <a:r>
              <a:rPr lang="zh-TW" altLang="en-US" b="1" dirty="0"/>
              <a:t>幾個好處</a:t>
            </a:r>
            <a:r>
              <a:rPr lang="zh-TW" altLang="en-US" dirty="0"/>
              <a:t>。其中最重要的部份是可以大幅地降低系統的複雜</a:t>
            </a:r>
          </a:p>
          <a:p>
            <a:r>
              <a:rPr lang="zh-TW" altLang="en-US" dirty="0"/>
              <a:t>性</a:t>
            </a:r>
            <a:r>
              <a:rPr lang="en-US" altLang="zh-TW" dirty="0"/>
              <a:t>,</a:t>
            </a:r>
            <a:r>
              <a:rPr lang="zh-TW" altLang="en-US" dirty="0"/>
              <a:t>因為它很明確地描述了系統中不同功能區塊各自的分工。</a:t>
            </a:r>
            <a:endParaRPr lang="en-US" altLang="zh-TW" dirty="0"/>
          </a:p>
          <a:p>
            <a:r>
              <a:rPr lang="zh-TW" altLang="en-US" dirty="0"/>
              <a:t>因為此三者之間的明確分工</a:t>
            </a:r>
            <a:r>
              <a:rPr lang="en-US" altLang="zh-TW" dirty="0"/>
              <a:t>,</a:t>
            </a:r>
            <a:r>
              <a:rPr lang="zh-TW" altLang="en-US" dirty="0"/>
              <a:t>所以在一個由許多成員分工的大型專案中</a:t>
            </a:r>
            <a:r>
              <a:rPr lang="en-US" altLang="zh-TW" dirty="0"/>
              <a:t>,</a:t>
            </a:r>
            <a:r>
              <a:rPr lang="zh-TW" altLang="en-US" dirty="0"/>
              <a:t>可以更容易地進行團隊合作</a:t>
            </a:r>
            <a:r>
              <a:rPr lang="en-US" altLang="zh-TW" dirty="0"/>
              <a:t>,</a:t>
            </a:r>
            <a:r>
              <a:rPr lang="zh-TW" altLang="en-US" dirty="0"/>
              <a:t>例如</a:t>
            </a:r>
          </a:p>
          <a:p>
            <a:r>
              <a:rPr lang="zh-TW" altLang="en-US" dirty="0"/>
              <a:t>負責</a:t>
            </a:r>
            <a:r>
              <a:rPr lang="zh-TW" altLang="en-US" b="1" dirty="0"/>
              <a:t>資料庫的人員和外觀設計的人員以及程式撰寫人員</a:t>
            </a:r>
            <a:r>
              <a:rPr lang="zh-TW" altLang="en-US" dirty="0"/>
              <a:t>在同時協作時有更多的彈性。</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a:t>
            </a:fld>
            <a:endParaRPr lang="zh-TW" altLang="en-US"/>
          </a:p>
        </p:txBody>
      </p:sp>
    </p:spTree>
    <p:extLst>
      <p:ext uri="{BB962C8B-B14F-4D97-AF65-F5344CB8AC3E}">
        <p14:creationId xmlns:p14="http://schemas.microsoft.com/office/powerpoint/2010/main" val="278360302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把一個系統拆成這樣有幾個好處。其中最重要的部份是可以大幅地降低系統的複雜</a:t>
            </a:r>
          </a:p>
          <a:p>
            <a:r>
              <a:rPr lang="zh-TW" altLang="en-US" dirty="0"/>
              <a:t>性</a:t>
            </a:r>
            <a:r>
              <a:rPr lang="en-US" altLang="zh-TW" dirty="0"/>
              <a:t>,</a:t>
            </a:r>
            <a:r>
              <a:rPr lang="zh-TW" altLang="en-US" dirty="0"/>
              <a:t>因為它很明確地描述了系統中不同功能區塊各自的分工。同時</a:t>
            </a:r>
            <a:r>
              <a:rPr lang="en-US" altLang="zh-TW" dirty="0"/>
              <a:t>,</a:t>
            </a:r>
            <a:r>
              <a:rPr lang="zh-TW" altLang="en-US" dirty="0"/>
              <a:t>也因為此三者之間的</a:t>
            </a:r>
          </a:p>
          <a:p>
            <a:r>
              <a:rPr lang="zh-TW" altLang="en-US" dirty="0"/>
              <a:t>明確分工</a:t>
            </a:r>
            <a:r>
              <a:rPr lang="en-US" altLang="zh-TW" dirty="0"/>
              <a:t>,</a:t>
            </a:r>
            <a:r>
              <a:rPr lang="zh-TW" altLang="en-US" dirty="0"/>
              <a:t>所以在一個由許多成員分工的大型專案中</a:t>
            </a:r>
            <a:r>
              <a:rPr lang="en-US" altLang="zh-TW" dirty="0"/>
              <a:t>,</a:t>
            </a:r>
            <a:r>
              <a:rPr lang="zh-TW" altLang="en-US" dirty="0"/>
              <a:t>可以更容易地進行團隊合作</a:t>
            </a:r>
            <a:r>
              <a:rPr lang="en-US" altLang="zh-TW" dirty="0"/>
              <a:t>,</a:t>
            </a:r>
            <a:r>
              <a:rPr lang="zh-TW" altLang="en-US" dirty="0"/>
              <a:t>例如</a:t>
            </a:r>
          </a:p>
          <a:p>
            <a:r>
              <a:rPr lang="zh-TW" altLang="en-US" dirty="0"/>
              <a:t>負責資料庫的人員和外觀設計的人員以及程式撰寫人員在同時協作時有更多的彈性。</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a:t>
            </a:fld>
            <a:endParaRPr lang="zh-TW" altLang="en-US"/>
          </a:p>
        </p:txBody>
      </p:sp>
    </p:spTree>
    <p:extLst>
      <p:ext uri="{BB962C8B-B14F-4D97-AF65-F5344CB8AC3E}">
        <p14:creationId xmlns:p14="http://schemas.microsoft.com/office/powerpoint/2010/main" val="26708701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用左邊架構圖片，右邊</a:t>
            </a:r>
            <a:r>
              <a:rPr lang="en-US" altLang="zh-TW" dirty="0"/>
              <a:t>code</a:t>
            </a:r>
            <a:r>
              <a:rPr lang="zh-TW" altLang="en-US" dirty="0"/>
              <a:t>來對應說明</a:t>
            </a:r>
            <a:endParaRPr lang="en-US" altLang="zh-TW" dirty="0"/>
          </a:p>
          <a:p>
            <a:r>
              <a:rPr lang="en-US" altLang="zh-TW" dirty="0"/>
              <a:t>Templates</a:t>
            </a:r>
            <a:r>
              <a:rPr lang="zh-TW" altLang="en-US" dirty="0"/>
              <a:t>應儘可能的單純，不要有太多的羅輯運算，要讓不熟悉程式設計的美編能容易操作及修改，也是能展現前後端分離的做法</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a:t>
            </a:fld>
            <a:endParaRPr lang="zh-TW" altLang="en-US"/>
          </a:p>
        </p:txBody>
      </p:sp>
    </p:spTree>
    <p:extLst>
      <p:ext uri="{BB962C8B-B14F-4D97-AF65-F5344CB8AC3E}">
        <p14:creationId xmlns:p14="http://schemas.microsoft.com/office/powerpoint/2010/main" val="39052309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回顧及複習檔案結構，說明全域專案檔案，及</a:t>
            </a:r>
            <a:r>
              <a:rPr lang="en-US" altLang="zh-TW" dirty="0"/>
              <a:t>app</a:t>
            </a:r>
            <a:r>
              <a:rPr lang="zh-TW" altLang="en-US" dirty="0"/>
              <a:t>相關檔案</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8</a:t>
            </a:fld>
            <a:endParaRPr lang="zh-TW" altLang="en-US"/>
          </a:p>
        </p:txBody>
      </p:sp>
    </p:spTree>
    <p:extLst>
      <p:ext uri="{BB962C8B-B14F-4D97-AF65-F5344CB8AC3E}">
        <p14:creationId xmlns:p14="http://schemas.microsoft.com/office/powerpoint/2010/main" val="11649542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用</a:t>
            </a:r>
            <a:r>
              <a:rPr lang="en-US" altLang="zh-TW" dirty="0" err="1"/>
              <a:t>vscode</a:t>
            </a:r>
            <a:r>
              <a:rPr lang="zh-TW" altLang="en-US" dirty="0"/>
              <a:t>畫面來蓋住</a:t>
            </a:r>
            <a:r>
              <a:rPr lang="en-US" altLang="zh-TW" dirty="0"/>
              <a:t>ppt</a:t>
            </a:r>
            <a:r>
              <a:rPr lang="zh-TW" altLang="en-US" dirty="0"/>
              <a:t>投影畫面，此頁詳細說明</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9</a:t>
            </a:fld>
            <a:endParaRPr lang="zh-TW" altLang="en-US"/>
          </a:p>
        </p:txBody>
      </p:sp>
    </p:spTree>
    <p:extLst>
      <p:ext uri="{BB962C8B-B14F-4D97-AF65-F5344CB8AC3E}">
        <p14:creationId xmlns:p14="http://schemas.microsoft.com/office/powerpoint/2010/main" val="20960249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Create env</a:t>
            </a:r>
            <a:r>
              <a:rPr lang="zh-TW" altLang="en-US" dirty="0"/>
              <a:t>要加 </a:t>
            </a:r>
            <a:r>
              <a:rPr lang="en-US" altLang="zh-TW" dirty="0"/>
              <a:t>python</a:t>
            </a:r>
            <a:r>
              <a:rPr lang="zh-TW" altLang="en-US" dirty="0"/>
              <a:t>不指定版本就是安裝最新版</a:t>
            </a:r>
            <a:endParaRPr lang="en-US" altLang="zh-TW" dirty="0"/>
          </a:p>
          <a:p>
            <a:r>
              <a:rPr lang="zh-TW" altLang="en-US" dirty="0"/>
              <a:t>移除</a:t>
            </a:r>
            <a:r>
              <a:rPr lang="en-US" altLang="zh-TW" dirty="0"/>
              <a:t>env</a:t>
            </a:r>
          </a:p>
          <a:p>
            <a:r>
              <a:rPr lang="en-US" altLang="zh-TW" dirty="0" err="1"/>
              <a:t>conda</a:t>
            </a:r>
            <a:r>
              <a:rPr lang="en-US" altLang="zh-TW" dirty="0"/>
              <a:t> env remove -name </a:t>
            </a:r>
            <a:r>
              <a:rPr lang="en-US" altLang="zh-TW" dirty="0" err="1"/>
              <a:t>myenv</a:t>
            </a:r>
            <a:r>
              <a:rPr lang="en-US" altLang="zh-TW" dirty="0"/>
              <a:t>--all</a:t>
            </a:r>
          </a:p>
          <a:p>
            <a:r>
              <a:rPr lang="zh-TW" altLang="en-US" dirty="0"/>
              <a:t>找不到</a:t>
            </a:r>
            <a:r>
              <a:rPr lang="en-US" altLang="zh-TW" dirty="0"/>
              <a:t>pip? (</a:t>
            </a:r>
            <a:r>
              <a:rPr lang="zh-TW" altLang="en-US" dirty="0"/>
              <a:t>可能還沒有安裝</a:t>
            </a:r>
            <a:r>
              <a:rPr lang="en-US" altLang="zh-TW" dirty="0"/>
              <a:t>python)</a:t>
            </a:r>
            <a:r>
              <a:rPr lang="zh-TW" altLang="en-US" dirty="0"/>
              <a:t>用</a:t>
            </a:r>
            <a:r>
              <a:rPr lang="en-US" altLang="zh-TW" dirty="0"/>
              <a:t>pip --version </a:t>
            </a:r>
            <a:r>
              <a:rPr lang="zh-TW" altLang="en-US" dirty="0"/>
              <a:t>確認</a:t>
            </a:r>
            <a:r>
              <a:rPr lang="en-US" altLang="zh-TW" dirty="0"/>
              <a:t>(</a:t>
            </a:r>
            <a:r>
              <a:rPr lang="zh-TW" altLang="en-US" dirty="0"/>
              <a:t>注意</a:t>
            </a:r>
            <a:r>
              <a:rPr lang="en-US" altLang="zh-TW" dirty="0" err="1"/>
              <a:t>vscode</a:t>
            </a:r>
            <a:r>
              <a:rPr lang="zh-TW" altLang="en-US" dirty="0"/>
              <a:t>要用管理者啟動</a:t>
            </a:r>
            <a:r>
              <a:rPr lang="en-US" altLang="zh-TW" dirty="0"/>
              <a:t>)</a:t>
            </a:r>
          </a:p>
          <a:p>
            <a:r>
              <a:rPr lang="en-US" altLang="zh-TW" dirty="0" err="1"/>
              <a:t>ModuleNotFoundError</a:t>
            </a:r>
            <a:r>
              <a:rPr lang="en-US" altLang="zh-TW" dirty="0"/>
              <a:t>: No module named 'pip’</a:t>
            </a:r>
          </a:p>
          <a:p>
            <a:r>
              <a:rPr lang="zh-TW" altLang="en-US" dirty="0"/>
              <a:t>可以使用 </a:t>
            </a:r>
            <a:r>
              <a:rPr lang="en-US" altLang="zh-TW" dirty="0"/>
              <a:t>python -m </a:t>
            </a:r>
            <a:r>
              <a:rPr lang="en-US" altLang="zh-TW" dirty="0" err="1"/>
              <a:t>ensurepip</a:t>
            </a:r>
            <a:r>
              <a:rPr lang="en-US" altLang="zh-TW" dirty="0"/>
              <a:t> </a:t>
            </a:r>
            <a:r>
              <a:rPr lang="zh-TW" altLang="en-US" dirty="0"/>
              <a:t>命令來安裝。 </a:t>
            </a:r>
            <a:endParaRPr lang="en-US" altLang="zh-TW" dirty="0"/>
          </a:p>
          <a:p>
            <a:r>
              <a:rPr lang="zh-TW" altLang="en-US" dirty="0"/>
              <a:t>接著，執行 </a:t>
            </a:r>
            <a:r>
              <a:rPr lang="en-US" altLang="zh-TW" dirty="0"/>
              <a:t>python -m pip install --upgrade pip </a:t>
            </a:r>
            <a:r>
              <a:rPr lang="zh-TW" altLang="en-US" dirty="0"/>
              <a:t>來升級</a:t>
            </a:r>
            <a:r>
              <a:rPr lang="en-US" altLang="zh-TW" dirty="0"/>
              <a:t>pip</a:t>
            </a:r>
            <a:r>
              <a:rPr lang="zh-TW" altLang="en-US" dirty="0"/>
              <a:t>。</a:t>
            </a:r>
            <a:endParaRPr lang="en-US" altLang="zh-TW" dirty="0"/>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11</a:t>
            </a:fld>
            <a:endParaRPr lang="zh-TW" altLang="en-US"/>
          </a:p>
        </p:txBody>
      </p:sp>
    </p:spTree>
    <p:extLst>
      <p:ext uri="{BB962C8B-B14F-4D97-AF65-F5344CB8AC3E}">
        <p14:creationId xmlns:p14="http://schemas.microsoft.com/office/powerpoint/2010/main" val="39962126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屬性</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19</a:t>
            </a:fld>
            <a:endParaRPr lang="zh-TW" altLang="en-US"/>
          </a:p>
        </p:txBody>
      </p:sp>
    </p:spTree>
    <p:extLst>
      <p:ext uri="{BB962C8B-B14F-4D97-AF65-F5344CB8AC3E}">
        <p14:creationId xmlns:p14="http://schemas.microsoft.com/office/powerpoint/2010/main" val="15406611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00" dirty="0">
                <a:effectLst/>
                <a:latin typeface="Courier New" panose="02070309020205020404" pitchFamily="49" charset="0"/>
                <a:ea typeface="標楷體" panose="03000509000000000000" pitchFamily="65" charset="-120"/>
              </a:rPr>
              <a:t>Sn</a:t>
            </a:r>
            <a:r>
              <a:rPr lang="zh-TW" altLang="en-US" sz="1200" kern="100" dirty="0">
                <a:effectLst/>
                <a:latin typeface="Courier New" panose="02070309020205020404" pitchFamily="49" charset="0"/>
                <a:ea typeface="標楷體" panose="03000509000000000000" pitchFamily="65" charset="-120"/>
              </a:rPr>
              <a:t>：</a:t>
            </a:r>
            <a:r>
              <a:rPr lang="en-US" altLang="zh-TW" sz="1200" kern="100" dirty="0">
                <a:effectLst/>
                <a:latin typeface="Courier New" panose="02070309020205020404" pitchFamily="49" charset="0"/>
                <a:ea typeface="標楷體" panose="03000509000000000000" pitchFamily="65" charset="-120"/>
              </a:rPr>
              <a:t>mf-</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kern="100" dirty="0">
                <a:effectLst/>
                <a:latin typeface="Courier New" panose="02070309020205020404" pitchFamily="49" charset="0"/>
                <a:ea typeface="標楷體" panose="03000509000000000000" pitchFamily="65" charset="-120"/>
              </a:rPr>
              <a:t>注意：不要加</a:t>
            </a:r>
            <a:r>
              <a:rPr lang="en-US" altLang="zh-TW" sz="1200" kern="100" dirty="0" err="1">
                <a:effectLst/>
                <a:latin typeface="Courier New" panose="02070309020205020404" pitchFamily="49" charset="0"/>
                <a:ea typeface="標楷體" panose="03000509000000000000" pitchFamily="65" charset="-120"/>
              </a:rPr>
              <a:t>uuid</a:t>
            </a:r>
            <a:r>
              <a:rPr lang="zh-TW" altLang="en-US" sz="1200" kern="100" dirty="0">
                <a:effectLst/>
                <a:latin typeface="Courier New" panose="02070309020205020404" pitchFamily="49" charset="0"/>
                <a:ea typeface="標楷體" panose="03000509000000000000" pitchFamily="65" charset="-120"/>
              </a:rPr>
              <a:t>這欄位，無法設定</a:t>
            </a:r>
            <a:r>
              <a:rPr lang="en-US" altLang="zh-TW" b="0" dirty="0">
                <a:solidFill>
                  <a:srgbClr val="9CDCFE"/>
                </a:solidFill>
                <a:effectLst/>
                <a:latin typeface="Consolas" panose="020B0609020204030204" pitchFamily="49" charset="0"/>
              </a:rPr>
              <a:t>null</a:t>
            </a:r>
            <a:r>
              <a:rPr lang="en-US" altLang="zh-TW" b="0" dirty="0">
                <a:solidFill>
                  <a:srgbClr val="D4D4D4"/>
                </a:solidFill>
                <a:effectLst/>
                <a:latin typeface="Consolas" panose="020B0609020204030204" pitchFamily="49" charset="0"/>
              </a:rPr>
              <a:t>=</a:t>
            </a:r>
            <a:r>
              <a:rPr lang="en-US" altLang="zh-TW" b="0" dirty="0">
                <a:solidFill>
                  <a:srgbClr val="569CD6"/>
                </a:solidFill>
                <a:effectLst/>
                <a:latin typeface="Consolas" panose="020B0609020204030204" pitchFamily="49" charset="0"/>
              </a:rPr>
              <a:t>True</a:t>
            </a:r>
            <a:r>
              <a:rPr lang="en-US" altLang="zh-TW" b="0" dirty="0">
                <a:solidFill>
                  <a:srgbClr val="CCCCCC"/>
                </a:solidFill>
                <a:effectLst/>
                <a:latin typeface="Consolas" panose="020B0609020204030204" pitchFamily="49" charset="0"/>
              </a:rPr>
              <a:t>, </a:t>
            </a:r>
            <a:r>
              <a:rPr lang="en-US" altLang="zh-TW" b="0" dirty="0">
                <a:solidFill>
                  <a:srgbClr val="9CDCFE"/>
                </a:solidFill>
                <a:effectLst/>
                <a:latin typeface="Consolas" panose="020B0609020204030204" pitchFamily="49" charset="0"/>
              </a:rPr>
              <a:t>blank</a:t>
            </a:r>
            <a:r>
              <a:rPr lang="en-US" altLang="zh-TW" b="0" dirty="0">
                <a:solidFill>
                  <a:srgbClr val="D4D4D4"/>
                </a:solidFill>
                <a:effectLst/>
                <a:latin typeface="Consolas" panose="020B0609020204030204" pitchFamily="49" charset="0"/>
              </a:rPr>
              <a:t>=</a:t>
            </a:r>
            <a:r>
              <a:rPr lang="en-US" altLang="zh-TW" b="0" dirty="0">
                <a:solidFill>
                  <a:srgbClr val="569CD6"/>
                </a:solidFill>
                <a:effectLst/>
                <a:latin typeface="Consolas" panose="020B0609020204030204" pitchFamily="49" charset="0"/>
              </a:rPr>
              <a:t>True</a:t>
            </a:r>
            <a:r>
              <a:rPr lang="zh-TW" altLang="en-US" b="0" dirty="0">
                <a:solidFill>
                  <a:srgbClr val="569CD6"/>
                </a:solidFill>
                <a:effectLst/>
                <a:latin typeface="Consolas" panose="020B0609020204030204" pitchFamily="49" charset="0"/>
              </a:rPr>
              <a:t>，變成必填但又不知如何填正確資料格式</a:t>
            </a:r>
            <a:endParaRPr lang="en-US" altLang="zh-TW" b="0" dirty="0">
              <a:solidFill>
                <a:srgbClr val="CCCCCC"/>
              </a:solidFill>
              <a:effectLst/>
              <a:latin typeface="Consolas" panose="020B0609020204030204" pitchFamily="49" charset="0"/>
            </a:endParaRPr>
          </a:p>
          <a:p>
            <a:r>
              <a:rPr lang="zh-TW" altLang="en-US" sz="1200" kern="100" dirty="0">
                <a:effectLst/>
                <a:latin typeface="Courier New" panose="02070309020205020404" pitchFamily="49" charset="0"/>
                <a:ea typeface="標楷體" panose="03000509000000000000" pitchFamily="65" charset="-120"/>
              </a:rPr>
              <a:t>退回某個</a:t>
            </a:r>
            <a:r>
              <a:rPr lang="en-US" altLang="zh-TW" sz="1200" kern="100" dirty="0">
                <a:effectLst/>
                <a:latin typeface="Courier New" panose="02070309020205020404" pitchFamily="49" charset="0"/>
                <a:ea typeface="標楷體" panose="03000509000000000000" pitchFamily="65" charset="-120"/>
              </a:rPr>
              <a:t>migration</a:t>
            </a:r>
            <a:r>
              <a:rPr lang="zh-TW" altLang="en-US" sz="1200" kern="100" dirty="0">
                <a:effectLst/>
                <a:latin typeface="Courier New" panose="02070309020205020404" pitchFamily="49" charset="0"/>
                <a:ea typeface="標楷體" panose="03000509000000000000" pitchFamily="65" charset="-120"/>
              </a:rPr>
              <a:t>版本</a:t>
            </a:r>
            <a:endParaRPr lang="en-US" altLang="zh-TW" sz="1200" kern="100" dirty="0">
              <a:effectLst/>
              <a:latin typeface="Courier New" panose="02070309020205020404" pitchFamily="49" charset="0"/>
              <a:ea typeface="標楷體" panose="03000509000000000000" pitchFamily="65" charset="-120"/>
            </a:endParaRPr>
          </a:p>
          <a:p>
            <a:endParaRPr lang="en-US" altLang="zh-TW" sz="1200" kern="100" dirty="0">
              <a:effectLst/>
              <a:latin typeface="Courier New" panose="02070309020205020404" pitchFamily="49" charset="0"/>
              <a:ea typeface="標楷體" panose="03000509000000000000" pitchFamily="65" charset="-120"/>
            </a:endParaRPr>
          </a:p>
          <a:p>
            <a:r>
              <a:rPr lang="en-US" altLang="zh-TW" sz="1200" kern="100" dirty="0">
                <a:effectLst/>
                <a:latin typeface="Courier New" panose="02070309020205020404" pitchFamily="49" charset="0"/>
                <a:ea typeface="標楷體" panose="03000509000000000000" pitchFamily="65" charset="-120"/>
              </a:rPr>
              <a:t>python manage.py migrate </a:t>
            </a:r>
            <a:r>
              <a:rPr lang="en-US" altLang="zh-TW" sz="1200" kern="100" dirty="0" err="1">
                <a:effectLst/>
                <a:latin typeface="Courier New" panose="02070309020205020404" pitchFamily="49" charset="0"/>
                <a:ea typeface="標楷體" panose="03000509000000000000" pitchFamily="65" charset="-120"/>
              </a:rPr>
              <a:t>mysite</a:t>
            </a:r>
            <a:r>
              <a:rPr lang="en-US" altLang="zh-TW" sz="1200" kern="100" dirty="0">
                <a:effectLst/>
                <a:latin typeface="Courier New" panose="02070309020205020404" pitchFamily="49" charset="0"/>
                <a:ea typeface="標楷體" panose="03000509000000000000" pitchFamily="65" charset="-120"/>
              </a:rPr>
              <a:t> 0001_initial</a:t>
            </a:r>
          </a:p>
          <a:p>
            <a:r>
              <a:rPr lang="en-US" altLang="zh-TW" sz="1200" kern="100" dirty="0">
                <a:effectLst/>
                <a:latin typeface="Courier New" panose="02070309020205020404" pitchFamily="49" charset="0"/>
                <a:ea typeface="標楷體" panose="03000509000000000000" pitchFamily="65" charset="-120"/>
              </a:rPr>
              <a:t>default=2010</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21</a:t>
            </a:fld>
            <a:endParaRPr lang="zh-TW" altLang="en-US"/>
          </a:p>
        </p:txBody>
      </p:sp>
    </p:spTree>
    <p:extLst>
      <p:ext uri="{BB962C8B-B14F-4D97-AF65-F5344CB8AC3E}">
        <p14:creationId xmlns:p14="http://schemas.microsoft.com/office/powerpoint/2010/main" val="11007184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app</a:t>
            </a:r>
            <a:r>
              <a:rPr lang="zh-TW" altLang="en-US" dirty="0"/>
              <a:t>也可用：</a:t>
            </a:r>
            <a:r>
              <a:rPr lang="en-US" altLang="zh-TW" dirty="0"/>
              <a:t>SQLiteStudio.exe</a:t>
            </a:r>
          </a:p>
          <a:p>
            <a:r>
              <a:rPr lang="en-US" altLang="zh-TW" dirty="0"/>
              <a:t>python manage.py shell </a:t>
            </a:r>
            <a:r>
              <a:rPr lang="zh-TW" altLang="en-US" dirty="0"/>
              <a:t>也可</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31</a:t>
            </a:fld>
            <a:endParaRPr lang="zh-TW" altLang="en-US"/>
          </a:p>
        </p:txBody>
      </p:sp>
    </p:spTree>
    <p:extLst>
      <p:ext uri="{BB962C8B-B14F-4D97-AF65-F5344CB8AC3E}">
        <p14:creationId xmlns:p14="http://schemas.microsoft.com/office/powerpoint/2010/main" val="9806276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好處，用處：在寫入</a:t>
            </a:r>
            <a:r>
              <a:rPr lang="en-US" altLang="zh-TW" dirty="0"/>
              <a:t>views </a:t>
            </a:r>
            <a:r>
              <a:rPr lang="en-US" altLang="zh-TW" dirty="0" err="1"/>
              <a:t>py</a:t>
            </a:r>
            <a:r>
              <a:rPr lang="zh-TW" altLang="en-US" dirty="0"/>
              <a:t>之前先測試搜尋方式是否正確，也可方便</a:t>
            </a:r>
            <a:r>
              <a:rPr lang="en-US" altLang="zh-TW" dirty="0"/>
              <a:t>Debug</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34</a:t>
            </a:fld>
            <a:endParaRPr lang="zh-TW" altLang="en-US"/>
          </a:p>
        </p:txBody>
      </p:sp>
    </p:spTree>
    <p:extLst>
      <p:ext uri="{BB962C8B-B14F-4D97-AF65-F5344CB8AC3E}">
        <p14:creationId xmlns:p14="http://schemas.microsoft.com/office/powerpoint/2010/main" val="77721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err="1"/>
              <a:t>allproduct</a:t>
            </a:r>
            <a:r>
              <a:rPr lang="en-US" altLang="zh-TW" dirty="0"/>
              <a:t> = </a:t>
            </a:r>
            <a:r>
              <a:rPr lang="en-US" altLang="zh-TW" dirty="0" err="1"/>
              <a:t>Product.objects.all</a:t>
            </a:r>
            <a:r>
              <a:rPr lang="en-US" altLang="zh-TW" dirty="0"/>
              <a:t>().</a:t>
            </a:r>
            <a:r>
              <a:rPr lang="en-US" altLang="zh-TW" dirty="0" err="1"/>
              <a:t>order_by</a:t>
            </a:r>
            <a:r>
              <a:rPr lang="en-US" altLang="zh-TW" dirty="0"/>
              <a:t>('price’)</a:t>
            </a:r>
          </a:p>
          <a:p>
            <a:r>
              <a:rPr lang="zh-TW" altLang="en-US" dirty="0"/>
              <a:t>或是在</a:t>
            </a:r>
            <a:r>
              <a:rPr lang="en-US" altLang="zh-TW" dirty="0"/>
              <a:t>shell</a:t>
            </a:r>
            <a:r>
              <a:rPr lang="zh-TW" altLang="en-US" dirty="0"/>
              <a:t>直接打，不用指定變數</a:t>
            </a:r>
            <a:endParaRPr lang="en-US" altLang="zh-TW" dirty="0"/>
          </a:p>
          <a:p>
            <a:r>
              <a:rPr lang="en-US" altLang="zh-TW" dirty="0"/>
              <a:t>&gt;&gt;&gt; </a:t>
            </a:r>
            <a:r>
              <a:rPr lang="en-US" altLang="zh-TW" dirty="0" err="1"/>
              <a:t>Product.objects.all</a:t>
            </a:r>
            <a:r>
              <a:rPr lang="en-US" altLang="zh-TW" dirty="0"/>
              <a:t>().</a:t>
            </a:r>
            <a:r>
              <a:rPr lang="en-US" altLang="zh-TW" dirty="0" err="1"/>
              <a:t>order_by</a:t>
            </a:r>
            <a:r>
              <a:rPr lang="en-US" altLang="zh-TW" dirty="0"/>
              <a:t>('price’)</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35</a:t>
            </a:fld>
            <a:endParaRPr lang="zh-TW" altLang="en-US"/>
          </a:p>
        </p:txBody>
      </p:sp>
    </p:spTree>
    <p:extLst>
      <p:ext uri="{BB962C8B-B14F-4D97-AF65-F5344CB8AC3E}">
        <p14:creationId xmlns:p14="http://schemas.microsoft.com/office/powerpoint/2010/main" val="31739760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注意：</a:t>
            </a:r>
            <a:r>
              <a:rPr lang="zh-TW" altLang="en-US" b="1" dirty="0"/>
              <a:t>要離開</a:t>
            </a:r>
            <a:r>
              <a:rPr lang="en-US" altLang="zh-TW" b="1" dirty="0"/>
              <a:t>shell</a:t>
            </a:r>
            <a:r>
              <a:rPr lang="zh-TW" altLang="en-US" dirty="0"/>
              <a:t>再重新進入，新</a:t>
            </a:r>
            <a:r>
              <a:rPr lang="en-US" altLang="zh-TW" dirty="0"/>
              <a:t>def</a:t>
            </a:r>
            <a:r>
              <a:rPr lang="zh-TW" altLang="en-US" dirty="0"/>
              <a:t>才會生效</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36</a:t>
            </a:fld>
            <a:endParaRPr lang="zh-TW" altLang="en-US"/>
          </a:p>
        </p:txBody>
      </p:sp>
    </p:spTree>
    <p:extLst>
      <p:ext uri="{BB962C8B-B14F-4D97-AF65-F5344CB8AC3E}">
        <p14:creationId xmlns:p14="http://schemas.microsoft.com/office/powerpoint/2010/main" val="32488253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Gt=greater than </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38</a:t>
            </a:fld>
            <a:endParaRPr lang="zh-TW" altLang="en-US"/>
          </a:p>
        </p:txBody>
      </p:sp>
    </p:spTree>
    <p:extLst>
      <p:ext uri="{BB962C8B-B14F-4D97-AF65-F5344CB8AC3E}">
        <p14:creationId xmlns:p14="http://schemas.microsoft.com/office/powerpoint/2010/main" val="389988023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kern="100" dirty="0">
                <a:effectLst/>
              </a:rPr>
              <a:t>Exclude</a:t>
            </a:r>
            <a:r>
              <a:rPr lang="zh-TW" altLang="en-US" sz="1200" kern="100" dirty="0">
                <a:effectLst/>
              </a:rPr>
              <a:t>：不符合設定的條件</a:t>
            </a:r>
            <a:endParaRPr lang="en-US" altLang="zh-TW" sz="1200" kern="100" dirty="0">
              <a:effectLst/>
            </a:endParaRPr>
          </a:p>
          <a:p>
            <a:r>
              <a:rPr lang="en-US" altLang="zh-TW" sz="1200" kern="100" dirty="0">
                <a:effectLst/>
              </a:rPr>
              <a:t>&gt;&gt;&gt; from </a:t>
            </a:r>
            <a:r>
              <a:rPr lang="en-US" altLang="zh-TW" sz="1200" kern="100" dirty="0" err="1">
                <a:effectLst/>
              </a:rPr>
              <a:t>mysite.models</a:t>
            </a:r>
            <a:r>
              <a:rPr lang="en-US" altLang="zh-TW" sz="1200" kern="100" dirty="0">
                <a:effectLst/>
              </a:rPr>
              <a:t> import Product</a:t>
            </a:r>
          </a:p>
          <a:p>
            <a:r>
              <a:rPr lang="en-US" altLang="zh-TW" sz="1200" kern="100" dirty="0">
                <a:effectLst/>
              </a:rPr>
              <a:t>&gt;&gt;&gt; </a:t>
            </a:r>
            <a:r>
              <a:rPr lang="en-US" altLang="zh-TW" sz="1200" kern="100" dirty="0" err="1">
                <a:effectLst/>
              </a:rPr>
              <a:t>allprod</a:t>
            </a:r>
            <a:r>
              <a:rPr lang="en-US" altLang="zh-TW" sz="1200" kern="100" dirty="0">
                <a:effectLst/>
              </a:rPr>
              <a:t> = </a:t>
            </a:r>
            <a:r>
              <a:rPr lang="en-US" altLang="zh-TW" sz="1200" kern="100" dirty="0" err="1">
                <a:effectLst/>
              </a:rPr>
              <a:t>Product.objects.all</a:t>
            </a:r>
            <a:r>
              <a:rPr lang="en-US" altLang="zh-TW" sz="1200" kern="100" dirty="0">
                <a:effectLst/>
              </a:rPr>
              <a:t>()</a:t>
            </a:r>
          </a:p>
          <a:p>
            <a:r>
              <a:rPr lang="en-US" altLang="zh-TW" sz="1200" kern="100" dirty="0">
                <a:effectLst/>
              </a:rPr>
              <a:t>&gt;&gt;&gt; for p in </a:t>
            </a:r>
            <a:r>
              <a:rPr lang="en-US" altLang="zh-TW" sz="1200" kern="100" dirty="0" err="1">
                <a:effectLst/>
              </a:rPr>
              <a:t>allprod</a:t>
            </a:r>
            <a:r>
              <a:rPr lang="en-US" altLang="zh-TW" sz="1200" kern="100" dirty="0">
                <a:effectLst/>
              </a:rPr>
              <a:t>:</a:t>
            </a:r>
          </a:p>
          <a:p>
            <a:r>
              <a:rPr lang="en-US" altLang="zh-TW" sz="1200" kern="100" dirty="0">
                <a:effectLst/>
              </a:rPr>
              <a:t>print(p.name, ', ', </a:t>
            </a:r>
            <a:r>
              <a:rPr lang="en-US" altLang="zh-TW" sz="1200" kern="100" dirty="0" err="1">
                <a:effectLst/>
              </a:rPr>
              <a:t>p.price</a:t>
            </a:r>
            <a:r>
              <a:rPr lang="en-US" altLang="zh-TW" sz="1200" kern="100" dirty="0">
                <a:effectLst/>
              </a:rPr>
              <a:t>, ', ', </a:t>
            </a:r>
            <a:r>
              <a:rPr lang="en-US" altLang="zh-TW" sz="1200" kern="100" dirty="0" err="1">
                <a:effectLst/>
              </a:rPr>
              <a:t>p.qty</a:t>
            </a:r>
            <a:r>
              <a:rPr lang="en-US" altLang="zh-TW" sz="1200" kern="100" dirty="0">
                <a:effectLst/>
              </a:rPr>
              <a:t>)</a:t>
            </a:r>
          </a:p>
          <a:p>
            <a:r>
              <a:rPr lang="en-US" altLang="zh-TW" sz="1200" kern="100" dirty="0">
                <a:effectLst/>
              </a:rPr>
              <a:t>HTC Magic ,  100 ,  0</a:t>
            </a:r>
          </a:p>
          <a:p>
            <a:r>
              <a:rPr lang="en-US" altLang="zh-TW" sz="1200" kern="100" dirty="0">
                <a:effectLst/>
              </a:rPr>
              <a:t>SONY Xperia Z3 , 15000 , 1</a:t>
            </a:r>
          </a:p>
          <a:p>
            <a:r>
              <a:rPr lang="en-US" altLang="zh-TW" sz="1200" kern="100" dirty="0">
                <a:effectLst/>
              </a:rPr>
              <a:t>Samsung DUOS , 800 , 2</a:t>
            </a:r>
          </a:p>
          <a:p>
            <a:r>
              <a:rPr lang="en-US" altLang="zh-TW" sz="1200" kern="100" dirty="0">
                <a:effectLst/>
              </a:rPr>
              <a:t>Nokia Xpress 5800, 500, 1</a:t>
            </a:r>
          </a:p>
          <a:p>
            <a:r>
              <a:rPr lang="en-US" altLang="zh-TW" sz="1200" kern="100" dirty="0" err="1">
                <a:effectLst/>
              </a:rPr>
              <a:t>Infocus</a:t>
            </a:r>
            <a:r>
              <a:rPr lang="en-US" altLang="zh-TW" sz="1200" kern="100" dirty="0">
                <a:effectLst/>
              </a:rPr>
              <a:t> M370 , 1500 , 2</a:t>
            </a: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40</a:t>
            </a:fld>
            <a:endParaRPr lang="zh-TW" altLang="en-US"/>
          </a:p>
        </p:txBody>
      </p:sp>
    </p:spTree>
    <p:extLst>
      <p:ext uri="{BB962C8B-B14F-4D97-AF65-F5344CB8AC3E}">
        <p14:creationId xmlns:p14="http://schemas.microsoft.com/office/powerpoint/2010/main" val="392683921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7481FF-C449-9E34-C58F-13B2D02BC7B6}"/>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9B407DF-0AD2-FC5D-1DF2-46BD130AF76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52C2FBBD-7047-E591-6F29-E166F867B36A}"/>
              </a:ext>
            </a:extLst>
          </p:cNvPr>
          <p:cNvSpPr>
            <a:spLocks noGrp="1"/>
          </p:cNvSpPr>
          <p:nvPr>
            <p:ph type="body" idx="1"/>
          </p:nvPr>
        </p:nvSpPr>
        <p:spPr/>
        <p:txBody>
          <a:bodyPr/>
          <a:lstStyle/>
          <a:p>
            <a:r>
              <a:rPr lang="en-US" altLang="zh-TW" sz="1200" kern="100" dirty="0">
                <a:effectLst/>
              </a:rPr>
              <a:t>Exclude</a:t>
            </a:r>
            <a:r>
              <a:rPr lang="zh-TW" altLang="en-US" sz="1200" kern="100" dirty="0">
                <a:effectLst/>
              </a:rPr>
              <a:t>：不符合設定的條件</a:t>
            </a:r>
            <a:endParaRPr lang="en-US" altLang="zh-TW" sz="1200" kern="100" dirty="0">
              <a:effectLst/>
            </a:endParaRPr>
          </a:p>
          <a:p>
            <a:r>
              <a:rPr lang="en-US" altLang="zh-TW" sz="1200" kern="100" dirty="0">
                <a:effectLst/>
              </a:rPr>
              <a:t>&gt;&gt;&gt; from </a:t>
            </a:r>
            <a:r>
              <a:rPr lang="en-US" altLang="zh-TW" sz="1200" kern="100" dirty="0" err="1">
                <a:effectLst/>
              </a:rPr>
              <a:t>mysite.models</a:t>
            </a:r>
            <a:r>
              <a:rPr lang="en-US" altLang="zh-TW" sz="1200" kern="100" dirty="0">
                <a:effectLst/>
              </a:rPr>
              <a:t> import Product</a:t>
            </a:r>
          </a:p>
          <a:p>
            <a:r>
              <a:rPr lang="en-US" altLang="zh-TW" sz="1200" kern="100" dirty="0">
                <a:effectLst/>
              </a:rPr>
              <a:t>&gt;&gt;&gt; </a:t>
            </a:r>
            <a:r>
              <a:rPr lang="en-US" altLang="zh-TW" sz="1200" kern="100" dirty="0" err="1">
                <a:effectLst/>
              </a:rPr>
              <a:t>allprod</a:t>
            </a:r>
            <a:r>
              <a:rPr lang="en-US" altLang="zh-TW" sz="1200" kern="100" dirty="0">
                <a:effectLst/>
              </a:rPr>
              <a:t> = </a:t>
            </a:r>
            <a:r>
              <a:rPr lang="en-US" altLang="zh-TW" sz="1200" kern="100" dirty="0" err="1">
                <a:effectLst/>
              </a:rPr>
              <a:t>Product.objects.all</a:t>
            </a:r>
            <a:r>
              <a:rPr lang="en-US" altLang="zh-TW" sz="1200" kern="100" dirty="0">
                <a:effectLst/>
              </a:rPr>
              <a:t>()</a:t>
            </a:r>
          </a:p>
          <a:p>
            <a:r>
              <a:rPr lang="en-US" altLang="zh-TW" sz="1200" kern="100" dirty="0">
                <a:effectLst/>
              </a:rPr>
              <a:t>&gt;&gt;&gt; for p in </a:t>
            </a:r>
            <a:r>
              <a:rPr lang="en-US" altLang="zh-TW" sz="1200" kern="100" dirty="0" err="1">
                <a:effectLst/>
              </a:rPr>
              <a:t>allprod</a:t>
            </a:r>
            <a:r>
              <a:rPr lang="en-US" altLang="zh-TW" sz="1200" kern="100" dirty="0">
                <a:effectLst/>
              </a:rPr>
              <a:t>:</a:t>
            </a:r>
          </a:p>
          <a:p>
            <a:r>
              <a:rPr lang="en-US" altLang="zh-TW" sz="1200" kern="100" dirty="0">
                <a:effectLst/>
              </a:rPr>
              <a:t>print(p.name, ', ', </a:t>
            </a:r>
            <a:r>
              <a:rPr lang="en-US" altLang="zh-TW" sz="1200" kern="100" dirty="0" err="1">
                <a:effectLst/>
              </a:rPr>
              <a:t>p.price</a:t>
            </a:r>
            <a:r>
              <a:rPr lang="en-US" altLang="zh-TW" sz="1200" kern="100" dirty="0">
                <a:effectLst/>
              </a:rPr>
              <a:t>, ', ', </a:t>
            </a:r>
            <a:r>
              <a:rPr lang="en-US" altLang="zh-TW" sz="1200" kern="100" dirty="0" err="1">
                <a:effectLst/>
              </a:rPr>
              <a:t>p.qty</a:t>
            </a:r>
            <a:r>
              <a:rPr lang="en-US" altLang="zh-TW" sz="1200" kern="100" dirty="0">
                <a:effectLst/>
              </a:rPr>
              <a:t>)</a:t>
            </a:r>
          </a:p>
          <a:p>
            <a:r>
              <a:rPr lang="en-US" altLang="zh-TW" sz="1200" kern="100" dirty="0">
                <a:effectLst/>
              </a:rPr>
              <a:t>HTC Magic ,  100 ,  0</a:t>
            </a:r>
          </a:p>
          <a:p>
            <a:r>
              <a:rPr lang="en-US" altLang="zh-TW" sz="1200" kern="100" dirty="0">
                <a:effectLst/>
              </a:rPr>
              <a:t>SONY Xperia Z3 , 15000 , 1</a:t>
            </a:r>
          </a:p>
          <a:p>
            <a:r>
              <a:rPr lang="en-US" altLang="zh-TW" sz="1200" kern="100" dirty="0">
                <a:effectLst/>
              </a:rPr>
              <a:t>Samsung DUOS , 800 , 2</a:t>
            </a:r>
          </a:p>
          <a:p>
            <a:r>
              <a:rPr lang="en-US" altLang="zh-TW" sz="1200" kern="100" dirty="0">
                <a:effectLst/>
              </a:rPr>
              <a:t>Nokia Xpress 5800, 500, 1</a:t>
            </a:r>
          </a:p>
          <a:p>
            <a:r>
              <a:rPr lang="en-US" altLang="zh-TW" sz="1200" kern="100" dirty="0" err="1">
                <a:effectLst/>
              </a:rPr>
              <a:t>Infocus</a:t>
            </a:r>
            <a:r>
              <a:rPr lang="en-US" altLang="zh-TW" sz="1200" kern="100" dirty="0">
                <a:effectLst/>
              </a:rPr>
              <a:t> M370 , 1500 , 2</a:t>
            </a:r>
          </a:p>
          <a:p>
            <a:endParaRPr lang="zh-TW" altLang="en-US" dirty="0"/>
          </a:p>
        </p:txBody>
      </p:sp>
      <p:sp>
        <p:nvSpPr>
          <p:cNvPr id="4" name="投影片編號版面配置區 3">
            <a:extLst>
              <a:ext uri="{FF2B5EF4-FFF2-40B4-BE49-F238E27FC236}">
                <a16:creationId xmlns:a16="http://schemas.microsoft.com/office/drawing/2014/main" id="{B1C89356-F3CF-BD92-A812-E2E29AEECCDC}"/>
              </a:ext>
            </a:extLst>
          </p:cNvPr>
          <p:cNvSpPr>
            <a:spLocks noGrp="1"/>
          </p:cNvSpPr>
          <p:nvPr>
            <p:ph type="sldNum" sz="quarter" idx="5"/>
          </p:nvPr>
        </p:nvSpPr>
        <p:spPr/>
        <p:txBody>
          <a:bodyPr/>
          <a:lstStyle/>
          <a:p>
            <a:fld id="{027FE99C-3BAC-4305-ABBB-3890AB1B4510}" type="slidenum">
              <a:rPr lang="zh-TW" altLang="en-US" smtClean="0"/>
              <a:pPr/>
              <a:t>41</a:t>
            </a:fld>
            <a:endParaRPr lang="zh-TW" altLang="en-US"/>
          </a:p>
        </p:txBody>
      </p:sp>
    </p:spTree>
    <p:extLst>
      <p:ext uri="{BB962C8B-B14F-4D97-AF65-F5344CB8AC3E}">
        <p14:creationId xmlns:p14="http://schemas.microsoft.com/office/powerpoint/2010/main" val="32932047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Count</a:t>
            </a:r>
            <a:r>
              <a:rPr lang="zh-TW" altLang="en-US" dirty="0"/>
              <a:t>是算符合條件的資料有</a:t>
            </a:r>
            <a:r>
              <a:rPr lang="zh-TW" altLang="en-US" b="1" dirty="0"/>
              <a:t>幾筆</a:t>
            </a:r>
            <a:endParaRPr lang="en-US" altLang="zh-TW" b="1" dirty="0"/>
          </a:p>
          <a:p>
            <a:r>
              <a:rPr lang="en-US" altLang="zh-TW" dirty="0"/>
              <a:t>SUM</a:t>
            </a:r>
            <a:r>
              <a:rPr lang="zh-TW" altLang="en-US" dirty="0"/>
              <a:t>是計算</a:t>
            </a:r>
            <a:r>
              <a:rPr lang="zh-TW" altLang="en-US" b="1" dirty="0"/>
              <a:t>總數量</a:t>
            </a:r>
            <a:r>
              <a:rPr lang="zh-TW" altLang="en-US" dirty="0"/>
              <a:t>，例如此例符合的是兩筆，但總合有</a:t>
            </a:r>
            <a:r>
              <a:rPr lang="en-US" altLang="zh-TW" dirty="0"/>
              <a:t>3</a:t>
            </a:r>
            <a:r>
              <a:rPr lang="zh-TW" altLang="en-US" dirty="0"/>
              <a:t>台庫存量</a:t>
            </a:r>
            <a:endParaRPr lang="en-US" altLang="zh-TW" dirty="0"/>
          </a:p>
          <a:p>
            <a:r>
              <a:rPr lang="zh-TW" altLang="en-US" dirty="0"/>
              <a:t>例如：</a:t>
            </a:r>
            <a:r>
              <a:rPr lang="en-US" altLang="zh-TW" dirty="0" err="1"/>
              <a:t>Product.objects.filter</a:t>
            </a:r>
            <a:r>
              <a:rPr lang="en-US" altLang="zh-TW" dirty="0"/>
              <a:t>(price__</a:t>
            </a:r>
            <a:r>
              <a:rPr lang="en-US" altLang="zh-TW" dirty="0" err="1"/>
              <a:t>lte</a:t>
            </a:r>
            <a:r>
              <a:rPr lang="en-US" altLang="zh-TW" dirty="0"/>
              <a:t>=500).aggregate(Count(</a:t>
            </a:r>
            <a:r>
              <a:rPr lang="en-US" altLang="zh-TW" b="1" dirty="0"/>
              <a:t>'name’</a:t>
            </a:r>
            <a:r>
              <a:rPr lang="en-US" altLang="zh-TW" dirty="0"/>
              <a:t>))</a:t>
            </a:r>
          </a:p>
          <a:p>
            <a:r>
              <a:rPr lang="zh-TW" altLang="en-US" dirty="0"/>
              <a:t>結果相同，所以填的參數不重要，但是不可以不填參數</a:t>
            </a:r>
            <a:endParaRPr lang="en-US" altLang="zh-TW" dirty="0"/>
          </a:p>
          <a:p>
            <a:r>
              <a:rPr lang="en-US" altLang="zh-TW" dirty="0"/>
              <a:t>contains : </a:t>
            </a:r>
            <a:r>
              <a:rPr lang="zh-TW" altLang="en-US" dirty="0"/>
              <a:t>包含 </a:t>
            </a:r>
            <a:r>
              <a:rPr lang="en-US" altLang="zh-TW" dirty="0"/>
              <a:t>like ‘%cat%’</a:t>
            </a:r>
          </a:p>
          <a:p>
            <a:r>
              <a:rPr lang="en-US" altLang="zh-TW" dirty="0" err="1"/>
              <a:t>icontains</a:t>
            </a:r>
            <a:r>
              <a:rPr lang="en-US" altLang="zh-TW" dirty="0"/>
              <a:t> : </a:t>
            </a:r>
            <a:r>
              <a:rPr lang="zh-TW" altLang="en-US" dirty="0"/>
              <a:t>包含 </a:t>
            </a:r>
            <a:r>
              <a:rPr lang="en-US" altLang="zh-TW" dirty="0" err="1"/>
              <a:t>ilike</a:t>
            </a:r>
            <a:r>
              <a:rPr lang="en-US" altLang="zh-TW" dirty="0"/>
              <a:t> ‘%cat%’</a:t>
            </a:r>
            <a:r>
              <a:rPr lang="zh-TW" altLang="en-US" dirty="0"/>
              <a:t>，</a:t>
            </a:r>
            <a:r>
              <a:rPr lang="zh-TW" altLang="en-US" b="1" dirty="0">
                <a:solidFill>
                  <a:srgbClr val="FF0000"/>
                </a:solidFill>
              </a:rPr>
              <a:t>忽略大小寫</a:t>
            </a:r>
            <a:endParaRPr lang="en-US" altLang="zh-TW" b="1" dirty="0">
              <a:solidFill>
                <a:srgbClr val="FF0000"/>
              </a:solidFill>
            </a:endParaRPr>
          </a:p>
          <a:p>
            <a:endParaRPr lang="en-US" altLang="zh-TW" dirty="0"/>
          </a:p>
          <a:p>
            <a:r>
              <a:rPr lang="zh-TW" altLang="en-US" dirty="0"/>
              <a:t>建議儘量用</a:t>
            </a:r>
            <a:r>
              <a:rPr lang="en-US" altLang="zh-TW" dirty="0"/>
              <a:t>filter</a:t>
            </a:r>
            <a:r>
              <a:rPr lang="zh-TW" altLang="en-US" dirty="0"/>
              <a:t>而不要用</a:t>
            </a:r>
            <a:r>
              <a:rPr lang="en-US" altLang="zh-TW" dirty="0"/>
              <a:t>get</a:t>
            </a:r>
            <a:r>
              <a:rPr lang="zh-TW" altLang="en-US" dirty="0"/>
              <a:t>，因為</a:t>
            </a:r>
            <a:r>
              <a:rPr lang="en-US" altLang="zh-TW" dirty="0"/>
              <a:t>get</a:t>
            </a:r>
            <a:r>
              <a:rPr lang="zh-TW" altLang="en-US" dirty="0"/>
              <a:t>是確定只有一筆符合條件的資料才用，否則若無符合或是超過一筆，都會產生</a:t>
            </a:r>
            <a:r>
              <a:rPr lang="en-US" altLang="zh-TW" dirty="0"/>
              <a:t>exception</a:t>
            </a:r>
          </a:p>
          <a:p>
            <a:r>
              <a:rPr lang="zh-TW" altLang="en-US" dirty="0"/>
              <a:t>而</a:t>
            </a:r>
            <a:r>
              <a:rPr lang="en-US" altLang="zh-TW" dirty="0"/>
              <a:t>filter</a:t>
            </a:r>
            <a:r>
              <a:rPr lang="zh-TW" altLang="en-US" dirty="0"/>
              <a:t>即使無符合條件的資料也會傳回一個空的串列</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42</a:t>
            </a:fld>
            <a:endParaRPr lang="zh-TW" altLang="en-US"/>
          </a:p>
        </p:txBody>
      </p:sp>
    </p:spTree>
    <p:extLst>
      <p:ext uri="{BB962C8B-B14F-4D97-AF65-F5344CB8AC3E}">
        <p14:creationId xmlns:p14="http://schemas.microsoft.com/office/powerpoint/2010/main" val="17999896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385AA-4A4E-8EAB-7FC7-9EAE0F9DD9CA}"/>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2E924B6B-8F72-ADFF-A582-703A9AE47937}"/>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63D24CEB-18A9-6E8B-C671-480742FDC9B6}"/>
              </a:ext>
            </a:extLst>
          </p:cNvPr>
          <p:cNvSpPr>
            <a:spLocks noGrp="1"/>
          </p:cNvSpPr>
          <p:nvPr>
            <p:ph type="body" idx="1"/>
          </p:nvPr>
        </p:nvSpPr>
        <p:spPr/>
        <p:txBody>
          <a:bodyPr/>
          <a:lstStyle/>
          <a:p>
            <a:r>
              <a:rPr lang="zh-TW" altLang="en-US" dirty="0"/>
              <a:t>注意：建議儘量用</a:t>
            </a:r>
            <a:r>
              <a:rPr lang="en-US" altLang="zh-TW" dirty="0"/>
              <a:t>filter</a:t>
            </a:r>
            <a:r>
              <a:rPr lang="zh-TW" altLang="en-US" dirty="0"/>
              <a:t>而不要用</a:t>
            </a:r>
            <a:r>
              <a:rPr lang="en-US" altLang="zh-TW" dirty="0"/>
              <a:t>get</a:t>
            </a:r>
            <a:r>
              <a:rPr lang="zh-TW" altLang="en-US" dirty="0"/>
              <a:t>，因為</a:t>
            </a:r>
            <a:r>
              <a:rPr lang="en-US" altLang="zh-TW" dirty="0"/>
              <a:t>get</a:t>
            </a:r>
            <a:r>
              <a:rPr lang="zh-TW" altLang="en-US" dirty="0"/>
              <a:t>是確定只有一筆符合條件的資料才用，否則若無符合或是超過一筆，都會產生</a:t>
            </a:r>
            <a:r>
              <a:rPr lang="en-US" altLang="zh-TW" dirty="0"/>
              <a:t>exception</a:t>
            </a:r>
          </a:p>
          <a:p>
            <a:r>
              <a:rPr lang="zh-TW" altLang="en-US" dirty="0"/>
              <a:t>而</a:t>
            </a:r>
            <a:r>
              <a:rPr lang="en-US" altLang="zh-TW" dirty="0"/>
              <a:t>filter</a:t>
            </a:r>
            <a:r>
              <a:rPr lang="zh-TW" altLang="en-US" dirty="0"/>
              <a:t>即使無符合條件的資料也會傳回一個空的串列</a:t>
            </a:r>
          </a:p>
        </p:txBody>
      </p:sp>
      <p:sp>
        <p:nvSpPr>
          <p:cNvPr id="4" name="投影片編號版面配置區 3">
            <a:extLst>
              <a:ext uri="{FF2B5EF4-FFF2-40B4-BE49-F238E27FC236}">
                <a16:creationId xmlns:a16="http://schemas.microsoft.com/office/drawing/2014/main" id="{7A7AD665-404D-1AD1-BF39-89C7CB54D2C5}"/>
              </a:ext>
            </a:extLst>
          </p:cNvPr>
          <p:cNvSpPr>
            <a:spLocks noGrp="1"/>
          </p:cNvSpPr>
          <p:nvPr>
            <p:ph type="sldNum" sz="quarter" idx="5"/>
          </p:nvPr>
        </p:nvSpPr>
        <p:spPr/>
        <p:txBody>
          <a:bodyPr/>
          <a:lstStyle/>
          <a:p>
            <a:fld id="{027FE99C-3BAC-4305-ABBB-3890AB1B4510}" type="slidenum">
              <a:rPr lang="zh-TW" altLang="en-US" smtClean="0"/>
              <a:pPr/>
              <a:t>43</a:t>
            </a:fld>
            <a:endParaRPr lang="zh-TW" altLang="en-US"/>
          </a:p>
        </p:txBody>
      </p:sp>
    </p:spTree>
    <p:extLst>
      <p:ext uri="{BB962C8B-B14F-4D97-AF65-F5344CB8AC3E}">
        <p14:creationId xmlns:p14="http://schemas.microsoft.com/office/powerpoint/2010/main" val="20091244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簡單理解就是專門處理及回應前端</a:t>
            </a:r>
            <a:r>
              <a:rPr lang="en-US" altLang="zh-TW" dirty="0"/>
              <a:t>browser</a:t>
            </a:r>
            <a:r>
              <a:rPr lang="zh-TW" altLang="en-US" dirty="0"/>
              <a:t>的請求，也就是要讓</a:t>
            </a:r>
            <a:r>
              <a:rPr lang="en-US" altLang="zh-TW" dirty="0"/>
              <a:t>user</a:t>
            </a:r>
            <a:r>
              <a:rPr lang="zh-TW" altLang="en-US" dirty="0"/>
              <a:t>看到的東西就叫</a:t>
            </a:r>
            <a:r>
              <a:rPr lang="en-US" altLang="zh-TW" dirty="0"/>
              <a:t>view</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46</a:t>
            </a:fld>
            <a:endParaRPr lang="zh-TW" altLang="en-US"/>
          </a:p>
        </p:txBody>
      </p:sp>
    </p:spTree>
    <p:extLst>
      <p:ext uri="{BB962C8B-B14F-4D97-AF65-F5344CB8AC3E}">
        <p14:creationId xmlns:p14="http://schemas.microsoft.com/office/powerpoint/2010/main" val="6535239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12BAF-0D3C-A445-23DB-6EA7525AD1AC}"/>
            </a:ext>
          </a:extLst>
        </p:cNvPr>
        <p:cNvGrpSpPr/>
        <p:nvPr/>
      </p:nvGrpSpPr>
      <p:grpSpPr>
        <a:xfrm>
          <a:off x="0" y="0"/>
          <a:ext cx="0" cy="0"/>
          <a:chOff x="0" y="0"/>
          <a:chExt cx="0" cy="0"/>
        </a:xfrm>
      </p:grpSpPr>
      <p:sp>
        <p:nvSpPr>
          <p:cNvPr id="2" name="投影片影像版面配置區 1">
            <a:extLst>
              <a:ext uri="{FF2B5EF4-FFF2-40B4-BE49-F238E27FC236}">
                <a16:creationId xmlns:a16="http://schemas.microsoft.com/office/drawing/2014/main" id="{1FF0243D-B4FF-C647-0463-BF03661844B9}"/>
              </a:ext>
            </a:extLst>
          </p:cNvPr>
          <p:cNvSpPr>
            <a:spLocks noGrp="1" noRot="1" noChangeAspect="1"/>
          </p:cNvSpPr>
          <p:nvPr>
            <p:ph type="sldImg"/>
          </p:nvPr>
        </p:nvSpPr>
        <p:spPr/>
      </p:sp>
      <p:sp>
        <p:nvSpPr>
          <p:cNvPr id="3" name="備忘稿版面配置區 2">
            <a:extLst>
              <a:ext uri="{FF2B5EF4-FFF2-40B4-BE49-F238E27FC236}">
                <a16:creationId xmlns:a16="http://schemas.microsoft.com/office/drawing/2014/main" id="{C6DC3579-6E6F-01F1-E402-D84EF5F03707}"/>
              </a:ext>
            </a:extLst>
          </p:cNvPr>
          <p:cNvSpPr>
            <a:spLocks noGrp="1"/>
          </p:cNvSpPr>
          <p:nvPr>
            <p:ph type="body" idx="1"/>
          </p:nvPr>
        </p:nvSpPr>
        <p:spPr/>
        <p:txBody>
          <a:bodyPr/>
          <a:lstStyle/>
          <a:p>
            <a:r>
              <a:rPr lang="zh-TW" altLang="en-US" dirty="0"/>
              <a:t>用左邊架構圖片，右邊</a:t>
            </a:r>
            <a:r>
              <a:rPr lang="en-US" altLang="zh-TW" dirty="0"/>
              <a:t>code</a:t>
            </a:r>
            <a:r>
              <a:rPr lang="zh-TW" altLang="en-US" dirty="0"/>
              <a:t>來對應說明</a:t>
            </a:r>
            <a:endParaRPr lang="en-US" altLang="zh-TW" dirty="0"/>
          </a:p>
          <a:p>
            <a:r>
              <a:rPr lang="en-US" altLang="zh-TW" dirty="0"/>
              <a:t>Templates</a:t>
            </a:r>
            <a:r>
              <a:rPr lang="zh-TW" altLang="en-US" dirty="0"/>
              <a:t>應儘可能的單純，不要有太多的羅輯運算，要讓不熟悉程式設計的美編能容易操作及修改，也是能展現前後端分離的做法</a:t>
            </a:r>
          </a:p>
        </p:txBody>
      </p:sp>
      <p:sp>
        <p:nvSpPr>
          <p:cNvPr id="4" name="投影片編號版面配置區 3">
            <a:extLst>
              <a:ext uri="{FF2B5EF4-FFF2-40B4-BE49-F238E27FC236}">
                <a16:creationId xmlns:a16="http://schemas.microsoft.com/office/drawing/2014/main" id="{E7AE943B-B9BC-F2DE-6C68-8206DDB25C85}"/>
              </a:ext>
            </a:extLst>
          </p:cNvPr>
          <p:cNvSpPr>
            <a:spLocks noGrp="1"/>
          </p:cNvSpPr>
          <p:nvPr>
            <p:ph type="sldNum" sz="quarter" idx="5"/>
          </p:nvPr>
        </p:nvSpPr>
        <p:spPr/>
        <p:txBody>
          <a:bodyPr/>
          <a:lstStyle/>
          <a:p>
            <a:fld id="{027FE99C-3BAC-4305-ABBB-3890AB1B4510}" type="slidenum">
              <a:rPr lang="zh-TW" altLang="en-US" smtClean="0"/>
              <a:pPr/>
              <a:t>47</a:t>
            </a:fld>
            <a:endParaRPr lang="zh-TW" altLang="en-US"/>
          </a:p>
        </p:txBody>
      </p:sp>
    </p:spTree>
    <p:extLst>
      <p:ext uri="{BB962C8B-B14F-4D97-AF65-F5344CB8AC3E}">
        <p14:creationId xmlns:p14="http://schemas.microsoft.com/office/powerpoint/2010/main" val="820454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51</a:t>
            </a:fld>
            <a:endParaRPr lang="zh-TW" altLang="en-US"/>
          </a:p>
        </p:txBody>
      </p:sp>
    </p:spTree>
    <p:extLst>
      <p:ext uri="{BB962C8B-B14F-4D97-AF65-F5344CB8AC3E}">
        <p14:creationId xmlns:p14="http://schemas.microsoft.com/office/powerpoint/2010/main" val="9646612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dirty="0">
                <a:solidFill>
                  <a:srgbClr val="FF0000"/>
                </a:solidFill>
              </a:rPr>
              <a:t>記得在</a:t>
            </a:r>
            <a:r>
              <a:rPr lang="en-US" altLang="zh-TW" sz="1200" dirty="0">
                <a:solidFill>
                  <a:srgbClr val="FF0000"/>
                </a:solidFill>
              </a:rPr>
              <a:t>view</a:t>
            </a:r>
            <a:r>
              <a:rPr lang="zh-TW" altLang="en-US" sz="1200" dirty="0">
                <a:solidFill>
                  <a:srgbClr val="FF0000"/>
                </a:solidFill>
              </a:rPr>
              <a:t>改成</a:t>
            </a:r>
            <a:r>
              <a:rPr lang="en-US" altLang="zh-TW" sz="1200" dirty="0">
                <a:solidFill>
                  <a:srgbClr val="FF0000"/>
                </a:solidFill>
              </a:rPr>
              <a:t>render</a:t>
            </a:r>
            <a:r>
              <a:rPr lang="zh-TW" altLang="en-US" sz="1200" dirty="0">
                <a:solidFill>
                  <a:srgbClr val="FF0000"/>
                </a:solidFill>
              </a:rPr>
              <a:t>，</a:t>
            </a:r>
            <a:r>
              <a:rPr lang="zh-TW" altLang="en-US" dirty="0">
                <a:solidFill>
                  <a:srgbClr val="FF0000"/>
                </a:solidFill>
              </a:rPr>
              <a:t>重新</a:t>
            </a:r>
            <a:r>
              <a:rPr lang="en-US" altLang="zh-TW" dirty="0">
                <a:solidFill>
                  <a:srgbClr val="FF0000"/>
                </a:solidFill>
              </a:rPr>
              <a:t>run server</a:t>
            </a:r>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一、</a:t>
            </a:r>
            <a:r>
              <a:rPr lang="en-US" altLang="zh-TW" sz="1200" b="0" kern="1200" dirty="0">
                <a:solidFill>
                  <a:schemeClr val="tx1"/>
                </a:solidFill>
                <a:effectLst/>
                <a:latin typeface="+mn-lt"/>
                <a:ea typeface="+mn-ea"/>
                <a:cs typeface="+mn-cs"/>
              </a:rPr>
              <a:t>'DIRS': [BASE_DIR / 'templates'],</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dirty="0"/>
              <a:t>二、</a:t>
            </a:r>
            <a:r>
              <a:rPr lang="en-US" altLang="zh-TW" sz="1200" b="0" kern="1200" dirty="0">
                <a:solidFill>
                  <a:schemeClr val="tx1"/>
                </a:solidFill>
                <a:effectLst/>
                <a:latin typeface="+mn-lt"/>
                <a:ea typeface="+mn-ea"/>
                <a:cs typeface="+mn-cs"/>
              </a:rPr>
              <a:t>'DIRS': [],</a:t>
            </a:r>
            <a:endParaRPr lang="en-US" altLang="zh-TW"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b="0" kern="1200" dirty="0">
                <a:solidFill>
                  <a:schemeClr val="tx1"/>
                </a:solidFill>
                <a:effectLst/>
                <a:latin typeface="+mn-lt"/>
                <a:ea typeface="+mn-ea"/>
                <a:cs typeface="+mn-cs"/>
              </a:rPr>
              <a:t>	'APP_DIRS': True,</a:t>
            </a:r>
            <a:endParaRPr lang="en-US" altLang="zh-TW" dirty="0"/>
          </a:p>
          <a:p>
            <a:r>
              <a:rPr lang="zh-TW" altLang="en-US" dirty="0"/>
              <a:t>三、</a:t>
            </a:r>
            <a:r>
              <a:rPr lang="en-US" altLang="zh-TW" sz="1200" b="0" kern="1200" dirty="0">
                <a:solidFill>
                  <a:schemeClr val="tx1"/>
                </a:solidFill>
                <a:effectLst/>
                <a:latin typeface="+mn-lt"/>
                <a:ea typeface="+mn-ea"/>
                <a:cs typeface="+mn-cs"/>
              </a:rPr>
              <a:t>'DIRS': [],</a:t>
            </a:r>
          </a:p>
          <a:p>
            <a:r>
              <a:rPr lang="en-US" altLang="zh-TW" sz="1200" b="0" kern="1200" dirty="0">
                <a:solidFill>
                  <a:schemeClr val="tx1"/>
                </a:solidFill>
                <a:effectLst/>
                <a:latin typeface="+mn-lt"/>
                <a:ea typeface="+mn-ea"/>
                <a:cs typeface="+mn-cs"/>
              </a:rPr>
              <a:t>        'APP_DIRS': False,</a:t>
            </a: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53</a:t>
            </a:fld>
            <a:endParaRPr lang="zh-TW" altLang="en-US"/>
          </a:p>
        </p:txBody>
      </p:sp>
    </p:spTree>
    <p:extLst>
      <p:ext uri="{BB962C8B-B14F-4D97-AF65-F5344CB8AC3E}">
        <p14:creationId xmlns:p14="http://schemas.microsoft.com/office/powerpoint/2010/main" val="174720216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54</a:t>
            </a:fld>
            <a:endParaRPr lang="zh-TW" altLang="en-US"/>
          </a:p>
        </p:txBody>
      </p:sp>
    </p:spTree>
    <p:extLst>
      <p:ext uri="{BB962C8B-B14F-4D97-AF65-F5344CB8AC3E}">
        <p14:creationId xmlns:p14="http://schemas.microsoft.com/office/powerpoint/2010/main" val="307664395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a:t>
            </a:r>
            <a:r>
              <a:rPr lang="zh-TW" altLang="en-US" dirty="0"/>
              <a:t>先宣告一個串列變數</a:t>
            </a:r>
            <a:r>
              <a:rPr lang="en-US" altLang="zh-TW" dirty="0"/>
              <a:t>quotes,</a:t>
            </a:r>
            <a:r>
              <a:rPr lang="zh-TW" altLang="en-US" dirty="0"/>
              <a:t> 接著再把該串列變數</a:t>
            </a:r>
            <a:r>
              <a:rPr lang="en-US" altLang="zh-TW" dirty="0"/>
              <a:t>quotes </a:t>
            </a:r>
            <a:r>
              <a:rPr lang="zh-TW" altLang="en-US" dirty="0"/>
              <a:t>當成</a:t>
            </a:r>
            <a:r>
              <a:rPr lang="en-US" altLang="zh-TW" dirty="0" err="1"/>
              <a:t>random.choicel</a:t>
            </a:r>
            <a:r>
              <a:rPr lang="en-US" altLang="zh-TW" dirty="0"/>
              <a:t>()</a:t>
            </a:r>
            <a:r>
              <a:rPr lang="zh-TW" altLang="en-US" dirty="0"/>
              <a:t>的參數</a:t>
            </a:r>
            <a:r>
              <a:rPr lang="en-US" altLang="zh-TW" dirty="0"/>
              <a:t>,</a:t>
            </a:r>
            <a:r>
              <a:rPr lang="zh-TW" altLang="en-US" dirty="0"/>
              <a:t>這樣一來每次呼叫</a:t>
            </a:r>
            <a:r>
              <a:rPr lang="en-US" altLang="zh-TW" dirty="0"/>
              <a:t>about </a:t>
            </a:r>
            <a:r>
              <a:rPr lang="zh-TW" altLang="en-US" dirty="0"/>
              <a:t>函式時</a:t>
            </a:r>
            <a:r>
              <a:rPr lang="en-US" altLang="zh-TW" dirty="0"/>
              <a:t>,</a:t>
            </a:r>
            <a:r>
              <a:rPr lang="en-US" altLang="zh-TW" dirty="0" err="1"/>
              <a:t>random.chotes</a:t>
            </a:r>
            <a:r>
              <a:rPr lang="en-US" altLang="zh-TW" dirty="0"/>
              <a:t> </a:t>
            </a:r>
            <a:r>
              <a:rPr lang="zh-TW" altLang="en-US" dirty="0"/>
              <a:t>串列中隨機取出一個句子</a:t>
            </a:r>
            <a:r>
              <a:rPr lang="en-US" altLang="zh-TW" dirty="0"/>
              <a:t>,</a:t>
            </a:r>
            <a:r>
              <a:rPr lang="zh-TW" altLang="en-US" dirty="0"/>
              <a:t>然後再將取出的句子傳給</a:t>
            </a:r>
            <a:r>
              <a:rPr lang="en-US" altLang="zh-TW" dirty="0"/>
              <a:t>quote </a:t>
            </a:r>
            <a:r>
              <a:rPr lang="zh-TW" altLang="en-US" dirty="0"/>
              <a:t>變數</a:t>
            </a:r>
            <a:r>
              <a:rPr lang="en-US" altLang="zh-TW" dirty="0"/>
              <a:t>,</a:t>
            </a:r>
            <a:r>
              <a:rPr lang="zh-TW" altLang="en-US" dirty="0"/>
              <a:t>最後再利用</a:t>
            </a:r>
            <a:r>
              <a:rPr lang="en-US" altLang="zh-TW" dirty="0"/>
              <a:t>render</a:t>
            </a:r>
            <a:r>
              <a:rPr lang="zh-TW" altLang="en-US" dirty="0"/>
              <a:t>這個函式放入要產生的回應結果給使用者的</a:t>
            </a:r>
            <a:r>
              <a:rPr lang="en-US" altLang="zh-TW" dirty="0"/>
              <a:t>request</a:t>
            </a:r>
            <a:r>
              <a:rPr lang="zh-TW" altLang="en-US" dirty="0"/>
              <a:t>參數</a:t>
            </a:r>
            <a:r>
              <a:rPr lang="en-US" altLang="zh-TW" dirty="0"/>
              <a:t>,</a:t>
            </a:r>
            <a:r>
              <a:rPr lang="zh-TW" altLang="en-US" dirty="0"/>
              <a:t>以及指定我們要被渲染的模板</a:t>
            </a:r>
            <a:r>
              <a:rPr lang="en-US" altLang="zh-TW" dirty="0"/>
              <a:t>about.html</a:t>
            </a:r>
            <a:r>
              <a:rPr lang="zh-TW" altLang="en-US" dirty="0"/>
              <a:t>與打算要跟著傳過去的</a:t>
            </a:r>
            <a:r>
              <a:rPr lang="en-US" altLang="zh-TW" dirty="0"/>
              <a:t>quote</a:t>
            </a:r>
            <a:r>
              <a:rPr lang="zh-TW" altLang="en-US" dirty="0"/>
              <a:t>變數，直接使用</a:t>
            </a:r>
            <a:r>
              <a:rPr lang="en-US" altLang="zh-TW" sz="1200" dirty="0">
                <a:solidFill>
                  <a:srgbClr val="FF0000"/>
                </a:solidFill>
              </a:rPr>
              <a:t>locals() </a:t>
            </a:r>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55</a:t>
            </a:fld>
            <a:endParaRPr lang="zh-TW" altLang="en-US"/>
          </a:p>
        </p:txBody>
      </p:sp>
    </p:spTree>
    <p:extLst>
      <p:ext uri="{BB962C8B-B14F-4D97-AF65-F5344CB8AC3E}">
        <p14:creationId xmlns:p14="http://schemas.microsoft.com/office/powerpoint/2010/main" val="8999875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記得要加</a:t>
            </a:r>
            <a:r>
              <a:rPr lang="en-US" altLang="zh-TW"/>
              <a:t>&lt;table&gt;</a:t>
            </a:r>
          </a:p>
          <a:p>
            <a:r>
              <a:rPr lang="zh-TW" altLang="en-US" dirty="0"/>
              <a:t>欄位名稱</a:t>
            </a:r>
            <a:r>
              <a:rPr lang="en-US" altLang="zh-TW" dirty="0"/>
              <a:t>tr&gt;td*3</a:t>
            </a:r>
          </a:p>
          <a:p>
            <a:r>
              <a:rPr lang="zh-TW" altLang="en-US" dirty="0"/>
              <a:t>欄位內容</a:t>
            </a:r>
            <a:r>
              <a:rPr lang="en-US" altLang="zh-TW" dirty="0"/>
              <a:t>tr&gt;td*3</a:t>
            </a:r>
          </a:p>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58</a:t>
            </a:fld>
            <a:endParaRPr lang="zh-TW" altLang="en-US"/>
          </a:p>
        </p:txBody>
      </p:sp>
    </p:spTree>
    <p:extLst>
      <p:ext uri="{BB962C8B-B14F-4D97-AF65-F5344CB8AC3E}">
        <p14:creationId xmlns:p14="http://schemas.microsoft.com/office/powerpoint/2010/main" val="37979163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b="0" dirty="0">
                <a:solidFill>
                  <a:srgbClr val="CCCCCC"/>
                </a:solidFill>
                <a:effectLst/>
                <a:latin typeface="Consolas" panose="020B0609020204030204" pitchFamily="49" charset="0"/>
              </a:rPr>
              <a:t>(tr&gt;td*2)*4</a:t>
            </a:r>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60</a:t>
            </a:fld>
            <a:endParaRPr lang="zh-TW" altLang="en-US"/>
          </a:p>
        </p:txBody>
      </p:sp>
    </p:spTree>
    <p:extLst>
      <p:ext uri="{BB962C8B-B14F-4D97-AF65-F5344CB8AC3E}">
        <p14:creationId xmlns:p14="http://schemas.microsoft.com/office/powerpoint/2010/main" val="23152734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27FE99C-3BAC-4305-ABBB-3890AB1B4510}" type="slidenum">
              <a:rPr lang="zh-TW" altLang="en-US" smtClean="0"/>
              <a:pPr/>
              <a:t>63</a:t>
            </a:fld>
            <a:endParaRPr lang="zh-TW" altLang="en-US"/>
          </a:p>
        </p:txBody>
      </p:sp>
    </p:spTree>
    <p:extLst>
      <p:ext uri="{BB962C8B-B14F-4D97-AF65-F5344CB8AC3E}">
        <p14:creationId xmlns:p14="http://schemas.microsoft.com/office/powerpoint/2010/main" val="537545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副標題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a:t>按一下以編輯母片副標題樣式</a:t>
            </a:r>
            <a:endParaRPr kumimoji="0" lang="en-US"/>
          </a:p>
        </p:txBody>
      </p:sp>
      <p:sp>
        <p:nvSpPr>
          <p:cNvPr id="28" name="日期版面配置區 27"/>
          <p:cNvSpPr>
            <a:spLocks noGrp="1"/>
          </p:cNvSpPr>
          <p:nvPr>
            <p:ph type="dt" sz="half" idx="10"/>
          </p:nvPr>
        </p:nvSpPr>
        <p:spPr/>
        <p:txBody>
          <a:bodyPr/>
          <a:lstStyle/>
          <a:p>
            <a:fld id="{DF19C816-D38B-498E-804E-00D02760FC7A}" type="datetime1">
              <a:rPr lang="zh-TW" altLang="en-US" smtClean="0"/>
              <a:pPr/>
              <a:t>2026/10/20</a:t>
            </a:fld>
            <a:endParaRPr lang="zh-TW" altLang="en-US"/>
          </a:p>
        </p:txBody>
      </p:sp>
      <p:sp>
        <p:nvSpPr>
          <p:cNvPr id="17" name="頁尾版面配置區 16"/>
          <p:cNvSpPr>
            <a:spLocks noGrp="1"/>
          </p:cNvSpPr>
          <p:nvPr>
            <p:ph type="ftr" sz="quarter" idx="11"/>
          </p:nvPr>
        </p:nvSpPr>
        <p:spPr/>
        <p:txBody>
          <a:bodyPr/>
          <a:lstStyle/>
          <a:p>
            <a:endParaRPr lang="zh-TW" altLang="en-US"/>
          </a:p>
        </p:txBody>
      </p:sp>
      <p:sp>
        <p:nvSpPr>
          <p:cNvPr id="7" name="直線接點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橢圓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橢圓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投影片編號版面配置區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8" name="標題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solidFill>
                  <a:schemeClr val="accent3">
                    <a:shade val="75000"/>
                  </a:schemeClr>
                </a:solidFill>
              </a:defRPr>
            </a:lvl1pPr>
          </a:lstStyle>
          <a:p>
            <a:r>
              <a:rPr kumimoji="0" lang="zh-TW" altLang="en-US"/>
              <a:t>按一下以編輯母片標題樣式</a:t>
            </a:r>
            <a:endParaRPr kumimoji="0" lang="en-US"/>
          </a:p>
        </p:txBody>
      </p:sp>
      <p:sp>
        <p:nvSpPr>
          <p:cNvPr id="4" name="日期版面配置區 3"/>
          <p:cNvSpPr>
            <a:spLocks noGrp="1"/>
          </p:cNvSpPr>
          <p:nvPr>
            <p:ph type="dt" sz="half" idx="10"/>
          </p:nvPr>
        </p:nvSpPr>
        <p:spPr/>
        <p:txBody>
          <a:bodyPr/>
          <a:lstStyle/>
          <a:p>
            <a:fld id="{E16BAABA-C288-41C0-9D8E-87773CE9488B}" type="datetime1">
              <a:rPr lang="zh-TW" altLang="en-US" smtClean="0"/>
              <a:pPr/>
              <a:t>2026/10/20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a:xfrm>
            <a:off x="4361688" y="1026372"/>
            <a:ext cx="457200" cy="441325"/>
          </a:xfrm>
        </p:spPr>
        <p:txBody>
          <a:bodyPr/>
          <a:lstStyle/>
          <a:p>
            <a:fld id="{369E457D-EE12-4164-8E32-9DDD40A95892}" type="slidenum">
              <a:rPr lang="zh-TW" altLang="en-US" smtClean="0"/>
              <a:pPr/>
              <a:t>‹#›</a:t>
            </a:fld>
            <a:endParaRPr lang="zh-TW" altLang="en-US"/>
          </a:p>
        </p:txBody>
      </p:sp>
      <p:sp>
        <p:nvSpPr>
          <p:cNvPr id="8" name="內容版面配置區 7"/>
          <p:cNvSpPr>
            <a:spLocks noGrp="1"/>
          </p:cNvSpPr>
          <p:nvPr>
            <p:ph sz="quarter" idx="1"/>
          </p:nvPr>
        </p:nvSpPr>
        <p:spPr>
          <a:xfrm>
            <a:off x="301752" y="1527048"/>
            <a:ext cx="8503920" cy="4572000"/>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區段標題">
    <p:spTree>
      <p:nvGrpSpPr>
        <p:cNvPr id="1" name=""/>
        <p:cNvGrpSpPr/>
        <p:nvPr/>
      </p:nvGrpSpPr>
      <p:grpSpPr>
        <a:xfrm>
          <a:off x="0" y="0"/>
          <a:ext cx="0" cy="0"/>
          <a:chOff x="0" y="0"/>
          <a:chExt cx="0" cy="0"/>
        </a:xfrm>
      </p:grpSpPr>
      <p:sp>
        <p:nvSpPr>
          <p:cNvPr id="17" name="矩形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文字版面配置區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a:t>按一下以編輯母片文字樣式</a:t>
            </a:r>
          </a:p>
        </p:txBody>
      </p:sp>
      <p:sp>
        <p:nvSpPr>
          <p:cNvPr id="13" name="矩形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矩形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頁尾版面配置區 4"/>
          <p:cNvSpPr>
            <a:spLocks noGrp="1"/>
          </p:cNvSpPr>
          <p:nvPr>
            <p:ph type="ftr" sz="quarter" idx="11"/>
          </p:nvPr>
        </p:nvSpPr>
        <p:spPr/>
        <p:txBody>
          <a:bodyPr/>
          <a:lstStyle/>
          <a:p>
            <a:endParaRPr lang="zh-TW" altLang="en-US"/>
          </a:p>
        </p:txBody>
      </p:sp>
      <p:sp>
        <p:nvSpPr>
          <p:cNvPr id="4" name="日期版面配置區 3"/>
          <p:cNvSpPr>
            <a:spLocks noGrp="1"/>
          </p:cNvSpPr>
          <p:nvPr>
            <p:ph type="dt" sz="half" idx="10"/>
          </p:nvPr>
        </p:nvSpPr>
        <p:spPr/>
        <p:txBody>
          <a:bodyPr/>
          <a:lstStyle/>
          <a:p>
            <a:fld id="{E6F79EFE-5102-4BAD-A377-702F02C2814E}" type="datetime1">
              <a:rPr lang="zh-TW" altLang="en-US" smtClean="0"/>
              <a:pPr/>
              <a:t>2026/10/20</a:t>
            </a:fld>
            <a:endParaRPr lang="zh-TW" altLang="en-US"/>
          </a:p>
        </p:txBody>
      </p:sp>
      <p:sp>
        <p:nvSpPr>
          <p:cNvPr id="8" name="直線接點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橢圓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橢圓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投影片編號版面配置區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2" name="標題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301752" y="228600"/>
            <a:ext cx="8534400" cy="758952"/>
          </a:xfrm>
        </p:spPr>
        <p:txBody>
          <a:bodyPr/>
          <a:lstStyle/>
          <a:p>
            <a:r>
              <a:rPr kumimoji="0" lang="zh-TW" altLang="en-US"/>
              <a:t>按一下以編輯母片標題樣式</a:t>
            </a:r>
            <a:endParaRPr kumimoji="0" lang="en-US"/>
          </a:p>
        </p:txBody>
      </p:sp>
      <p:sp>
        <p:nvSpPr>
          <p:cNvPr id="5" name="日期版面配置區 4"/>
          <p:cNvSpPr>
            <a:spLocks noGrp="1"/>
          </p:cNvSpPr>
          <p:nvPr>
            <p:ph type="dt" sz="half" idx="10"/>
          </p:nvPr>
        </p:nvSpPr>
        <p:spPr>
          <a:xfrm>
            <a:off x="5791200" y="6409944"/>
            <a:ext cx="3044952" cy="365760"/>
          </a:xfrm>
        </p:spPr>
        <p:txBody>
          <a:bodyPr/>
          <a:lstStyle/>
          <a:p>
            <a:fld id="{240F5BD8-68CC-49A6-B769-229D3FACB86C}" type="datetime1">
              <a:rPr lang="zh-TW" altLang="en-US" smtClean="0"/>
              <a:pPr/>
              <a:t>2026/10/20</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369E457D-EE12-4164-8E32-9DDD40A95892}" type="slidenum">
              <a:rPr lang="zh-TW" altLang="en-US" smtClean="0"/>
              <a:pPr/>
              <a:t>‹#›</a:t>
            </a:fld>
            <a:endParaRPr lang="zh-TW" altLang="en-US"/>
          </a:p>
        </p:txBody>
      </p:sp>
      <p:sp>
        <p:nvSpPr>
          <p:cNvPr id="8" name="直線接點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內容版面配置區 9"/>
          <p:cNvSpPr>
            <a:spLocks noGrp="1"/>
          </p:cNvSpPr>
          <p:nvPr>
            <p:ph sz="half" idx="1"/>
          </p:nvPr>
        </p:nvSpPr>
        <p:spPr>
          <a:xfrm>
            <a:off x="301752" y="1371600"/>
            <a:ext cx="4038600" cy="4681728"/>
          </a:xfrm>
        </p:spPr>
        <p:txBody>
          <a:bodyPr/>
          <a:lstStyle>
            <a:lvl1pPr>
              <a:defRPr sz="2500"/>
            </a:lvl1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12" name="內容版面配置區 11"/>
          <p:cNvSpPr>
            <a:spLocks noGrp="1"/>
          </p:cNvSpPr>
          <p:nvPr>
            <p:ph sz="half" idx="2"/>
          </p:nvPr>
        </p:nvSpPr>
        <p:spPr>
          <a:xfrm>
            <a:off x="4800600" y="1371600"/>
            <a:ext cx="4038600" cy="4681728"/>
          </a:xfrm>
        </p:spPr>
        <p:txBody>
          <a:bodyPr/>
          <a:lstStyle>
            <a:lvl1pPr>
              <a:defRPr sz="2500"/>
            </a:lvl1p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比對">
    <p:spTree>
      <p:nvGrpSpPr>
        <p:cNvPr id="1" name=""/>
        <p:cNvGrpSpPr/>
        <p:nvPr/>
      </p:nvGrpSpPr>
      <p:grpSpPr>
        <a:xfrm>
          <a:off x="0" y="0"/>
          <a:ext cx="0" cy="0"/>
          <a:chOff x="0" y="0"/>
          <a:chExt cx="0" cy="0"/>
        </a:xfrm>
      </p:grpSpPr>
      <p:sp>
        <p:nvSpPr>
          <p:cNvPr id="10" name="直線接點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矩形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矩形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矩形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矩形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矩形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文字版面配置區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4" name="文字版面配置區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a:t>按一下以編輯母片文字樣式</a:t>
            </a:r>
          </a:p>
        </p:txBody>
      </p:sp>
      <p:sp>
        <p:nvSpPr>
          <p:cNvPr id="7" name="日期版面配置區 6"/>
          <p:cNvSpPr>
            <a:spLocks noGrp="1"/>
          </p:cNvSpPr>
          <p:nvPr>
            <p:ph type="dt" sz="half" idx="10"/>
          </p:nvPr>
        </p:nvSpPr>
        <p:spPr/>
        <p:txBody>
          <a:bodyPr/>
          <a:lstStyle/>
          <a:p>
            <a:fld id="{C95C3C99-9A5D-4B12-8519-BF3493FEA3BD}" type="datetime1">
              <a:rPr lang="zh-TW" altLang="en-US" smtClean="0"/>
              <a:pPr/>
              <a:t>2026/10/20</a:t>
            </a:fld>
            <a:endParaRPr lang="zh-TW" altLang="en-US"/>
          </a:p>
        </p:txBody>
      </p:sp>
      <p:sp>
        <p:nvSpPr>
          <p:cNvPr id="8" name="頁尾版面配置區 7"/>
          <p:cNvSpPr>
            <a:spLocks noGrp="1"/>
          </p:cNvSpPr>
          <p:nvPr>
            <p:ph type="ftr" sz="quarter" idx="11"/>
          </p:nvPr>
        </p:nvSpPr>
        <p:spPr>
          <a:xfrm>
            <a:off x="304800" y="6409944"/>
            <a:ext cx="3581400" cy="365760"/>
          </a:xfrm>
        </p:spPr>
        <p:txBody>
          <a:bodyPr/>
          <a:lstStyle/>
          <a:p>
            <a:endParaRPr lang="zh-TW" altLang="en-US"/>
          </a:p>
        </p:txBody>
      </p:sp>
      <p:sp>
        <p:nvSpPr>
          <p:cNvPr id="15" name="直線接點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內容版面配置區 23"/>
          <p:cNvSpPr>
            <a:spLocks noGrp="1"/>
          </p:cNvSpPr>
          <p:nvPr>
            <p:ph sz="quarter" idx="2"/>
          </p:nvPr>
        </p:nvSpPr>
        <p:spPr>
          <a:xfrm>
            <a:off x="301752" y="2471383"/>
            <a:ext cx="4041648" cy="3818404"/>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26" name="內容版面配置區 25"/>
          <p:cNvSpPr>
            <a:spLocks noGrp="1"/>
          </p:cNvSpPr>
          <p:nvPr>
            <p:ph sz="quarter" idx="4"/>
          </p:nvPr>
        </p:nvSpPr>
        <p:spPr>
          <a:xfrm>
            <a:off x="4800600" y="2471383"/>
            <a:ext cx="4038600" cy="3822192"/>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25" name="橢圓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橢圓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投影片編號版面配置區 8"/>
          <p:cNvSpPr>
            <a:spLocks noGrp="1"/>
          </p:cNvSpPr>
          <p:nvPr>
            <p:ph type="sldNum" sz="quarter" idx="12"/>
          </p:nvPr>
        </p:nvSpPr>
        <p:spPr>
          <a:xfrm>
            <a:off x="4343400" y="1042416"/>
            <a:ext cx="457200" cy="441325"/>
          </a:xfrm>
        </p:spPr>
        <p:txBody>
          <a:bodyPr/>
          <a:lstStyle>
            <a:lvl1pPr algn="ctr">
              <a:defRPr/>
            </a:lvl1pPr>
          </a:lstStyle>
          <a:p>
            <a:fld id="{369E457D-EE12-4164-8E32-9DDD40A95892}" type="slidenum">
              <a:rPr lang="zh-TW" altLang="en-US" smtClean="0"/>
              <a:pPr/>
              <a:t>‹#›</a:t>
            </a:fld>
            <a:endParaRPr lang="zh-TW" altLang="en-US"/>
          </a:p>
        </p:txBody>
      </p:sp>
      <p:sp>
        <p:nvSpPr>
          <p:cNvPr id="23" name="標題 22"/>
          <p:cNvSpPr>
            <a:spLocks noGrp="1"/>
          </p:cNvSpPr>
          <p:nvPr>
            <p:ph type="title"/>
          </p:nvPr>
        </p:nvSpPr>
        <p:spPr/>
        <p:txBody>
          <a:bodyPr rtlCol="0" anchor="b" anchorCtr="0"/>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日期版面配置區 2"/>
          <p:cNvSpPr>
            <a:spLocks noGrp="1"/>
          </p:cNvSpPr>
          <p:nvPr>
            <p:ph type="dt" sz="half" idx="10"/>
          </p:nvPr>
        </p:nvSpPr>
        <p:spPr/>
        <p:txBody>
          <a:bodyPr/>
          <a:lstStyle/>
          <a:p>
            <a:fld id="{C0C1B973-9C4C-43B9-BBC9-7D038B5E66BB}" type="datetime1">
              <a:rPr lang="zh-TW" altLang="en-US" smtClean="0"/>
              <a:pPr/>
              <a:t>2026/10/20</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a:xfrm>
            <a:off x="4343400" y="1036020"/>
            <a:ext cx="457200" cy="441325"/>
          </a:xfrm>
        </p:spPr>
        <p:txBody>
          <a:bodyPr/>
          <a:lstStyle/>
          <a:p>
            <a:fld id="{369E457D-EE12-4164-8E32-9DDD40A95892}"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7" name="矩形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矩形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矩形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日期版面配置區 1"/>
          <p:cNvSpPr>
            <a:spLocks noGrp="1"/>
          </p:cNvSpPr>
          <p:nvPr>
            <p:ph type="dt" sz="half" idx="10"/>
          </p:nvPr>
        </p:nvSpPr>
        <p:spPr/>
        <p:txBody>
          <a:bodyPr/>
          <a:lstStyle/>
          <a:p>
            <a:fld id="{E3A2E384-56FB-46D9-B267-C20E836A8212}" type="datetime1">
              <a:rPr lang="zh-TW" altLang="en-US" smtClean="0"/>
              <a:pPr/>
              <a:t>2026/10/20</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a:xfrm>
            <a:off x="4267200" y="6324600"/>
            <a:ext cx="609600" cy="441324"/>
          </a:xfrm>
        </p:spPr>
        <p:txBody>
          <a:bodyPr/>
          <a:lstStyle>
            <a:lvl1pPr>
              <a:defRPr>
                <a:solidFill>
                  <a:srgbClr val="FFFFFF"/>
                </a:solidFill>
              </a:defRPr>
            </a:lvl1pPr>
          </a:lstStyle>
          <a:p>
            <a:fld id="{369E457D-EE12-4164-8E32-9DDD40A95892}"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19" name="矩形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矩形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矩形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矩形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標題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zh-TW" altLang="en-US"/>
              <a:t>按一下以編輯母片標題樣式</a:t>
            </a:r>
            <a:endParaRPr kumimoji="0" lang="en-US"/>
          </a:p>
        </p:txBody>
      </p:sp>
      <p:sp>
        <p:nvSpPr>
          <p:cNvPr id="3" name="文字版面配置區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zh-TW" altLang="en-US"/>
              <a:t>按一下以編輯母片文字樣式</a:t>
            </a:r>
          </a:p>
        </p:txBody>
      </p:sp>
      <p:sp>
        <p:nvSpPr>
          <p:cNvPr id="8" name="矩形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直線接點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內容版面配置區 19"/>
          <p:cNvSpPr>
            <a:spLocks noGrp="1"/>
          </p:cNvSpPr>
          <p:nvPr>
            <p:ph sz="quarter" idx="1"/>
          </p:nvPr>
        </p:nvSpPr>
        <p:spPr>
          <a:xfrm>
            <a:off x="3124200" y="685800"/>
            <a:ext cx="5638800" cy="5410200"/>
          </a:xfrm>
        </p:spPr>
        <p:txBody>
          <a:bodyPr/>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10" name="橢圓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橢圓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投影片編號版面配置區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369E457D-EE12-4164-8E32-9DDD40A95892}" type="slidenum">
              <a:rPr lang="zh-TW" altLang="en-US" smtClean="0"/>
              <a:pPr/>
              <a:t>‹#›</a:t>
            </a:fld>
            <a:endParaRPr lang="zh-TW" altLang="en-US"/>
          </a:p>
        </p:txBody>
      </p:sp>
      <p:sp>
        <p:nvSpPr>
          <p:cNvPr id="21" name="矩形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日期版面配置區 4"/>
          <p:cNvSpPr>
            <a:spLocks noGrp="1"/>
          </p:cNvSpPr>
          <p:nvPr>
            <p:ph type="dt" sz="half" idx="10"/>
          </p:nvPr>
        </p:nvSpPr>
        <p:spPr/>
        <p:txBody>
          <a:bodyPr/>
          <a:lstStyle/>
          <a:p>
            <a:fld id="{33A25C06-3635-48B4-9326-561BB1229EEB}" type="datetime1">
              <a:rPr lang="zh-TW" altLang="en-US" smtClean="0"/>
              <a:pPr/>
              <a:t>2026/10/20</a:t>
            </a:fld>
            <a:endParaRPr lang="zh-TW" altLang="en-US"/>
          </a:p>
        </p:txBody>
      </p:sp>
      <p:sp>
        <p:nvSpPr>
          <p:cNvPr id="6" name="頁尾版面配置區 5"/>
          <p:cNvSpPr>
            <a:spLocks noGrp="1"/>
          </p:cNvSpPr>
          <p:nvPr>
            <p:ph type="ftr" sz="quarter" idx="11"/>
          </p:nvPr>
        </p:nvSpPr>
        <p:spPr>
          <a:xfrm>
            <a:off x="301752" y="6410848"/>
            <a:ext cx="3383280" cy="365760"/>
          </a:xfrm>
        </p:spPr>
        <p:txBody>
          <a:bodyPr/>
          <a:lstStyle/>
          <a:p>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spTree>
      <p:nvGrpSpPr>
        <p:cNvPr id="1" name=""/>
        <p:cNvGrpSpPr/>
        <p:nvPr/>
      </p:nvGrpSpPr>
      <p:grpSpPr>
        <a:xfrm>
          <a:off x="0" y="0"/>
          <a:ext cx="0" cy="0"/>
          <a:chOff x="0" y="0"/>
          <a:chExt cx="0" cy="0"/>
        </a:xfrm>
      </p:grpSpPr>
      <p:sp>
        <p:nvSpPr>
          <p:cNvPr id="21" name="直線接點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矩形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矩形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矩形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橢圓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橢圓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投影片編號版面配置區 6"/>
          <p:cNvSpPr>
            <a:spLocks noGrp="1"/>
          </p:cNvSpPr>
          <p:nvPr>
            <p:ph type="sldNum" sz="quarter" idx="12"/>
          </p:nvPr>
        </p:nvSpPr>
        <p:spPr>
          <a:xfrm>
            <a:off x="1371600" y="312738"/>
            <a:ext cx="457200" cy="441325"/>
          </a:xfrm>
        </p:spPr>
        <p:txBody>
          <a:bodyPr/>
          <a:lstStyle/>
          <a:p>
            <a:fld id="{369E457D-EE12-4164-8E32-9DDD40A95892}" type="slidenum">
              <a:rPr lang="zh-TW" altLang="en-US" smtClean="0"/>
              <a:pPr/>
              <a:t>‹#›</a:t>
            </a:fld>
            <a:endParaRPr lang="zh-TW" altLang="en-US"/>
          </a:p>
        </p:txBody>
      </p:sp>
      <p:sp>
        <p:nvSpPr>
          <p:cNvPr id="2" name="標題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zh-TW" altLang="en-US"/>
              <a:t>按一下以編輯母片標題樣式</a:t>
            </a:r>
            <a:endParaRPr kumimoji="0" lang="en-US"/>
          </a:p>
        </p:txBody>
      </p:sp>
      <p:sp>
        <p:nvSpPr>
          <p:cNvPr id="3" name="圖片版面配置區 2"/>
          <p:cNvSpPr>
            <a:spLocks noGrp="1"/>
          </p:cNvSpPr>
          <p:nvPr>
            <p:ph type="pic" idx="1"/>
          </p:nvPr>
        </p:nvSpPr>
        <p:spPr>
          <a:xfrm>
            <a:off x="3000375" y="609600"/>
            <a:ext cx="5867400" cy="4267200"/>
          </a:xfrm>
        </p:spPr>
        <p:txBody>
          <a:bodyPr/>
          <a:lstStyle>
            <a:lvl1pPr marL="0" indent="0">
              <a:buNone/>
              <a:defRPr sz="3200"/>
            </a:lvl1pPr>
          </a:lstStyle>
          <a:p>
            <a:r>
              <a:rPr kumimoji="0" lang="zh-TW" altLang="en-US"/>
              <a:t>按一下圖示以新增圖片</a:t>
            </a:r>
            <a:endParaRPr kumimoji="0" lang="en-US" dirty="0"/>
          </a:p>
        </p:txBody>
      </p:sp>
      <p:sp>
        <p:nvSpPr>
          <p:cNvPr id="4" name="文字版面配置區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zh-TW" altLang="en-US"/>
              <a:t>按一下以編輯母片文字樣式</a:t>
            </a:r>
          </a:p>
        </p:txBody>
      </p:sp>
      <p:sp>
        <p:nvSpPr>
          <p:cNvPr id="22" name="矩形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日期版面配置區 4"/>
          <p:cNvSpPr>
            <a:spLocks noGrp="1"/>
          </p:cNvSpPr>
          <p:nvPr>
            <p:ph type="dt" sz="half" idx="10"/>
          </p:nvPr>
        </p:nvSpPr>
        <p:spPr>
          <a:xfrm>
            <a:off x="5788152" y="6404984"/>
            <a:ext cx="3044952" cy="365760"/>
          </a:xfrm>
        </p:spPr>
        <p:txBody>
          <a:bodyPr/>
          <a:lstStyle/>
          <a:p>
            <a:fld id="{BA9F43BE-0941-4E88-B57D-D38DECBCB997}" type="datetime1">
              <a:rPr lang="zh-TW" altLang="en-US" smtClean="0"/>
              <a:pPr/>
              <a:t>2026/10/20</a:t>
            </a:fld>
            <a:endParaRPr lang="zh-TW" altLang="en-US"/>
          </a:p>
        </p:txBody>
      </p:sp>
      <p:sp>
        <p:nvSpPr>
          <p:cNvPr id="6" name="頁尾版面配置區 5"/>
          <p:cNvSpPr>
            <a:spLocks noGrp="1"/>
          </p:cNvSpPr>
          <p:nvPr>
            <p:ph type="ftr" sz="quarter" idx="11"/>
          </p:nvPr>
        </p:nvSpPr>
        <p:spPr>
          <a:xfrm>
            <a:off x="301752" y="6410848"/>
            <a:ext cx="3584448" cy="365760"/>
          </a:xfrm>
        </p:spPr>
        <p:txBody>
          <a:bodyPr/>
          <a:lstStyle/>
          <a:p>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BFF116A9-7278-4674-BCA0-66C5F066EB15}" type="datetime1">
              <a:rPr lang="zh-TW" altLang="en-US" smtClean="0"/>
              <a:pPr/>
              <a:t>2026/10/20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369E457D-EE12-4164-8E32-9DDD40A95892}" type="slidenum">
              <a:rPr lang="zh-TW" altLang="en-US" smtClean="0"/>
              <a:pPr/>
              <a:t>‹#›</a:t>
            </a:fld>
            <a:endParaRPr lang="zh-TW"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7" name="矩形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矩形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矩形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矩形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矩形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直線接點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橢圓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橢圓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投影片編號版面配置區 5"/>
          <p:cNvSpPr>
            <a:spLocks noGrp="1"/>
          </p:cNvSpPr>
          <p:nvPr>
            <p:ph type="sldNum" sz="quarter" idx="12"/>
          </p:nvPr>
        </p:nvSpPr>
        <p:spPr>
          <a:xfrm>
            <a:off x="6915912" y="3009901"/>
            <a:ext cx="457200" cy="441325"/>
          </a:xfrm>
        </p:spPr>
        <p:txBody>
          <a:bodyPr/>
          <a:lstStyle/>
          <a:p>
            <a:fld id="{369E457D-EE12-4164-8E32-9DDD40A95892}" type="slidenum">
              <a:rPr lang="zh-TW" altLang="en-US" smtClean="0"/>
              <a:pPr/>
              <a:t>‹#›</a:t>
            </a:fld>
            <a:endParaRPr lang="zh-TW" altLang="en-US"/>
          </a:p>
        </p:txBody>
      </p:sp>
      <p:sp>
        <p:nvSpPr>
          <p:cNvPr id="3" name="直排文字版面配置區 2"/>
          <p:cNvSpPr>
            <a:spLocks noGrp="1"/>
          </p:cNvSpPr>
          <p:nvPr>
            <p:ph type="body" orient="vert" idx="1"/>
          </p:nvPr>
        </p:nvSpPr>
        <p:spPr>
          <a:xfrm>
            <a:off x="304800" y="304800"/>
            <a:ext cx="6553200" cy="5821366"/>
          </a:xfrm>
        </p:spPr>
        <p:txBody>
          <a:bodyPr vert="eaVert"/>
          <a:lstStyle/>
          <a:p>
            <a:pPr lvl="0" eaLnBrk="1" latinLnBrk="0" hangingPunct="1"/>
            <a:r>
              <a:rPr lang="zh-TW" altLang="en-US"/>
              <a:t>按一下以編輯母片文字樣式</a:t>
            </a:r>
          </a:p>
          <a:p>
            <a:pPr lvl="1" eaLnBrk="1" latinLnBrk="0" hangingPunct="1"/>
            <a:r>
              <a:rPr lang="zh-TW" altLang="en-US"/>
              <a:t>第二層</a:t>
            </a:r>
          </a:p>
          <a:p>
            <a:pPr lvl="2" eaLnBrk="1" latinLnBrk="0" hangingPunct="1"/>
            <a:r>
              <a:rPr lang="zh-TW" altLang="en-US"/>
              <a:t>第三層</a:t>
            </a:r>
          </a:p>
          <a:p>
            <a:pPr lvl="3" eaLnBrk="1" latinLnBrk="0" hangingPunct="1"/>
            <a:r>
              <a:rPr lang="zh-TW" altLang="en-US"/>
              <a:t>第四層</a:t>
            </a:r>
          </a:p>
          <a:p>
            <a:pPr lvl="4" eaLnBrk="1" latinLnBrk="0" hangingPunct="1"/>
            <a:r>
              <a:rPr lang="zh-TW" altLang="en-US"/>
              <a:t>第五層</a:t>
            </a:r>
            <a:endParaRPr kumimoji="0" lang="en-US"/>
          </a:p>
        </p:txBody>
      </p:sp>
      <p:sp>
        <p:nvSpPr>
          <p:cNvPr id="4" name="日期版面配置區 3"/>
          <p:cNvSpPr>
            <a:spLocks noGrp="1"/>
          </p:cNvSpPr>
          <p:nvPr>
            <p:ph type="dt" sz="half" idx="10"/>
          </p:nvPr>
        </p:nvSpPr>
        <p:spPr/>
        <p:txBody>
          <a:bodyPr/>
          <a:lstStyle/>
          <a:p>
            <a:fld id="{97D0AF00-ACBD-4185-8358-D82955DAF0D3}" type="datetime1">
              <a:rPr lang="zh-TW" altLang="en-US" smtClean="0"/>
              <a:pPr/>
              <a:t>2026/10/20</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2" name="直排標題 1"/>
          <p:cNvSpPr>
            <a:spLocks noGrp="1"/>
          </p:cNvSpPr>
          <p:nvPr>
            <p:ph type="title" orient="vert"/>
          </p:nvPr>
        </p:nvSpPr>
        <p:spPr>
          <a:xfrm>
            <a:off x="7391400" y="304801"/>
            <a:ext cx="1447800" cy="5851525"/>
          </a:xfrm>
        </p:spPr>
        <p:txBody>
          <a:bodyPr vert="eaVert"/>
          <a:lstStyle/>
          <a:p>
            <a:r>
              <a:rPr kumimoji="0" lang="zh-TW" altLang="en-US"/>
              <a:t>按一下以編輯母片標題樣式</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7" name="矩形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矩形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矩形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矩形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矩形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日期版面配置區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73E7C058-3467-44CD-AC53-31F205DF3CA0}" type="datetime1">
              <a:rPr lang="zh-TW" altLang="en-US" smtClean="0"/>
              <a:pPr/>
              <a:t>2026/10/20</a:t>
            </a:fld>
            <a:endParaRPr lang="zh-TW" altLang="en-US"/>
          </a:p>
        </p:txBody>
      </p:sp>
      <p:sp>
        <p:nvSpPr>
          <p:cNvPr id="3" name="頁尾版面配置區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zh-TW" altLang="en-US"/>
          </a:p>
        </p:txBody>
      </p:sp>
      <p:sp>
        <p:nvSpPr>
          <p:cNvPr id="8" name="矩形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直線接點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橢圓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橢圓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投影片編號版面配置區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369E457D-EE12-4164-8E32-9DDD40A95892}" type="slidenum">
              <a:rPr lang="zh-TW" altLang="en-US" smtClean="0"/>
              <a:pPr/>
              <a:t>‹#›</a:t>
            </a:fld>
            <a:endParaRPr lang="zh-TW" altLang="en-US"/>
          </a:p>
        </p:txBody>
      </p:sp>
      <p:sp>
        <p:nvSpPr>
          <p:cNvPr id="22" name="標題版面配置區 21"/>
          <p:cNvSpPr>
            <a:spLocks noGrp="1"/>
          </p:cNvSpPr>
          <p:nvPr>
            <p:ph type="title"/>
          </p:nvPr>
        </p:nvSpPr>
        <p:spPr>
          <a:xfrm>
            <a:off x="301752" y="228600"/>
            <a:ext cx="8534400" cy="758952"/>
          </a:xfrm>
          <a:prstGeom prst="rect">
            <a:avLst/>
          </a:prstGeom>
        </p:spPr>
        <p:txBody>
          <a:bodyPr vert="horz" anchor="b">
            <a:normAutofit/>
          </a:bodyPr>
          <a:lstStyle/>
          <a:p>
            <a:r>
              <a:rPr kumimoji="0" lang="zh-TW" altLang="en-US"/>
              <a:t>按一下以編輯母片標題樣式</a:t>
            </a:r>
            <a:endParaRPr kumimoji="0" lang="en-US"/>
          </a:p>
        </p:txBody>
      </p:sp>
      <p:sp>
        <p:nvSpPr>
          <p:cNvPr id="13" name="文字版面配置區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zh-TW" altLang="en-US"/>
              <a:t>按一下以編輯母片文字樣式</a:t>
            </a:r>
          </a:p>
          <a:p>
            <a:pPr lvl="1" eaLnBrk="1" latinLnBrk="0" hangingPunct="1"/>
            <a:r>
              <a:rPr kumimoji="0" lang="zh-TW" altLang="en-US"/>
              <a:t>第二層</a:t>
            </a:r>
          </a:p>
          <a:p>
            <a:pPr lvl="2" eaLnBrk="1" latinLnBrk="0" hangingPunct="1"/>
            <a:r>
              <a:rPr kumimoji="0" lang="zh-TW" altLang="en-US"/>
              <a:t>第三層</a:t>
            </a:r>
          </a:p>
          <a:p>
            <a:pPr lvl="3" eaLnBrk="1" latinLnBrk="0" hangingPunct="1"/>
            <a:r>
              <a:rPr kumimoji="0" lang="zh-TW" altLang="en-US"/>
              <a:t>第四層</a:t>
            </a:r>
          </a:p>
          <a:p>
            <a:pPr lvl="4" eaLnBrk="1" latinLnBrk="0" hangingPunct="1"/>
            <a:r>
              <a:rPr kumimoji="0" lang="zh-TW" altLang="en-US"/>
              <a:t>第五層</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6.xml"/><Relationship Id="rId5" Type="http://schemas.openxmlformats.org/officeDocument/2006/relationships/image" Target="../media/image18.jpeg"/><Relationship Id="rId4" Type="http://schemas.openxmlformats.org/officeDocument/2006/relationships/image" Target="../media/image17.jpe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22.jp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27.jpg"/></Relationships>
</file>

<file path=ppt/slides/_rels/slide64.xml.rels><?xml version="1.0" encoding="UTF-8" standalone="yes"?>
<Relationships xmlns="http://schemas.openxmlformats.org/package/2006/relationships"><Relationship Id="rId3" Type="http://schemas.openxmlformats.org/officeDocument/2006/relationships/image" Target="../media/image28.emf"/><Relationship Id="rId7" Type="http://schemas.openxmlformats.org/officeDocument/2006/relationships/image" Target="../media/image30.emf"/><Relationship Id="rId2" Type="http://schemas.openxmlformats.org/officeDocument/2006/relationships/oleObject" Target="../embeddings/oleObject1.bin"/><Relationship Id="rId1" Type="http://schemas.openxmlformats.org/officeDocument/2006/relationships/slideLayout" Target="../slideLayouts/slideLayout10.xml"/><Relationship Id="rId6" Type="http://schemas.openxmlformats.org/officeDocument/2006/relationships/oleObject" Target="../embeddings/oleObject3.bin"/><Relationship Id="rId5" Type="http://schemas.openxmlformats.org/officeDocument/2006/relationships/image" Target="../media/image29.emf"/><Relationship Id="rId4" Type="http://schemas.openxmlformats.org/officeDocument/2006/relationships/oleObject" Target="../embeddings/oleObject2.bin"/></Relationships>
</file>

<file path=ppt/slides/_rels/slide6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副標題 2"/>
          <p:cNvSpPr>
            <a:spLocks noGrp="1"/>
          </p:cNvSpPr>
          <p:nvPr>
            <p:ph type="subTitle" idx="1"/>
          </p:nvPr>
        </p:nvSpPr>
        <p:spPr>
          <a:xfrm>
            <a:off x="1028700" y="2819400"/>
            <a:ext cx="7086600" cy="681608"/>
          </a:xfrm>
        </p:spPr>
        <p:txBody>
          <a:bodyPr>
            <a:normAutofit/>
          </a:bodyPr>
          <a:lstStyle/>
          <a:p>
            <a:r>
              <a:rPr lang="zh-TW" altLang="en-US" sz="2400" dirty="0">
                <a:latin typeface="+mj-ea"/>
              </a:rPr>
              <a:t>活用</a:t>
            </a:r>
            <a:r>
              <a:rPr lang="en-US" altLang="zh-TW" sz="2400" dirty="0">
                <a:latin typeface="+mj-ea"/>
              </a:rPr>
              <a:t>Django4</a:t>
            </a:r>
            <a:r>
              <a:rPr lang="zh-TW" altLang="en-US" sz="2400" dirty="0">
                <a:latin typeface="+mj-ea"/>
              </a:rPr>
              <a:t>建構動態網站的</a:t>
            </a:r>
            <a:r>
              <a:rPr lang="en-US" altLang="zh-TW" sz="2400" dirty="0">
                <a:latin typeface="+mj-ea"/>
              </a:rPr>
              <a:t>16</a:t>
            </a:r>
            <a:r>
              <a:rPr lang="zh-TW" altLang="en-US" sz="2400" dirty="0">
                <a:latin typeface="+mj-ea"/>
              </a:rPr>
              <a:t>堂課</a:t>
            </a:r>
          </a:p>
        </p:txBody>
      </p:sp>
      <p:sp>
        <p:nvSpPr>
          <p:cNvPr id="2" name="標題 1"/>
          <p:cNvSpPr>
            <a:spLocks noGrp="1"/>
          </p:cNvSpPr>
          <p:nvPr>
            <p:ph type="ctrTitle"/>
          </p:nvPr>
        </p:nvSpPr>
        <p:spPr/>
        <p:txBody>
          <a:bodyPr>
            <a:normAutofit/>
          </a:bodyPr>
          <a:lstStyle/>
          <a:p>
            <a:r>
              <a:rPr lang="zh-TW" altLang="en-US" dirty="0"/>
              <a:t>第四堂</a:t>
            </a:r>
            <a:br>
              <a:rPr lang="en-US" altLang="zh-TW" dirty="0"/>
            </a:br>
            <a:r>
              <a:rPr lang="zh-TW" altLang="zh-TW" dirty="0"/>
              <a:t>深入瞭解</a:t>
            </a:r>
            <a:r>
              <a:rPr lang="en-US" altLang="zh-TW" dirty="0"/>
              <a:t>Django</a:t>
            </a:r>
            <a:r>
              <a:rPr lang="zh-TW" altLang="zh-TW" dirty="0"/>
              <a:t>的</a:t>
            </a:r>
            <a:r>
              <a:rPr lang="en-US" altLang="zh-TW" dirty="0"/>
              <a:t>MVC</a:t>
            </a:r>
            <a:r>
              <a:rPr lang="zh-TW" altLang="zh-TW" dirty="0"/>
              <a:t>架構</a:t>
            </a:r>
            <a:endParaRPr lang="zh-TW" altLang="en-US"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1</a:t>
            </a:fld>
            <a:endParaRPr lang="zh-TW"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學習目標</a:t>
            </a:r>
          </a:p>
        </p:txBody>
      </p:sp>
      <p:sp>
        <p:nvSpPr>
          <p:cNvPr id="3" name="內容版面配置區 2"/>
          <p:cNvSpPr>
            <a:spLocks noGrp="1"/>
          </p:cNvSpPr>
          <p:nvPr>
            <p:ph sz="quarter" idx="1"/>
          </p:nvPr>
        </p:nvSpPr>
        <p:spPr/>
        <p:txBody>
          <a:bodyPr>
            <a:normAutofit/>
          </a:bodyPr>
          <a:lstStyle/>
          <a:p>
            <a:pPr lvl="0"/>
            <a:r>
              <a:rPr lang="en-US" altLang="zh-TW" dirty="0"/>
              <a:t>Django</a:t>
            </a:r>
            <a:r>
              <a:rPr lang="zh-TW" altLang="zh-TW" dirty="0"/>
              <a:t>的</a:t>
            </a:r>
            <a:r>
              <a:rPr lang="en-US" altLang="zh-TW" dirty="0"/>
              <a:t>MVC</a:t>
            </a:r>
            <a:r>
              <a:rPr lang="zh-TW" altLang="zh-TW" dirty="0"/>
              <a:t>架構簡介</a:t>
            </a:r>
            <a:endParaRPr lang="en-US" altLang="zh-TW" dirty="0"/>
          </a:p>
          <a:p>
            <a:pPr lvl="1"/>
            <a:r>
              <a:rPr lang="en-US" altLang="zh-TW" sz="1800" dirty="0"/>
              <a:t>MVC</a:t>
            </a:r>
            <a:r>
              <a:rPr lang="zh-TW" altLang="en-US" sz="1800" dirty="0"/>
              <a:t>架構簡介、</a:t>
            </a:r>
            <a:r>
              <a:rPr lang="en-US" altLang="zh-TW" sz="1800" dirty="0"/>
              <a:t>MTV</a:t>
            </a:r>
            <a:r>
              <a:rPr lang="zh-TW" altLang="en-US" sz="1800" dirty="0"/>
              <a:t>架構</a:t>
            </a:r>
          </a:p>
          <a:p>
            <a:pPr lvl="1"/>
            <a:r>
              <a:rPr lang="en-US" altLang="zh-TW" sz="1800" dirty="0"/>
              <a:t>Django</a:t>
            </a:r>
            <a:r>
              <a:rPr lang="zh-TW" altLang="en-US" sz="1800" dirty="0"/>
              <a:t>網站的構成以及配合</a:t>
            </a:r>
          </a:p>
          <a:p>
            <a:pPr lvl="1"/>
            <a:r>
              <a:rPr lang="zh-TW" altLang="en-US" sz="1800" dirty="0"/>
              <a:t>在</a:t>
            </a:r>
            <a:r>
              <a:rPr lang="en-US" altLang="zh-TW" sz="1800" dirty="0"/>
              <a:t>Django MTV</a:t>
            </a:r>
            <a:r>
              <a:rPr lang="zh-TW" altLang="en-US" sz="1800" dirty="0"/>
              <a:t>架構下的網站開發步驟</a:t>
            </a:r>
            <a:endParaRPr lang="en-US" altLang="zh-TW" sz="1800" dirty="0"/>
          </a:p>
          <a:p>
            <a:pPr lvl="0"/>
            <a:r>
              <a:rPr lang="en-US" altLang="zh-TW" dirty="0"/>
              <a:t>Model</a:t>
            </a:r>
            <a:r>
              <a:rPr lang="zh-TW" altLang="zh-TW" dirty="0"/>
              <a:t>簡介</a:t>
            </a:r>
            <a:endParaRPr lang="en-US" altLang="zh-TW" dirty="0"/>
          </a:p>
          <a:p>
            <a:pPr lvl="1"/>
            <a:r>
              <a:rPr lang="zh-TW" altLang="en-US" sz="1800" dirty="0"/>
              <a:t>在</a:t>
            </a:r>
            <a:r>
              <a:rPr lang="en-US" altLang="zh-TW" sz="1800" dirty="0"/>
              <a:t>models.py</a:t>
            </a:r>
            <a:r>
              <a:rPr lang="zh-TW" altLang="en-US" sz="1800" dirty="0"/>
              <a:t>中建立資料表、</a:t>
            </a:r>
            <a:r>
              <a:rPr lang="en-US" altLang="zh-TW" sz="1800" dirty="0"/>
              <a:t>admin.py</a:t>
            </a:r>
            <a:r>
              <a:rPr lang="zh-TW" altLang="en-US" sz="1800" dirty="0"/>
              <a:t>資料表管理介面</a:t>
            </a:r>
          </a:p>
          <a:p>
            <a:pPr lvl="1"/>
            <a:r>
              <a:rPr lang="zh-TW" altLang="en-US" sz="1800" dirty="0"/>
              <a:t>在</a:t>
            </a:r>
            <a:r>
              <a:rPr lang="en-US" altLang="zh-TW" sz="1800" dirty="0"/>
              <a:t>Python Shell</a:t>
            </a:r>
            <a:r>
              <a:rPr lang="zh-TW" altLang="en-US" sz="1800" dirty="0"/>
              <a:t>中操作資料表、資料的查詢與編輯</a:t>
            </a:r>
            <a:endParaRPr lang="en-US" altLang="zh-TW" sz="1800" dirty="0"/>
          </a:p>
          <a:p>
            <a:r>
              <a:rPr lang="en-US" altLang="zh-TW" dirty="0"/>
              <a:t>View</a:t>
            </a:r>
            <a:r>
              <a:rPr lang="zh-TW" altLang="zh-TW" dirty="0"/>
              <a:t>簡介</a:t>
            </a:r>
          </a:p>
          <a:p>
            <a:r>
              <a:rPr lang="en-US" altLang="zh-TW" dirty="0"/>
              <a:t>Template</a:t>
            </a:r>
            <a:r>
              <a:rPr lang="zh-TW" altLang="zh-TW" dirty="0"/>
              <a:t>簡介</a:t>
            </a:r>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2</a:t>
            </a:fld>
            <a:endParaRPr lang="zh-TW"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MVC</a:t>
            </a:r>
            <a:r>
              <a:rPr lang="zh-TW" altLang="zh-TW" dirty="0"/>
              <a:t>架構簡介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a:t>
            </a:fld>
            <a:endParaRPr lang="zh-TW" altLang="en-US"/>
          </a:p>
        </p:txBody>
      </p:sp>
      <p:sp>
        <p:nvSpPr>
          <p:cNvPr id="4" name="內容版面配置區 3"/>
          <p:cNvSpPr>
            <a:spLocks noGrp="1"/>
          </p:cNvSpPr>
          <p:nvPr>
            <p:ph sz="quarter" idx="1"/>
          </p:nvPr>
        </p:nvSpPr>
        <p:spPr/>
        <p:txBody>
          <a:bodyPr/>
          <a:lstStyle/>
          <a:p>
            <a:r>
              <a:rPr lang="en-US" altLang="zh-TW" dirty="0"/>
              <a:t>MVC</a:t>
            </a:r>
            <a:r>
              <a:rPr lang="zh-TW" altLang="zh-TW" dirty="0"/>
              <a:t>是一種軟體工程設計方法，它把一個要建立的系統分成</a:t>
            </a:r>
            <a:r>
              <a:rPr lang="en-US" altLang="zh-TW" dirty="0"/>
              <a:t>3</a:t>
            </a:r>
            <a:r>
              <a:rPr lang="zh-TW" altLang="zh-TW" dirty="0"/>
              <a:t>個部份，分別是</a:t>
            </a:r>
            <a:r>
              <a:rPr lang="en-US" altLang="zh-TW" dirty="0"/>
              <a:t>Model</a:t>
            </a:r>
            <a:r>
              <a:rPr lang="zh-TW" altLang="zh-TW" dirty="0"/>
              <a:t>資料模組、</a:t>
            </a:r>
            <a:r>
              <a:rPr lang="en-US" altLang="zh-TW" dirty="0"/>
              <a:t>View</a:t>
            </a:r>
            <a:r>
              <a:rPr lang="zh-TW" altLang="zh-TW" dirty="0"/>
              <a:t>視圖模組、以及</a:t>
            </a:r>
            <a:r>
              <a:rPr lang="en-US" altLang="zh-TW" dirty="0"/>
              <a:t>Controller</a:t>
            </a:r>
            <a:r>
              <a:rPr lang="zh-TW" altLang="zh-TW" dirty="0"/>
              <a:t>控制器模組，這</a:t>
            </a:r>
            <a:r>
              <a:rPr lang="en-US" altLang="zh-TW" dirty="0"/>
              <a:t>3</a:t>
            </a:r>
            <a:r>
              <a:rPr lang="zh-TW" altLang="zh-TW" dirty="0"/>
              <a:t>個模組之間相互配合，因應使用者的操作而顯示出使用者想要的結果</a:t>
            </a:r>
            <a:endParaRPr lang="zh-TW" altLang="en-US" dirty="0"/>
          </a:p>
        </p:txBody>
      </p:sp>
      <p:pic>
        <p:nvPicPr>
          <p:cNvPr id="5" name="圖片 4">
            <a:extLst>
              <a:ext uri="{FF2B5EF4-FFF2-40B4-BE49-F238E27FC236}">
                <a16:creationId xmlns:a16="http://schemas.microsoft.com/office/drawing/2014/main" id="{44DD8AF3-A93D-8A5E-4511-B801C64CC687}"/>
              </a:ext>
            </a:extLst>
          </p:cNvPr>
          <p:cNvPicPr>
            <a:picLocks noChangeAspect="1"/>
          </p:cNvPicPr>
          <p:nvPr/>
        </p:nvPicPr>
        <p:blipFill>
          <a:blip r:embed="rId3"/>
          <a:stretch>
            <a:fillRect/>
          </a:stretch>
        </p:blipFill>
        <p:spPr>
          <a:xfrm>
            <a:off x="1619672" y="3429000"/>
            <a:ext cx="6060580" cy="2880320"/>
          </a:xfrm>
          <a:prstGeom prst="rect">
            <a:avLst/>
          </a:prstGeom>
        </p:spPr>
      </p:pic>
    </p:spTree>
    <p:extLst>
      <p:ext uri="{BB962C8B-B14F-4D97-AF65-F5344CB8AC3E}">
        <p14:creationId xmlns:p14="http://schemas.microsoft.com/office/powerpoint/2010/main" val="1204855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MVC</a:t>
            </a:r>
            <a:r>
              <a:rPr lang="zh-TW" altLang="zh-TW" dirty="0"/>
              <a:t>架構簡介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a:t>
            </a:fld>
            <a:endParaRPr lang="zh-TW" altLang="en-US"/>
          </a:p>
        </p:txBody>
      </p:sp>
      <p:sp>
        <p:nvSpPr>
          <p:cNvPr id="4" name="內容版面配置區 3"/>
          <p:cNvSpPr>
            <a:spLocks noGrp="1"/>
          </p:cNvSpPr>
          <p:nvPr>
            <p:ph sz="quarter" idx="1"/>
          </p:nvPr>
        </p:nvSpPr>
        <p:spPr/>
        <p:txBody>
          <a:bodyPr/>
          <a:lstStyle/>
          <a:p>
            <a:r>
              <a:rPr lang="en-US" altLang="zh-TW" dirty="0"/>
              <a:t>MVC</a:t>
            </a:r>
            <a:r>
              <a:rPr lang="zh-TW" altLang="zh-TW" dirty="0"/>
              <a:t>各模組說明</a:t>
            </a:r>
            <a:endParaRPr lang="zh-TW" altLang="en-US" dirty="0"/>
          </a:p>
        </p:txBody>
      </p:sp>
      <p:graphicFrame>
        <p:nvGraphicFramePr>
          <p:cNvPr id="5" name="表格 4"/>
          <p:cNvGraphicFramePr>
            <a:graphicFrameLocks noGrp="1"/>
          </p:cNvGraphicFramePr>
          <p:nvPr>
            <p:extLst>
              <p:ext uri="{D42A27DB-BD31-4B8C-83A1-F6EECF244321}">
                <p14:modId xmlns:p14="http://schemas.microsoft.com/office/powerpoint/2010/main" val="3346045462"/>
              </p:ext>
            </p:extLst>
          </p:nvPr>
        </p:nvGraphicFramePr>
        <p:xfrm>
          <a:off x="141604" y="2060848"/>
          <a:ext cx="8750875" cy="4754314"/>
        </p:xfrm>
        <a:graphic>
          <a:graphicData uri="http://schemas.openxmlformats.org/drawingml/2006/table">
            <a:tbl>
              <a:tblPr firstRow="1" firstCol="1" bandRow="1">
                <a:tableStyleId>{5C22544A-7EE6-4342-B048-85BDC9FD1C3A}</a:tableStyleId>
              </a:tblPr>
              <a:tblGrid>
                <a:gridCol w="2144840">
                  <a:extLst>
                    <a:ext uri="{9D8B030D-6E8A-4147-A177-3AD203B41FA5}">
                      <a16:colId xmlns:a16="http://schemas.microsoft.com/office/drawing/2014/main" val="20000"/>
                    </a:ext>
                  </a:extLst>
                </a:gridCol>
                <a:gridCol w="6606035">
                  <a:extLst>
                    <a:ext uri="{9D8B030D-6E8A-4147-A177-3AD203B41FA5}">
                      <a16:colId xmlns:a16="http://schemas.microsoft.com/office/drawing/2014/main" val="20001"/>
                    </a:ext>
                  </a:extLst>
                </a:gridCol>
              </a:tblGrid>
              <a:tr h="731331">
                <a:tc>
                  <a:txBody>
                    <a:bodyPr/>
                    <a:lstStyle/>
                    <a:p>
                      <a:pPr algn="just">
                        <a:spcBef>
                          <a:spcPts val="600"/>
                        </a:spcBef>
                        <a:spcAft>
                          <a:spcPts val="600"/>
                        </a:spcAft>
                      </a:pPr>
                      <a:r>
                        <a:rPr lang="zh-TW" sz="2400" kern="100" dirty="0">
                          <a:effectLst/>
                        </a:rPr>
                        <a:t>模組種類</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400" kern="100">
                          <a:effectLst/>
                        </a:rPr>
                        <a:t>說明</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1413907">
                <a:tc>
                  <a:txBody>
                    <a:bodyPr/>
                    <a:lstStyle/>
                    <a:p>
                      <a:pPr algn="just">
                        <a:spcBef>
                          <a:spcPts val="600"/>
                        </a:spcBef>
                        <a:spcAft>
                          <a:spcPts val="600"/>
                        </a:spcAft>
                      </a:pPr>
                      <a:r>
                        <a:rPr lang="en-US" sz="2400" kern="100" dirty="0">
                          <a:effectLst/>
                        </a:rPr>
                        <a:t>Model</a:t>
                      </a:r>
                      <a:r>
                        <a:rPr lang="zh-TW" sz="2400" kern="100" dirty="0">
                          <a:effectLst/>
                        </a:rPr>
                        <a:t>資料模組</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400" kern="100" dirty="0">
                          <a:effectLst/>
                        </a:rPr>
                        <a:t>包含了系統中的資料內容，通常都是以資料庫的型式儲存，如果這些內容有變動的話，會通知</a:t>
                      </a:r>
                      <a:r>
                        <a:rPr lang="en-US" sz="2400" kern="100" dirty="0">
                          <a:effectLst/>
                        </a:rPr>
                        <a:t>View</a:t>
                      </a:r>
                      <a:r>
                        <a:rPr lang="zh-TW" sz="2400" kern="100" dirty="0">
                          <a:effectLst/>
                        </a:rPr>
                        <a:t>即時更改顯示的內容，一些</a:t>
                      </a:r>
                      <a:r>
                        <a:rPr lang="zh-TW" sz="2400" kern="100" dirty="0">
                          <a:solidFill>
                            <a:srgbClr val="FF0000"/>
                          </a:solidFill>
                          <a:effectLst/>
                        </a:rPr>
                        <a:t>處理資料的程式邏輯</a:t>
                      </a:r>
                      <a:r>
                        <a:rPr lang="zh-TW" sz="2400" kern="100" dirty="0">
                          <a:effectLst/>
                        </a:rPr>
                        <a:t>也會放在這邊。</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1072619">
                <a:tc>
                  <a:txBody>
                    <a:bodyPr/>
                    <a:lstStyle/>
                    <a:p>
                      <a:pPr algn="just">
                        <a:spcBef>
                          <a:spcPts val="600"/>
                        </a:spcBef>
                        <a:spcAft>
                          <a:spcPts val="600"/>
                        </a:spcAft>
                      </a:pPr>
                      <a:r>
                        <a:rPr lang="en-US" sz="2400" kern="100">
                          <a:effectLst/>
                        </a:rPr>
                        <a:t>View</a:t>
                      </a:r>
                      <a:r>
                        <a:rPr lang="zh-TW" sz="2400" kern="100">
                          <a:effectLst/>
                        </a:rPr>
                        <a:t>視圖模組</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400" kern="100">
                          <a:effectLst/>
                        </a:rPr>
                        <a:t>建立和使用者之間的介面，傳遞使用者的請求給</a:t>
                      </a:r>
                      <a:r>
                        <a:rPr lang="en-US" sz="2400" kern="100">
                          <a:effectLst/>
                        </a:rPr>
                        <a:t>Controller</a:t>
                      </a:r>
                      <a:r>
                        <a:rPr lang="zh-TW" sz="2400" kern="100">
                          <a:effectLst/>
                        </a:rPr>
                        <a:t>，並負責依照</a:t>
                      </a:r>
                      <a:r>
                        <a:rPr lang="en-US" sz="2400" kern="100">
                          <a:effectLst/>
                        </a:rPr>
                        <a:t>Controller</a:t>
                      </a:r>
                      <a:r>
                        <a:rPr lang="zh-TW" sz="2400" kern="100">
                          <a:effectLst/>
                        </a:rPr>
                        <a:t>的要求呈現出來自於</a:t>
                      </a:r>
                      <a:r>
                        <a:rPr lang="en-US" sz="2400" kern="100">
                          <a:effectLst/>
                        </a:rPr>
                        <a:t>Model</a:t>
                      </a:r>
                      <a:r>
                        <a:rPr lang="zh-TW" sz="2400" kern="100">
                          <a:effectLst/>
                        </a:rPr>
                        <a:t>中的資料。</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1462663">
                <a:tc>
                  <a:txBody>
                    <a:bodyPr/>
                    <a:lstStyle/>
                    <a:p>
                      <a:pPr algn="just">
                        <a:spcBef>
                          <a:spcPts val="600"/>
                        </a:spcBef>
                        <a:spcAft>
                          <a:spcPts val="600"/>
                        </a:spcAft>
                      </a:pPr>
                      <a:r>
                        <a:rPr lang="en-US" sz="2400" kern="100">
                          <a:effectLst/>
                        </a:rPr>
                        <a:t>Controller</a:t>
                      </a:r>
                      <a:r>
                        <a:rPr lang="zh-TW" sz="2400" kern="100">
                          <a:effectLst/>
                        </a:rPr>
                        <a:t>控制模組</a:t>
                      </a:r>
                      <a:endParaRPr lang="zh-TW" sz="24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400" kern="100" dirty="0">
                          <a:effectLst/>
                        </a:rPr>
                        <a:t>透過由</a:t>
                      </a:r>
                      <a:r>
                        <a:rPr lang="en-US" sz="2400" kern="100" dirty="0">
                          <a:effectLst/>
                        </a:rPr>
                        <a:t>View</a:t>
                      </a:r>
                      <a:r>
                        <a:rPr lang="zh-TW" sz="2400" kern="100" dirty="0">
                          <a:effectLst/>
                        </a:rPr>
                        <a:t>傳來的使用者請求，派發這些請求，並依這些請求進行處理資料內容以及設定要呈現的資料</a:t>
                      </a:r>
                      <a:endParaRPr lang="zh-TW" sz="2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42389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Django</a:t>
            </a:r>
            <a:r>
              <a:rPr lang="zh-TW" altLang="zh-TW" dirty="0"/>
              <a:t>的</a:t>
            </a:r>
            <a:r>
              <a:rPr lang="en-US" altLang="zh-TW" dirty="0"/>
              <a:t>MTV</a:t>
            </a:r>
            <a:r>
              <a:rPr lang="zh-TW" altLang="zh-TW" dirty="0"/>
              <a:t>架構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a:t>
            </a:fld>
            <a:endParaRPr lang="zh-TW" altLang="en-US"/>
          </a:p>
        </p:txBody>
      </p:sp>
      <p:sp>
        <p:nvSpPr>
          <p:cNvPr id="4" name="內容版面配置區 3"/>
          <p:cNvSpPr>
            <a:spLocks noGrp="1"/>
          </p:cNvSpPr>
          <p:nvPr>
            <p:ph sz="quarter" idx="1"/>
          </p:nvPr>
        </p:nvSpPr>
        <p:spPr/>
        <p:txBody>
          <a:bodyPr/>
          <a:lstStyle/>
          <a:p>
            <a:r>
              <a:rPr lang="en-US" altLang="zh-TW" dirty="0"/>
              <a:t>Model</a:t>
            </a:r>
          </a:p>
          <a:p>
            <a:pPr lvl="1"/>
            <a:r>
              <a:rPr lang="zh-TW" altLang="zh-TW" dirty="0"/>
              <a:t>網站的資料儲存</a:t>
            </a:r>
            <a:r>
              <a:rPr lang="en-US" altLang="zh-TW" dirty="0"/>
              <a:t>model.py</a:t>
            </a:r>
          </a:p>
          <a:p>
            <a:r>
              <a:rPr lang="en-US" altLang="zh-TW" dirty="0"/>
              <a:t>View</a:t>
            </a:r>
          </a:p>
          <a:p>
            <a:pPr lvl="1"/>
            <a:r>
              <a:rPr lang="zh-TW" altLang="zh-TW" dirty="0"/>
              <a:t>負責控制如何處理資料程式邏輯的</a:t>
            </a:r>
            <a:r>
              <a:rPr lang="en-US" altLang="zh-TW" dirty="0"/>
              <a:t>views.py</a:t>
            </a:r>
          </a:p>
          <a:p>
            <a:r>
              <a:rPr lang="en-US" altLang="zh-TW" dirty="0"/>
              <a:t>Template</a:t>
            </a:r>
          </a:p>
          <a:p>
            <a:pPr lvl="1"/>
            <a:r>
              <a:rPr lang="zh-TW" altLang="zh-TW" dirty="0"/>
              <a:t>網站的模板文件群（一般都是放在</a:t>
            </a:r>
            <a:r>
              <a:rPr lang="en-US" altLang="zh-TW" dirty="0"/>
              <a:t>templates</a:t>
            </a:r>
            <a:r>
              <a:rPr lang="zh-TW" altLang="zh-TW" dirty="0"/>
              <a:t>資料夾下的</a:t>
            </a:r>
            <a:r>
              <a:rPr lang="en-US" altLang="zh-TW" dirty="0"/>
              <a:t>html</a:t>
            </a:r>
            <a:r>
              <a:rPr lang="zh-TW" altLang="zh-TW" dirty="0"/>
              <a:t>檔案）</a:t>
            </a:r>
            <a:endParaRPr lang="zh-TW" altLang="en-US" dirty="0"/>
          </a:p>
        </p:txBody>
      </p:sp>
    </p:spTree>
    <p:extLst>
      <p:ext uri="{BB962C8B-B14F-4D97-AF65-F5344CB8AC3E}">
        <p14:creationId xmlns:p14="http://schemas.microsoft.com/office/powerpoint/2010/main" val="523774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Django</a:t>
            </a:r>
            <a:r>
              <a:rPr lang="zh-TW" altLang="zh-TW" dirty="0"/>
              <a:t>的</a:t>
            </a:r>
            <a:r>
              <a:rPr lang="en-US" altLang="zh-TW" dirty="0"/>
              <a:t>MTV</a:t>
            </a:r>
            <a:r>
              <a:rPr lang="zh-TW" altLang="zh-TW" dirty="0"/>
              <a:t>架構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a:t>
            </a:fld>
            <a:endParaRPr lang="zh-TW" altLang="en-US"/>
          </a:p>
        </p:txBody>
      </p:sp>
      <p:sp>
        <p:nvSpPr>
          <p:cNvPr id="4" name="內容版面配置區 3"/>
          <p:cNvSpPr>
            <a:spLocks noGrp="1"/>
          </p:cNvSpPr>
          <p:nvPr>
            <p:ph sz="quarter" idx="1"/>
          </p:nvPr>
        </p:nvSpPr>
        <p:spPr/>
        <p:txBody>
          <a:bodyPr/>
          <a:lstStyle/>
          <a:p>
            <a:endParaRPr lang="zh-TW" altLang="en-US"/>
          </a:p>
        </p:txBody>
      </p:sp>
      <p:pic>
        <p:nvPicPr>
          <p:cNvPr id="5" name="圖片 4"/>
          <p:cNvPicPr/>
          <p:nvPr/>
        </p:nvPicPr>
        <p:blipFill>
          <a:blip r:embed="rId3">
            <a:extLst>
              <a:ext uri="{28A0092B-C50C-407E-A947-70E740481C1C}">
                <a14:useLocalDpi xmlns:a14="http://schemas.microsoft.com/office/drawing/2010/main" val="0"/>
              </a:ext>
            </a:extLst>
          </a:blip>
          <a:stretch>
            <a:fillRect/>
          </a:stretch>
        </p:blipFill>
        <p:spPr>
          <a:xfrm>
            <a:off x="719572" y="1527048"/>
            <a:ext cx="7704856" cy="4998296"/>
          </a:xfrm>
          <a:prstGeom prst="rect">
            <a:avLst/>
          </a:prstGeom>
        </p:spPr>
      </p:pic>
    </p:spTree>
    <p:extLst>
      <p:ext uri="{BB962C8B-B14F-4D97-AF65-F5344CB8AC3E}">
        <p14:creationId xmlns:p14="http://schemas.microsoft.com/office/powerpoint/2010/main" val="396958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407C30-A697-2BE8-4FD1-3A31CFEE4971}"/>
              </a:ext>
            </a:extLst>
          </p:cNvPr>
          <p:cNvSpPr>
            <a:spLocks noGrp="1"/>
          </p:cNvSpPr>
          <p:nvPr>
            <p:ph type="title"/>
          </p:nvPr>
        </p:nvSpPr>
        <p:spPr/>
        <p:txBody>
          <a:bodyPr>
            <a:normAutofit/>
          </a:bodyPr>
          <a:lstStyle/>
          <a:p>
            <a:r>
              <a:rPr lang="en-US" altLang="zh-TW" b="1" dirty="0"/>
              <a:t>MVC </a:t>
            </a:r>
            <a:r>
              <a:rPr lang="zh-TW" altLang="en-US" b="1" dirty="0"/>
              <a:t>與 </a:t>
            </a:r>
            <a:r>
              <a:rPr lang="en-US" altLang="zh-TW" b="1" dirty="0"/>
              <a:t>MTV </a:t>
            </a:r>
            <a:r>
              <a:rPr lang="zh-TW" altLang="en-US" b="1" dirty="0"/>
              <a:t>對應關係</a:t>
            </a:r>
            <a:endParaRPr lang="zh-TW" altLang="en-US" dirty="0"/>
          </a:p>
        </p:txBody>
      </p:sp>
      <p:sp>
        <p:nvSpPr>
          <p:cNvPr id="3" name="投影片編號版面配置區 2">
            <a:extLst>
              <a:ext uri="{FF2B5EF4-FFF2-40B4-BE49-F238E27FC236}">
                <a16:creationId xmlns:a16="http://schemas.microsoft.com/office/drawing/2014/main" id="{98954334-CB09-3C78-547F-24432F8D7F84}"/>
              </a:ext>
            </a:extLst>
          </p:cNvPr>
          <p:cNvSpPr>
            <a:spLocks noGrp="1"/>
          </p:cNvSpPr>
          <p:nvPr>
            <p:ph type="sldNum" sz="quarter" idx="12"/>
          </p:nvPr>
        </p:nvSpPr>
        <p:spPr/>
        <p:txBody>
          <a:bodyPr/>
          <a:lstStyle/>
          <a:p>
            <a:fld id="{369E457D-EE12-4164-8E32-9DDD40A95892}" type="slidenum">
              <a:rPr lang="zh-TW" altLang="en-US" smtClean="0"/>
              <a:pPr/>
              <a:t>7</a:t>
            </a:fld>
            <a:endParaRPr lang="zh-TW" altLang="en-US"/>
          </a:p>
        </p:txBody>
      </p:sp>
      <p:pic>
        <p:nvPicPr>
          <p:cNvPr id="7" name="圖片 6">
            <a:extLst>
              <a:ext uri="{FF2B5EF4-FFF2-40B4-BE49-F238E27FC236}">
                <a16:creationId xmlns:a16="http://schemas.microsoft.com/office/drawing/2014/main" id="{9D20B554-F121-337F-A5FC-A51E394E316B}"/>
              </a:ext>
            </a:extLst>
          </p:cNvPr>
          <p:cNvPicPr>
            <a:picLocks noChangeAspect="1"/>
          </p:cNvPicPr>
          <p:nvPr/>
        </p:nvPicPr>
        <p:blipFill>
          <a:blip r:embed="rId2"/>
          <a:stretch>
            <a:fillRect/>
          </a:stretch>
        </p:blipFill>
        <p:spPr>
          <a:xfrm>
            <a:off x="0" y="2006851"/>
            <a:ext cx="9144000" cy="4302469"/>
          </a:xfrm>
          <a:prstGeom prst="rect">
            <a:avLst/>
          </a:prstGeom>
        </p:spPr>
      </p:pic>
    </p:spTree>
    <p:extLst>
      <p:ext uri="{BB962C8B-B14F-4D97-AF65-F5344CB8AC3E}">
        <p14:creationId xmlns:p14="http://schemas.microsoft.com/office/powerpoint/2010/main" val="605340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55023216-D221-3D01-4A7C-AF05DDB9F06E}"/>
              </a:ext>
            </a:extLst>
          </p:cNvPr>
          <p:cNvSpPr>
            <a:spLocks noGrp="1"/>
          </p:cNvSpPr>
          <p:nvPr>
            <p:ph type="sldNum" sz="quarter" idx="12"/>
          </p:nvPr>
        </p:nvSpPr>
        <p:spPr/>
        <p:txBody>
          <a:bodyPr/>
          <a:lstStyle/>
          <a:p>
            <a:fld id="{369E457D-EE12-4164-8E32-9DDD40A95892}" type="slidenum">
              <a:rPr lang="zh-TW" altLang="en-US" smtClean="0"/>
              <a:pPr/>
              <a:t>8</a:t>
            </a:fld>
            <a:endParaRPr lang="zh-TW" altLang="en-US"/>
          </a:p>
        </p:txBody>
      </p:sp>
      <p:pic>
        <p:nvPicPr>
          <p:cNvPr id="4" name="圖片 3">
            <a:extLst>
              <a:ext uri="{FF2B5EF4-FFF2-40B4-BE49-F238E27FC236}">
                <a16:creationId xmlns:a16="http://schemas.microsoft.com/office/drawing/2014/main" id="{3031C05F-2295-3EEF-A854-051A90043940}"/>
              </a:ext>
            </a:extLst>
          </p:cNvPr>
          <p:cNvPicPr>
            <a:picLocks noChangeAspect="1"/>
          </p:cNvPicPr>
          <p:nvPr/>
        </p:nvPicPr>
        <p:blipFill>
          <a:blip r:embed="rId3"/>
          <a:stretch>
            <a:fillRect/>
          </a:stretch>
        </p:blipFill>
        <p:spPr>
          <a:xfrm>
            <a:off x="0" y="-12576"/>
            <a:ext cx="4589930" cy="6858000"/>
          </a:xfrm>
          <a:prstGeom prst="rect">
            <a:avLst/>
          </a:prstGeom>
        </p:spPr>
      </p:pic>
      <p:sp>
        <p:nvSpPr>
          <p:cNvPr id="5" name="矩形 4">
            <a:extLst>
              <a:ext uri="{FF2B5EF4-FFF2-40B4-BE49-F238E27FC236}">
                <a16:creationId xmlns:a16="http://schemas.microsoft.com/office/drawing/2014/main" id="{CA6F857C-D54F-E4AB-593C-F2400B03C8A3}"/>
              </a:ext>
            </a:extLst>
          </p:cNvPr>
          <p:cNvSpPr/>
          <p:nvPr/>
        </p:nvSpPr>
        <p:spPr>
          <a:xfrm>
            <a:off x="0" y="92076"/>
            <a:ext cx="4572000" cy="276086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7" name="文字方塊 6">
            <a:extLst>
              <a:ext uri="{FF2B5EF4-FFF2-40B4-BE49-F238E27FC236}">
                <a16:creationId xmlns:a16="http://schemas.microsoft.com/office/drawing/2014/main" id="{0E721710-3320-EDBC-3CD5-28961BE28D4E}"/>
              </a:ext>
            </a:extLst>
          </p:cNvPr>
          <p:cNvSpPr txBox="1"/>
          <p:nvPr/>
        </p:nvSpPr>
        <p:spPr>
          <a:xfrm>
            <a:off x="4644008" y="1109007"/>
            <a:ext cx="4580466" cy="369332"/>
          </a:xfrm>
          <a:prstGeom prst="rect">
            <a:avLst/>
          </a:prstGeom>
          <a:noFill/>
        </p:spPr>
        <p:txBody>
          <a:bodyPr wrap="square">
            <a:spAutoFit/>
          </a:bodyPr>
          <a:lstStyle/>
          <a:p>
            <a:r>
              <a:rPr lang="en-US" altLang="zh-TW" dirty="0" err="1"/>
              <a:t>django</a:t>
            </a:r>
            <a:r>
              <a:rPr lang="en-US" altLang="zh-TW" dirty="0"/>
              <a:t>-admin </a:t>
            </a:r>
            <a:r>
              <a:rPr lang="en-US" altLang="zh-TW" dirty="0" err="1"/>
              <a:t>startproject</a:t>
            </a:r>
            <a:r>
              <a:rPr lang="en-US" altLang="zh-TW" dirty="0"/>
              <a:t> </a:t>
            </a:r>
            <a:r>
              <a:rPr lang="en-US" altLang="zh-TW" dirty="0" err="1"/>
              <a:t>mynewsite</a:t>
            </a:r>
            <a:endParaRPr lang="zh-TW" altLang="en-US" dirty="0"/>
          </a:p>
        </p:txBody>
      </p:sp>
      <p:sp>
        <p:nvSpPr>
          <p:cNvPr id="9" name="文字方塊 8">
            <a:extLst>
              <a:ext uri="{FF2B5EF4-FFF2-40B4-BE49-F238E27FC236}">
                <a16:creationId xmlns:a16="http://schemas.microsoft.com/office/drawing/2014/main" id="{5E3B4C17-8CDB-9F26-A054-6D929835F4E6}"/>
              </a:ext>
            </a:extLst>
          </p:cNvPr>
          <p:cNvSpPr txBox="1"/>
          <p:nvPr/>
        </p:nvSpPr>
        <p:spPr>
          <a:xfrm>
            <a:off x="4788024" y="4374345"/>
            <a:ext cx="4622800" cy="369332"/>
          </a:xfrm>
          <a:prstGeom prst="rect">
            <a:avLst/>
          </a:prstGeom>
          <a:noFill/>
        </p:spPr>
        <p:txBody>
          <a:bodyPr wrap="square">
            <a:spAutoFit/>
          </a:bodyPr>
          <a:lstStyle/>
          <a:p>
            <a:r>
              <a:rPr lang="sv-SE" altLang="zh-TW" dirty="0"/>
              <a:t>python manage.py startapp mysite</a:t>
            </a:r>
            <a:endParaRPr lang="zh-TW" altLang="en-US" dirty="0"/>
          </a:p>
        </p:txBody>
      </p:sp>
    </p:spTree>
    <p:extLst>
      <p:ext uri="{BB962C8B-B14F-4D97-AF65-F5344CB8AC3E}">
        <p14:creationId xmlns:p14="http://schemas.microsoft.com/office/powerpoint/2010/main" val="10652002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7561EBB5-4CB0-2270-E9C9-5CA0BF048242}"/>
              </a:ext>
            </a:extLst>
          </p:cNvPr>
          <p:cNvSpPr>
            <a:spLocks noGrp="1"/>
          </p:cNvSpPr>
          <p:nvPr>
            <p:ph type="sldNum" sz="quarter" idx="12"/>
          </p:nvPr>
        </p:nvSpPr>
        <p:spPr/>
        <p:txBody>
          <a:bodyPr/>
          <a:lstStyle/>
          <a:p>
            <a:fld id="{369E457D-EE12-4164-8E32-9DDD40A95892}" type="slidenum">
              <a:rPr lang="zh-TW" altLang="en-US" smtClean="0"/>
              <a:pPr/>
              <a:t>9</a:t>
            </a:fld>
            <a:endParaRPr lang="zh-TW" altLang="en-US"/>
          </a:p>
        </p:txBody>
      </p:sp>
      <p:sp>
        <p:nvSpPr>
          <p:cNvPr id="7" name="文字方塊 6">
            <a:extLst>
              <a:ext uri="{FF2B5EF4-FFF2-40B4-BE49-F238E27FC236}">
                <a16:creationId xmlns:a16="http://schemas.microsoft.com/office/drawing/2014/main" id="{9E6861C8-F1C4-8E05-6CE6-19DCABC6F5A8}"/>
              </a:ext>
            </a:extLst>
          </p:cNvPr>
          <p:cNvSpPr txBox="1"/>
          <p:nvPr/>
        </p:nvSpPr>
        <p:spPr>
          <a:xfrm>
            <a:off x="395536" y="476672"/>
            <a:ext cx="8534400" cy="6370975"/>
          </a:xfrm>
          <a:prstGeom prst="rect">
            <a:avLst/>
          </a:prstGeom>
          <a:noFill/>
        </p:spPr>
        <p:txBody>
          <a:bodyPr wrap="square" rtlCol="0">
            <a:spAutoFit/>
          </a:bodyPr>
          <a:lstStyle/>
          <a:p>
            <a:r>
              <a:rPr lang="zh-TW" altLang="en-US" sz="2400" dirty="0"/>
              <a:t>整個專案的名稱是</a:t>
            </a:r>
            <a:r>
              <a:rPr lang="en-US" altLang="zh-TW" sz="2400" dirty="0" err="1"/>
              <a:t>mynewsite</a:t>
            </a:r>
            <a:r>
              <a:rPr lang="en-US" altLang="zh-TW" sz="2400" dirty="0"/>
              <a:t>,</a:t>
            </a:r>
            <a:r>
              <a:rPr lang="zh-TW" altLang="en-US" sz="2400" dirty="0"/>
              <a:t>和此專案同名的</a:t>
            </a:r>
            <a:r>
              <a:rPr lang="en-US" altLang="zh-TW" sz="2400" dirty="0" err="1"/>
              <a:t>mynewsite</a:t>
            </a:r>
            <a:r>
              <a:rPr lang="en-US" altLang="zh-TW" sz="2400" dirty="0"/>
              <a:t>/</a:t>
            </a:r>
            <a:r>
              <a:rPr lang="en-US" altLang="zh-TW" sz="2400" dirty="0" err="1"/>
              <a:t>mynewsite</a:t>
            </a:r>
            <a:r>
              <a:rPr lang="en-US" altLang="zh-TW" sz="2400" dirty="0"/>
              <a:t> </a:t>
            </a:r>
            <a:r>
              <a:rPr lang="zh-TW" altLang="en-US" sz="2400" dirty="0"/>
              <a:t>資料夾中夾中放置的是屬於</a:t>
            </a:r>
            <a:r>
              <a:rPr lang="zh-TW" altLang="en-US" sz="2400" dirty="0">
                <a:solidFill>
                  <a:srgbClr val="FF0000"/>
                </a:solidFill>
              </a:rPr>
              <a:t>全站的設定</a:t>
            </a:r>
            <a:r>
              <a:rPr lang="en-US" altLang="zh-TW" sz="2400" dirty="0">
                <a:solidFill>
                  <a:srgbClr val="FF0000"/>
                </a:solidFill>
              </a:rPr>
              <a:t>,</a:t>
            </a:r>
            <a:r>
              <a:rPr lang="zh-TW" altLang="en-US" sz="2400" dirty="0"/>
              <a:t>至於</a:t>
            </a:r>
            <a:r>
              <a:rPr lang="en-US" altLang="zh-TW" sz="2400" dirty="0" err="1"/>
              <a:t>mysite</a:t>
            </a:r>
            <a:r>
              <a:rPr lang="en-US" altLang="zh-TW" sz="2400" dirty="0"/>
              <a:t> </a:t>
            </a:r>
            <a:r>
              <a:rPr lang="zh-TW" altLang="en-US" sz="2400" dirty="0"/>
              <a:t>則是此網站中的其中一個</a:t>
            </a:r>
            <a:r>
              <a:rPr lang="en-US" altLang="zh-TW" sz="2400" dirty="0"/>
              <a:t>App,</a:t>
            </a:r>
            <a:r>
              <a:rPr lang="zh-TW" altLang="en-US" sz="2400" dirty="0"/>
              <a:t>只要好好設計</a:t>
            </a:r>
            <a:r>
              <a:rPr lang="en-US" altLang="zh-TW" sz="2400" dirty="0"/>
              <a:t>,</a:t>
            </a:r>
            <a:r>
              <a:rPr lang="zh-TW" altLang="en-US" sz="2400" dirty="0"/>
              <a:t>這是日後</a:t>
            </a:r>
            <a:r>
              <a:rPr lang="zh-TW" altLang="en-US" sz="2400" dirty="0">
                <a:solidFill>
                  <a:srgbClr val="FF0000"/>
                </a:solidFill>
              </a:rPr>
              <a:t>可以重用</a:t>
            </a:r>
            <a:r>
              <a:rPr lang="en-US" altLang="zh-TW" sz="2400" dirty="0">
                <a:solidFill>
                  <a:srgbClr val="FF0000"/>
                </a:solidFill>
              </a:rPr>
              <a:t>(Reuse)</a:t>
            </a:r>
            <a:r>
              <a:rPr lang="zh-TW" altLang="en-US" sz="2400" dirty="0">
                <a:solidFill>
                  <a:srgbClr val="FF0000"/>
                </a:solidFill>
              </a:rPr>
              <a:t>在不同網站中的一個可攜式</a:t>
            </a:r>
            <a:r>
              <a:rPr lang="zh-TW" altLang="en-US" sz="2400" b="1" dirty="0">
                <a:solidFill>
                  <a:srgbClr val="FF0000"/>
                </a:solidFill>
              </a:rPr>
              <a:t>模組</a:t>
            </a:r>
            <a:r>
              <a:rPr lang="zh-TW" altLang="en-US" sz="2400" dirty="0"/>
              <a:t>。</a:t>
            </a:r>
          </a:p>
          <a:p>
            <a:endParaRPr lang="en-US" altLang="zh-TW" sz="2400" dirty="0"/>
          </a:p>
          <a:p>
            <a:r>
              <a:rPr lang="en-US" altLang="zh-TW" sz="2400" dirty="0" err="1">
                <a:solidFill>
                  <a:srgbClr val="FF0000"/>
                </a:solidFill>
              </a:rPr>
              <a:t>settings,py</a:t>
            </a:r>
            <a:r>
              <a:rPr lang="en-US" altLang="zh-TW" sz="2400" dirty="0">
                <a:solidFill>
                  <a:srgbClr val="FF0000"/>
                </a:solidFill>
              </a:rPr>
              <a:t> </a:t>
            </a:r>
            <a:r>
              <a:rPr lang="zh-TW" altLang="en-US" sz="2400" dirty="0">
                <a:solidFill>
                  <a:srgbClr val="FF0000"/>
                </a:solidFill>
              </a:rPr>
              <a:t>以及</a:t>
            </a:r>
            <a:r>
              <a:rPr lang="en-US" altLang="zh-TW" sz="2400" dirty="0">
                <a:solidFill>
                  <a:srgbClr val="FF0000"/>
                </a:solidFill>
              </a:rPr>
              <a:t>urts.py </a:t>
            </a:r>
            <a:r>
              <a:rPr lang="zh-TW" altLang="en-US" sz="2400" dirty="0">
                <a:solidFill>
                  <a:srgbClr val="FF0000"/>
                </a:solidFill>
              </a:rPr>
              <a:t>和 </a:t>
            </a:r>
            <a:r>
              <a:rPr lang="en-US" altLang="zh-TW" sz="2400" dirty="0">
                <a:solidFill>
                  <a:srgbClr val="FF0000"/>
                </a:solidFill>
              </a:rPr>
              <a:t>wsgi.py</a:t>
            </a:r>
            <a:r>
              <a:rPr lang="zh-TW" altLang="en-US" sz="2400" dirty="0">
                <a:solidFill>
                  <a:srgbClr val="FF0000"/>
                </a:solidFill>
              </a:rPr>
              <a:t>均是屬於全站的設定</a:t>
            </a:r>
            <a:r>
              <a:rPr lang="en-US" altLang="zh-TW" sz="2400" dirty="0"/>
              <a:t>,</a:t>
            </a:r>
          </a:p>
          <a:p>
            <a:r>
              <a:rPr lang="zh-TW" altLang="en-US" sz="2400" dirty="0"/>
              <a:t>而</a:t>
            </a:r>
            <a:r>
              <a:rPr lang="en-US" altLang="zh-TW" sz="2400" dirty="0"/>
              <a:t>models.py</a:t>
            </a:r>
            <a:r>
              <a:rPr lang="zh-TW" altLang="en-US" sz="2400" dirty="0"/>
              <a:t>、</a:t>
            </a:r>
            <a:r>
              <a:rPr lang="en-US" altLang="zh-TW" sz="2400" dirty="0"/>
              <a:t>views.py-tests.py</a:t>
            </a:r>
            <a:r>
              <a:rPr lang="zh-TW" altLang="en-US" sz="2400" dirty="0"/>
              <a:t>以及</a:t>
            </a:r>
            <a:r>
              <a:rPr lang="en-US" altLang="zh-TW" sz="2400" dirty="0" err="1"/>
              <a:t>admin,py</a:t>
            </a:r>
            <a:r>
              <a:rPr lang="en-US" altLang="zh-TW" sz="2400" dirty="0"/>
              <a:t> </a:t>
            </a:r>
            <a:r>
              <a:rPr lang="zh-TW" altLang="en-US" sz="2400" dirty="0"/>
              <a:t>則是跟著可重用模組跑的內容。</a:t>
            </a:r>
            <a:endParaRPr lang="en-US" altLang="zh-TW" sz="2400" dirty="0"/>
          </a:p>
          <a:p>
            <a:r>
              <a:rPr lang="zh-TW" altLang="en-US" sz="2400" dirty="0"/>
              <a:t>初學者只要把</a:t>
            </a:r>
            <a:r>
              <a:rPr lang="en-US" altLang="zh-TW" sz="2400" dirty="0" err="1"/>
              <a:t>mysite</a:t>
            </a:r>
            <a:r>
              <a:rPr lang="en-US" altLang="zh-TW" sz="2400" dirty="0"/>
              <a:t> </a:t>
            </a:r>
            <a:r>
              <a:rPr lang="zh-TW" altLang="en-US" sz="2400" dirty="0"/>
              <a:t>資料夾中的內容看做是以</a:t>
            </a:r>
            <a:r>
              <a:rPr lang="en-US" altLang="zh-TW" sz="2400" dirty="0" err="1"/>
              <a:t>models,py</a:t>
            </a:r>
            <a:r>
              <a:rPr lang="zh-TW" altLang="en-US" sz="2400" dirty="0"/>
              <a:t>為中心</a:t>
            </a:r>
            <a:r>
              <a:rPr lang="en-US" altLang="zh-TW" sz="2400" dirty="0"/>
              <a:t>,</a:t>
            </a:r>
            <a:r>
              <a:rPr lang="zh-TW" altLang="en-US" sz="2400" dirty="0"/>
              <a:t>先設計要操作的資料</a:t>
            </a:r>
            <a:r>
              <a:rPr lang="en-US" altLang="zh-TW" sz="2400" dirty="0"/>
              <a:t>,</a:t>
            </a:r>
            <a:r>
              <a:rPr lang="zh-TW" altLang="en-US" sz="2400" dirty="0"/>
              <a:t>然後在</a:t>
            </a:r>
            <a:r>
              <a:rPr lang="en-US" altLang="zh-TW" sz="2400" dirty="0"/>
              <a:t>views.py</a:t>
            </a:r>
            <a:r>
              <a:rPr lang="zh-TW" altLang="en-US" sz="2400" dirty="0"/>
              <a:t>操作</a:t>
            </a:r>
            <a:r>
              <a:rPr lang="en-US" altLang="zh-TW" sz="2400" dirty="0"/>
              <a:t>(</a:t>
            </a:r>
            <a:r>
              <a:rPr lang="zh-TW" altLang="en-US" sz="2400" dirty="0"/>
              <a:t>存取</a:t>
            </a:r>
            <a:r>
              <a:rPr lang="en-US" altLang="zh-TW" sz="2400" dirty="0"/>
              <a:t>)</a:t>
            </a:r>
            <a:r>
              <a:rPr lang="zh-TW" altLang="en-US" sz="2400" dirty="0"/>
              <a:t>這些資料中的方法</a:t>
            </a:r>
            <a:r>
              <a:rPr lang="en-US" altLang="zh-TW" sz="2400" dirty="0"/>
              <a:t>,admin.py </a:t>
            </a:r>
            <a:r>
              <a:rPr lang="zh-TW" altLang="en-US" sz="2400" dirty="0"/>
              <a:t>則是附贈的通用型資料管理介面就可以了。</a:t>
            </a:r>
          </a:p>
          <a:p>
            <a:r>
              <a:rPr lang="zh-TW" altLang="en-US" sz="2400" dirty="0"/>
              <a:t>最後</a:t>
            </a:r>
            <a:r>
              <a:rPr lang="en-US" altLang="zh-TW" sz="2400" dirty="0"/>
              <a:t>,</a:t>
            </a:r>
            <a:r>
              <a:rPr lang="zh-TW" altLang="en-US" sz="2400" dirty="0"/>
              <a:t>由於此專案網站的根目錄是</a:t>
            </a:r>
            <a:r>
              <a:rPr lang="en-US" altLang="zh-TW" sz="2400" dirty="0" err="1"/>
              <a:t>mynewsite</a:t>
            </a:r>
            <a:r>
              <a:rPr lang="en-US" altLang="zh-TW" sz="2400" dirty="0"/>
              <a:t>,</a:t>
            </a:r>
            <a:r>
              <a:rPr lang="zh-TW" altLang="en-US" sz="2400" dirty="0"/>
              <a:t>因此要建立模板和放置靜態檔案的目錄</a:t>
            </a:r>
            <a:r>
              <a:rPr lang="en-US" altLang="zh-TW" sz="2400" dirty="0"/>
              <a:t>,</a:t>
            </a:r>
            <a:r>
              <a:rPr lang="zh-TW" altLang="en-US" sz="2400" dirty="0"/>
              <a:t>只要放在此資料夾底下即可</a:t>
            </a:r>
            <a:r>
              <a:rPr lang="en-US" altLang="zh-TW" sz="2400" dirty="0"/>
              <a:t>,</a:t>
            </a:r>
            <a:r>
              <a:rPr lang="zh-TW" altLang="en-US" sz="2400" dirty="0"/>
              <a:t>但是如果你打算讓模板和靜態檔案也跟著</a:t>
            </a:r>
            <a:r>
              <a:rPr lang="en-US" altLang="zh-TW" sz="2400" dirty="0"/>
              <a:t>App</a:t>
            </a:r>
            <a:r>
              <a:rPr lang="zh-TW" altLang="en-US" sz="2400" dirty="0"/>
              <a:t>跑的話</a:t>
            </a:r>
            <a:r>
              <a:rPr lang="en-US" altLang="zh-TW" sz="2400" dirty="0"/>
              <a:t>,</a:t>
            </a:r>
            <a:r>
              <a:rPr lang="zh-TW" altLang="en-US" sz="2400" dirty="0"/>
              <a:t>也可以放在</a:t>
            </a:r>
            <a:r>
              <a:rPr lang="en-US" altLang="zh-TW" sz="2400" dirty="0"/>
              <a:t>App(</a:t>
            </a:r>
            <a:r>
              <a:rPr lang="zh-TW" altLang="en-US" sz="2400" dirty="0"/>
              <a:t>在此例為</a:t>
            </a:r>
            <a:r>
              <a:rPr lang="en-US" altLang="zh-TW" sz="2400" dirty="0" err="1"/>
              <a:t>mysite</a:t>
            </a:r>
            <a:r>
              <a:rPr lang="en-US" altLang="zh-TW" sz="2400" dirty="0"/>
              <a:t>)</a:t>
            </a:r>
            <a:r>
              <a:rPr lang="zh-TW" altLang="en-US" sz="2400" dirty="0"/>
              <a:t>的資料夾之下</a:t>
            </a:r>
            <a:r>
              <a:rPr lang="en-US" altLang="zh-TW" sz="2400" dirty="0"/>
              <a:t>,</a:t>
            </a:r>
            <a:r>
              <a:rPr lang="zh-TW" altLang="en-US" sz="2400" dirty="0"/>
              <a:t>完整的資料夾結構如下所示</a:t>
            </a:r>
            <a:r>
              <a:rPr lang="en-US" altLang="zh-TW" sz="2400" dirty="0"/>
              <a:t>:</a:t>
            </a:r>
            <a:endParaRPr lang="zh-TW" altLang="en-US" sz="2400" dirty="0"/>
          </a:p>
        </p:txBody>
      </p:sp>
    </p:spTree>
    <p:extLst>
      <p:ext uri="{BB962C8B-B14F-4D97-AF65-F5344CB8AC3E}">
        <p14:creationId xmlns:p14="http://schemas.microsoft.com/office/powerpoint/2010/main" val="3665915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Django MTV</a:t>
            </a:r>
            <a:r>
              <a:rPr lang="zh-TW" altLang="zh-TW" dirty="0"/>
              <a:t>架構下的網站開發步驟</a:t>
            </a: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10</a:t>
            </a:fld>
            <a:endParaRPr lang="zh-TW" altLang="en-US"/>
          </a:p>
        </p:txBody>
      </p:sp>
      <p:sp>
        <p:nvSpPr>
          <p:cNvPr id="4" name="內容版面配置區 3"/>
          <p:cNvSpPr>
            <a:spLocks noGrp="1"/>
          </p:cNvSpPr>
          <p:nvPr>
            <p:ph sz="quarter" idx="1"/>
          </p:nvPr>
        </p:nvSpPr>
        <p:spPr/>
        <p:txBody>
          <a:bodyPr>
            <a:normAutofit/>
          </a:bodyPr>
          <a:lstStyle/>
          <a:p>
            <a:pPr lvl="0"/>
            <a:r>
              <a:rPr lang="zh-TW" altLang="zh-TW" dirty="0"/>
              <a:t>需求分析</a:t>
            </a:r>
            <a:endParaRPr lang="en-US" altLang="zh-TW" dirty="0"/>
          </a:p>
          <a:p>
            <a:pPr lvl="1"/>
            <a:r>
              <a:rPr lang="zh-TW" altLang="zh-TW" dirty="0"/>
              <a:t>具體列出本次網站專案所要達成的目標</a:t>
            </a:r>
            <a:r>
              <a:rPr lang="en-US" altLang="zh-TW" dirty="0"/>
              <a:t>(</a:t>
            </a:r>
            <a:r>
              <a:rPr lang="zh-TW" altLang="zh-TW" dirty="0"/>
              <a:t>包括簡單的畫面草圖與功能方塊圖等</a:t>
            </a:r>
            <a:r>
              <a:rPr lang="en-US" altLang="zh-TW" dirty="0"/>
              <a:t>)</a:t>
            </a:r>
            <a:r>
              <a:rPr lang="zh-TW" altLang="zh-TW" dirty="0"/>
              <a:t>。</a:t>
            </a:r>
          </a:p>
          <a:p>
            <a:pPr lvl="0"/>
            <a:r>
              <a:rPr lang="zh-TW" altLang="zh-TW" dirty="0"/>
              <a:t>資料庫設計</a:t>
            </a:r>
            <a:endParaRPr lang="en-US" altLang="zh-TW" dirty="0"/>
          </a:p>
          <a:p>
            <a:pPr lvl="1"/>
            <a:r>
              <a:rPr lang="zh-TW" altLang="zh-TW" dirty="0"/>
              <a:t>建立資料模組之前，釐清網站中所有會用到的資料內容、格式以及各資料之間的關係。</a:t>
            </a:r>
            <a:endParaRPr lang="en-US" altLang="zh-TW" dirty="0"/>
          </a:p>
          <a:p>
            <a:pPr lvl="0"/>
            <a:r>
              <a:rPr lang="zh-TW" altLang="zh-TW" dirty="0"/>
              <a:t>瞭解網站的每一個頁面，並設計網頁模板</a:t>
            </a:r>
            <a:r>
              <a:rPr lang="en-US" altLang="zh-TW" dirty="0"/>
              <a:t>(.html)</a:t>
            </a:r>
            <a:r>
              <a:rPr lang="zh-TW" altLang="zh-TW" dirty="0"/>
              <a:t>檔案。</a:t>
            </a:r>
          </a:p>
          <a:p>
            <a:pPr lvl="0"/>
            <a:r>
              <a:rPr lang="zh-TW" altLang="zh-TW" dirty="0"/>
              <a:t>使用</a:t>
            </a:r>
            <a:r>
              <a:rPr lang="en-US" altLang="zh-TW" dirty="0" err="1"/>
              <a:t>virtualenv</a:t>
            </a:r>
            <a:r>
              <a:rPr lang="zh-TW" altLang="zh-TW" dirty="0"/>
              <a:t>建立並啟用虛擬環境</a:t>
            </a:r>
            <a:r>
              <a:rPr lang="zh-TW" altLang="en-US" dirty="0"/>
              <a:t>（或</a:t>
            </a:r>
            <a:r>
              <a:rPr lang="en-US" altLang="zh-TW" dirty="0" err="1"/>
              <a:t>conda</a:t>
            </a:r>
            <a:r>
              <a:rPr lang="en-US" altLang="zh-TW" dirty="0"/>
              <a:t> env</a:t>
            </a:r>
            <a:r>
              <a:rPr lang="zh-TW" altLang="en-US" dirty="0"/>
              <a:t>）</a:t>
            </a:r>
            <a:endParaRPr lang="zh-TW" altLang="zh-TW" dirty="0"/>
          </a:p>
          <a:p>
            <a:r>
              <a:rPr lang="zh-TW" altLang="zh-TW" dirty="0"/>
              <a:t>使用</a:t>
            </a:r>
            <a:r>
              <a:rPr lang="en-US" altLang="zh-TW" dirty="0"/>
              <a:t>pip install </a:t>
            </a:r>
            <a:r>
              <a:rPr lang="zh-TW" altLang="zh-TW" dirty="0"/>
              <a:t>安裝</a:t>
            </a:r>
            <a:r>
              <a:rPr lang="en-US" altLang="zh-TW" dirty="0" err="1"/>
              <a:t>django</a:t>
            </a:r>
            <a:endParaRPr lang="zh-TW" altLang="zh-TW" dirty="0"/>
          </a:p>
          <a:p>
            <a:endParaRPr lang="zh-TW" altLang="en-US" dirty="0"/>
          </a:p>
        </p:txBody>
      </p:sp>
    </p:spTree>
    <p:extLst>
      <p:ext uri="{BB962C8B-B14F-4D97-AF65-F5344CB8AC3E}">
        <p14:creationId xmlns:p14="http://schemas.microsoft.com/office/powerpoint/2010/main" val="609214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71398" y="404664"/>
            <a:ext cx="8534400" cy="758952"/>
          </a:xfrm>
        </p:spPr>
        <p:txBody>
          <a:bodyPr>
            <a:normAutofit fontScale="90000"/>
          </a:bodyPr>
          <a:lstStyle/>
          <a:p>
            <a:br>
              <a:rPr lang="en-US" altLang="zh-TW"/>
            </a:br>
            <a:r>
              <a:rPr lang="zh-TW" altLang="zh-TW"/>
              <a:t>產生</a:t>
            </a:r>
            <a:r>
              <a:rPr lang="zh-TW" altLang="zh-TW" dirty="0"/>
              <a:t>第一個</a:t>
            </a:r>
            <a:r>
              <a:rPr lang="zh-TW" altLang="zh-TW"/>
              <a:t>網站框架</a:t>
            </a:r>
            <a:br>
              <a:rPr lang="en-US" altLang="zh-TW"/>
            </a:br>
            <a:r>
              <a:rPr lang="zh-TW" altLang="en-US"/>
              <a:t>請在</a:t>
            </a:r>
            <a:r>
              <a:rPr lang="en-US" altLang="zh-TW"/>
              <a:t>Anaconda Prompt</a:t>
            </a:r>
            <a:r>
              <a:rPr lang="zh-TW" altLang="en-US"/>
              <a:t>之下執行以下指令</a:t>
            </a:r>
            <a:endParaRPr lang="zh-TW" altLang="en-US" dirty="0"/>
          </a:p>
        </p:txBody>
      </p:sp>
      <p:sp>
        <p:nvSpPr>
          <p:cNvPr id="3" name="內容版面配置區 2"/>
          <p:cNvSpPr>
            <a:spLocks noGrp="1"/>
          </p:cNvSpPr>
          <p:nvPr>
            <p:ph sz="quarter" idx="1"/>
          </p:nvPr>
        </p:nvSpPr>
        <p:spPr>
          <a:xfrm>
            <a:off x="301752" y="1467697"/>
            <a:ext cx="8534400" cy="4913631"/>
          </a:xfrm>
        </p:spPr>
        <p:txBody>
          <a:bodyPr>
            <a:noAutofit/>
          </a:bodyPr>
          <a:lstStyle/>
          <a:p>
            <a:pPr marL="0" indent="0">
              <a:buNone/>
            </a:pPr>
            <a:r>
              <a:rPr lang="en-US" altLang="zh-TW" sz="2400" dirty="0" err="1"/>
              <a:t>conda</a:t>
            </a:r>
            <a:r>
              <a:rPr lang="en-US" altLang="zh-TW" sz="2400" dirty="0"/>
              <a:t> create --name dj4ch02 </a:t>
            </a:r>
            <a:r>
              <a:rPr lang="en-US" altLang="zh-TW" sz="2400" dirty="0">
                <a:solidFill>
                  <a:srgbClr val="FF0000"/>
                </a:solidFill>
              </a:rPr>
              <a:t>python</a:t>
            </a:r>
            <a:r>
              <a:rPr lang="en-US" altLang="zh-TW" sz="2400" dirty="0"/>
              <a:t>=3.10</a:t>
            </a:r>
          </a:p>
          <a:p>
            <a:pPr marL="0" indent="0">
              <a:buNone/>
            </a:pPr>
            <a:r>
              <a:rPr lang="en-US" altLang="zh-TW" sz="2400" dirty="0" err="1"/>
              <a:t>conda</a:t>
            </a:r>
            <a:r>
              <a:rPr lang="en-US" altLang="zh-TW" sz="2400" dirty="0"/>
              <a:t> activate dj4ch02</a:t>
            </a:r>
          </a:p>
          <a:p>
            <a:pPr marL="0" indent="0">
              <a:buNone/>
            </a:pPr>
            <a:r>
              <a:rPr lang="en-US" altLang="zh-TW" sz="2400" dirty="0"/>
              <a:t>md dj4ch02 </a:t>
            </a:r>
          </a:p>
          <a:p>
            <a:pPr marL="0" indent="0">
              <a:buNone/>
            </a:pPr>
            <a:r>
              <a:rPr lang="en-US" altLang="zh-TW" sz="2400" dirty="0"/>
              <a:t>cd dj4ch02</a:t>
            </a:r>
          </a:p>
          <a:p>
            <a:pPr marL="0" indent="0">
              <a:buNone/>
            </a:pPr>
            <a:r>
              <a:rPr lang="en-US" altLang="zh-TW" sz="2400" dirty="0"/>
              <a:t>pip install </a:t>
            </a:r>
            <a:r>
              <a:rPr lang="en-US" altLang="zh-TW" sz="2400" dirty="0" err="1"/>
              <a:t>django</a:t>
            </a:r>
            <a:endParaRPr lang="en-US" altLang="zh-TW" sz="2400" dirty="0"/>
          </a:p>
          <a:p>
            <a:pPr marL="0" indent="0">
              <a:buNone/>
            </a:pPr>
            <a:r>
              <a:rPr lang="en-US" altLang="zh-TW" sz="2400" dirty="0" err="1"/>
              <a:t>django</a:t>
            </a:r>
            <a:r>
              <a:rPr lang="en-US" altLang="zh-TW" sz="2400" dirty="0"/>
              <a:t>-admin </a:t>
            </a:r>
            <a:r>
              <a:rPr lang="en-US" altLang="zh-TW" sz="2400" dirty="0" err="1"/>
              <a:t>startproject</a:t>
            </a:r>
            <a:r>
              <a:rPr lang="en-US" altLang="zh-TW" sz="2400" dirty="0"/>
              <a:t> </a:t>
            </a:r>
            <a:r>
              <a:rPr lang="en-US" altLang="zh-TW" sz="2400" dirty="0" err="1"/>
              <a:t>mblog</a:t>
            </a:r>
            <a:endParaRPr lang="en-US" altLang="zh-TW" sz="2400" dirty="0"/>
          </a:p>
          <a:p>
            <a:pPr marL="0" indent="0">
              <a:buNone/>
            </a:pPr>
            <a:r>
              <a:rPr lang="en-US" altLang="zh-TW" sz="2400" dirty="0"/>
              <a:t>cd </a:t>
            </a:r>
            <a:r>
              <a:rPr lang="en-US" altLang="zh-TW" sz="2400" dirty="0" err="1"/>
              <a:t>mblog</a:t>
            </a:r>
            <a:endParaRPr lang="en-US" altLang="zh-TW" sz="2400" dirty="0"/>
          </a:p>
          <a:p>
            <a:pPr marL="0" indent="0">
              <a:buNone/>
            </a:pPr>
            <a:r>
              <a:rPr lang="en-US" altLang="zh-TW" sz="2400" dirty="0"/>
              <a:t>python manage.py </a:t>
            </a:r>
            <a:r>
              <a:rPr lang="en-US" altLang="zh-TW" sz="2400" dirty="0" err="1"/>
              <a:t>startapp</a:t>
            </a:r>
            <a:r>
              <a:rPr lang="en-US" altLang="zh-TW" sz="2400" dirty="0"/>
              <a:t> </a:t>
            </a:r>
            <a:r>
              <a:rPr lang="en-US" altLang="zh-TW" sz="2400" dirty="0" err="1"/>
              <a:t>mysite</a:t>
            </a:r>
            <a:endParaRPr lang="en-US" altLang="zh-TW" sz="2400" dirty="0"/>
          </a:p>
          <a:p>
            <a:pPr marL="0" indent="0">
              <a:buNone/>
            </a:pPr>
            <a:endParaRPr lang="en-US" altLang="zh-TW" sz="2400" dirty="0"/>
          </a:p>
          <a:p>
            <a:pPr marL="0" indent="0">
              <a:buNone/>
            </a:pPr>
            <a:r>
              <a:rPr lang="en-US" altLang="zh-TW" sz="2400" dirty="0"/>
              <a:t>**</a:t>
            </a:r>
            <a:r>
              <a:rPr lang="zh-TW" altLang="en-US" sz="2400" dirty="0"/>
              <a:t>如果是在</a:t>
            </a:r>
            <a:r>
              <a:rPr lang="en-US" altLang="zh-TW" sz="2400" dirty="0"/>
              <a:t>Linux</a:t>
            </a:r>
            <a:r>
              <a:rPr lang="zh-TW" altLang="en-US" sz="2400" dirty="0"/>
              <a:t>或</a:t>
            </a:r>
            <a:r>
              <a:rPr lang="en-US" altLang="zh-TW" sz="2400" dirty="0"/>
              <a:t>Mac</a:t>
            </a:r>
            <a:r>
              <a:rPr lang="zh-TW" altLang="en-US" sz="2400" dirty="0"/>
              <a:t>的終端機，</a:t>
            </a:r>
            <a:r>
              <a:rPr lang="en-US" altLang="zh-TW" sz="2400" dirty="0"/>
              <a:t>md</a:t>
            </a:r>
            <a:r>
              <a:rPr lang="zh-TW" altLang="en-US" sz="2400" dirty="0"/>
              <a:t>指令請改為</a:t>
            </a:r>
            <a:r>
              <a:rPr lang="en-US" altLang="zh-TW" sz="2400" dirty="0" err="1"/>
              <a:t>mkdir</a:t>
            </a:r>
            <a:endParaRPr lang="zh-TW" altLang="en-US" sz="2400" dirty="0"/>
          </a:p>
        </p:txBody>
      </p:sp>
      <p:sp>
        <p:nvSpPr>
          <p:cNvPr id="4" name="投影片編號版面配置區 3"/>
          <p:cNvSpPr>
            <a:spLocks noGrp="1"/>
          </p:cNvSpPr>
          <p:nvPr>
            <p:ph type="sldNum" sz="quarter" idx="12"/>
          </p:nvPr>
        </p:nvSpPr>
        <p:spPr/>
        <p:txBody>
          <a:bodyPr/>
          <a:lstStyle/>
          <a:p>
            <a:fld id="{369E457D-EE12-4164-8E32-9DDD40A95892}" type="slidenum">
              <a:rPr lang="zh-TW" altLang="en-US" smtClean="0"/>
              <a:pPr/>
              <a:t>11</a:t>
            </a:fld>
            <a:endParaRPr lang="zh-TW" altLang="en-US"/>
          </a:p>
        </p:txBody>
      </p:sp>
    </p:spTree>
    <p:extLst>
      <p:ext uri="{BB962C8B-B14F-4D97-AF65-F5344CB8AC3E}">
        <p14:creationId xmlns:p14="http://schemas.microsoft.com/office/powerpoint/2010/main" val="2503850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Django MTV</a:t>
            </a:r>
            <a:r>
              <a:rPr lang="zh-TW" altLang="zh-TW" dirty="0"/>
              <a:t>架構下的網站開發步驟</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12</a:t>
            </a:fld>
            <a:endParaRPr lang="zh-TW" altLang="en-US"/>
          </a:p>
        </p:txBody>
      </p:sp>
      <p:sp>
        <p:nvSpPr>
          <p:cNvPr id="4" name="內容版面配置區 3"/>
          <p:cNvSpPr>
            <a:spLocks noGrp="1"/>
          </p:cNvSpPr>
          <p:nvPr>
            <p:ph sz="quarter" idx="1"/>
          </p:nvPr>
        </p:nvSpPr>
        <p:spPr>
          <a:xfrm>
            <a:off x="301752" y="1527048"/>
            <a:ext cx="8534400" cy="4998296"/>
          </a:xfrm>
        </p:spPr>
        <p:txBody>
          <a:bodyPr>
            <a:normAutofit/>
          </a:bodyPr>
          <a:lstStyle/>
          <a:p>
            <a:pPr lvl="0"/>
            <a:r>
              <a:rPr lang="zh-TW" altLang="zh-TW" dirty="0"/>
              <a:t>使用</a:t>
            </a:r>
            <a:r>
              <a:rPr lang="en-US" altLang="zh-TW" dirty="0" err="1"/>
              <a:t>django</a:t>
            </a:r>
            <a:r>
              <a:rPr lang="en-US" altLang="zh-TW" dirty="0"/>
              <a:t>-admin </a:t>
            </a:r>
            <a:r>
              <a:rPr lang="en-US" altLang="zh-TW" dirty="0" err="1"/>
              <a:t>startproject</a:t>
            </a:r>
            <a:r>
              <a:rPr lang="zh-TW" altLang="zh-TW" dirty="0"/>
              <a:t>產生專案</a:t>
            </a:r>
          </a:p>
          <a:p>
            <a:pPr lvl="0"/>
            <a:r>
              <a:rPr lang="zh-TW" altLang="zh-TW" dirty="0"/>
              <a:t>使用</a:t>
            </a:r>
            <a:r>
              <a:rPr lang="en-US" altLang="zh-TW" dirty="0"/>
              <a:t>python manage.py </a:t>
            </a:r>
            <a:r>
              <a:rPr lang="en-US" altLang="zh-TW" dirty="0" err="1"/>
              <a:t>startapp</a:t>
            </a:r>
            <a:r>
              <a:rPr lang="zh-TW" altLang="zh-TW" dirty="0"/>
              <a:t>建立</a:t>
            </a:r>
            <a:r>
              <a:rPr lang="en-US" altLang="zh-TW" dirty="0"/>
              <a:t>app</a:t>
            </a:r>
            <a:endParaRPr lang="zh-TW" altLang="zh-TW" dirty="0"/>
          </a:p>
          <a:p>
            <a:pPr lvl="0"/>
            <a:r>
              <a:rPr lang="zh-TW" altLang="zh-TW" dirty="0"/>
              <a:t>在</a:t>
            </a:r>
            <a:r>
              <a:rPr lang="en-US" altLang="zh-TW" dirty="0"/>
              <a:t>app</a:t>
            </a:r>
            <a:r>
              <a:rPr lang="zh-TW" altLang="zh-TW" dirty="0"/>
              <a:t>內建立</a:t>
            </a:r>
            <a:r>
              <a:rPr lang="en-US" altLang="zh-TW" dirty="0"/>
              <a:t>templates</a:t>
            </a:r>
            <a:r>
              <a:rPr lang="zh-TW" altLang="zh-TW" dirty="0"/>
              <a:t>資料夾，並把所有屬於該</a:t>
            </a:r>
            <a:r>
              <a:rPr lang="en-US" altLang="zh-TW" dirty="0"/>
              <a:t>app</a:t>
            </a:r>
            <a:r>
              <a:rPr lang="zh-TW" altLang="zh-TW" dirty="0"/>
              <a:t>的網頁模板</a:t>
            </a:r>
            <a:r>
              <a:rPr lang="en-US" altLang="zh-TW" dirty="0"/>
              <a:t>(.html)</a:t>
            </a:r>
            <a:r>
              <a:rPr lang="zh-TW" altLang="zh-TW" dirty="0"/>
              <a:t>檔案都放在此資料夾中</a:t>
            </a:r>
          </a:p>
          <a:p>
            <a:pPr lvl="0"/>
            <a:r>
              <a:rPr lang="zh-TW" altLang="zh-TW" dirty="0"/>
              <a:t>在</a:t>
            </a:r>
            <a:r>
              <a:rPr lang="en-US" altLang="zh-TW" dirty="0"/>
              <a:t>app</a:t>
            </a:r>
            <a:r>
              <a:rPr lang="zh-TW" altLang="zh-TW" dirty="0"/>
              <a:t>內建立</a:t>
            </a:r>
            <a:r>
              <a:rPr lang="en-US" altLang="zh-TW" dirty="0"/>
              <a:t>static</a:t>
            </a:r>
            <a:r>
              <a:rPr lang="zh-TW" altLang="zh-TW" dirty="0"/>
              <a:t>資料夾，並把所有屬於該</a:t>
            </a:r>
            <a:r>
              <a:rPr lang="en-US" altLang="zh-TW" dirty="0"/>
              <a:t>app</a:t>
            </a:r>
            <a:r>
              <a:rPr lang="zh-TW" altLang="zh-TW" dirty="0"/>
              <a:t>的靜態檔案（影像檔案、</a:t>
            </a:r>
            <a:r>
              <a:rPr lang="en-US" altLang="zh-TW" dirty="0"/>
              <a:t>.</a:t>
            </a:r>
            <a:r>
              <a:rPr lang="en-US" altLang="zh-TW" dirty="0" err="1"/>
              <a:t>css</a:t>
            </a:r>
            <a:r>
              <a:rPr lang="zh-TW" altLang="zh-TW" dirty="0"/>
              <a:t>檔案以及</a:t>
            </a:r>
            <a:r>
              <a:rPr lang="en-US" altLang="zh-TW" dirty="0"/>
              <a:t>.</a:t>
            </a:r>
            <a:r>
              <a:rPr lang="en-US" altLang="zh-TW" dirty="0" err="1"/>
              <a:t>js</a:t>
            </a:r>
            <a:r>
              <a:rPr lang="zh-TW" altLang="zh-TW" dirty="0"/>
              <a:t>等等）都放在此資料夾中</a:t>
            </a:r>
          </a:p>
          <a:p>
            <a:pPr lvl="0"/>
            <a:r>
              <a:rPr lang="zh-TW" altLang="zh-TW" dirty="0"/>
              <a:t>修改</a:t>
            </a:r>
            <a:r>
              <a:rPr lang="en-US" altLang="zh-TW" dirty="0"/>
              <a:t>settings.py</a:t>
            </a:r>
            <a:r>
              <a:rPr lang="zh-TW" altLang="zh-TW" dirty="0"/>
              <a:t>，把相關的資料夾設定都加入，也把產生的</a:t>
            </a:r>
            <a:r>
              <a:rPr lang="en-US" altLang="zh-TW" dirty="0"/>
              <a:t>app</a:t>
            </a:r>
            <a:r>
              <a:rPr lang="zh-TW" altLang="zh-TW" dirty="0"/>
              <a:t>名稱加入</a:t>
            </a:r>
            <a:r>
              <a:rPr lang="en-US" altLang="zh-TW" dirty="0"/>
              <a:t>INSTALLED_APPS</a:t>
            </a:r>
            <a:r>
              <a:rPr lang="zh-TW" altLang="zh-TW" dirty="0"/>
              <a:t>串列中</a:t>
            </a:r>
          </a:p>
          <a:p>
            <a:pPr lvl="0"/>
            <a:r>
              <a:rPr lang="zh-TW" altLang="zh-TW" dirty="0"/>
              <a:t>編輯</a:t>
            </a:r>
            <a:r>
              <a:rPr lang="en-US" altLang="zh-TW" dirty="0"/>
              <a:t>models.py</a:t>
            </a:r>
            <a:r>
              <a:rPr lang="zh-TW" altLang="zh-TW" dirty="0"/>
              <a:t>，建立資料庫表格</a:t>
            </a:r>
          </a:p>
          <a:p>
            <a:endParaRPr lang="zh-TW" altLang="en-US" dirty="0"/>
          </a:p>
        </p:txBody>
      </p:sp>
    </p:spTree>
    <p:extLst>
      <p:ext uri="{BB962C8B-B14F-4D97-AF65-F5344CB8AC3E}">
        <p14:creationId xmlns:p14="http://schemas.microsoft.com/office/powerpoint/2010/main" val="2079537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Django MTV</a:t>
            </a:r>
            <a:r>
              <a:rPr lang="zh-TW" altLang="zh-TW" dirty="0"/>
              <a:t>架構下的網站開發步驟</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13</a:t>
            </a:fld>
            <a:endParaRPr lang="zh-TW" altLang="en-US"/>
          </a:p>
        </p:txBody>
      </p:sp>
      <p:sp>
        <p:nvSpPr>
          <p:cNvPr id="4" name="內容版面配置區 3"/>
          <p:cNvSpPr>
            <a:spLocks noGrp="1"/>
          </p:cNvSpPr>
          <p:nvPr>
            <p:ph sz="quarter" idx="1"/>
          </p:nvPr>
        </p:nvSpPr>
        <p:spPr>
          <a:xfrm>
            <a:off x="301752" y="1527048"/>
            <a:ext cx="8534400" cy="5070304"/>
          </a:xfrm>
        </p:spPr>
        <p:txBody>
          <a:bodyPr>
            <a:normAutofit lnSpcReduction="10000"/>
          </a:bodyPr>
          <a:lstStyle/>
          <a:p>
            <a:pPr lvl="0"/>
            <a:r>
              <a:rPr lang="zh-TW" altLang="zh-TW" dirty="0"/>
              <a:t>編輯</a:t>
            </a:r>
            <a:r>
              <a:rPr lang="en-US" altLang="zh-TW" dirty="0"/>
              <a:t>views.py</a:t>
            </a:r>
            <a:r>
              <a:rPr lang="zh-TW" altLang="zh-TW" dirty="0"/>
              <a:t>，先</a:t>
            </a:r>
            <a:r>
              <a:rPr lang="en-US" altLang="zh-TW" dirty="0"/>
              <a:t>import</a:t>
            </a:r>
            <a:r>
              <a:rPr lang="zh-TW" altLang="zh-TW" dirty="0"/>
              <a:t>在</a:t>
            </a:r>
            <a:r>
              <a:rPr lang="en-US" altLang="zh-TW" dirty="0"/>
              <a:t>models.py</a:t>
            </a:r>
            <a:r>
              <a:rPr lang="zh-TW" altLang="zh-TW" dirty="0"/>
              <a:t>中建立的資料模型</a:t>
            </a:r>
          </a:p>
          <a:p>
            <a:pPr lvl="0"/>
            <a:r>
              <a:rPr lang="zh-TW" altLang="zh-TW" dirty="0"/>
              <a:t>編輯</a:t>
            </a:r>
            <a:r>
              <a:rPr lang="en-US" altLang="zh-TW" dirty="0"/>
              <a:t>admin.py</a:t>
            </a:r>
            <a:r>
              <a:rPr lang="zh-TW" altLang="zh-TW" dirty="0"/>
              <a:t>，把</a:t>
            </a:r>
            <a:r>
              <a:rPr lang="en-US" altLang="zh-TW" dirty="0"/>
              <a:t>models.py</a:t>
            </a:r>
            <a:r>
              <a:rPr lang="zh-TW" altLang="zh-TW" dirty="0"/>
              <a:t>中定義的資料模型加入，並使用</a:t>
            </a:r>
            <a:r>
              <a:rPr lang="en-US" altLang="zh-TW" dirty="0" err="1"/>
              <a:t>admin.site.register</a:t>
            </a:r>
            <a:r>
              <a:rPr lang="zh-TW" altLang="zh-TW" dirty="0"/>
              <a:t>註冊新增的類別，讓</a:t>
            </a:r>
            <a:r>
              <a:rPr lang="en-US" altLang="zh-TW" dirty="0"/>
              <a:t>admin</a:t>
            </a:r>
            <a:r>
              <a:rPr lang="zh-TW" altLang="zh-TW" dirty="0"/>
              <a:t>介面可以開始處理資料庫內容</a:t>
            </a:r>
          </a:p>
          <a:p>
            <a:pPr lvl="0"/>
            <a:r>
              <a:rPr lang="zh-TW" altLang="zh-TW" dirty="0"/>
              <a:t>編輯</a:t>
            </a:r>
            <a:r>
              <a:rPr lang="en-US" altLang="zh-TW" dirty="0"/>
              <a:t>views.py</a:t>
            </a:r>
            <a:r>
              <a:rPr lang="zh-TW" altLang="zh-TW" dirty="0"/>
              <a:t>，設計處理資料的相關模組，輸入和輸出均透過</a:t>
            </a:r>
            <a:r>
              <a:rPr lang="en-US" altLang="zh-TW" dirty="0"/>
              <a:t>templates</a:t>
            </a:r>
            <a:r>
              <a:rPr lang="zh-TW" altLang="zh-TW" dirty="0"/>
              <a:t>相關的模組操作取得來自於網頁的輸入資料，以及顯示和</a:t>
            </a:r>
            <a:r>
              <a:rPr lang="en-US" altLang="zh-TW" dirty="0"/>
              <a:t>.html</a:t>
            </a:r>
            <a:r>
              <a:rPr lang="zh-TW" altLang="zh-TW" dirty="0"/>
              <a:t>檔案中渲染後的網頁內容</a:t>
            </a:r>
          </a:p>
          <a:p>
            <a:pPr lvl="0"/>
            <a:r>
              <a:rPr lang="zh-TW" altLang="zh-TW" dirty="0"/>
              <a:t>編輯</a:t>
            </a:r>
            <a:r>
              <a:rPr lang="en-US" altLang="zh-TW" dirty="0"/>
              <a:t>urls.py</a:t>
            </a:r>
            <a:r>
              <a:rPr lang="zh-TW" altLang="zh-TW" dirty="0"/>
              <a:t>，先</a:t>
            </a:r>
            <a:r>
              <a:rPr lang="en-US" altLang="zh-TW" dirty="0"/>
              <a:t>import</a:t>
            </a:r>
            <a:r>
              <a:rPr lang="zh-TW" altLang="zh-TW" dirty="0"/>
              <a:t>在</a:t>
            </a:r>
            <a:r>
              <a:rPr lang="en-US" altLang="zh-TW" dirty="0"/>
              <a:t>views.py</a:t>
            </a:r>
            <a:r>
              <a:rPr lang="zh-TW" altLang="zh-TW" dirty="0"/>
              <a:t>中定義的模組</a:t>
            </a:r>
          </a:p>
          <a:p>
            <a:pPr lvl="0"/>
            <a:r>
              <a:rPr lang="zh-TW" altLang="zh-TW" dirty="0"/>
              <a:t>編輯</a:t>
            </a:r>
            <a:r>
              <a:rPr lang="en-US" altLang="zh-TW" dirty="0"/>
              <a:t>urls.py</a:t>
            </a:r>
            <a:r>
              <a:rPr lang="zh-TW" altLang="zh-TW" dirty="0"/>
              <a:t>，建立網址和</a:t>
            </a:r>
            <a:r>
              <a:rPr lang="en-US" altLang="zh-TW" dirty="0"/>
              <a:t>views.py</a:t>
            </a:r>
            <a:r>
              <a:rPr lang="zh-TW" altLang="zh-TW" dirty="0"/>
              <a:t>中定義的模組之對應關係</a:t>
            </a:r>
          </a:p>
        </p:txBody>
      </p:sp>
    </p:spTree>
    <p:extLst>
      <p:ext uri="{BB962C8B-B14F-4D97-AF65-F5344CB8AC3E}">
        <p14:creationId xmlns:p14="http://schemas.microsoft.com/office/powerpoint/2010/main" val="1785799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Django MTV</a:t>
            </a:r>
            <a:r>
              <a:rPr lang="zh-TW" altLang="zh-TW" dirty="0"/>
              <a:t>架構下的網站開發步驟</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14</a:t>
            </a:fld>
            <a:endParaRPr lang="zh-TW" altLang="en-US"/>
          </a:p>
        </p:txBody>
      </p:sp>
      <p:sp>
        <p:nvSpPr>
          <p:cNvPr id="4" name="內容版面配置區 3"/>
          <p:cNvSpPr>
            <a:spLocks noGrp="1"/>
          </p:cNvSpPr>
          <p:nvPr>
            <p:ph sz="quarter" idx="1"/>
          </p:nvPr>
        </p:nvSpPr>
        <p:spPr/>
        <p:txBody>
          <a:bodyPr/>
          <a:lstStyle/>
          <a:p>
            <a:pPr lvl="0"/>
            <a:r>
              <a:rPr lang="zh-TW" altLang="zh-TW" dirty="0"/>
              <a:t>執行</a:t>
            </a:r>
            <a:r>
              <a:rPr lang="en-US" altLang="zh-TW" dirty="0"/>
              <a:t>python manage.py </a:t>
            </a:r>
            <a:r>
              <a:rPr lang="en-US" altLang="zh-TW" dirty="0" err="1"/>
              <a:t>makemigrations</a:t>
            </a:r>
            <a:endParaRPr lang="zh-TW" altLang="zh-TW" dirty="0"/>
          </a:p>
          <a:p>
            <a:pPr lvl="0"/>
            <a:r>
              <a:rPr lang="zh-TW" altLang="zh-TW" dirty="0"/>
              <a:t>執行</a:t>
            </a:r>
            <a:r>
              <a:rPr lang="en-US" altLang="zh-TW" dirty="0"/>
              <a:t>python manage.py migrate</a:t>
            </a:r>
            <a:endParaRPr lang="zh-TW" altLang="zh-TW" dirty="0"/>
          </a:p>
          <a:p>
            <a:r>
              <a:rPr lang="zh-TW" altLang="zh-TW" dirty="0"/>
              <a:t>執行</a:t>
            </a:r>
            <a:r>
              <a:rPr lang="en-US" altLang="zh-TW" dirty="0"/>
              <a:t>python manage.py </a:t>
            </a:r>
            <a:r>
              <a:rPr lang="en-US" altLang="zh-TW" dirty="0" err="1"/>
              <a:t>runserver</a:t>
            </a:r>
            <a:r>
              <a:rPr lang="zh-TW" altLang="zh-TW" dirty="0"/>
              <a:t>測試網站</a:t>
            </a:r>
            <a:endParaRPr lang="zh-TW" altLang="en-US" dirty="0"/>
          </a:p>
        </p:txBody>
      </p:sp>
    </p:spTree>
    <p:extLst>
      <p:ext uri="{BB962C8B-B14F-4D97-AF65-F5344CB8AC3E}">
        <p14:creationId xmlns:p14="http://schemas.microsoft.com/office/powerpoint/2010/main" val="8118181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Model</a:t>
            </a:r>
            <a:r>
              <a:rPr lang="zh-TW" altLang="zh-TW" dirty="0"/>
              <a:t>簡介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15</a:t>
            </a:fld>
            <a:endParaRPr lang="zh-TW" altLang="en-US"/>
          </a:p>
        </p:txBody>
      </p:sp>
      <p:sp>
        <p:nvSpPr>
          <p:cNvPr id="4" name="內容版面配置區 3"/>
          <p:cNvSpPr>
            <a:spLocks noGrp="1"/>
          </p:cNvSpPr>
          <p:nvPr>
            <p:ph sz="quarter" idx="1"/>
          </p:nvPr>
        </p:nvSpPr>
        <p:spPr/>
        <p:txBody>
          <a:bodyPr/>
          <a:lstStyle/>
          <a:p>
            <a:r>
              <a:rPr lang="en-US" altLang="zh-TW" dirty="0"/>
              <a:t>Model</a:t>
            </a:r>
            <a:r>
              <a:rPr lang="zh-TW" altLang="zh-TW" dirty="0"/>
              <a:t>是</a:t>
            </a:r>
            <a:r>
              <a:rPr lang="en-US" altLang="zh-TW" dirty="0"/>
              <a:t>Django</a:t>
            </a:r>
            <a:r>
              <a:rPr lang="zh-TW" altLang="zh-TW" dirty="0"/>
              <a:t>表示資料的模式，以</a:t>
            </a:r>
            <a:r>
              <a:rPr lang="en-US" altLang="zh-TW" dirty="0"/>
              <a:t>Python</a:t>
            </a:r>
            <a:r>
              <a:rPr lang="zh-TW" altLang="zh-TW" dirty="0"/>
              <a:t>的類別為基礎在</a:t>
            </a:r>
            <a:r>
              <a:rPr lang="en-US" altLang="zh-TW" dirty="0"/>
              <a:t>models.py</a:t>
            </a:r>
            <a:r>
              <a:rPr lang="zh-TW" altLang="zh-TW" dirty="0"/>
              <a:t>中設定資料項目與資料格式，基本上每一個類別就對應到一個資料庫中的資料表。</a:t>
            </a:r>
            <a:endParaRPr lang="en-US" altLang="zh-TW" dirty="0"/>
          </a:p>
          <a:p>
            <a:r>
              <a:rPr lang="zh-TW" altLang="zh-TW" dirty="0"/>
              <a:t>定義每一個資料項目的時候，除了資料項目名稱之外，也要定義此項目的格式以及這張表格和其它表格相互之間的關係（資料關聯）</a:t>
            </a:r>
            <a:endParaRPr lang="zh-TW" altLang="en-US" dirty="0"/>
          </a:p>
        </p:txBody>
      </p:sp>
    </p:spTree>
    <p:extLst>
      <p:ext uri="{BB962C8B-B14F-4D97-AF65-F5344CB8AC3E}">
        <p14:creationId xmlns:p14="http://schemas.microsoft.com/office/powerpoint/2010/main" val="15661677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models.py</a:t>
            </a:r>
            <a:r>
              <a:rPr lang="zh-TW" altLang="zh-TW" dirty="0"/>
              <a:t>中建立資料表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16</a:t>
            </a:fld>
            <a:endParaRPr lang="zh-TW" altLang="en-US"/>
          </a:p>
        </p:txBody>
      </p:sp>
      <p:sp>
        <p:nvSpPr>
          <p:cNvPr id="4" name="內容版面配置區 3"/>
          <p:cNvSpPr>
            <a:spLocks noGrp="1"/>
          </p:cNvSpPr>
          <p:nvPr>
            <p:ph sz="quarter" idx="1"/>
          </p:nvPr>
        </p:nvSpPr>
        <p:spPr/>
        <p:txBody>
          <a:bodyPr>
            <a:normAutofit/>
          </a:bodyPr>
          <a:lstStyle/>
          <a:p>
            <a:r>
              <a:rPr lang="zh-TW" altLang="zh-TW" dirty="0"/>
              <a:t>以在第</a:t>
            </a:r>
            <a:r>
              <a:rPr lang="en-US" altLang="zh-TW" dirty="0"/>
              <a:t>2</a:t>
            </a:r>
            <a:r>
              <a:rPr lang="zh-TW" altLang="zh-TW" dirty="0"/>
              <a:t>堂課中介紹的簡易部落格網站之</a:t>
            </a:r>
            <a:r>
              <a:rPr lang="en-US" altLang="zh-TW" dirty="0"/>
              <a:t>models.py</a:t>
            </a:r>
            <a:r>
              <a:rPr lang="zh-TW" altLang="zh-TW" dirty="0"/>
              <a:t>為例，程式碼如下：</a:t>
            </a:r>
            <a:endParaRPr lang="en-US" altLang="zh-TW" dirty="0"/>
          </a:p>
          <a:p>
            <a:pPr marL="274320" lvl="1" indent="0">
              <a:buNone/>
            </a:pPr>
            <a:r>
              <a:rPr lang="en-US" altLang="zh-TW" sz="2000" dirty="0"/>
              <a:t>class Post(</a:t>
            </a:r>
            <a:r>
              <a:rPr lang="en-US" altLang="zh-TW" sz="2000" dirty="0" err="1"/>
              <a:t>models.Model</a:t>
            </a:r>
            <a:r>
              <a:rPr lang="en-US" altLang="zh-TW" sz="2000" dirty="0"/>
              <a:t>):</a:t>
            </a:r>
            <a:endParaRPr lang="zh-TW" altLang="zh-TW" sz="3600" dirty="0"/>
          </a:p>
          <a:p>
            <a:pPr marL="274320" lvl="1" indent="0">
              <a:buNone/>
            </a:pPr>
            <a:r>
              <a:rPr lang="en-US" altLang="zh-TW" sz="2000" dirty="0"/>
              <a:t>    title = </a:t>
            </a:r>
            <a:r>
              <a:rPr lang="en-US" altLang="zh-TW" sz="2000" dirty="0" err="1"/>
              <a:t>models.</a:t>
            </a:r>
            <a:r>
              <a:rPr lang="en-US" altLang="zh-TW" sz="2000" dirty="0" err="1">
                <a:solidFill>
                  <a:srgbClr val="FF0000"/>
                </a:solidFill>
              </a:rPr>
              <a:t>CharField</a:t>
            </a:r>
            <a:r>
              <a:rPr lang="en-US" altLang="zh-TW" sz="2000" dirty="0"/>
              <a:t>(</a:t>
            </a:r>
            <a:r>
              <a:rPr lang="en-US" altLang="zh-TW" sz="2000" dirty="0" err="1"/>
              <a:t>max_length</a:t>
            </a:r>
            <a:r>
              <a:rPr lang="en-US" altLang="zh-TW" sz="2000" dirty="0"/>
              <a:t>=200)</a:t>
            </a:r>
            <a:endParaRPr lang="zh-TW" altLang="zh-TW" sz="3600" dirty="0"/>
          </a:p>
          <a:p>
            <a:pPr marL="274320" lvl="1" indent="0">
              <a:buNone/>
            </a:pPr>
            <a:r>
              <a:rPr lang="en-US" altLang="zh-TW" sz="2000" dirty="0"/>
              <a:t>    slug = </a:t>
            </a:r>
            <a:r>
              <a:rPr lang="en-US" altLang="zh-TW" sz="2000" dirty="0" err="1"/>
              <a:t>models.</a:t>
            </a:r>
            <a:r>
              <a:rPr lang="en-US" altLang="zh-TW" sz="2000" dirty="0" err="1">
                <a:solidFill>
                  <a:srgbClr val="FF0000"/>
                </a:solidFill>
              </a:rPr>
              <a:t>CharField</a:t>
            </a:r>
            <a:r>
              <a:rPr lang="en-US" altLang="zh-TW" sz="2000" dirty="0"/>
              <a:t>(</a:t>
            </a:r>
            <a:r>
              <a:rPr lang="en-US" altLang="zh-TW" sz="2000" dirty="0" err="1"/>
              <a:t>max_length</a:t>
            </a:r>
            <a:r>
              <a:rPr lang="en-US" altLang="zh-TW" sz="2000" dirty="0"/>
              <a:t>=200)</a:t>
            </a:r>
            <a:endParaRPr lang="zh-TW" altLang="zh-TW" sz="3600" dirty="0"/>
          </a:p>
          <a:p>
            <a:pPr marL="274320" lvl="1" indent="0">
              <a:buNone/>
            </a:pPr>
            <a:r>
              <a:rPr lang="en-US" altLang="zh-TW" sz="2000" dirty="0"/>
              <a:t>    body = </a:t>
            </a:r>
            <a:r>
              <a:rPr lang="en-US" altLang="zh-TW" sz="2000" dirty="0" err="1"/>
              <a:t>models.</a:t>
            </a:r>
            <a:r>
              <a:rPr lang="en-US" altLang="zh-TW" sz="2000" dirty="0" err="1">
                <a:solidFill>
                  <a:srgbClr val="FF0000"/>
                </a:solidFill>
              </a:rPr>
              <a:t>TextField</a:t>
            </a:r>
            <a:r>
              <a:rPr lang="en-US" altLang="zh-TW" sz="2000" dirty="0"/>
              <a:t>()	</a:t>
            </a:r>
            <a:endParaRPr lang="zh-TW" altLang="zh-TW" sz="3600" dirty="0"/>
          </a:p>
          <a:p>
            <a:pPr marL="274320" lvl="1" indent="0">
              <a:buNone/>
            </a:pPr>
            <a:r>
              <a:rPr lang="en-US" altLang="zh-TW" sz="2000" dirty="0"/>
              <a:t>    </a:t>
            </a:r>
            <a:r>
              <a:rPr lang="en-US" altLang="zh-TW" sz="2000" dirty="0" err="1"/>
              <a:t>pub_date</a:t>
            </a:r>
            <a:r>
              <a:rPr lang="en-US" altLang="zh-TW" sz="2000" dirty="0"/>
              <a:t> = </a:t>
            </a:r>
            <a:r>
              <a:rPr lang="en-US" altLang="zh-TW" sz="2000" dirty="0" err="1"/>
              <a:t>models.</a:t>
            </a:r>
            <a:r>
              <a:rPr lang="en-US" altLang="zh-TW" sz="2000" dirty="0" err="1">
                <a:solidFill>
                  <a:srgbClr val="FF0000"/>
                </a:solidFill>
              </a:rPr>
              <a:t>DateTimeField</a:t>
            </a:r>
            <a:r>
              <a:rPr lang="en-US" altLang="zh-TW" sz="2000" dirty="0"/>
              <a:t>(</a:t>
            </a:r>
            <a:r>
              <a:rPr lang="en-US" altLang="zh-TW" sz="2000" dirty="0" err="1"/>
              <a:t>auto_now_add</a:t>
            </a:r>
            <a:r>
              <a:rPr lang="en-US" altLang="zh-TW" sz="2000" dirty="0"/>
              <a:t>=True)</a:t>
            </a:r>
            <a:endParaRPr lang="zh-TW" altLang="zh-TW" sz="3600" dirty="0"/>
          </a:p>
          <a:p>
            <a:pPr lvl="1"/>
            <a:endParaRPr lang="zh-TW" altLang="en-US" dirty="0"/>
          </a:p>
        </p:txBody>
      </p:sp>
    </p:spTree>
    <p:extLst>
      <p:ext uri="{BB962C8B-B14F-4D97-AF65-F5344CB8AC3E}">
        <p14:creationId xmlns:p14="http://schemas.microsoft.com/office/powerpoint/2010/main" val="15513728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models.Model</a:t>
            </a:r>
            <a:r>
              <a:rPr lang="zh-TW" altLang="zh-TW" dirty="0"/>
              <a:t>中常用的資料欄位格式</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17</a:t>
            </a:fld>
            <a:endParaRPr lang="zh-TW" altLang="en-US"/>
          </a:p>
        </p:txBody>
      </p:sp>
      <p:graphicFrame>
        <p:nvGraphicFramePr>
          <p:cNvPr id="6" name="內容版面配置區 5"/>
          <p:cNvGraphicFramePr>
            <a:graphicFrameLocks noGrp="1"/>
          </p:cNvGraphicFramePr>
          <p:nvPr>
            <p:ph sz="quarter" idx="1"/>
            <p:extLst>
              <p:ext uri="{D42A27DB-BD31-4B8C-83A1-F6EECF244321}">
                <p14:modId xmlns:p14="http://schemas.microsoft.com/office/powerpoint/2010/main" val="2338972055"/>
              </p:ext>
            </p:extLst>
          </p:nvPr>
        </p:nvGraphicFramePr>
        <p:xfrm>
          <a:off x="283840" y="1423586"/>
          <a:ext cx="8604447" cy="5361601"/>
        </p:xfrm>
        <a:graphic>
          <a:graphicData uri="http://schemas.openxmlformats.org/drawingml/2006/table">
            <a:tbl>
              <a:tblPr firstRow="1" firstCol="1" bandRow="1">
                <a:tableStyleId>{5C22544A-7EE6-4342-B048-85BDC9FD1C3A}</a:tableStyleId>
              </a:tblPr>
              <a:tblGrid>
                <a:gridCol w="1942289">
                  <a:extLst>
                    <a:ext uri="{9D8B030D-6E8A-4147-A177-3AD203B41FA5}">
                      <a16:colId xmlns:a16="http://schemas.microsoft.com/office/drawing/2014/main" val="20000"/>
                    </a:ext>
                  </a:extLst>
                </a:gridCol>
                <a:gridCol w="3829360">
                  <a:extLst>
                    <a:ext uri="{9D8B030D-6E8A-4147-A177-3AD203B41FA5}">
                      <a16:colId xmlns:a16="http://schemas.microsoft.com/office/drawing/2014/main" val="20001"/>
                    </a:ext>
                  </a:extLst>
                </a:gridCol>
                <a:gridCol w="2832798">
                  <a:extLst>
                    <a:ext uri="{9D8B030D-6E8A-4147-A177-3AD203B41FA5}">
                      <a16:colId xmlns:a16="http://schemas.microsoft.com/office/drawing/2014/main" val="20002"/>
                    </a:ext>
                  </a:extLst>
                </a:gridCol>
              </a:tblGrid>
              <a:tr h="295909">
                <a:tc>
                  <a:txBody>
                    <a:bodyPr/>
                    <a:lstStyle/>
                    <a:p>
                      <a:pPr algn="just">
                        <a:spcBef>
                          <a:spcPts val="600"/>
                        </a:spcBef>
                        <a:spcAft>
                          <a:spcPts val="600"/>
                        </a:spcAft>
                      </a:pPr>
                      <a:r>
                        <a:rPr lang="zh-TW" sz="1600" kern="100">
                          <a:effectLst/>
                        </a:rPr>
                        <a:t>欄位格式</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dirty="0">
                          <a:effectLst/>
                        </a:rPr>
                        <a:t>可以使用的參數</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a:effectLst/>
                        </a:rPr>
                        <a:t>說明</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91817">
                <a:tc>
                  <a:txBody>
                    <a:bodyPr/>
                    <a:lstStyle/>
                    <a:p>
                      <a:pPr algn="just">
                        <a:spcBef>
                          <a:spcPts val="600"/>
                        </a:spcBef>
                        <a:spcAft>
                          <a:spcPts val="600"/>
                        </a:spcAft>
                      </a:pPr>
                      <a:r>
                        <a:rPr lang="en-US" sz="1600" kern="100" dirty="0" err="1">
                          <a:effectLst/>
                        </a:rPr>
                        <a:t>BigIntegerField</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kern="100">
                          <a:effectLst/>
                        </a:rPr>
                        <a:t> </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kern="100">
                          <a:effectLst/>
                        </a:rPr>
                        <a:t>64</a:t>
                      </a:r>
                      <a:r>
                        <a:rPr lang="zh-TW" sz="1600" kern="100">
                          <a:effectLst/>
                        </a:rPr>
                        <a:t>位元之大整數</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591817">
                <a:tc>
                  <a:txBody>
                    <a:bodyPr/>
                    <a:lstStyle/>
                    <a:p>
                      <a:pPr algn="just">
                        <a:spcBef>
                          <a:spcPts val="600"/>
                        </a:spcBef>
                        <a:spcAft>
                          <a:spcPts val="600"/>
                        </a:spcAft>
                      </a:pPr>
                      <a:r>
                        <a:rPr lang="en-US" sz="1600" kern="100" dirty="0" err="1">
                          <a:effectLst/>
                        </a:rPr>
                        <a:t>BooleanField</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kern="100">
                          <a:effectLst/>
                        </a:rPr>
                        <a:t> </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a:effectLst/>
                        </a:rPr>
                        <a:t>布林值，只有</a:t>
                      </a:r>
                      <a:r>
                        <a:rPr lang="en-US" sz="1600" kern="100">
                          <a:effectLst/>
                        </a:rPr>
                        <a:t>True/False</a:t>
                      </a:r>
                      <a:r>
                        <a:rPr lang="zh-TW" sz="1600" kern="100">
                          <a:effectLst/>
                        </a:rPr>
                        <a:t>兩種</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887726">
                <a:tc>
                  <a:txBody>
                    <a:bodyPr/>
                    <a:lstStyle/>
                    <a:p>
                      <a:pPr algn="just">
                        <a:spcBef>
                          <a:spcPts val="600"/>
                        </a:spcBef>
                        <a:spcAft>
                          <a:spcPts val="600"/>
                        </a:spcAft>
                      </a:pPr>
                      <a:r>
                        <a:rPr lang="en-US" sz="1600" kern="100">
                          <a:effectLst/>
                        </a:rPr>
                        <a:t>CharField</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kern="100">
                          <a:effectLst/>
                        </a:rPr>
                        <a:t>max_length</a:t>
                      </a:r>
                      <a:r>
                        <a:rPr lang="zh-TW" sz="1600" kern="100">
                          <a:effectLst/>
                        </a:rPr>
                        <a:t>：指定可接受之字串長度</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a:effectLst/>
                        </a:rPr>
                        <a:t>用來儲存較短資料的字串，通常使用於單行的文字資料</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1339864">
                <a:tc>
                  <a:txBody>
                    <a:bodyPr/>
                    <a:lstStyle/>
                    <a:p>
                      <a:pPr algn="just">
                        <a:spcBef>
                          <a:spcPts val="600"/>
                        </a:spcBef>
                        <a:spcAft>
                          <a:spcPts val="600"/>
                        </a:spcAft>
                      </a:pPr>
                      <a:r>
                        <a:rPr lang="en-US" sz="1600" kern="100">
                          <a:effectLst/>
                        </a:rPr>
                        <a:t>DateField</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kern="100">
                          <a:effectLst/>
                        </a:rPr>
                        <a:t>auto_now</a:t>
                      </a:r>
                      <a:r>
                        <a:rPr lang="zh-TW" sz="1600" kern="100">
                          <a:effectLst/>
                        </a:rPr>
                        <a:t>：每次物件被儲存時即自動加入目前日期</a:t>
                      </a:r>
                    </a:p>
                    <a:p>
                      <a:pPr algn="just">
                        <a:spcBef>
                          <a:spcPts val="600"/>
                        </a:spcBef>
                        <a:spcAft>
                          <a:spcPts val="600"/>
                        </a:spcAft>
                      </a:pPr>
                      <a:r>
                        <a:rPr lang="en-US" sz="1600" kern="100">
                          <a:effectLst/>
                        </a:rPr>
                        <a:t>auto_now_add</a:t>
                      </a:r>
                      <a:r>
                        <a:rPr lang="zh-TW" sz="1600" kern="100">
                          <a:effectLst/>
                        </a:rPr>
                        <a:t>：只有在物件被建立時才加入目前日期</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dirty="0">
                          <a:effectLst/>
                        </a:rPr>
                        <a:t>日期格式，可用於</a:t>
                      </a:r>
                      <a:r>
                        <a:rPr lang="en-US" sz="1600" kern="100" dirty="0" err="1">
                          <a:effectLst/>
                        </a:rPr>
                        <a:t>datetime.date</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591817">
                <a:tc>
                  <a:txBody>
                    <a:bodyPr/>
                    <a:lstStyle/>
                    <a:p>
                      <a:pPr algn="just">
                        <a:spcBef>
                          <a:spcPts val="600"/>
                        </a:spcBef>
                        <a:spcAft>
                          <a:spcPts val="600"/>
                        </a:spcAft>
                      </a:pPr>
                      <a:r>
                        <a:rPr lang="en-US" sz="1600" kern="100">
                          <a:effectLst/>
                        </a:rPr>
                        <a:t>DateTimeField</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a:effectLst/>
                        </a:rPr>
                        <a:t>同上</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a:effectLst/>
                        </a:rPr>
                        <a:t>日期時間格式，對應到</a:t>
                      </a:r>
                      <a:r>
                        <a:rPr lang="en-US" sz="1600" kern="100">
                          <a:effectLst/>
                        </a:rPr>
                        <a:t>datetime.datetime</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1062651">
                <a:tc>
                  <a:txBody>
                    <a:bodyPr/>
                    <a:lstStyle/>
                    <a:p>
                      <a:pPr algn="just">
                        <a:spcBef>
                          <a:spcPts val="600"/>
                        </a:spcBef>
                        <a:spcAft>
                          <a:spcPts val="600"/>
                        </a:spcAft>
                      </a:pPr>
                      <a:r>
                        <a:rPr lang="en-US" sz="1600" kern="100">
                          <a:effectLst/>
                        </a:rPr>
                        <a:t>DecimalField</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600" kern="100">
                          <a:effectLst/>
                        </a:rPr>
                        <a:t>max_digits</a:t>
                      </a:r>
                      <a:r>
                        <a:rPr lang="zh-TW" sz="1600" kern="100">
                          <a:effectLst/>
                        </a:rPr>
                        <a:t>：可接受的最大位數</a:t>
                      </a:r>
                    </a:p>
                    <a:p>
                      <a:pPr algn="just">
                        <a:spcBef>
                          <a:spcPts val="600"/>
                        </a:spcBef>
                        <a:spcAft>
                          <a:spcPts val="600"/>
                        </a:spcAft>
                      </a:pPr>
                      <a:r>
                        <a:rPr lang="en-US" sz="1600" kern="100">
                          <a:effectLst/>
                        </a:rPr>
                        <a:t>decimal_places</a:t>
                      </a:r>
                      <a:r>
                        <a:rPr lang="zh-TW" sz="1600" kern="100">
                          <a:effectLst/>
                        </a:rPr>
                        <a:t>：在所有的位數中，小數佔幾個位數</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dirty="0">
                          <a:effectLst/>
                        </a:rPr>
                        <a:t>定點小數數值資料，適用於</a:t>
                      </a:r>
                      <a:r>
                        <a:rPr lang="en-US" sz="1600" kern="100" dirty="0">
                          <a:effectLst/>
                        </a:rPr>
                        <a:t>Python</a:t>
                      </a:r>
                      <a:r>
                        <a:rPr lang="zh-TW" sz="1600" kern="100" dirty="0">
                          <a:effectLst/>
                        </a:rPr>
                        <a:t>的</a:t>
                      </a:r>
                      <a:r>
                        <a:rPr lang="en-US" sz="1600" kern="100" dirty="0">
                          <a:effectLst/>
                        </a:rPr>
                        <a:t>Decimal</a:t>
                      </a:r>
                      <a:r>
                        <a:rPr lang="zh-TW" sz="1600" kern="100" dirty="0">
                          <a:effectLst/>
                        </a:rPr>
                        <a:t>模組之實例</a:t>
                      </a:r>
                      <a:endParaRPr lang="zh-TW" sz="16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42460971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err="1"/>
              <a:t>models.Model</a:t>
            </a:r>
            <a:r>
              <a:rPr lang="zh-TW" altLang="zh-TW" dirty="0"/>
              <a:t>中常用的資料欄位格式</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18</a:t>
            </a:fld>
            <a:endParaRPr lang="zh-TW" altLang="en-US"/>
          </a:p>
        </p:txBody>
      </p:sp>
      <p:graphicFrame>
        <p:nvGraphicFramePr>
          <p:cNvPr id="5" name="內容版面配置區 4"/>
          <p:cNvGraphicFramePr>
            <a:graphicFrameLocks noGrp="1"/>
          </p:cNvGraphicFramePr>
          <p:nvPr>
            <p:ph sz="quarter" idx="1"/>
            <p:extLst>
              <p:ext uri="{D42A27DB-BD31-4B8C-83A1-F6EECF244321}">
                <p14:modId xmlns:p14="http://schemas.microsoft.com/office/powerpoint/2010/main" val="1027034800"/>
              </p:ext>
            </p:extLst>
          </p:nvPr>
        </p:nvGraphicFramePr>
        <p:xfrm>
          <a:off x="395536" y="1661179"/>
          <a:ext cx="8440616" cy="4936173"/>
        </p:xfrm>
        <a:graphic>
          <a:graphicData uri="http://schemas.openxmlformats.org/drawingml/2006/table">
            <a:tbl>
              <a:tblPr firstRow="1" firstCol="1" bandRow="1">
                <a:tableStyleId>{5C22544A-7EE6-4342-B048-85BDC9FD1C3A}</a:tableStyleId>
              </a:tblPr>
              <a:tblGrid>
                <a:gridCol w="1905308">
                  <a:extLst>
                    <a:ext uri="{9D8B030D-6E8A-4147-A177-3AD203B41FA5}">
                      <a16:colId xmlns:a16="http://schemas.microsoft.com/office/drawing/2014/main" val="20000"/>
                    </a:ext>
                  </a:extLst>
                </a:gridCol>
                <a:gridCol w="3135252">
                  <a:extLst>
                    <a:ext uri="{9D8B030D-6E8A-4147-A177-3AD203B41FA5}">
                      <a16:colId xmlns:a16="http://schemas.microsoft.com/office/drawing/2014/main" val="20001"/>
                    </a:ext>
                  </a:extLst>
                </a:gridCol>
                <a:gridCol w="3400056">
                  <a:extLst>
                    <a:ext uri="{9D8B030D-6E8A-4147-A177-3AD203B41FA5}">
                      <a16:colId xmlns:a16="http://schemas.microsoft.com/office/drawing/2014/main" val="20002"/>
                    </a:ext>
                  </a:extLst>
                </a:gridCol>
              </a:tblGrid>
              <a:tr h="377126">
                <a:tc>
                  <a:txBody>
                    <a:bodyPr/>
                    <a:lstStyle/>
                    <a:p>
                      <a:pPr algn="just">
                        <a:spcBef>
                          <a:spcPts val="600"/>
                        </a:spcBef>
                        <a:spcAft>
                          <a:spcPts val="600"/>
                        </a:spcAft>
                      </a:pPr>
                      <a:r>
                        <a:rPr lang="en-US" sz="1800" kern="100" dirty="0" err="1">
                          <a:effectLst/>
                        </a:rPr>
                        <a:t>EmailField</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b="0" kern="100" dirty="0" err="1">
                          <a:solidFill>
                            <a:schemeClr val="tx1"/>
                          </a:solidFill>
                          <a:effectLst/>
                        </a:rPr>
                        <a:t>max_length</a:t>
                      </a:r>
                      <a:r>
                        <a:rPr lang="zh-TW" sz="1800" b="0" kern="100" dirty="0">
                          <a:solidFill>
                            <a:schemeClr val="tx1"/>
                          </a:solidFill>
                          <a:effectLst/>
                        </a:rPr>
                        <a:t>：最長字數</a:t>
                      </a:r>
                      <a:endParaRPr lang="zh-TW" sz="1800" b="0" kern="100" dirty="0">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solidFill>
                      <a:schemeClr val="accent1">
                        <a:lumMod val="20000"/>
                        <a:lumOff val="80000"/>
                      </a:schemeClr>
                    </a:solidFill>
                  </a:tcPr>
                </a:tc>
                <a:tc>
                  <a:txBody>
                    <a:bodyPr/>
                    <a:lstStyle/>
                    <a:p>
                      <a:pPr algn="just">
                        <a:spcBef>
                          <a:spcPts val="600"/>
                        </a:spcBef>
                        <a:spcAft>
                          <a:spcPts val="600"/>
                        </a:spcAft>
                      </a:pPr>
                      <a:r>
                        <a:rPr lang="zh-TW" sz="1800" b="0" kern="100" dirty="0">
                          <a:solidFill>
                            <a:schemeClr val="tx1"/>
                          </a:solidFill>
                          <a:effectLst/>
                        </a:rPr>
                        <a:t>可接受電子郵件位址格式之欄位</a:t>
                      </a:r>
                      <a:endParaRPr lang="zh-TW" sz="1800" b="0" kern="100" dirty="0">
                        <a:solidFill>
                          <a:schemeClr val="tx1"/>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solidFill>
                      <a:schemeClr val="accent1">
                        <a:lumMod val="20000"/>
                        <a:lumOff val="80000"/>
                      </a:schemeClr>
                    </a:solidFill>
                  </a:tcPr>
                </a:tc>
                <a:extLst>
                  <a:ext uri="{0D108BD9-81ED-4DB2-BD59-A6C34878D82A}">
                    <a16:rowId xmlns:a16="http://schemas.microsoft.com/office/drawing/2014/main" val="10000"/>
                  </a:ext>
                </a:extLst>
              </a:tr>
              <a:tr h="357311">
                <a:tc>
                  <a:txBody>
                    <a:bodyPr/>
                    <a:lstStyle/>
                    <a:p>
                      <a:pPr algn="just">
                        <a:spcBef>
                          <a:spcPts val="600"/>
                        </a:spcBef>
                        <a:spcAft>
                          <a:spcPts val="600"/>
                        </a:spcAft>
                      </a:pPr>
                      <a:r>
                        <a:rPr lang="en-US" sz="1800" kern="100" dirty="0" err="1">
                          <a:effectLst/>
                        </a:rPr>
                        <a:t>FloatField</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a:effectLst/>
                        </a:rPr>
                        <a:t> </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浮點數欄位</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714622">
                <a:tc>
                  <a:txBody>
                    <a:bodyPr/>
                    <a:lstStyle/>
                    <a:p>
                      <a:pPr algn="just">
                        <a:spcBef>
                          <a:spcPts val="600"/>
                        </a:spcBef>
                        <a:spcAft>
                          <a:spcPts val="600"/>
                        </a:spcAft>
                      </a:pPr>
                      <a:r>
                        <a:rPr lang="en-US" sz="1800" kern="100">
                          <a:effectLst/>
                        </a:rPr>
                        <a:t>IntegerField</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solidFill>
                            <a:srgbClr val="FF0000"/>
                          </a:solidFill>
                          <a:effectLst/>
                        </a:rPr>
                        <a:t>整數欄位</a:t>
                      </a:r>
                      <a:r>
                        <a:rPr lang="zh-TW" sz="1800" kern="100" dirty="0">
                          <a:effectLst/>
                        </a:rPr>
                        <a:t>，是通用性最高的整數格式</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714622">
                <a:tc>
                  <a:txBody>
                    <a:bodyPr/>
                    <a:lstStyle/>
                    <a:p>
                      <a:pPr algn="just">
                        <a:spcBef>
                          <a:spcPts val="600"/>
                        </a:spcBef>
                        <a:spcAft>
                          <a:spcPts val="600"/>
                        </a:spcAft>
                      </a:pPr>
                      <a:r>
                        <a:rPr lang="en-US" sz="1800" kern="100">
                          <a:effectLst/>
                        </a:rPr>
                        <a:t>PostiveIntegerField</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a:effectLst/>
                        </a:rPr>
                        <a:t> </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正整數欄位</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850280">
                <a:tc>
                  <a:txBody>
                    <a:bodyPr/>
                    <a:lstStyle/>
                    <a:p>
                      <a:pPr algn="just">
                        <a:spcBef>
                          <a:spcPts val="600"/>
                        </a:spcBef>
                        <a:spcAft>
                          <a:spcPts val="600"/>
                        </a:spcAft>
                      </a:pPr>
                      <a:r>
                        <a:rPr lang="en-US" sz="1800" kern="100">
                          <a:effectLst/>
                        </a:rPr>
                        <a:t>SlugField</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a:effectLst/>
                        </a:rPr>
                        <a:t>max_length</a:t>
                      </a:r>
                      <a:r>
                        <a:rPr lang="zh-TW" sz="1800" kern="100">
                          <a:effectLst/>
                        </a:rPr>
                        <a:t>：最大字元長度</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和</a:t>
                      </a:r>
                      <a:r>
                        <a:rPr lang="en-US" sz="1800" kern="100" dirty="0" err="1">
                          <a:effectLst/>
                        </a:rPr>
                        <a:t>CharField</a:t>
                      </a:r>
                      <a:r>
                        <a:rPr lang="zh-TW" sz="1800" kern="100" dirty="0">
                          <a:effectLst/>
                        </a:rPr>
                        <a:t>是一樣的，通常用來當做是</a:t>
                      </a:r>
                      <a:r>
                        <a:rPr lang="zh-TW" sz="1800" kern="100" dirty="0">
                          <a:solidFill>
                            <a:srgbClr val="FF0000"/>
                          </a:solidFill>
                          <a:effectLst/>
                        </a:rPr>
                        <a:t>網址的一部份</a:t>
                      </a:r>
                      <a:endParaRPr lang="zh-TW" sz="18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1071932">
                <a:tc>
                  <a:txBody>
                    <a:bodyPr/>
                    <a:lstStyle/>
                    <a:p>
                      <a:pPr algn="just">
                        <a:spcBef>
                          <a:spcPts val="600"/>
                        </a:spcBef>
                        <a:spcAft>
                          <a:spcPts val="600"/>
                        </a:spcAft>
                      </a:pPr>
                      <a:r>
                        <a:rPr lang="en-US" sz="1800" kern="100" dirty="0" err="1">
                          <a:effectLst/>
                        </a:rPr>
                        <a:t>TextField</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dirty="0">
                          <a:effectLst/>
                        </a:rPr>
                        <a:t> </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長文字格式，一般是用在</a:t>
                      </a:r>
                      <a:r>
                        <a:rPr lang="en-US" sz="1800" kern="100" dirty="0">
                          <a:effectLst/>
                        </a:rPr>
                        <a:t>HTML</a:t>
                      </a:r>
                      <a:r>
                        <a:rPr lang="zh-TW" sz="1800" kern="100" dirty="0">
                          <a:effectLst/>
                        </a:rPr>
                        <a:t>表單中的</a:t>
                      </a:r>
                      <a:r>
                        <a:rPr lang="en-US" sz="1800" kern="100" dirty="0" err="1">
                          <a:solidFill>
                            <a:srgbClr val="FF0000"/>
                          </a:solidFill>
                          <a:effectLst/>
                        </a:rPr>
                        <a:t>Textarea</a:t>
                      </a:r>
                      <a:r>
                        <a:rPr lang="zh-TW" sz="1800" kern="100" dirty="0">
                          <a:solidFill>
                            <a:srgbClr val="FF0000"/>
                          </a:solidFill>
                          <a:effectLst/>
                        </a:rPr>
                        <a:t>輸入項目</a:t>
                      </a:r>
                      <a:endParaRPr lang="zh-TW" sz="18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850280">
                <a:tc>
                  <a:txBody>
                    <a:bodyPr/>
                    <a:lstStyle/>
                    <a:p>
                      <a:pPr algn="just">
                        <a:spcBef>
                          <a:spcPts val="600"/>
                        </a:spcBef>
                        <a:spcAft>
                          <a:spcPts val="600"/>
                        </a:spcAft>
                      </a:pPr>
                      <a:r>
                        <a:rPr lang="en-US" sz="1800" kern="100">
                          <a:effectLst/>
                        </a:rPr>
                        <a:t>URLField</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800" kern="100">
                          <a:effectLst/>
                        </a:rPr>
                        <a:t>max_length</a:t>
                      </a:r>
                      <a:r>
                        <a:rPr lang="zh-TW" sz="1800" kern="100">
                          <a:effectLst/>
                        </a:rPr>
                        <a:t>：最大字元長度</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和</a:t>
                      </a:r>
                      <a:r>
                        <a:rPr lang="en-US" sz="1800" kern="100" dirty="0" err="1">
                          <a:effectLst/>
                        </a:rPr>
                        <a:t>CharField</a:t>
                      </a:r>
                      <a:r>
                        <a:rPr lang="zh-TW" sz="1800" kern="100" dirty="0">
                          <a:effectLst/>
                        </a:rPr>
                        <a:t>是一樣的，特別用來記錄完整的</a:t>
                      </a:r>
                      <a:r>
                        <a:rPr lang="en-US" sz="1800" kern="100" dirty="0">
                          <a:effectLst/>
                        </a:rPr>
                        <a:t>URL</a:t>
                      </a:r>
                      <a:r>
                        <a:rPr lang="zh-TW" sz="1800" kern="100" dirty="0">
                          <a:effectLst/>
                        </a:rPr>
                        <a:t>網址</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2332982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dirty="0" err="1"/>
              <a:t>models.Model</a:t>
            </a:r>
            <a:r>
              <a:rPr lang="zh-TW" altLang="zh-TW" dirty="0"/>
              <a:t>各欄位常用的</a:t>
            </a:r>
            <a:r>
              <a:rPr lang="zh-TW" altLang="zh-TW" sz="4400" dirty="0">
                <a:solidFill>
                  <a:srgbClr val="FF0000"/>
                </a:solidFill>
              </a:rPr>
              <a:t>屬性</a:t>
            </a:r>
            <a:r>
              <a:rPr lang="zh-TW" altLang="zh-TW" dirty="0"/>
              <a:t>說明</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19</a:t>
            </a:fld>
            <a:endParaRPr lang="zh-TW" altLang="en-US"/>
          </a:p>
        </p:txBody>
      </p:sp>
      <p:graphicFrame>
        <p:nvGraphicFramePr>
          <p:cNvPr id="5" name="內容版面配置區 4"/>
          <p:cNvGraphicFramePr>
            <a:graphicFrameLocks noGrp="1"/>
          </p:cNvGraphicFramePr>
          <p:nvPr>
            <p:ph sz="quarter" idx="1"/>
            <p:extLst>
              <p:ext uri="{D42A27DB-BD31-4B8C-83A1-F6EECF244321}">
                <p14:modId xmlns:p14="http://schemas.microsoft.com/office/powerpoint/2010/main" val="2772501610"/>
              </p:ext>
            </p:extLst>
          </p:nvPr>
        </p:nvGraphicFramePr>
        <p:xfrm>
          <a:off x="265624" y="1700808"/>
          <a:ext cx="8626856" cy="4320478"/>
        </p:xfrm>
        <a:graphic>
          <a:graphicData uri="http://schemas.openxmlformats.org/drawingml/2006/table">
            <a:tbl>
              <a:tblPr firstRow="1" firstCol="1" bandRow="1">
                <a:tableStyleId>{5C22544A-7EE6-4342-B048-85BDC9FD1C3A}</a:tableStyleId>
              </a:tblPr>
              <a:tblGrid>
                <a:gridCol w="1961333">
                  <a:extLst>
                    <a:ext uri="{9D8B030D-6E8A-4147-A177-3AD203B41FA5}">
                      <a16:colId xmlns:a16="http://schemas.microsoft.com/office/drawing/2014/main" val="20000"/>
                    </a:ext>
                  </a:extLst>
                </a:gridCol>
                <a:gridCol w="6665523">
                  <a:extLst>
                    <a:ext uri="{9D8B030D-6E8A-4147-A177-3AD203B41FA5}">
                      <a16:colId xmlns:a16="http://schemas.microsoft.com/office/drawing/2014/main" val="20001"/>
                    </a:ext>
                  </a:extLst>
                </a:gridCol>
              </a:tblGrid>
              <a:tr h="480053">
                <a:tc>
                  <a:txBody>
                    <a:bodyPr/>
                    <a:lstStyle/>
                    <a:p>
                      <a:pPr algn="just">
                        <a:spcBef>
                          <a:spcPts val="600"/>
                        </a:spcBef>
                        <a:spcAft>
                          <a:spcPts val="600"/>
                        </a:spcAft>
                      </a:pPr>
                      <a:r>
                        <a:rPr lang="zh-TW" sz="2000" kern="100" dirty="0">
                          <a:effectLst/>
                        </a:rPr>
                        <a:t>欄位</a:t>
                      </a:r>
                      <a:r>
                        <a:rPr lang="en-US" altLang="zh-TW" sz="2000" kern="100" dirty="0">
                          <a:effectLst/>
                        </a:rPr>
                        <a:t>” </a:t>
                      </a:r>
                      <a:r>
                        <a:rPr lang="zh-TW" sz="2000" kern="100" dirty="0">
                          <a:effectLst/>
                        </a:rPr>
                        <a:t>選項</a:t>
                      </a:r>
                      <a:r>
                        <a:rPr lang="en-US" altLang="zh-TW" sz="2000" kern="100" dirty="0">
                          <a:effectLst/>
                        </a:rPr>
                        <a:t> ”</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000" kern="100">
                          <a:effectLst/>
                        </a:rPr>
                        <a:t>說明</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480053">
                <a:tc>
                  <a:txBody>
                    <a:bodyPr/>
                    <a:lstStyle/>
                    <a:p>
                      <a:pPr algn="just">
                        <a:spcBef>
                          <a:spcPts val="600"/>
                        </a:spcBef>
                        <a:spcAft>
                          <a:spcPts val="600"/>
                        </a:spcAft>
                      </a:pPr>
                      <a:r>
                        <a:rPr lang="en-US" sz="2000" kern="100">
                          <a:effectLst/>
                        </a:rPr>
                        <a:t>null</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000" kern="100" dirty="0">
                          <a:effectLst/>
                        </a:rPr>
                        <a:t>此欄位是否接受儲存</a:t>
                      </a:r>
                      <a:r>
                        <a:rPr lang="zh-TW" sz="2000" kern="100" dirty="0">
                          <a:solidFill>
                            <a:srgbClr val="FF0000"/>
                          </a:solidFill>
                          <a:effectLst/>
                        </a:rPr>
                        <a:t>空值</a:t>
                      </a:r>
                      <a:r>
                        <a:rPr lang="en-US" sz="2000" kern="100" dirty="0">
                          <a:solidFill>
                            <a:srgbClr val="FF0000"/>
                          </a:solidFill>
                          <a:effectLst/>
                        </a:rPr>
                        <a:t>NULL</a:t>
                      </a:r>
                      <a:r>
                        <a:rPr lang="zh-TW" sz="2000" kern="100" dirty="0">
                          <a:effectLst/>
                        </a:rPr>
                        <a:t>，預設值是</a:t>
                      </a:r>
                      <a:r>
                        <a:rPr lang="en-US" sz="2000" kern="100" dirty="0">
                          <a:effectLst/>
                        </a:rPr>
                        <a:t>False</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480053">
                <a:tc>
                  <a:txBody>
                    <a:bodyPr/>
                    <a:lstStyle/>
                    <a:p>
                      <a:pPr algn="just">
                        <a:spcBef>
                          <a:spcPts val="600"/>
                        </a:spcBef>
                        <a:spcAft>
                          <a:spcPts val="600"/>
                        </a:spcAft>
                      </a:pPr>
                      <a:r>
                        <a:rPr lang="en-US" sz="2000" kern="100" dirty="0">
                          <a:effectLst/>
                        </a:rPr>
                        <a:t>blank</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000" kern="100" dirty="0">
                          <a:effectLst/>
                        </a:rPr>
                        <a:t>此欄位是否接受儲存</a:t>
                      </a:r>
                      <a:r>
                        <a:rPr lang="zh-TW" sz="2000" kern="100" dirty="0">
                          <a:solidFill>
                            <a:srgbClr val="FF0000"/>
                          </a:solidFill>
                          <a:effectLst/>
                        </a:rPr>
                        <a:t>空白內容</a:t>
                      </a:r>
                      <a:r>
                        <a:rPr lang="zh-TW" sz="2000" kern="100" dirty="0">
                          <a:effectLst/>
                        </a:rPr>
                        <a:t>，預設值是</a:t>
                      </a:r>
                      <a:r>
                        <a:rPr lang="en-US" sz="2000" kern="100" dirty="0">
                          <a:effectLst/>
                        </a:rPr>
                        <a:t>False</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960107">
                <a:tc>
                  <a:txBody>
                    <a:bodyPr/>
                    <a:lstStyle/>
                    <a:p>
                      <a:pPr algn="just">
                        <a:spcBef>
                          <a:spcPts val="600"/>
                        </a:spcBef>
                        <a:spcAft>
                          <a:spcPts val="600"/>
                        </a:spcAft>
                      </a:pPr>
                      <a:r>
                        <a:rPr lang="en-US" sz="2000" kern="100">
                          <a:effectLst/>
                        </a:rPr>
                        <a:t>choices</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000" kern="100" dirty="0">
                          <a:effectLst/>
                        </a:rPr>
                        <a:t>以</a:t>
                      </a:r>
                      <a:r>
                        <a:rPr lang="zh-TW" sz="2000" kern="100" dirty="0">
                          <a:solidFill>
                            <a:srgbClr val="FF0000"/>
                          </a:solidFill>
                          <a:effectLst/>
                        </a:rPr>
                        <a:t>選項的方式</a:t>
                      </a:r>
                      <a:r>
                        <a:rPr lang="zh-TW" sz="2000" kern="100" dirty="0">
                          <a:effectLst/>
                        </a:rPr>
                        <a:t>（只有固定內容的資料可以選用）當做是此欄位的侯選值</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480053">
                <a:tc>
                  <a:txBody>
                    <a:bodyPr/>
                    <a:lstStyle/>
                    <a:p>
                      <a:pPr algn="just">
                        <a:spcBef>
                          <a:spcPts val="600"/>
                        </a:spcBef>
                        <a:spcAft>
                          <a:spcPts val="600"/>
                        </a:spcAft>
                      </a:pPr>
                      <a:r>
                        <a:rPr lang="en-US" sz="2000" kern="100">
                          <a:effectLst/>
                        </a:rPr>
                        <a:t>default</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000" kern="100" dirty="0">
                          <a:effectLst/>
                        </a:rPr>
                        <a:t>輸入此欄位的</a:t>
                      </a:r>
                      <a:r>
                        <a:rPr lang="zh-TW" sz="2000" kern="100" dirty="0">
                          <a:solidFill>
                            <a:srgbClr val="FF0000"/>
                          </a:solidFill>
                          <a:effectLst/>
                        </a:rPr>
                        <a:t>預設值</a:t>
                      </a:r>
                      <a:endParaRPr lang="zh-TW" sz="20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480053">
                <a:tc>
                  <a:txBody>
                    <a:bodyPr/>
                    <a:lstStyle/>
                    <a:p>
                      <a:pPr algn="just">
                        <a:spcBef>
                          <a:spcPts val="600"/>
                        </a:spcBef>
                        <a:spcAft>
                          <a:spcPts val="600"/>
                        </a:spcAft>
                      </a:pPr>
                      <a:r>
                        <a:rPr lang="en-US" sz="2000" kern="100">
                          <a:effectLst/>
                        </a:rPr>
                        <a:t>help_text</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000" kern="100">
                          <a:effectLst/>
                        </a:rPr>
                        <a:t>欄位的求助訊息</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480053">
                <a:tc>
                  <a:txBody>
                    <a:bodyPr/>
                    <a:lstStyle/>
                    <a:p>
                      <a:pPr algn="just">
                        <a:spcBef>
                          <a:spcPts val="600"/>
                        </a:spcBef>
                        <a:spcAft>
                          <a:spcPts val="600"/>
                        </a:spcAft>
                      </a:pPr>
                      <a:r>
                        <a:rPr lang="en-US" sz="2000" kern="100">
                          <a:effectLst/>
                        </a:rPr>
                        <a:t>primary_key</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000" kern="100">
                          <a:effectLst/>
                        </a:rPr>
                        <a:t>把此欄位設定為資料表中的主鍵</a:t>
                      </a:r>
                      <a:r>
                        <a:rPr lang="en-US" sz="2000" kern="100">
                          <a:effectLst/>
                        </a:rPr>
                        <a:t>KEY</a:t>
                      </a:r>
                      <a:r>
                        <a:rPr lang="zh-TW" sz="2000" kern="100">
                          <a:effectLst/>
                        </a:rPr>
                        <a:t>，預設值為</a:t>
                      </a:r>
                      <a:r>
                        <a:rPr lang="en-US" sz="2000" kern="100">
                          <a:effectLst/>
                        </a:rPr>
                        <a:t>False</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480053">
                <a:tc>
                  <a:txBody>
                    <a:bodyPr/>
                    <a:lstStyle/>
                    <a:p>
                      <a:pPr algn="just">
                        <a:spcBef>
                          <a:spcPts val="600"/>
                        </a:spcBef>
                        <a:spcAft>
                          <a:spcPts val="600"/>
                        </a:spcAft>
                      </a:pPr>
                      <a:r>
                        <a:rPr lang="en-US" sz="2000" kern="100">
                          <a:effectLst/>
                        </a:rPr>
                        <a:t>unique</a:t>
                      </a:r>
                      <a:endParaRPr lang="zh-TW" sz="20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2000" kern="100" dirty="0">
                          <a:effectLst/>
                        </a:rPr>
                        <a:t>設定此欄位是否為唯一值，預設值為</a:t>
                      </a:r>
                      <a:r>
                        <a:rPr lang="en-US" sz="2000" kern="100" dirty="0">
                          <a:effectLst/>
                        </a:rPr>
                        <a:t>False</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6932864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58B7EA-3EE9-01C4-6213-5C7E19439967}"/>
              </a:ext>
            </a:extLst>
          </p:cNvPr>
          <p:cNvSpPr>
            <a:spLocks noGrp="1"/>
          </p:cNvSpPr>
          <p:nvPr>
            <p:ph type="title"/>
          </p:nvPr>
        </p:nvSpPr>
        <p:spPr/>
        <p:txBody>
          <a:bodyPr>
            <a:normAutofit/>
          </a:bodyPr>
          <a:lstStyle/>
          <a:p>
            <a:r>
              <a:rPr lang="zh-TW" altLang="en-US" b="1" dirty="0"/>
              <a:t>空字串（</a:t>
            </a:r>
            <a:r>
              <a:rPr lang="en-US" altLang="zh-TW" b="1" dirty="0"/>
              <a:t>""</a:t>
            </a:r>
            <a:r>
              <a:rPr lang="zh-TW" altLang="en-US" b="1" dirty="0"/>
              <a:t>）與 </a:t>
            </a:r>
            <a:r>
              <a:rPr lang="en-US" altLang="zh-TW" b="1" dirty="0"/>
              <a:t>NULL</a:t>
            </a:r>
            <a:r>
              <a:rPr lang="zh-TW" altLang="en-US" b="1" dirty="0"/>
              <a:t> 的區別</a:t>
            </a:r>
            <a:endParaRPr lang="zh-TW" altLang="en-US" dirty="0"/>
          </a:p>
        </p:txBody>
      </p:sp>
      <p:sp>
        <p:nvSpPr>
          <p:cNvPr id="3" name="投影片編號版面配置區 2">
            <a:extLst>
              <a:ext uri="{FF2B5EF4-FFF2-40B4-BE49-F238E27FC236}">
                <a16:creationId xmlns:a16="http://schemas.microsoft.com/office/drawing/2014/main" id="{E2BFAD2F-185D-FA0B-54C7-B8A6441EF50E}"/>
              </a:ext>
            </a:extLst>
          </p:cNvPr>
          <p:cNvSpPr>
            <a:spLocks noGrp="1"/>
          </p:cNvSpPr>
          <p:nvPr>
            <p:ph type="sldNum" sz="quarter" idx="12"/>
          </p:nvPr>
        </p:nvSpPr>
        <p:spPr/>
        <p:txBody>
          <a:bodyPr/>
          <a:lstStyle/>
          <a:p>
            <a:fld id="{369E457D-EE12-4164-8E32-9DDD40A95892}" type="slidenum">
              <a:rPr lang="zh-TW" altLang="en-US" smtClean="0"/>
              <a:pPr/>
              <a:t>20</a:t>
            </a:fld>
            <a:endParaRPr lang="zh-TW" altLang="en-US"/>
          </a:p>
        </p:txBody>
      </p:sp>
      <p:pic>
        <p:nvPicPr>
          <p:cNvPr id="5" name="圖片 4">
            <a:extLst>
              <a:ext uri="{FF2B5EF4-FFF2-40B4-BE49-F238E27FC236}">
                <a16:creationId xmlns:a16="http://schemas.microsoft.com/office/drawing/2014/main" id="{71826FB1-2783-60F6-297A-2D7C4ABDF1A5}"/>
              </a:ext>
            </a:extLst>
          </p:cNvPr>
          <p:cNvPicPr>
            <a:picLocks noChangeAspect="1"/>
          </p:cNvPicPr>
          <p:nvPr/>
        </p:nvPicPr>
        <p:blipFill>
          <a:blip r:embed="rId2"/>
          <a:srcRect t="18062"/>
          <a:stretch>
            <a:fillRect/>
          </a:stretch>
        </p:blipFill>
        <p:spPr>
          <a:xfrm>
            <a:off x="0" y="2348880"/>
            <a:ext cx="9144000" cy="2771082"/>
          </a:xfrm>
          <a:prstGeom prst="rect">
            <a:avLst/>
          </a:prstGeom>
        </p:spPr>
      </p:pic>
    </p:spTree>
    <p:extLst>
      <p:ext uri="{BB962C8B-B14F-4D97-AF65-F5344CB8AC3E}">
        <p14:creationId xmlns:p14="http://schemas.microsoft.com/office/powerpoint/2010/main" val="9744793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D3C4ED-FDF1-5083-F1A4-59036842F13F}"/>
              </a:ext>
            </a:extLst>
          </p:cNvPr>
          <p:cNvSpPr>
            <a:spLocks noGrp="1"/>
          </p:cNvSpPr>
          <p:nvPr>
            <p:ph type="title"/>
          </p:nvPr>
        </p:nvSpPr>
        <p:spPr/>
        <p:txBody>
          <a:bodyPr>
            <a:normAutofit fontScale="90000"/>
          </a:bodyPr>
          <a:lstStyle/>
          <a:p>
            <a:r>
              <a:rPr lang="zh-TW" altLang="en-US" dirty="0"/>
              <a:t>設定</a:t>
            </a:r>
            <a:r>
              <a:rPr lang="en-US" altLang="zh-TW" dirty="0" err="1"/>
              <a:t>NewTable</a:t>
            </a:r>
            <a:r>
              <a:rPr lang="zh-TW" altLang="en-US" dirty="0"/>
              <a:t>資料表</a:t>
            </a:r>
            <a:r>
              <a:rPr lang="en-US" altLang="zh-TW" sz="3600" kern="100" dirty="0" err="1">
                <a:solidFill>
                  <a:srgbClr val="FF0000"/>
                </a:solidFill>
                <a:latin typeface="Courier New" panose="02070309020205020404" pitchFamily="49" charset="0"/>
                <a:ea typeface="標楷體" panose="03000509000000000000" pitchFamily="65" charset="-120"/>
              </a:rPr>
              <a:t>auto_now_add</a:t>
            </a:r>
            <a:r>
              <a:rPr lang="en-US" altLang="zh-TW" sz="3600" kern="100" dirty="0">
                <a:solidFill>
                  <a:srgbClr val="FF0000"/>
                </a:solidFill>
                <a:latin typeface="Courier New" panose="02070309020205020404" pitchFamily="49" charset="0"/>
                <a:ea typeface="標楷體" panose="03000509000000000000" pitchFamily="65" charset="-120"/>
              </a:rPr>
              <a:t>=True</a:t>
            </a:r>
            <a:r>
              <a:rPr lang="zh-TW" altLang="en-US" sz="3600" kern="100" dirty="0">
                <a:solidFill>
                  <a:srgbClr val="FF0000"/>
                </a:solidFill>
                <a:latin typeface="Courier New" panose="02070309020205020404" pitchFamily="49" charset="0"/>
                <a:ea typeface="標楷體" panose="03000509000000000000" pitchFamily="65" charset="-120"/>
              </a:rPr>
              <a:t>會有問題，可選</a:t>
            </a:r>
            <a:r>
              <a:rPr lang="en-US" altLang="zh-TW" sz="3600" kern="100" dirty="0">
                <a:solidFill>
                  <a:srgbClr val="FF0000"/>
                </a:solidFill>
                <a:latin typeface="Courier New" panose="02070309020205020404" pitchFamily="49" charset="0"/>
                <a:ea typeface="標楷體" panose="03000509000000000000" pitchFamily="65" charset="-120"/>
              </a:rPr>
              <a:t>1</a:t>
            </a:r>
            <a:r>
              <a:rPr lang="zh-TW" altLang="en-US" sz="3600" kern="100" dirty="0">
                <a:solidFill>
                  <a:srgbClr val="FF0000"/>
                </a:solidFill>
                <a:latin typeface="Courier New" panose="02070309020205020404" pitchFamily="49" charset="0"/>
                <a:ea typeface="標楷體" panose="03000509000000000000" pitchFamily="65" charset="-120"/>
              </a:rPr>
              <a:t>解決或不要設此屬性</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C311116E-CF5A-CD94-9883-01A575548246}"/>
              </a:ext>
            </a:extLst>
          </p:cNvPr>
          <p:cNvSpPr>
            <a:spLocks noGrp="1"/>
          </p:cNvSpPr>
          <p:nvPr>
            <p:ph type="sldNum" sz="quarter" idx="12"/>
          </p:nvPr>
        </p:nvSpPr>
        <p:spPr/>
        <p:txBody>
          <a:bodyPr/>
          <a:lstStyle/>
          <a:p>
            <a:fld id="{369E457D-EE12-4164-8E32-9DDD40A95892}" type="slidenum">
              <a:rPr lang="zh-TW" altLang="en-US" smtClean="0"/>
              <a:pPr/>
              <a:t>21</a:t>
            </a:fld>
            <a:endParaRPr lang="zh-TW" altLang="en-US"/>
          </a:p>
        </p:txBody>
      </p:sp>
      <p:sp>
        <p:nvSpPr>
          <p:cNvPr id="4" name="內容版面配置區 3">
            <a:extLst>
              <a:ext uri="{FF2B5EF4-FFF2-40B4-BE49-F238E27FC236}">
                <a16:creationId xmlns:a16="http://schemas.microsoft.com/office/drawing/2014/main" id="{B548315E-D882-0E77-0A55-CAEE55D3BF1B}"/>
              </a:ext>
            </a:extLst>
          </p:cNvPr>
          <p:cNvSpPr>
            <a:spLocks noGrp="1"/>
          </p:cNvSpPr>
          <p:nvPr>
            <p:ph sz="quarter" idx="1"/>
          </p:nvPr>
        </p:nvSpPr>
        <p:spPr>
          <a:xfrm>
            <a:off x="107504" y="1268760"/>
            <a:ext cx="8928992" cy="5360640"/>
          </a:xfrm>
        </p:spPr>
        <p:txBody>
          <a:bodyPr>
            <a:normAutofit/>
          </a:bodyPr>
          <a:lstStyle/>
          <a:p>
            <a:pPr marL="0" indent="0">
              <a:buNone/>
            </a:pPr>
            <a:r>
              <a:rPr lang="en-US" altLang="zh-TW" sz="2000" kern="100" dirty="0">
                <a:effectLst/>
                <a:latin typeface="Courier New" panose="02070309020205020404" pitchFamily="49" charset="0"/>
                <a:ea typeface="標楷體" panose="03000509000000000000" pitchFamily="65" charset="-120"/>
              </a:rPr>
              <a:t>from </a:t>
            </a:r>
            <a:r>
              <a:rPr lang="en-US" altLang="zh-TW" sz="2000" kern="100" dirty="0" err="1">
                <a:effectLst/>
                <a:latin typeface="Courier New" panose="02070309020205020404" pitchFamily="49" charset="0"/>
                <a:ea typeface="標楷體" panose="03000509000000000000" pitchFamily="65" charset="-120"/>
              </a:rPr>
              <a:t>django.db</a:t>
            </a:r>
            <a:r>
              <a:rPr lang="en-US" altLang="zh-TW" sz="2000" kern="100" dirty="0">
                <a:effectLst/>
                <a:latin typeface="Courier New" panose="02070309020205020404" pitchFamily="49" charset="0"/>
                <a:ea typeface="標楷體" panose="03000509000000000000" pitchFamily="65" charset="-120"/>
              </a:rPr>
              <a:t> import models</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class </a:t>
            </a:r>
            <a:r>
              <a:rPr lang="en-US" altLang="zh-TW" sz="2000" kern="100" dirty="0" err="1">
                <a:effectLst/>
                <a:latin typeface="Courier New" panose="02070309020205020404" pitchFamily="49" charset="0"/>
                <a:ea typeface="標楷體" panose="03000509000000000000" pitchFamily="65" charset="-120"/>
              </a:rPr>
              <a:t>NewTable</a:t>
            </a:r>
            <a:r>
              <a:rPr lang="en-US" altLang="zh-TW" sz="2000" kern="100" dirty="0">
                <a:effectLst/>
                <a:latin typeface="Courier New" panose="02070309020205020404" pitchFamily="49" charset="0"/>
                <a:ea typeface="標楷體" panose="03000509000000000000" pitchFamily="65" charset="-120"/>
              </a:rPr>
              <a:t>(</a:t>
            </a:r>
            <a:r>
              <a:rPr lang="en-US" altLang="zh-TW" sz="2000" kern="100" dirty="0" err="1">
                <a:effectLst/>
                <a:latin typeface="Courier New" panose="02070309020205020404" pitchFamily="49" charset="0"/>
                <a:ea typeface="標楷體" panose="03000509000000000000" pitchFamily="65" charset="-120"/>
              </a:rPr>
              <a:t>models.Model</a:t>
            </a:r>
            <a:r>
              <a:rPr lang="en-US" altLang="zh-TW" sz="2000" kern="100" dirty="0">
                <a:effectLst/>
                <a:latin typeface="Courier New" panose="02070309020205020404" pitchFamily="49" charset="0"/>
                <a:ea typeface="標楷體" panose="03000509000000000000" pitchFamily="65" charset="-120"/>
              </a:rPr>
              <a: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bigint_f</a:t>
            </a:r>
            <a:r>
              <a:rPr lang="en-US" altLang="zh-TW" sz="2000" kern="100" dirty="0">
                <a:effectLst/>
                <a:latin typeface="Courier New" panose="02070309020205020404" pitchFamily="49" charset="0"/>
                <a:ea typeface="標楷體" panose="03000509000000000000" pitchFamily="65" charset="-120"/>
              </a:rPr>
              <a:t> = </a:t>
            </a:r>
            <a:r>
              <a:rPr lang="en-US" altLang="zh-TW" sz="2000" kern="100" dirty="0" err="1">
                <a:effectLst/>
                <a:latin typeface="Courier New" panose="02070309020205020404" pitchFamily="49" charset="0"/>
                <a:ea typeface="標楷體" panose="03000509000000000000" pitchFamily="65" charset="-120"/>
              </a:rPr>
              <a:t>models.BigIntegerField</a:t>
            </a:r>
            <a:r>
              <a:rPr lang="en-US" altLang="zh-TW" sz="2000" kern="100" dirty="0">
                <a:effectLst/>
                <a:latin typeface="Courier New" panose="02070309020205020404" pitchFamily="49" charset="0"/>
                <a:ea typeface="標楷體" panose="03000509000000000000" pitchFamily="65" charset="-120"/>
              </a:rPr>
              <a: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bool_f</a:t>
            </a:r>
            <a:r>
              <a:rPr lang="en-US" altLang="zh-TW" sz="2000" kern="100" dirty="0">
                <a:effectLst/>
                <a:latin typeface="Courier New" panose="02070309020205020404" pitchFamily="49" charset="0"/>
                <a:ea typeface="標楷體" panose="03000509000000000000" pitchFamily="65" charset="-120"/>
              </a:rPr>
              <a:t>   = </a:t>
            </a:r>
            <a:r>
              <a:rPr lang="en-US" altLang="zh-TW" sz="2000" kern="100" dirty="0" err="1">
                <a:effectLst/>
                <a:latin typeface="Courier New" panose="02070309020205020404" pitchFamily="49" charset="0"/>
                <a:ea typeface="標楷體" panose="03000509000000000000" pitchFamily="65" charset="-120"/>
              </a:rPr>
              <a:t>models.BooleanField</a:t>
            </a:r>
            <a:r>
              <a:rPr lang="en-US" altLang="zh-TW" sz="2000" kern="100" dirty="0">
                <a:effectLst/>
                <a:latin typeface="Courier New" panose="02070309020205020404" pitchFamily="49" charset="0"/>
                <a:ea typeface="標楷體" panose="03000509000000000000" pitchFamily="65" charset="-120"/>
              </a:rPr>
              <a: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date_f</a:t>
            </a:r>
            <a:r>
              <a:rPr lang="en-US" altLang="zh-TW" sz="2000" kern="100" dirty="0">
                <a:effectLst/>
                <a:latin typeface="Courier New" panose="02070309020205020404" pitchFamily="49" charset="0"/>
                <a:ea typeface="標楷體" panose="03000509000000000000" pitchFamily="65" charset="-120"/>
              </a:rPr>
              <a:t>   = </a:t>
            </a:r>
            <a:r>
              <a:rPr lang="en-US" altLang="zh-TW" sz="2000" kern="100" dirty="0" err="1">
                <a:effectLst/>
                <a:latin typeface="Courier New" panose="02070309020205020404" pitchFamily="49" charset="0"/>
                <a:ea typeface="標楷體" panose="03000509000000000000" pitchFamily="65" charset="-120"/>
              </a:rPr>
              <a:t>models.DateField</a:t>
            </a:r>
            <a:r>
              <a:rPr lang="en-US" altLang="zh-TW" sz="2000" kern="100" dirty="0">
                <a:effectLst/>
                <a:latin typeface="Courier New" panose="02070309020205020404" pitchFamily="49" charset="0"/>
                <a:ea typeface="標楷體" panose="03000509000000000000" pitchFamily="65" charset="-120"/>
              </a:rPr>
              <a:t>(</a:t>
            </a:r>
            <a:r>
              <a:rPr lang="en-US" altLang="zh-TW" sz="2000" kern="100" dirty="0" err="1">
                <a:effectLst/>
                <a:latin typeface="Courier New" panose="02070309020205020404" pitchFamily="49" charset="0"/>
                <a:ea typeface="標楷體" panose="03000509000000000000" pitchFamily="65" charset="-120"/>
              </a:rPr>
              <a:t>auto_now</a:t>
            </a:r>
            <a:r>
              <a:rPr lang="en-US" altLang="zh-TW" sz="2000" kern="100" dirty="0">
                <a:effectLst/>
                <a:latin typeface="Courier New" panose="02070309020205020404" pitchFamily="49" charset="0"/>
                <a:ea typeface="標楷體" panose="03000509000000000000" pitchFamily="65" charset="-120"/>
              </a:rPr>
              <a:t>=True)</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char_f</a:t>
            </a:r>
            <a:r>
              <a:rPr lang="en-US" altLang="zh-TW" sz="2000" kern="100" dirty="0">
                <a:effectLst/>
                <a:latin typeface="Courier New" panose="02070309020205020404" pitchFamily="49" charset="0"/>
                <a:ea typeface="標楷體" panose="03000509000000000000" pitchFamily="65" charset="-120"/>
              </a:rPr>
              <a:t>   = </a:t>
            </a:r>
            <a:r>
              <a:rPr lang="en-US" altLang="zh-TW" sz="2000" kern="100" dirty="0" err="1">
                <a:effectLst/>
                <a:latin typeface="Courier New" panose="02070309020205020404" pitchFamily="49" charset="0"/>
                <a:ea typeface="標楷體" panose="03000509000000000000" pitchFamily="65" charset="-120"/>
              </a:rPr>
              <a:t>models.CharField</a:t>
            </a:r>
            <a:r>
              <a:rPr lang="en-US" altLang="zh-TW" sz="2000" kern="100" dirty="0">
                <a:effectLst/>
                <a:latin typeface="Courier New" panose="02070309020205020404" pitchFamily="49" charset="0"/>
                <a:ea typeface="標楷體" panose="03000509000000000000" pitchFamily="65" charset="-120"/>
              </a:rPr>
              <a:t>(</a:t>
            </a:r>
            <a:r>
              <a:rPr lang="en-US" altLang="zh-TW" sz="2000" kern="100" dirty="0" err="1">
                <a:effectLst/>
                <a:latin typeface="Courier New" panose="02070309020205020404" pitchFamily="49" charset="0"/>
                <a:ea typeface="標楷體" panose="03000509000000000000" pitchFamily="65" charset="-120"/>
              </a:rPr>
              <a:t>max_length</a:t>
            </a:r>
            <a:r>
              <a:rPr lang="en-US" altLang="zh-TW" sz="2000" kern="100" dirty="0">
                <a:effectLst/>
                <a:latin typeface="Courier New" panose="02070309020205020404" pitchFamily="49" charset="0"/>
                <a:ea typeface="標楷體" panose="03000509000000000000" pitchFamily="65" charset="-120"/>
              </a:rPr>
              <a:t>=20,      				unique=True)</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datetime_f</a:t>
            </a:r>
            <a:r>
              <a:rPr lang="en-US" altLang="zh-TW" sz="2000" kern="100" dirty="0">
                <a:effectLst/>
                <a:latin typeface="Courier New" panose="02070309020205020404" pitchFamily="49" charset="0"/>
                <a:ea typeface="標楷體" panose="03000509000000000000" pitchFamily="65" charset="-120"/>
              </a:rPr>
              <a:t>=</a:t>
            </a:r>
            <a:r>
              <a:rPr lang="en-US" altLang="zh-TW" sz="2000" kern="100" dirty="0" err="1">
                <a:effectLst/>
                <a:latin typeface="Courier New" panose="02070309020205020404" pitchFamily="49" charset="0"/>
                <a:ea typeface="標楷體" panose="03000509000000000000" pitchFamily="65" charset="-120"/>
              </a:rPr>
              <a:t>models.DateTimeField</a:t>
            </a:r>
            <a:r>
              <a:rPr lang="en-US" altLang="zh-TW" sz="2000" kern="100" dirty="0">
                <a:effectLst/>
                <a:latin typeface="Courier New" panose="02070309020205020404" pitchFamily="49" charset="0"/>
                <a:ea typeface="標楷體" panose="03000509000000000000" pitchFamily="65" charset="-120"/>
              </a:rPr>
              <a:t>(</a:t>
            </a:r>
            <a:r>
              <a:rPr lang="en-US" altLang="zh-TW" sz="2000" kern="100" dirty="0" err="1">
                <a:solidFill>
                  <a:srgbClr val="FF0000"/>
                </a:solidFill>
                <a:effectLst/>
                <a:latin typeface="Courier New" panose="02070309020205020404" pitchFamily="49" charset="0"/>
                <a:ea typeface="標楷體" panose="03000509000000000000" pitchFamily="65" charset="-120"/>
              </a:rPr>
              <a:t>auto_now_add</a:t>
            </a:r>
            <a:r>
              <a:rPr lang="en-US" altLang="zh-TW" sz="2000" kern="100" dirty="0">
                <a:solidFill>
                  <a:srgbClr val="FF0000"/>
                </a:solidFill>
                <a:effectLst/>
                <a:latin typeface="Courier New" panose="02070309020205020404" pitchFamily="49" charset="0"/>
                <a:ea typeface="標楷體" panose="03000509000000000000" pitchFamily="65" charset="-120"/>
              </a:rPr>
              <a:t>=True</a:t>
            </a:r>
            <a:r>
              <a:rPr lang="en-US" altLang="zh-TW" sz="2000" kern="100" dirty="0">
                <a:effectLst/>
                <a:latin typeface="Courier New" panose="02070309020205020404" pitchFamily="49" charset="0"/>
                <a:ea typeface="標楷體" panose="03000509000000000000" pitchFamily="65" charset="-120"/>
              </a:rPr>
              <a:t>)</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decimal_f</a:t>
            </a: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models.DecimalField</a:t>
            </a:r>
            <a:r>
              <a:rPr lang="en-US" altLang="zh-TW" sz="2000" kern="100" dirty="0">
                <a:effectLst/>
                <a:latin typeface="Courier New" panose="02070309020205020404" pitchFamily="49" charset="0"/>
                <a:ea typeface="標楷體" panose="03000509000000000000" pitchFamily="65" charset="-120"/>
              </a:rPr>
              <a:t>(</a:t>
            </a:r>
            <a:r>
              <a:rPr lang="en-US" altLang="zh-TW" sz="2000" kern="100" dirty="0" err="1">
                <a:effectLst/>
                <a:latin typeface="Courier New" panose="02070309020205020404" pitchFamily="49" charset="0"/>
                <a:ea typeface="標楷體" panose="03000509000000000000" pitchFamily="65" charset="-120"/>
              </a:rPr>
              <a:t>max_digits</a:t>
            </a:r>
            <a:r>
              <a:rPr lang="en-US" altLang="zh-TW" sz="2000" kern="100" dirty="0">
                <a:effectLst/>
                <a:latin typeface="Courier New" panose="02070309020205020404" pitchFamily="49" charset="0"/>
                <a:ea typeface="標楷體" panose="03000509000000000000" pitchFamily="65" charset="-120"/>
              </a:rPr>
              <a:t>=10,    				</a:t>
            </a:r>
            <a:r>
              <a:rPr lang="en-US" altLang="zh-TW" sz="2000" kern="100" dirty="0" err="1">
                <a:effectLst/>
                <a:latin typeface="Courier New" panose="02070309020205020404" pitchFamily="49" charset="0"/>
                <a:ea typeface="標楷體" panose="03000509000000000000" pitchFamily="65" charset="-120"/>
              </a:rPr>
              <a:t>decimal_places</a:t>
            </a:r>
            <a:r>
              <a:rPr lang="en-US" altLang="zh-TW" sz="2000" kern="100" dirty="0">
                <a:effectLst/>
                <a:latin typeface="Courier New" panose="02070309020205020404" pitchFamily="49" charset="0"/>
                <a:ea typeface="標楷體" panose="03000509000000000000" pitchFamily="65" charset="-120"/>
              </a:rPr>
              <a:t>=2)</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float_f</a:t>
            </a:r>
            <a:r>
              <a:rPr lang="en-US" altLang="zh-TW" sz="2000" kern="100" dirty="0">
                <a:effectLst/>
                <a:latin typeface="Courier New" panose="02070309020205020404" pitchFamily="49" charset="0"/>
                <a:ea typeface="標楷體" panose="03000509000000000000" pitchFamily="65" charset="-120"/>
              </a:rPr>
              <a:t>  = </a:t>
            </a:r>
            <a:r>
              <a:rPr lang="en-US" altLang="zh-TW" sz="2000" kern="100" dirty="0" err="1">
                <a:effectLst/>
                <a:latin typeface="Courier New" panose="02070309020205020404" pitchFamily="49" charset="0"/>
                <a:ea typeface="標楷體" panose="03000509000000000000" pitchFamily="65" charset="-120"/>
              </a:rPr>
              <a:t>models.FloatField</a:t>
            </a:r>
            <a:r>
              <a:rPr lang="en-US" altLang="zh-TW" sz="2000" kern="100" dirty="0">
                <a:effectLst/>
                <a:latin typeface="Courier New" panose="02070309020205020404" pitchFamily="49" charset="0"/>
                <a:ea typeface="標楷體" panose="03000509000000000000" pitchFamily="65" charset="-120"/>
              </a:rPr>
              <a:t>(null=True)</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int_f</a:t>
            </a:r>
            <a:r>
              <a:rPr lang="en-US" altLang="zh-TW" sz="2000" kern="100" dirty="0">
                <a:effectLst/>
                <a:latin typeface="Courier New" panose="02070309020205020404" pitchFamily="49" charset="0"/>
                <a:ea typeface="標楷體" panose="03000509000000000000" pitchFamily="65" charset="-120"/>
              </a:rPr>
              <a:t>    = </a:t>
            </a:r>
            <a:r>
              <a:rPr lang="en-US" altLang="zh-TW" sz="2000" kern="100" dirty="0" err="1">
                <a:effectLst/>
                <a:latin typeface="Courier New" panose="02070309020205020404" pitchFamily="49" charset="0"/>
                <a:ea typeface="標楷體" panose="03000509000000000000" pitchFamily="65" charset="-120"/>
              </a:rPr>
              <a:t>models.IntegerField</a:t>
            </a:r>
            <a:r>
              <a:rPr lang="en-US" altLang="zh-TW" sz="2000" kern="100" dirty="0">
                <a:effectLst/>
                <a:latin typeface="Courier New" panose="02070309020205020404" pitchFamily="49" charset="0"/>
                <a:ea typeface="標楷體" panose="03000509000000000000" pitchFamily="65" charset="-120"/>
              </a:rPr>
              <a:t>(default=2010)</a:t>
            </a:r>
            <a:endParaRPr lang="zh-TW" altLang="zh-TW" sz="2000" kern="100" dirty="0">
              <a:effectLst/>
              <a:latin typeface="Courier New" panose="02070309020205020404" pitchFamily="49" charset="0"/>
              <a:ea typeface="標楷體" panose="03000509000000000000" pitchFamily="65" charset="-120"/>
            </a:endParaRPr>
          </a:p>
          <a:p>
            <a:pPr marL="0" indent="0">
              <a:buNone/>
            </a:pPr>
            <a:r>
              <a:rPr lang="en-US" altLang="zh-TW" sz="2000" kern="100" dirty="0">
                <a:effectLst/>
                <a:latin typeface="Courier New" panose="02070309020205020404" pitchFamily="49" charset="0"/>
                <a:ea typeface="標楷體" panose="03000509000000000000" pitchFamily="65" charset="-120"/>
              </a:rPr>
              <a:t>    </a:t>
            </a:r>
            <a:r>
              <a:rPr lang="en-US" altLang="zh-TW" sz="2000" kern="100" dirty="0" err="1">
                <a:effectLst/>
                <a:latin typeface="Courier New" panose="02070309020205020404" pitchFamily="49" charset="0"/>
                <a:ea typeface="標楷體" panose="03000509000000000000" pitchFamily="65" charset="-120"/>
              </a:rPr>
              <a:t>text_f</a:t>
            </a:r>
            <a:r>
              <a:rPr lang="en-US" altLang="zh-TW" sz="2000" kern="100" dirty="0">
                <a:effectLst/>
                <a:latin typeface="Courier New" panose="02070309020205020404" pitchFamily="49" charset="0"/>
                <a:ea typeface="標楷體" panose="03000509000000000000" pitchFamily="65" charset="-120"/>
              </a:rPr>
              <a:t>   = </a:t>
            </a:r>
            <a:r>
              <a:rPr lang="en-US" altLang="zh-TW" sz="2000" kern="100" dirty="0" err="1">
                <a:effectLst/>
                <a:latin typeface="Courier New" panose="02070309020205020404" pitchFamily="49" charset="0"/>
                <a:ea typeface="標楷體" panose="03000509000000000000" pitchFamily="65" charset="-120"/>
              </a:rPr>
              <a:t>models.TextField</a:t>
            </a:r>
            <a:r>
              <a:rPr lang="en-US" altLang="zh-TW" sz="2000" kern="100" dirty="0">
                <a:effectLst/>
                <a:latin typeface="Courier New" panose="02070309020205020404" pitchFamily="49" charset="0"/>
                <a:ea typeface="標楷體" panose="03000509000000000000" pitchFamily="65" charset="-120"/>
              </a:rPr>
              <a:t>()</a:t>
            </a:r>
            <a:endParaRPr lang="zh-TW" altLang="zh-TW" sz="2000" kern="100" dirty="0">
              <a:effectLst/>
              <a:latin typeface="Courier New" panose="02070309020205020404" pitchFamily="49" charset="0"/>
              <a:ea typeface="標楷體" panose="03000509000000000000" pitchFamily="65" charset="-120"/>
            </a:endParaRPr>
          </a:p>
          <a:p>
            <a:pPr marL="0" indent="0">
              <a:buNone/>
            </a:pPr>
            <a:endParaRPr lang="zh-TW" altLang="en-US" sz="3200" dirty="0"/>
          </a:p>
        </p:txBody>
      </p:sp>
    </p:spTree>
    <p:extLst>
      <p:ext uri="{BB962C8B-B14F-4D97-AF65-F5344CB8AC3E}">
        <p14:creationId xmlns:p14="http://schemas.microsoft.com/office/powerpoint/2010/main" val="6616984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22</a:t>
            </a:fld>
            <a:endParaRPr lang="zh-TW" altLang="en-US"/>
          </a:p>
        </p:txBody>
      </p:sp>
      <p:sp>
        <p:nvSpPr>
          <p:cNvPr id="4" name="內容版面配置區 3"/>
          <p:cNvSpPr>
            <a:spLocks noGrp="1"/>
          </p:cNvSpPr>
          <p:nvPr>
            <p:ph sz="quarter" idx="1"/>
          </p:nvPr>
        </p:nvSpPr>
        <p:spPr/>
        <p:txBody>
          <a:bodyPr/>
          <a:lstStyle/>
          <a:p>
            <a:r>
              <a:rPr lang="zh-TW" altLang="zh-TW" dirty="0"/>
              <a:t>首次設定</a:t>
            </a:r>
            <a:r>
              <a:rPr lang="en-US" altLang="zh-TW" dirty="0"/>
              <a:t>Model</a:t>
            </a:r>
            <a:r>
              <a:rPr lang="zh-TW" altLang="zh-TW" dirty="0"/>
              <a:t>的內容要先執行</a:t>
            </a:r>
            <a:r>
              <a:rPr lang="en-US" altLang="zh-TW" dirty="0" err="1"/>
              <a:t>makemigrations</a:t>
            </a:r>
            <a:r>
              <a:rPr lang="zh-TW" altLang="zh-TW" dirty="0"/>
              <a:t>的指令，以及</a:t>
            </a:r>
            <a:r>
              <a:rPr lang="en-US" altLang="zh-TW" dirty="0"/>
              <a:t>migrate</a:t>
            </a:r>
            <a:r>
              <a:rPr lang="zh-TW" altLang="zh-TW" dirty="0"/>
              <a:t>指令，如下所示：</a:t>
            </a:r>
            <a:endParaRPr lang="en-US" altLang="zh-TW" dirty="0"/>
          </a:p>
          <a:p>
            <a:pPr marL="274320" lvl="1" indent="0">
              <a:buNone/>
            </a:pPr>
            <a:r>
              <a:rPr lang="en-US" altLang="zh-TW" dirty="0"/>
              <a:t>python manage.py </a:t>
            </a:r>
            <a:r>
              <a:rPr lang="en-US" altLang="zh-TW" dirty="0" err="1"/>
              <a:t>makemigrations</a:t>
            </a:r>
            <a:endParaRPr lang="en-US" altLang="zh-TW" dirty="0"/>
          </a:p>
          <a:p>
            <a:pPr marL="274320" lvl="1" indent="0">
              <a:buNone/>
            </a:pPr>
            <a:r>
              <a:rPr lang="en-US" altLang="zh-TW" dirty="0"/>
              <a:t>python manage.py migrate</a:t>
            </a:r>
          </a:p>
          <a:p>
            <a:r>
              <a:rPr lang="en-US" altLang="zh-TW" dirty="0"/>
              <a:t>0001_initial.py</a:t>
            </a:r>
          </a:p>
          <a:p>
            <a:pPr marL="274320" lvl="1" indent="0">
              <a:buNone/>
            </a:pPr>
            <a:r>
              <a:rPr lang="en-US" altLang="zh-TW" dirty="0"/>
              <a:t>0001_initial.py</a:t>
            </a:r>
            <a:r>
              <a:rPr lang="zh-TW" altLang="en-US" dirty="0"/>
              <a:t>檔案記錄第一次</a:t>
            </a:r>
            <a:r>
              <a:rPr lang="en-US" altLang="zh-TW" dirty="0"/>
              <a:t>Model</a:t>
            </a:r>
            <a:r>
              <a:rPr lang="zh-TW" altLang="en-US" dirty="0"/>
              <a:t>設定的資料表內容，因為一開始只有一個設定，所以只有</a:t>
            </a:r>
            <a:r>
              <a:rPr lang="en-US" altLang="zh-TW" dirty="0"/>
              <a:t>0001</a:t>
            </a:r>
            <a:r>
              <a:rPr lang="zh-TW" altLang="en-US" dirty="0"/>
              <a:t>這個版號</a:t>
            </a:r>
            <a:endParaRPr lang="en-US" altLang="zh-TW" dirty="0"/>
          </a:p>
        </p:txBody>
      </p:sp>
    </p:spTree>
    <p:extLst>
      <p:ext uri="{BB962C8B-B14F-4D97-AF65-F5344CB8AC3E}">
        <p14:creationId xmlns:p14="http://schemas.microsoft.com/office/powerpoint/2010/main" val="4080793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E78D83-1FC3-50CA-B403-84DD3B523F4B}"/>
              </a:ext>
            </a:extLst>
          </p:cNvPr>
          <p:cNvSpPr>
            <a:spLocks noGrp="1"/>
          </p:cNvSpPr>
          <p:nvPr>
            <p:ph type="title"/>
          </p:nvPr>
        </p:nvSpPr>
        <p:spPr/>
        <p:txBody>
          <a:bodyPr/>
          <a:lstStyle/>
          <a:p>
            <a:r>
              <a:rPr lang="zh-TW" altLang="en-US" dirty="0"/>
              <a:t>檢視實際的</a:t>
            </a:r>
            <a:r>
              <a:rPr lang="en-US" altLang="zh-TW" dirty="0"/>
              <a:t>SQL</a:t>
            </a:r>
            <a:r>
              <a:rPr lang="zh-TW" altLang="en-US" dirty="0"/>
              <a:t>程式碼</a:t>
            </a:r>
          </a:p>
        </p:txBody>
      </p:sp>
      <p:sp>
        <p:nvSpPr>
          <p:cNvPr id="3" name="投影片編號版面配置區 2">
            <a:extLst>
              <a:ext uri="{FF2B5EF4-FFF2-40B4-BE49-F238E27FC236}">
                <a16:creationId xmlns:a16="http://schemas.microsoft.com/office/drawing/2014/main" id="{232EAAFE-B0BE-5E22-506D-93DDFCCA83E6}"/>
              </a:ext>
            </a:extLst>
          </p:cNvPr>
          <p:cNvSpPr>
            <a:spLocks noGrp="1"/>
          </p:cNvSpPr>
          <p:nvPr>
            <p:ph type="sldNum" sz="quarter" idx="12"/>
          </p:nvPr>
        </p:nvSpPr>
        <p:spPr/>
        <p:txBody>
          <a:bodyPr/>
          <a:lstStyle/>
          <a:p>
            <a:fld id="{369E457D-EE12-4164-8E32-9DDD40A95892}" type="slidenum">
              <a:rPr lang="zh-TW" altLang="en-US" smtClean="0"/>
              <a:pPr/>
              <a:t>23</a:t>
            </a:fld>
            <a:endParaRPr lang="zh-TW" altLang="en-US"/>
          </a:p>
        </p:txBody>
      </p:sp>
      <p:sp>
        <p:nvSpPr>
          <p:cNvPr id="4" name="內容版面配置區 3">
            <a:extLst>
              <a:ext uri="{FF2B5EF4-FFF2-40B4-BE49-F238E27FC236}">
                <a16:creationId xmlns:a16="http://schemas.microsoft.com/office/drawing/2014/main" id="{D99DA9A0-0A35-4E53-5866-9131ABC7E086}"/>
              </a:ext>
            </a:extLst>
          </p:cNvPr>
          <p:cNvSpPr>
            <a:spLocks noGrp="1"/>
          </p:cNvSpPr>
          <p:nvPr>
            <p:ph sz="quarter" idx="1"/>
          </p:nvPr>
        </p:nvSpPr>
        <p:spPr/>
        <p:txBody>
          <a:bodyPr/>
          <a:lstStyle/>
          <a:p>
            <a:pPr marL="0" indent="0">
              <a:buNone/>
            </a:pPr>
            <a:r>
              <a:rPr lang="en-US" altLang="zh-TW" sz="1800" kern="100" dirty="0">
                <a:effectLst/>
                <a:latin typeface="Courier New" panose="02070309020205020404" pitchFamily="49" charset="0"/>
                <a:ea typeface="標楷體" panose="03000509000000000000" pitchFamily="65" charset="-120"/>
              </a:rPr>
              <a:t>(dj4ch04) PS D:\dj4book\dj4ch04&gt; </a:t>
            </a:r>
            <a:r>
              <a:rPr lang="en-US" altLang="zh-TW" sz="1800" kern="100" dirty="0">
                <a:solidFill>
                  <a:srgbClr val="FF0000"/>
                </a:solidFill>
                <a:effectLst/>
                <a:latin typeface="Courier New" panose="02070309020205020404" pitchFamily="49" charset="0"/>
                <a:ea typeface="標楷體" panose="03000509000000000000" pitchFamily="65" charset="-120"/>
              </a:rPr>
              <a:t>python manage.py </a:t>
            </a:r>
            <a:r>
              <a:rPr lang="en-US" altLang="zh-TW" sz="1800" kern="100" dirty="0" err="1">
                <a:solidFill>
                  <a:srgbClr val="FF0000"/>
                </a:solidFill>
                <a:effectLst/>
                <a:latin typeface="Courier New" panose="02070309020205020404" pitchFamily="49" charset="0"/>
                <a:ea typeface="標楷體" panose="03000509000000000000" pitchFamily="65" charset="-120"/>
              </a:rPr>
              <a:t>sqlmigrate</a:t>
            </a:r>
            <a:r>
              <a:rPr lang="en-US" altLang="zh-TW" sz="1800" kern="100" dirty="0">
                <a:solidFill>
                  <a:srgbClr val="FF0000"/>
                </a:solidFill>
                <a:effectLst/>
                <a:latin typeface="Courier New" panose="02070309020205020404" pitchFamily="49" charset="0"/>
                <a:ea typeface="標楷體" panose="03000509000000000000" pitchFamily="65" charset="-120"/>
              </a:rPr>
              <a:t> </a:t>
            </a:r>
            <a:r>
              <a:rPr lang="en-US" altLang="zh-TW" sz="1800" kern="100" dirty="0" err="1">
                <a:solidFill>
                  <a:srgbClr val="FF0000"/>
                </a:solidFill>
                <a:effectLst/>
                <a:latin typeface="Courier New" panose="02070309020205020404" pitchFamily="49" charset="0"/>
                <a:ea typeface="標楷體" panose="03000509000000000000" pitchFamily="65" charset="-120"/>
              </a:rPr>
              <a:t>mysite</a:t>
            </a:r>
            <a:r>
              <a:rPr lang="en-US" altLang="zh-TW" sz="1800" kern="100" dirty="0">
                <a:solidFill>
                  <a:srgbClr val="FF0000"/>
                </a:solidFill>
                <a:effectLst/>
                <a:latin typeface="Courier New" panose="02070309020205020404" pitchFamily="49" charset="0"/>
                <a:ea typeface="標楷體" panose="03000509000000000000" pitchFamily="65" charset="-120"/>
              </a:rPr>
              <a:t> 0001</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BEGIN;</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 Create model </a:t>
            </a:r>
            <a:r>
              <a:rPr lang="en-US" altLang="zh-TW" sz="1800" kern="100" dirty="0" err="1">
                <a:effectLst/>
                <a:latin typeface="Courier New" panose="02070309020205020404" pitchFamily="49" charset="0"/>
                <a:ea typeface="標楷體" panose="03000509000000000000" pitchFamily="65" charset="-120"/>
              </a:rPr>
              <a:t>NewTable</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CREATE TABLE "</a:t>
            </a:r>
            <a:r>
              <a:rPr lang="en-US" altLang="zh-TW" sz="1800" kern="100" dirty="0" err="1">
                <a:effectLst/>
                <a:latin typeface="Courier New" panose="02070309020205020404" pitchFamily="49" charset="0"/>
                <a:ea typeface="標楷體" panose="03000509000000000000" pitchFamily="65" charset="-120"/>
              </a:rPr>
              <a:t>mysite_newtable</a:t>
            </a:r>
            <a:r>
              <a:rPr lang="en-US" altLang="zh-TW" sz="1800" kern="100" dirty="0">
                <a:effectLst/>
                <a:latin typeface="Courier New" panose="02070309020205020404" pitchFamily="49" charset="0"/>
                <a:ea typeface="標楷體" panose="03000509000000000000" pitchFamily="65" charset="-120"/>
              </a:rPr>
              <a:t>" ("id" integer NOT NULL PRIMARY KEY AUTOINCREMENT, "</a:t>
            </a:r>
            <a:r>
              <a:rPr lang="en-US" altLang="zh-TW" sz="1800" kern="100" dirty="0" err="1">
                <a:effectLst/>
                <a:latin typeface="Courier New" panose="02070309020205020404" pitchFamily="49" charset="0"/>
                <a:ea typeface="標楷體" panose="03000509000000000000" pitchFamily="65" charset="-120"/>
              </a:rPr>
              <a:t>bigint_f</a:t>
            </a:r>
            <a:r>
              <a:rPr lang="en-US" altLang="zh-TW" sz="1800" kern="100" dirty="0">
                <a:effectLst/>
                <a:latin typeface="Courier New" panose="02070309020205020404" pitchFamily="49" charset="0"/>
                <a:ea typeface="標楷體" panose="03000509000000000000" pitchFamily="65" charset="-120"/>
              </a:rPr>
              <a:t>" </a:t>
            </a:r>
            <a:r>
              <a:rPr lang="en-US" altLang="zh-TW" sz="1800" kern="100" dirty="0" err="1">
                <a:effectLst/>
                <a:latin typeface="Courier New" panose="02070309020205020404" pitchFamily="49" charset="0"/>
                <a:ea typeface="標楷體" panose="03000509000000000000" pitchFamily="65" charset="-120"/>
              </a:rPr>
              <a:t>bigint</a:t>
            </a:r>
            <a:r>
              <a:rPr lang="en-US" altLang="zh-TW" sz="1800" kern="100" dirty="0">
                <a:effectLst/>
                <a:latin typeface="Courier New" panose="02070309020205020404" pitchFamily="49" charset="0"/>
                <a:ea typeface="標楷體" panose="03000509000000000000" pitchFamily="65" charset="-120"/>
              </a:rPr>
              <a:t> NOT NULL, "</a:t>
            </a:r>
            <a:r>
              <a:rPr lang="en-US" altLang="zh-TW" sz="1800" kern="100" dirty="0" err="1">
                <a:effectLst/>
                <a:latin typeface="Courier New" panose="02070309020205020404" pitchFamily="49" charset="0"/>
                <a:ea typeface="標楷體" panose="03000509000000000000" pitchFamily="65" charset="-120"/>
              </a:rPr>
              <a:t>bool_f</a:t>
            </a:r>
            <a:r>
              <a:rPr lang="en-US" altLang="zh-TW" sz="1800" kern="100" dirty="0">
                <a:effectLst/>
                <a:latin typeface="Courier New" panose="02070309020205020404" pitchFamily="49" charset="0"/>
                <a:ea typeface="標楷體" panose="03000509000000000000" pitchFamily="65" charset="-120"/>
              </a:rPr>
              <a:t>" bool NOT NULL, "</a:t>
            </a:r>
            <a:r>
              <a:rPr lang="en-US" altLang="zh-TW" sz="1800" kern="100" dirty="0" err="1">
                <a:effectLst/>
                <a:latin typeface="Courier New" panose="02070309020205020404" pitchFamily="49" charset="0"/>
                <a:ea typeface="標楷體" panose="03000509000000000000" pitchFamily="65" charset="-120"/>
              </a:rPr>
              <a:t>date_f</a:t>
            </a:r>
            <a:r>
              <a:rPr lang="en-US" altLang="zh-TW" sz="1800" kern="100" dirty="0">
                <a:effectLst/>
                <a:latin typeface="Courier New" panose="02070309020205020404" pitchFamily="49" charset="0"/>
                <a:ea typeface="標楷體" panose="03000509000000000000" pitchFamily="65" charset="-120"/>
              </a:rPr>
              <a:t>" date NOT NULL, "</a:t>
            </a:r>
            <a:r>
              <a:rPr lang="en-US" altLang="zh-TW" sz="1800" kern="100" dirty="0" err="1">
                <a:effectLst/>
                <a:latin typeface="Courier New" panose="02070309020205020404" pitchFamily="49" charset="0"/>
                <a:ea typeface="標楷體" panose="03000509000000000000" pitchFamily="65" charset="-120"/>
              </a:rPr>
              <a:t>char_f</a:t>
            </a:r>
            <a:r>
              <a:rPr lang="en-US" altLang="zh-TW" sz="1800" kern="100" dirty="0">
                <a:effectLst/>
                <a:latin typeface="Courier New" panose="02070309020205020404" pitchFamily="49" charset="0"/>
                <a:ea typeface="標楷體" panose="03000509000000000000" pitchFamily="65" charset="-120"/>
              </a:rPr>
              <a:t>" varchar(20) NOT NULL UNIQUE, "</a:t>
            </a:r>
            <a:r>
              <a:rPr lang="en-US" altLang="zh-TW" sz="1800" kern="100" dirty="0" err="1">
                <a:effectLst/>
                <a:latin typeface="Courier New" panose="02070309020205020404" pitchFamily="49" charset="0"/>
                <a:ea typeface="標楷體" panose="03000509000000000000" pitchFamily="65" charset="-120"/>
              </a:rPr>
              <a:t>datetime_f</a:t>
            </a:r>
            <a:r>
              <a:rPr lang="en-US" altLang="zh-TW" sz="1800" kern="100" dirty="0">
                <a:effectLst/>
                <a:latin typeface="Courier New" panose="02070309020205020404" pitchFamily="49" charset="0"/>
                <a:ea typeface="標楷體" panose="03000509000000000000" pitchFamily="65" charset="-120"/>
              </a:rPr>
              <a:t>" datetime NOT NULL, "</a:t>
            </a:r>
            <a:r>
              <a:rPr lang="en-US" altLang="zh-TW" sz="1800" kern="100" dirty="0" err="1">
                <a:effectLst/>
                <a:latin typeface="Courier New" panose="02070309020205020404" pitchFamily="49" charset="0"/>
                <a:ea typeface="標楷體" panose="03000509000000000000" pitchFamily="65" charset="-120"/>
              </a:rPr>
              <a:t>decimal_f</a:t>
            </a:r>
            <a:r>
              <a:rPr lang="en-US" altLang="zh-TW" sz="1800" kern="100" dirty="0">
                <a:effectLst/>
                <a:latin typeface="Courier New" panose="02070309020205020404" pitchFamily="49" charset="0"/>
                <a:ea typeface="標楷體" panose="03000509000000000000" pitchFamily="65" charset="-120"/>
              </a:rPr>
              <a:t>" decimal NOT NULL, "</a:t>
            </a:r>
            <a:r>
              <a:rPr lang="en-US" altLang="zh-TW" sz="1800" kern="100" dirty="0" err="1">
                <a:effectLst/>
                <a:latin typeface="Courier New" panose="02070309020205020404" pitchFamily="49" charset="0"/>
                <a:ea typeface="標楷體" panose="03000509000000000000" pitchFamily="65" charset="-120"/>
              </a:rPr>
              <a:t>float_f</a:t>
            </a:r>
            <a:r>
              <a:rPr lang="en-US" altLang="zh-TW" sz="1800" kern="100" dirty="0">
                <a:effectLst/>
                <a:latin typeface="Courier New" panose="02070309020205020404" pitchFamily="49" charset="0"/>
                <a:ea typeface="標楷體" panose="03000509000000000000" pitchFamily="65" charset="-120"/>
              </a:rPr>
              <a:t>" real NULL, "</a:t>
            </a:r>
            <a:r>
              <a:rPr lang="en-US" altLang="zh-TW" sz="1800" kern="100" dirty="0" err="1">
                <a:effectLst/>
                <a:latin typeface="Courier New" panose="02070309020205020404" pitchFamily="49" charset="0"/>
                <a:ea typeface="標楷體" panose="03000509000000000000" pitchFamily="65" charset="-120"/>
              </a:rPr>
              <a:t>int_f</a:t>
            </a:r>
            <a:r>
              <a:rPr lang="en-US" altLang="zh-TW" sz="1800" kern="100" dirty="0">
                <a:effectLst/>
                <a:latin typeface="Courier New" panose="02070309020205020404" pitchFamily="49" charset="0"/>
                <a:ea typeface="標楷體" panose="03000509000000000000" pitchFamily="65" charset="-120"/>
              </a:rPr>
              <a:t>" integer NOT NULL, "</a:t>
            </a:r>
            <a:r>
              <a:rPr lang="en-US" altLang="zh-TW" sz="1800" kern="100" dirty="0" err="1">
                <a:effectLst/>
                <a:latin typeface="Courier New" panose="02070309020205020404" pitchFamily="49" charset="0"/>
                <a:ea typeface="標楷體" panose="03000509000000000000" pitchFamily="65" charset="-120"/>
              </a:rPr>
              <a:t>text_f</a:t>
            </a:r>
            <a:r>
              <a:rPr lang="en-US" altLang="zh-TW" sz="1800" kern="100" dirty="0">
                <a:effectLst/>
                <a:latin typeface="Courier New" panose="02070309020205020404" pitchFamily="49" charset="0"/>
                <a:ea typeface="標楷體" panose="03000509000000000000" pitchFamily="65" charset="-120"/>
              </a:rPr>
              <a:t>" text NOT NULL);</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dirty="0">
                <a:effectLst/>
                <a:latin typeface="Calibri" panose="020F0502020204030204" pitchFamily="34" charset="0"/>
                <a:ea typeface="新細明體" panose="02020500000000000000" pitchFamily="18" charset="-120"/>
                <a:cs typeface="Times New Roman" panose="02020603050405020304" pitchFamily="18" charset="0"/>
              </a:rPr>
              <a:t>COMMIT;</a:t>
            </a:r>
            <a:endParaRPr lang="zh-TW" altLang="en-US" dirty="0"/>
          </a:p>
        </p:txBody>
      </p:sp>
    </p:spTree>
    <p:extLst>
      <p:ext uri="{BB962C8B-B14F-4D97-AF65-F5344CB8AC3E}">
        <p14:creationId xmlns:p14="http://schemas.microsoft.com/office/powerpoint/2010/main" val="18366451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admin.py</a:t>
            </a:r>
            <a:r>
              <a:rPr lang="zh-TW" altLang="zh-TW" dirty="0"/>
              <a:t>中建立資料表管理介面</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24</a:t>
            </a:fld>
            <a:endParaRPr lang="zh-TW" altLang="en-US"/>
          </a:p>
        </p:txBody>
      </p:sp>
      <p:sp>
        <p:nvSpPr>
          <p:cNvPr id="4" name="內容版面配置區 3"/>
          <p:cNvSpPr>
            <a:spLocks noGrp="1"/>
          </p:cNvSpPr>
          <p:nvPr>
            <p:ph sz="quarter" idx="1"/>
          </p:nvPr>
        </p:nvSpPr>
        <p:spPr/>
        <p:txBody>
          <a:bodyPr>
            <a:normAutofit/>
          </a:bodyPr>
          <a:lstStyle/>
          <a:p>
            <a:r>
              <a:rPr lang="zh-TW" altLang="zh-TW" sz="2400" dirty="0"/>
              <a:t>在</a:t>
            </a:r>
            <a:r>
              <a:rPr lang="en-US" altLang="zh-TW" sz="2400" dirty="0"/>
              <a:t>admin.py</a:t>
            </a:r>
            <a:r>
              <a:rPr lang="zh-TW" altLang="zh-TW" sz="2400" dirty="0"/>
              <a:t>中加入這個</a:t>
            </a:r>
            <a:r>
              <a:rPr lang="en-US" altLang="zh-TW" sz="2400" dirty="0" err="1"/>
              <a:t>NewTable</a:t>
            </a:r>
            <a:r>
              <a:rPr lang="zh-TW" altLang="zh-TW" sz="2400" dirty="0"/>
              <a:t>，就可以在</a:t>
            </a:r>
            <a:r>
              <a:rPr lang="en-US" altLang="zh-TW" sz="2400" dirty="0"/>
              <a:t>/admin</a:t>
            </a:r>
            <a:r>
              <a:rPr lang="zh-TW" altLang="zh-TW" sz="2400" dirty="0"/>
              <a:t>中管理這張資料表</a:t>
            </a:r>
            <a:endParaRPr lang="en-US" altLang="zh-TW" sz="2400" dirty="0"/>
          </a:p>
          <a:p>
            <a:pPr marL="274320" lvl="1" indent="0">
              <a:buNone/>
            </a:pPr>
            <a:r>
              <a:rPr lang="en-US" altLang="zh-TW" sz="2000" dirty="0"/>
              <a:t>from </a:t>
            </a:r>
            <a:r>
              <a:rPr lang="en-US" altLang="zh-TW" sz="2000" dirty="0" err="1"/>
              <a:t>django.contrib</a:t>
            </a:r>
            <a:r>
              <a:rPr lang="en-US" altLang="zh-TW" sz="2000" dirty="0"/>
              <a:t> import admin</a:t>
            </a:r>
          </a:p>
          <a:p>
            <a:pPr marL="274320" lvl="1" indent="0">
              <a:buNone/>
            </a:pPr>
            <a:r>
              <a:rPr lang="en-US" altLang="zh-TW" sz="2000" dirty="0">
                <a:solidFill>
                  <a:srgbClr val="FF0000"/>
                </a:solidFill>
              </a:rPr>
              <a:t>from </a:t>
            </a:r>
            <a:r>
              <a:rPr lang="en-US" altLang="zh-TW" sz="2000" dirty="0" err="1">
                <a:solidFill>
                  <a:srgbClr val="FF0000"/>
                </a:solidFill>
              </a:rPr>
              <a:t>mysite.models</a:t>
            </a:r>
            <a:r>
              <a:rPr lang="en-US" altLang="zh-TW" sz="2000" dirty="0">
                <a:solidFill>
                  <a:srgbClr val="FF0000"/>
                </a:solidFill>
              </a:rPr>
              <a:t> import </a:t>
            </a:r>
            <a:r>
              <a:rPr lang="en-US" altLang="zh-TW" sz="2000" dirty="0" err="1">
                <a:solidFill>
                  <a:srgbClr val="FF0000"/>
                </a:solidFill>
              </a:rPr>
              <a:t>NewTable</a:t>
            </a:r>
            <a:endParaRPr lang="en-US" altLang="zh-TW" sz="2000" dirty="0">
              <a:solidFill>
                <a:srgbClr val="FF0000"/>
              </a:solidFill>
            </a:endParaRPr>
          </a:p>
          <a:p>
            <a:pPr marL="274320" lvl="1" indent="0">
              <a:buNone/>
            </a:pPr>
            <a:r>
              <a:rPr lang="en-US" altLang="zh-TW" sz="2000" dirty="0" err="1">
                <a:solidFill>
                  <a:srgbClr val="FF0000"/>
                </a:solidFill>
              </a:rPr>
              <a:t>admin.site.register</a:t>
            </a:r>
            <a:r>
              <a:rPr lang="en-US" altLang="zh-TW" sz="2000" dirty="0">
                <a:solidFill>
                  <a:srgbClr val="FF0000"/>
                </a:solidFill>
              </a:rPr>
              <a:t>(</a:t>
            </a:r>
            <a:r>
              <a:rPr lang="en-US" altLang="zh-TW" sz="2000" dirty="0" err="1">
                <a:solidFill>
                  <a:srgbClr val="FF0000"/>
                </a:solidFill>
              </a:rPr>
              <a:t>NewTable</a:t>
            </a:r>
            <a:r>
              <a:rPr lang="en-US" altLang="zh-TW" sz="2000" dirty="0">
                <a:solidFill>
                  <a:srgbClr val="FF0000"/>
                </a:solidFill>
              </a:rPr>
              <a:t>)</a:t>
            </a:r>
          </a:p>
          <a:p>
            <a:r>
              <a:rPr lang="zh-TW" altLang="en-US" sz="2400" dirty="0"/>
              <a:t>瀏覽器連線到</a:t>
            </a:r>
            <a:r>
              <a:rPr lang="en-US" altLang="zh-TW" sz="2400" dirty="0"/>
              <a:t>localhost:8000</a:t>
            </a:r>
            <a:r>
              <a:rPr lang="en-US" altLang="zh-TW" sz="2400" dirty="0">
                <a:solidFill>
                  <a:srgbClr val="FF0000"/>
                </a:solidFill>
              </a:rPr>
              <a:t>/admin</a:t>
            </a:r>
            <a:endParaRPr lang="zh-TW" altLang="en-US" sz="2400" dirty="0">
              <a:solidFill>
                <a:srgbClr val="FF0000"/>
              </a:solidFill>
            </a:endParaRPr>
          </a:p>
        </p:txBody>
      </p:sp>
      <p:pic>
        <p:nvPicPr>
          <p:cNvPr id="6" name="圖片 5">
            <a:extLst>
              <a:ext uri="{FF2B5EF4-FFF2-40B4-BE49-F238E27FC236}">
                <a16:creationId xmlns:a16="http://schemas.microsoft.com/office/drawing/2014/main" id="{71BFB975-7FDF-70B3-4C10-60D3C3C77CE6}"/>
              </a:ext>
            </a:extLst>
          </p:cNvPr>
          <p:cNvPicPr>
            <a:picLocks noChangeAspect="1"/>
          </p:cNvPicPr>
          <p:nvPr/>
        </p:nvPicPr>
        <p:blipFill>
          <a:blip r:embed="rId2"/>
          <a:stretch>
            <a:fillRect/>
          </a:stretch>
        </p:blipFill>
        <p:spPr>
          <a:xfrm>
            <a:off x="1835696" y="3862970"/>
            <a:ext cx="5472608" cy="2935964"/>
          </a:xfrm>
          <a:prstGeom prst="rect">
            <a:avLst/>
          </a:prstGeom>
        </p:spPr>
      </p:pic>
    </p:spTree>
    <p:extLst>
      <p:ext uri="{BB962C8B-B14F-4D97-AF65-F5344CB8AC3E}">
        <p14:creationId xmlns:p14="http://schemas.microsoft.com/office/powerpoint/2010/main" val="1326644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欄位提供候選資料</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25</a:t>
            </a:fld>
            <a:endParaRPr lang="zh-TW" altLang="en-US"/>
          </a:p>
        </p:txBody>
      </p:sp>
      <p:sp>
        <p:nvSpPr>
          <p:cNvPr id="4" name="內容版面配置區 3"/>
          <p:cNvSpPr>
            <a:spLocks noGrp="1"/>
          </p:cNvSpPr>
          <p:nvPr>
            <p:ph sz="quarter" idx="1"/>
          </p:nvPr>
        </p:nvSpPr>
        <p:spPr>
          <a:xfrm>
            <a:off x="301752" y="1527048"/>
            <a:ext cx="8590728" cy="5214320"/>
          </a:xfrm>
        </p:spPr>
        <p:txBody>
          <a:bodyPr>
            <a:normAutofit/>
          </a:bodyPr>
          <a:lstStyle/>
          <a:p>
            <a:r>
              <a:rPr lang="zh-TW" altLang="zh-TW" dirty="0"/>
              <a:t>在</a:t>
            </a:r>
            <a:r>
              <a:rPr lang="en-US" altLang="zh-TW" dirty="0"/>
              <a:t>models.py</a:t>
            </a:r>
            <a:r>
              <a:rPr lang="zh-TW" altLang="zh-TW" dirty="0"/>
              <a:t>中加入如下所示的內容</a:t>
            </a:r>
            <a:r>
              <a:rPr lang="zh-TW" altLang="en-US" dirty="0"/>
              <a:t>（下面的</a:t>
            </a:r>
            <a:r>
              <a:rPr lang="en-US" altLang="zh-TW" dirty="0" err="1"/>
              <a:t>Samill</a:t>
            </a:r>
            <a:r>
              <a:rPr lang="zh-TW" altLang="en-US" dirty="0"/>
              <a:t>是故意拼錯的）</a:t>
            </a:r>
            <a:r>
              <a:rPr lang="zh-TW" altLang="zh-TW" dirty="0"/>
              <a:t>：</a:t>
            </a:r>
          </a:p>
          <a:p>
            <a:pPr marL="274320" lvl="1" indent="0">
              <a:buNone/>
            </a:pPr>
            <a:r>
              <a:rPr lang="en-US" altLang="zh-TW" sz="2000" dirty="0"/>
              <a:t>class Product(</a:t>
            </a:r>
            <a:r>
              <a:rPr lang="en-US" altLang="zh-TW" sz="2000" dirty="0" err="1"/>
              <a:t>models.Model</a:t>
            </a:r>
            <a:r>
              <a:rPr lang="en-US" altLang="zh-TW" sz="2000" dirty="0"/>
              <a:t>):</a:t>
            </a:r>
            <a:endParaRPr lang="zh-TW" altLang="zh-TW" sz="2000" dirty="0"/>
          </a:p>
          <a:p>
            <a:pPr marL="274320" lvl="1" indent="0">
              <a:buNone/>
            </a:pPr>
            <a:r>
              <a:rPr lang="en-US" altLang="zh-TW" sz="2000" dirty="0">
                <a:solidFill>
                  <a:srgbClr val="FF0000"/>
                </a:solidFill>
              </a:rPr>
              <a:t>    SIZES = (</a:t>
            </a:r>
            <a:endParaRPr lang="zh-TW" altLang="zh-TW" sz="2000" dirty="0">
              <a:solidFill>
                <a:srgbClr val="FF0000"/>
              </a:solidFill>
            </a:endParaRPr>
          </a:p>
          <a:p>
            <a:pPr marL="274320" lvl="1" indent="0">
              <a:buNone/>
            </a:pPr>
            <a:r>
              <a:rPr lang="en-US" altLang="zh-TW" sz="2000" dirty="0">
                <a:solidFill>
                  <a:srgbClr val="FF0000"/>
                </a:solidFill>
              </a:rPr>
              <a:t>        ('S', '</a:t>
            </a:r>
            <a:r>
              <a:rPr lang="en-US" altLang="zh-TW" sz="3200" b="1" dirty="0" err="1">
                <a:solidFill>
                  <a:srgbClr val="FF0000"/>
                </a:solidFill>
              </a:rPr>
              <a:t>Smaill</a:t>
            </a:r>
            <a:r>
              <a:rPr lang="en-US" altLang="zh-TW" sz="2000" dirty="0">
                <a:solidFill>
                  <a:srgbClr val="FF0000"/>
                </a:solidFill>
              </a:rPr>
              <a:t>'),</a:t>
            </a:r>
            <a:endParaRPr lang="zh-TW" altLang="zh-TW" sz="2000" dirty="0">
              <a:solidFill>
                <a:srgbClr val="FF0000"/>
              </a:solidFill>
            </a:endParaRPr>
          </a:p>
          <a:p>
            <a:pPr marL="274320" lvl="1" indent="0">
              <a:buNone/>
            </a:pPr>
            <a:r>
              <a:rPr lang="en-US" altLang="zh-TW" sz="2000" dirty="0">
                <a:solidFill>
                  <a:srgbClr val="FF0000"/>
                </a:solidFill>
              </a:rPr>
              <a:t>        ('M', 'Medium'),</a:t>
            </a:r>
            <a:endParaRPr lang="zh-TW" altLang="zh-TW" sz="2000" dirty="0">
              <a:solidFill>
                <a:srgbClr val="FF0000"/>
              </a:solidFill>
            </a:endParaRPr>
          </a:p>
          <a:p>
            <a:pPr marL="274320" lvl="1" indent="0">
              <a:buNone/>
            </a:pPr>
            <a:r>
              <a:rPr lang="en-US" altLang="zh-TW" sz="2000" dirty="0">
                <a:solidFill>
                  <a:srgbClr val="FF0000"/>
                </a:solidFill>
              </a:rPr>
              <a:t>        ('L', 'Large'),</a:t>
            </a:r>
            <a:endParaRPr lang="zh-TW" altLang="zh-TW" sz="2000" dirty="0">
              <a:solidFill>
                <a:srgbClr val="FF0000"/>
              </a:solidFill>
            </a:endParaRPr>
          </a:p>
          <a:p>
            <a:pPr marL="274320" lvl="1" indent="0">
              <a:buNone/>
            </a:pPr>
            <a:r>
              <a:rPr lang="en-US" altLang="zh-TW" sz="2000" dirty="0">
                <a:solidFill>
                  <a:srgbClr val="FF0000"/>
                </a:solidFill>
              </a:rPr>
              <a:t>    )</a:t>
            </a:r>
            <a:endParaRPr lang="zh-TW" altLang="zh-TW" sz="2000" dirty="0">
              <a:solidFill>
                <a:srgbClr val="FF0000"/>
              </a:solidFill>
            </a:endParaRPr>
          </a:p>
          <a:p>
            <a:pPr marL="274320" lvl="1" indent="0">
              <a:buNone/>
            </a:pPr>
            <a:r>
              <a:rPr lang="en-US" altLang="zh-TW" sz="2000" dirty="0"/>
              <a:t>    </a:t>
            </a:r>
            <a:r>
              <a:rPr lang="en-US" altLang="zh-TW" sz="2000" dirty="0" err="1"/>
              <a:t>sku</a:t>
            </a:r>
            <a:r>
              <a:rPr lang="en-US" altLang="zh-TW" sz="2000" dirty="0"/>
              <a:t> = </a:t>
            </a:r>
            <a:r>
              <a:rPr lang="en-US" altLang="zh-TW" sz="2000" dirty="0" err="1"/>
              <a:t>models.CharField</a:t>
            </a:r>
            <a:r>
              <a:rPr lang="en-US" altLang="zh-TW" sz="2000" dirty="0"/>
              <a:t>(</a:t>
            </a:r>
            <a:r>
              <a:rPr lang="en-US" altLang="zh-TW" sz="2000" dirty="0" err="1"/>
              <a:t>max_length</a:t>
            </a:r>
            <a:r>
              <a:rPr lang="en-US" altLang="zh-TW" sz="2000" dirty="0"/>
              <a:t>=5)</a:t>
            </a:r>
            <a:endParaRPr lang="zh-TW" altLang="zh-TW" sz="2000" dirty="0"/>
          </a:p>
          <a:p>
            <a:pPr marL="274320" lvl="1" indent="0">
              <a:buNone/>
            </a:pPr>
            <a:r>
              <a:rPr lang="en-US" altLang="zh-TW" sz="2000" dirty="0"/>
              <a:t>    name = </a:t>
            </a:r>
            <a:r>
              <a:rPr lang="en-US" altLang="zh-TW" sz="2000" dirty="0" err="1"/>
              <a:t>models.CharField</a:t>
            </a:r>
            <a:r>
              <a:rPr lang="en-US" altLang="zh-TW" sz="2000" dirty="0"/>
              <a:t>(</a:t>
            </a:r>
            <a:r>
              <a:rPr lang="en-US" altLang="zh-TW" sz="2000" dirty="0" err="1"/>
              <a:t>max_length</a:t>
            </a:r>
            <a:r>
              <a:rPr lang="en-US" altLang="zh-TW" sz="2000" dirty="0"/>
              <a:t>=20)</a:t>
            </a:r>
            <a:endParaRPr lang="zh-TW" altLang="zh-TW" sz="2000" dirty="0"/>
          </a:p>
          <a:p>
            <a:pPr marL="274320" lvl="1" indent="0">
              <a:buNone/>
            </a:pPr>
            <a:r>
              <a:rPr lang="en-US" altLang="zh-TW" sz="2000" dirty="0"/>
              <a:t>    price = </a:t>
            </a:r>
            <a:r>
              <a:rPr lang="en-US" altLang="zh-TW" sz="2000" dirty="0" err="1"/>
              <a:t>models.PositiveIntegerField</a:t>
            </a:r>
            <a:r>
              <a:rPr lang="en-US" altLang="zh-TW" sz="2000" dirty="0"/>
              <a:t>()</a:t>
            </a:r>
            <a:endParaRPr lang="zh-TW" altLang="zh-TW" sz="2000" dirty="0"/>
          </a:p>
          <a:p>
            <a:pPr marL="274320" lvl="1" indent="0">
              <a:buNone/>
            </a:pPr>
            <a:r>
              <a:rPr lang="en-US" altLang="zh-TW" sz="2000" dirty="0"/>
              <a:t>    size = </a:t>
            </a:r>
            <a:r>
              <a:rPr lang="en-US" altLang="zh-TW" sz="2000" dirty="0" err="1"/>
              <a:t>models.CharField</a:t>
            </a:r>
            <a:r>
              <a:rPr lang="en-US" altLang="zh-TW" sz="2000" dirty="0"/>
              <a:t>(</a:t>
            </a:r>
            <a:r>
              <a:rPr lang="en-US" altLang="zh-TW" sz="2000" dirty="0" err="1"/>
              <a:t>max_length</a:t>
            </a:r>
            <a:r>
              <a:rPr lang="en-US" altLang="zh-TW" sz="2000" dirty="0"/>
              <a:t>=1, </a:t>
            </a:r>
            <a:r>
              <a:rPr lang="en-US" altLang="zh-TW" sz="2000" dirty="0">
                <a:solidFill>
                  <a:srgbClr val="FF0000"/>
                </a:solidFill>
              </a:rPr>
              <a:t>choices=SIZES</a:t>
            </a:r>
            <a:r>
              <a:rPr lang="en-US" altLang="zh-TW" sz="2000" dirty="0"/>
              <a:t>)</a:t>
            </a:r>
          </a:p>
          <a:p>
            <a:pPr marL="274320" lvl="1" indent="0">
              <a:buNone/>
            </a:pPr>
            <a:r>
              <a:rPr lang="en-US" altLang="zh-TW" dirty="0"/>
              <a:t>    qty = </a:t>
            </a:r>
            <a:r>
              <a:rPr lang="en-US" altLang="zh-TW" dirty="0" err="1"/>
              <a:t>models.IntegerField</a:t>
            </a:r>
            <a:r>
              <a:rPr lang="en-US" altLang="zh-TW" dirty="0"/>
              <a:t>(default=0)</a:t>
            </a:r>
          </a:p>
          <a:p>
            <a:pPr marL="274320" lvl="1" indent="0">
              <a:buNone/>
            </a:pPr>
            <a:endParaRPr lang="zh-TW" altLang="zh-TW" sz="2000" dirty="0"/>
          </a:p>
          <a:p>
            <a:endParaRPr lang="zh-TW" altLang="en-US" dirty="0"/>
          </a:p>
        </p:txBody>
      </p:sp>
    </p:spTree>
    <p:extLst>
      <p:ext uri="{BB962C8B-B14F-4D97-AF65-F5344CB8AC3E}">
        <p14:creationId xmlns:p14="http://schemas.microsoft.com/office/powerpoint/2010/main" val="33583349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欄位提供候選資料</a:t>
            </a:r>
            <a:r>
              <a:rPr lang="en-US" altLang="zh-TW" dirty="0"/>
              <a:t>- admin.py</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26</a:t>
            </a:fld>
            <a:endParaRPr lang="zh-TW" altLang="en-US"/>
          </a:p>
        </p:txBody>
      </p:sp>
      <p:sp>
        <p:nvSpPr>
          <p:cNvPr id="4" name="內容版面配置區 3"/>
          <p:cNvSpPr>
            <a:spLocks noGrp="1"/>
          </p:cNvSpPr>
          <p:nvPr>
            <p:ph sz="quarter" idx="1"/>
          </p:nvPr>
        </p:nvSpPr>
        <p:spPr/>
        <p:txBody>
          <a:bodyPr/>
          <a:lstStyle/>
          <a:p>
            <a:r>
              <a:rPr lang="zh-TW" altLang="zh-TW" dirty="0"/>
              <a:t>編輯</a:t>
            </a:r>
            <a:r>
              <a:rPr lang="en-US" altLang="zh-TW" dirty="0"/>
              <a:t>models.py</a:t>
            </a:r>
            <a:r>
              <a:rPr lang="zh-TW" altLang="zh-TW" dirty="0"/>
              <a:t>之後，再執行</a:t>
            </a:r>
            <a:r>
              <a:rPr lang="en-US" altLang="zh-TW" dirty="0"/>
              <a:t>migrate</a:t>
            </a:r>
            <a:r>
              <a:rPr lang="zh-TW" altLang="zh-TW" dirty="0"/>
              <a:t>才行（如果中間有修改過，則需要先執行</a:t>
            </a:r>
            <a:r>
              <a:rPr lang="en-US" altLang="zh-TW" dirty="0" err="1"/>
              <a:t>makemigrations</a:t>
            </a:r>
            <a:endParaRPr lang="en-US" altLang="zh-TW" dirty="0"/>
          </a:p>
          <a:p>
            <a:pPr lvl="1"/>
            <a:r>
              <a:rPr lang="zh-TW" altLang="en-US" dirty="0"/>
              <a:t>回到</a:t>
            </a:r>
            <a:r>
              <a:rPr lang="en-US" altLang="zh-TW" dirty="0"/>
              <a:t>admin.py</a:t>
            </a:r>
            <a:r>
              <a:rPr lang="zh-TW" altLang="en-US" dirty="0"/>
              <a:t>加入這個新的類別並註冊：</a:t>
            </a:r>
          </a:p>
          <a:p>
            <a:pPr lvl="1"/>
            <a:r>
              <a:rPr lang="en-US" altLang="zh-TW" dirty="0"/>
              <a:t>from </a:t>
            </a:r>
            <a:r>
              <a:rPr lang="en-US" altLang="zh-TW" dirty="0" err="1"/>
              <a:t>django.contrib</a:t>
            </a:r>
            <a:r>
              <a:rPr lang="en-US" altLang="zh-TW" dirty="0"/>
              <a:t> import admin</a:t>
            </a:r>
          </a:p>
          <a:p>
            <a:pPr lvl="1"/>
            <a:r>
              <a:rPr lang="en-US" altLang="zh-TW" dirty="0">
                <a:solidFill>
                  <a:srgbClr val="FF0000"/>
                </a:solidFill>
              </a:rPr>
              <a:t>from </a:t>
            </a:r>
            <a:r>
              <a:rPr lang="en-US" altLang="zh-TW" dirty="0" err="1">
                <a:solidFill>
                  <a:srgbClr val="FF0000"/>
                </a:solidFill>
              </a:rPr>
              <a:t>mysite.models</a:t>
            </a:r>
            <a:r>
              <a:rPr lang="en-US" altLang="zh-TW" dirty="0">
                <a:solidFill>
                  <a:srgbClr val="FF0000"/>
                </a:solidFill>
              </a:rPr>
              <a:t> import </a:t>
            </a:r>
            <a:r>
              <a:rPr lang="en-US" altLang="zh-TW" dirty="0" err="1">
                <a:solidFill>
                  <a:srgbClr val="FF0000"/>
                </a:solidFill>
              </a:rPr>
              <a:t>NewTable</a:t>
            </a:r>
            <a:r>
              <a:rPr lang="en-US" altLang="zh-TW" dirty="0">
                <a:solidFill>
                  <a:srgbClr val="FF0000"/>
                </a:solidFill>
              </a:rPr>
              <a:t>, Product</a:t>
            </a:r>
          </a:p>
          <a:p>
            <a:pPr lvl="1"/>
            <a:endParaRPr lang="en-US" altLang="zh-TW" dirty="0"/>
          </a:p>
          <a:p>
            <a:pPr lvl="1"/>
            <a:r>
              <a:rPr lang="en-US" altLang="zh-TW" dirty="0" err="1"/>
              <a:t>admin.site.register</a:t>
            </a:r>
            <a:r>
              <a:rPr lang="en-US" altLang="zh-TW" dirty="0"/>
              <a:t>(</a:t>
            </a:r>
            <a:r>
              <a:rPr lang="en-US" altLang="zh-TW" dirty="0" err="1"/>
              <a:t>NewTable</a:t>
            </a:r>
            <a:r>
              <a:rPr lang="en-US" altLang="zh-TW" dirty="0"/>
              <a:t>)</a:t>
            </a:r>
          </a:p>
          <a:p>
            <a:pPr lvl="1"/>
            <a:r>
              <a:rPr lang="en-US" altLang="zh-TW" dirty="0" err="1">
                <a:solidFill>
                  <a:srgbClr val="FF0000"/>
                </a:solidFill>
              </a:rPr>
              <a:t>admin.site.register</a:t>
            </a:r>
            <a:r>
              <a:rPr lang="en-US" altLang="zh-TW" dirty="0">
                <a:solidFill>
                  <a:srgbClr val="FF0000"/>
                </a:solidFill>
              </a:rPr>
              <a:t>(Product)</a:t>
            </a:r>
          </a:p>
          <a:p>
            <a:pPr lvl="1"/>
            <a:endParaRPr lang="zh-TW" altLang="en-US" dirty="0"/>
          </a:p>
        </p:txBody>
      </p:sp>
    </p:spTree>
    <p:extLst>
      <p:ext uri="{BB962C8B-B14F-4D97-AF65-F5344CB8AC3E}">
        <p14:creationId xmlns:p14="http://schemas.microsoft.com/office/powerpoint/2010/main" val="29295626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欄位提供候選資料</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27</a:t>
            </a:fld>
            <a:endParaRPr lang="zh-TW" altLang="en-US"/>
          </a:p>
        </p:txBody>
      </p:sp>
      <p:pic>
        <p:nvPicPr>
          <p:cNvPr id="7" name="內容版面配置區 6">
            <a:extLst>
              <a:ext uri="{FF2B5EF4-FFF2-40B4-BE49-F238E27FC236}">
                <a16:creationId xmlns:a16="http://schemas.microsoft.com/office/drawing/2014/main" id="{C0088B86-959C-D904-7E32-EA43576BFE05}"/>
              </a:ext>
            </a:extLst>
          </p:cNvPr>
          <p:cNvPicPr>
            <a:picLocks noGrp="1" noChangeAspect="1"/>
          </p:cNvPicPr>
          <p:nvPr>
            <p:ph sz="quarter" idx="1"/>
          </p:nvPr>
        </p:nvPicPr>
        <p:blipFill>
          <a:blip r:embed="rId2"/>
          <a:stretch>
            <a:fillRect/>
          </a:stretch>
        </p:blipFill>
        <p:spPr>
          <a:xfrm>
            <a:off x="301625" y="1531638"/>
            <a:ext cx="8504238" cy="4563073"/>
          </a:xfrm>
          <a:prstGeom prst="rect">
            <a:avLst/>
          </a:prstGeom>
        </p:spPr>
      </p:pic>
    </p:spTree>
    <p:extLst>
      <p:ext uri="{BB962C8B-B14F-4D97-AF65-F5344CB8AC3E}">
        <p14:creationId xmlns:p14="http://schemas.microsoft.com/office/powerpoint/2010/main" val="182883973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欄位提供候選資料</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28</a:t>
            </a:fld>
            <a:endParaRPr lang="zh-TW" altLang="en-US"/>
          </a:p>
        </p:txBody>
      </p:sp>
      <p:pic>
        <p:nvPicPr>
          <p:cNvPr id="6" name="內容版面配置區 5">
            <a:extLst>
              <a:ext uri="{FF2B5EF4-FFF2-40B4-BE49-F238E27FC236}">
                <a16:creationId xmlns:a16="http://schemas.microsoft.com/office/drawing/2014/main" id="{227E6570-466F-7AC2-55F2-A57A9F48CD3C}"/>
              </a:ext>
            </a:extLst>
          </p:cNvPr>
          <p:cNvPicPr>
            <a:picLocks noGrp="1" noChangeAspect="1"/>
          </p:cNvPicPr>
          <p:nvPr>
            <p:ph sz="quarter" idx="1"/>
          </p:nvPr>
        </p:nvPicPr>
        <p:blipFill>
          <a:blip r:embed="rId2"/>
          <a:stretch>
            <a:fillRect/>
          </a:stretch>
        </p:blipFill>
        <p:spPr>
          <a:xfrm>
            <a:off x="1011799" y="1527175"/>
            <a:ext cx="7083889" cy="4572000"/>
          </a:xfrm>
          <a:prstGeom prst="rect">
            <a:avLst/>
          </a:prstGeom>
        </p:spPr>
      </p:pic>
    </p:spTree>
    <p:extLst>
      <p:ext uri="{BB962C8B-B14F-4D97-AF65-F5344CB8AC3E}">
        <p14:creationId xmlns:p14="http://schemas.microsoft.com/office/powerpoint/2010/main" val="123234748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7BF1EC3-E8CB-B4B1-2041-C340F6EA3A7F}"/>
              </a:ext>
            </a:extLst>
          </p:cNvPr>
          <p:cNvSpPr>
            <a:spLocks noGrp="1"/>
          </p:cNvSpPr>
          <p:nvPr>
            <p:ph type="title"/>
          </p:nvPr>
        </p:nvSpPr>
        <p:spPr/>
        <p:txBody>
          <a:bodyPr/>
          <a:lstStyle/>
          <a:p>
            <a:r>
              <a:rPr lang="zh-TW" altLang="en-US" dirty="0"/>
              <a:t>修正欄位名稱拼字錯誤</a:t>
            </a:r>
          </a:p>
        </p:txBody>
      </p:sp>
      <p:sp>
        <p:nvSpPr>
          <p:cNvPr id="3" name="投影片編號版面配置區 2">
            <a:extLst>
              <a:ext uri="{FF2B5EF4-FFF2-40B4-BE49-F238E27FC236}">
                <a16:creationId xmlns:a16="http://schemas.microsoft.com/office/drawing/2014/main" id="{9B195B77-21D9-27B3-E0E6-C24D8998C1EC}"/>
              </a:ext>
            </a:extLst>
          </p:cNvPr>
          <p:cNvSpPr>
            <a:spLocks noGrp="1"/>
          </p:cNvSpPr>
          <p:nvPr>
            <p:ph type="sldNum" sz="quarter" idx="12"/>
          </p:nvPr>
        </p:nvSpPr>
        <p:spPr/>
        <p:txBody>
          <a:bodyPr/>
          <a:lstStyle/>
          <a:p>
            <a:fld id="{369E457D-EE12-4164-8E32-9DDD40A95892}" type="slidenum">
              <a:rPr lang="zh-TW" altLang="en-US" smtClean="0"/>
              <a:pPr/>
              <a:t>29</a:t>
            </a:fld>
            <a:endParaRPr lang="zh-TW" altLang="en-US"/>
          </a:p>
        </p:txBody>
      </p:sp>
      <p:sp>
        <p:nvSpPr>
          <p:cNvPr id="4" name="內容版面配置區 3">
            <a:extLst>
              <a:ext uri="{FF2B5EF4-FFF2-40B4-BE49-F238E27FC236}">
                <a16:creationId xmlns:a16="http://schemas.microsoft.com/office/drawing/2014/main" id="{739E7D18-2A35-0EC3-B09E-5CAEA3C8418A}"/>
              </a:ext>
            </a:extLst>
          </p:cNvPr>
          <p:cNvSpPr>
            <a:spLocks noGrp="1"/>
          </p:cNvSpPr>
          <p:nvPr>
            <p:ph sz="quarter" idx="1"/>
          </p:nvPr>
        </p:nvSpPr>
        <p:spPr>
          <a:xfrm>
            <a:off x="107504" y="987552"/>
            <a:ext cx="8928992" cy="5870448"/>
          </a:xfrm>
        </p:spPr>
        <p:txBody>
          <a:bodyPr>
            <a:normAutofit fontScale="70000" lnSpcReduction="20000"/>
          </a:bodyPr>
          <a:lstStyle/>
          <a:p>
            <a:r>
              <a:rPr lang="zh-TW" altLang="en-US" sz="3800" dirty="0">
                <a:solidFill>
                  <a:srgbClr val="FF0000"/>
                </a:solidFill>
              </a:rPr>
              <a:t>修正之後</a:t>
            </a:r>
            <a:r>
              <a:rPr lang="zh-TW" altLang="en-US" dirty="0"/>
              <a:t>還要再執行以下的指令使其生效：</a:t>
            </a:r>
            <a:endParaRPr lang="en-US" altLang="zh-TW" dirty="0"/>
          </a:p>
          <a:p>
            <a:pPr marL="274320" lvl="1" indent="0">
              <a:buNone/>
            </a:pPr>
            <a:r>
              <a:rPr lang="en-US" altLang="zh-TW" sz="2000" dirty="0"/>
              <a:t>(dj4ch04) PS D:\dj4book\dj4ch04&gt; </a:t>
            </a:r>
            <a:r>
              <a:rPr lang="en-US" altLang="zh-TW" sz="2000" dirty="0">
                <a:solidFill>
                  <a:srgbClr val="FF0000"/>
                </a:solidFill>
              </a:rPr>
              <a:t>python manage.py </a:t>
            </a:r>
            <a:r>
              <a:rPr lang="en-US" altLang="zh-TW" sz="2600" b="1" dirty="0" err="1">
                <a:solidFill>
                  <a:srgbClr val="FF0000"/>
                </a:solidFill>
              </a:rPr>
              <a:t>makemigrations</a:t>
            </a:r>
            <a:endParaRPr lang="en-US" altLang="zh-TW" sz="2000" b="1" dirty="0">
              <a:solidFill>
                <a:srgbClr val="FF0000"/>
              </a:solidFill>
            </a:endParaRPr>
          </a:p>
          <a:p>
            <a:pPr marL="274320" lvl="1" indent="0">
              <a:buNone/>
            </a:pPr>
            <a:r>
              <a:rPr lang="en-US" altLang="zh-TW" sz="2000" dirty="0"/>
              <a:t>Migrations for '</a:t>
            </a:r>
            <a:r>
              <a:rPr lang="en-US" altLang="zh-TW" sz="2000" dirty="0" err="1"/>
              <a:t>mysite</a:t>
            </a:r>
            <a:r>
              <a:rPr lang="en-US" altLang="zh-TW" sz="2000" dirty="0"/>
              <a:t>':</a:t>
            </a:r>
          </a:p>
          <a:p>
            <a:pPr marL="274320" lvl="1" indent="0">
              <a:buNone/>
            </a:pPr>
            <a:r>
              <a:rPr lang="en-US" altLang="zh-TW" sz="2000" dirty="0"/>
              <a:t>  mysite\migrations\</a:t>
            </a:r>
            <a:r>
              <a:rPr lang="en-US" altLang="zh-TW" sz="2000" dirty="0">
                <a:solidFill>
                  <a:srgbClr val="FF0000"/>
                </a:solidFill>
              </a:rPr>
              <a:t>0003_alter_product_size.py</a:t>
            </a:r>
          </a:p>
          <a:p>
            <a:pPr marL="274320" lvl="1" indent="0">
              <a:buNone/>
            </a:pPr>
            <a:r>
              <a:rPr lang="en-US" altLang="zh-TW" sz="2000" dirty="0"/>
              <a:t>    - Alter field size on product</a:t>
            </a:r>
          </a:p>
          <a:p>
            <a:pPr marL="274320" lvl="1" indent="0">
              <a:buNone/>
            </a:pPr>
            <a:r>
              <a:rPr lang="en-US" altLang="zh-TW" sz="2000" dirty="0"/>
              <a:t>(dj4ch04) PS D:\dj4book\dj4ch04&gt; python .\manage.py </a:t>
            </a:r>
            <a:r>
              <a:rPr lang="en-US" altLang="zh-TW" sz="2900" b="1" dirty="0">
                <a:solidFill>
                  <a:srgbClr val="FF0000"/>
                </a:solidFill>
              </a:rPr>
              <a:t>migrate</a:t>
            </a:r>
            <a:r>
              <a:rPr lang="en-US" altLang="zh-TW" sz="2000" dirty="0"/>
              <a:t>       </a:t>
            </a:r>
          </a:p>
          <a:p>
            <a:pPr marL="274320" lvl="1" indent="0">
              <a:buNone/>
            </a:pPr>
            <a:r>
              <a:rPr lang="en-US" altLang="zh-TW" sz="2000" dirty="0"/>
              <a:t>Operations to perform:</a:t>
            </a:r>
          </a:p>
          <a:p>
            <a:pPr marL="274320" lvl="1" indent="0">
              <a:buNone/>
            </a:pPr>
            <a:r>
              <a:rPr lang="en-US" altLang="zh-TW" sz="2000" dirty="0"/>
              <a:t>  Apply all migrations: admin, auth, </a:t>
            </a:r>
            <a:r>
              <a:rPr lang="en-US" altLang="zh-TW" sz="2000" dirty="0" err="1"/>
              <a:t>contenttypes</a:t>
            </a:r>
            <a:r>
              <a:rPr lang="en-US" altLang="zh-TW" sz="2000" dirty="0"/>
              <a:t>, </a:t>
            </a:r>
            <a:r>
              <a:rPr lang="en-US" altLang="zh-TW" sz="2000" dirty="0" err="1"/>
              <a:t>mysite</a:t>
            </a:r>
            <a:r>
              <a:rPr lang="en-US" altLang="zh-TW" sz="2000" dirty="0"/>
              <a:t>, sessions</a:t>
            </a:r>
          </a:p>
          <a:p>
            <a:pPr marL="274320" lvl="1" indent="0">
              <a:buNone/>
            </a:pPr>
            <a:r>
              <a:rPr lang="en-US" altLang="zh-TW" sz="2000" dirty="0"/>
              <a:t>Running migrations:</a:t>
            </a:r>
          </a:p>
          <a:p>
            <a:pPr marL="274320" lvl="1" indent="0">
              <a:buNone/>
            </a:pPr>
            <a:r>
              <a:rPr lang="en-US" altLang="zh-TW" sz="2000" dirty="0"/>
              <a:t>  Applying mysite.0003_alter_product_size... OK</a:t>
            </a:r>
            <a:endParaRPr lang="en-US" altLang="zh-TW" sz="1600" dirty="0"/>
          </a:p>
          <a:p>
            <a:r>
              <a:rPr lang="zh-TW" altLang="en-US" dirty="0"/>
              <a:t>以下指令檢視產生的資料庫遷移檔：</a:t>
            </a:r>
            <a:endParaRPr lang="en-US" altLang="zh-TW" dirty="0"/>
          </a:p>
          <a:p>
            <a:pPr marL="274320" lvl="1" indent="0">
              <a:buNone/>
            </a:pPr>
            <a:r>
              <a:rPr lang="en-US" altLang="zh-TW" sz="2500" dirty="0"/>
              <a:t>(dj4ch04) PS D:\dj4book\dj4ch04&gt; </a:t>
            </a:r>
            <a:r>
              <a:rPr lang="en-US" altLang="zh-TW" sz="2500" dirty="0" err="1">
                <a:solidFill>
                  <a:srgbClr val="FF0000"/>
                </a:solidFill>
              </a:rPr>
              <a:t>dir</a:t>
            </a:r>
            <a:r>
              <a:rPr lang="en-US" altLang="zh-TW" sz="2500" dirty="0">
                <a:solidFill>
                  <a:srgbClr val="FF0000"/>
                </a:solidFill>
              </a:rPr>
              <a:t> </a:t>
            </a:r>
            <a:r>
              <a:rPr lang="en-US" altLang="zh-TW" sz="2500" dirty="0" err="1">
                <a:solidFill>
                  <a:srgbClr val="FF0000"/>
                </a:solidFill>
              </a:rPr>
              <a:t>mysite</a:t>
            </a:r>
            <a:r>
              <a:rPr lang="en-US" altLang="zh-TW" sz="2500" dirty="0">
                <a:solidFill>
                  <a:srgbClr val="FF0000"/>
                </a:solidFill>
              </a:rPr>
              <a:t>\migrations\</a:t>
            </a:r>
          </a:p>
          <a:p>
            <a:pPr marL="274320" lvl="1" indent="0">
              <a:buNone/>
            </a:pPr>
            <a:r>
              <a:rPr lang="en-US" altLang="zh-TW" sz="2500" dirty="0"/>
              <a:t>    </a:t>
            </a:r>
            <a:r>
              <a:rPr lang="zh-TW" altLang="en-US" sz="2500" dirty="0"/>
              <a:t>目錄</a:t>
            </a:r>
            <a:r>
              <a:rPr lang="en-US" altLang="zh-TW" sz="2500" dirty="0"/>
              <a:t>: D:\dj4book\dj4ch04\mysite\migrations</a:t>
            </a:r>
          </a:p>
          <a:p>
            <a:pPr marL="274320" lvl="1" indent="0">
              <a:buNone/>
            </a:pPr>
            <a:r>
              <a:rPr lang="en-US" altLang="zh-TW" sz="2500" dirty="0"/>
              <a:t>Mode                 </a:t>
            </a:r>
            <a:r>
              <a:rPr lang="en-US" altLang="zh-TW" sz="2500" dirty="0" err="1"/>
              <a:t>LastWriteTime</a:t>
            </a:r>
            <a:r>
              <a:rPr lang="en-US" altLang="zh-TW" sz="2500" dirty="0"/>
              <a:t>         Length Name</a:t>
            </a:r>
          </a:p>
          <a:p>
            <a:pPr marL="274320" lvl="1" indent="0">
              <a:buNone/>
            </a:pPr>
            <a:r>
              <a:rPr lang="en-US" altLang="zh-TW" sz="2500" dirty="0"/>
              <a:t>----                 -------------         ------ ----</a:t>
            </a:r>
          </a:p>
          <a:p>
            <a:pPr marL="274320" lvl="1" indent="0">
              <a:buNone/>
            </a:pPr>
            <a:r>
              <a:rPr lang="en-US" altLang="zh-TW" sz="2500" dirty="0"/>
              <a:t>d-----      2022/11/28  </a:t>
            </a:r>
            <a:r>
              <a:rPr lang="zh-TW" altLang="en-US" sz="2500" dirty="0"/>
              <a:t>上午 </a:t>
            </a:r>
            <a:r>
              <a:rPr lang="en-US" altLang="zh-TW" sz="2500" dirty="0"/>
              <a:t>11:20                __</a:t>
            </a:r>
            <a:r>
              <a:rPr lang="en-US" altLang="zh-TW" sz="2500" dirty="0" err="1"/>
              <a:t>pycache</a:t>
            </a:r>
            <a:r>
              <a:rPr lang="en-US" altLang="zh-TW" sz="2500" dirty="0"/>
              <a:t>__</a:t>
            </a:r>
          </a:p>
          <a:p>
            <a:pPr marL="274320" lvl="1" indent="0">
              <a:buNone/>
            </a:pPr>
            <a:r>
              <a:rPr lang="en-US" altLang="zh-TW" sz="2500" dirty="0"/>
              <a:t>-a----      2022/11/28  </a:t>
            </a:r>
            <a:r>
              <a:rPr lang="zh-TW" altLang="en-US" sz="2500" dirty="0"/>
              <a:t>上午 </a:t>
            </a:r>
            <a:r>
              <a:rPr lang="en-US" altLang="zh-TW" sz="2500" dirty="0"/>
              <a:t>10:35           1029 0001_initial.py</a:t>
            </a:r>
          </a:p>
          <a:p>
            <a:pPr marL="274320" lvl="1" indent="0">
              <a:buNone/>
            </a:pPr>
            <a:r>
              <a:rPr lang="en-US" altLang="zh-TW" sz="2500" dirty="0"/>
              <a:t>-a----      2022/11/28  </a:t>
            </a:r>
            <a:r>
              <a:rPr lang="zh-TW" altLang="en-US" sz="2500" dirty="0"/>
              <a:t>上午 </a:t>
            </a:r>
            <a:r>
              <a:rPr lang="en-US" altLang="zh-TW" sz="2500" dirty="0"/>
              <a:t>11:16            761 0002_product.py</a:t>
            </a:r>
          </a:p>
          <a:p>
            <a:pPr marL="274320" lvl="1" indent="0">
              <a:buNone/>
            </a:pPr>
            <a:r>
              <a:rPr lang="en-US" altLang="zh-TW" sz="2500" dirty="0"/>
              <a:t>-a----      2022/11/28  </a:t>
            </a:r>
            <a:r>
              <a:rPr lang="zh-TW" altLang="en-US" sz="2500" dirty="0"/>
              <a:t>上午 </a:t>
            </a:r>
            <a:r>
              <a:rPr lang="en-US" altLang="zh-TW" sz="2500" dirty="0"/>
              <a:t>11:20            449 0003_alter_product_size.py</a:t>
            </a:r>
          </a:p>
          <a:p>
            <a:pPr marL="274320" lvl="1" indent="0">
              <a:buNone/>
            </a:pPr>
            <a:r>
              <a:rPr lang="en-US" altLang="zh-TW" sz="2500" dirty="0"/>
              <a:t>-a----      2022/11/28  </a:t>
            </a:r>
            <a:r>
              <a:rPr lang="zh-TW" altLang="en-US" sz="2500" dirty="0"/>
              <a:t>上午 </a:t>
            </a:r>
            <a:r>
              <a:rPr lang="en-US" altLang="zh-TW" sz="2500" dirty="0"/>
              <a:t>10:32              0 __init__.py</a:t>
            </a:r>
          </a:p>
          <a:p>
            <a:pPr lvl="1"/>
            <a:endParaRPr lang="zh-TW" altLang="en-US" dirty="0"/>
          </a:p>
        </p:txBody>
      </p:sp>
    </p:spTree>
    <p:extLst>
      <p:ext uri="{BB962C8B-B14F-4D97-AF65-F5344CB8AC3E}">
        <p14:creationId xmlns:p14="http://schemas.microsoft.com/office/powerpoint/2010/main" val="153721347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959CC47-937A-93EF-21CD-D4A508E49B0E}"/>
              </a:ext>
            </a:extLst>
          </p:cNvPr>
          <p:cNvSpPr>
            <a:spLocks noGrp="1"/>
          </p:cNvSpPr>
          <p:nvPr>
            <p:ph type="title"/>
          </p:nvPr>
        </p:nvSpPr>
        <p:spPr/>
        <p:txBody>
          <a:bodyPr/>
          <a:lstStyle/>
          <a:p>
            <a:r>
              <a:rPr lang="zh-TW" altLang="en-US" dirty="0"/>
              <a:t>修正欄位名稱之遷移檔內容</a:t>
            </a:r>
          </a:p>
        </p:txBody>
      </p:sp>
      <p:sp>
        <p:nvSpPr>
          <p:cNvPr id="3" name="投影片編號版面配置區 2">
            <a:extLst>
              <a:ext uri="{FF2B5EF4-FFF2-40B4-BE49-F238E27FC236}">
                <a16:creationId xmlns:a16="http://schemas.microsoft.com/office/drawing/2014/main" id="{C44FF20D-18BF-5776-6226-B1D174B22072}"/>
              </a:ext>
            </a:extLst>
          </p:cNvPr>
          <p:cNvSpPr>
            <a:spLocks noGrp="1"/>
          </p:cNvSpPr>
          <p:nvPr>
            <p:ph type="sldNum" sz="quarter" idx="12"/>
          </p:nvPr>
        </p:nvSpPr>
        <p:spPr/>
        <p:txBody>
          <a:bodyPr/>
          <a:lstStyle/>
          <a:p>
            <a:fld id="{369E457D-EE12-4164-8E32-9DDD40A95892}" type="slidenum">
              <a:rPr lang="zh-TW" altLang="en-US" smtClean="0"/>
              <a:pPr/>
              <a:t>30</a:t>
            </a:fld>
            <a:endParaRPr lang="zh-TW" altLang="en-US"/>
          </a:p>
        </p:txBody>
      </p:sp>
      <p:sp>
        <p:nvSpPr>
          <p:cNvPr id="4" name="內容版面配置區 3">
            <a:extLst>
              <a:ext uri="{FF2B5EF4-FFF2-40B4-BE49-F238E27FC236}">
                <a16:creationId xmlns:a16="http://schemas.microsoft.com/office/drawing/2014/main" id="{0969FF6B-052B-2318-35E4-4EAE98384B7F}"/>
              </a:ext>
            </a:extLst>
          </p:cNvPr>
          <p:cNvSpPr>
            <a:spLocks noGrp="1"/>
          </p:cNvSpPr>
          <p:nvPr>
            <p:ph sz="quarter" idx="1"/>
          </p:nvPr>
        </p:nvSpPr>
        <p:spPr/>
        <p:txBody>
          <a:bodyPr>
            <a:normAutofit fontScale="77500" lnSpcReduction="20000"/>
          </a:bodyPr>
          <a:lstStyle/>
          <a:p>
            <a:pPr marL="274320" lvl="1" indent="0">
              <a:buNone/>
            </a:pPr>
            <a:r>
              <a:rPr lang="en-US" altLang="zh-TW" dirty="0"/>
              <a:t>from </a:t>
            </a:r>
            <a:r>
              <a:rPr lang="en-US" altLang="zh-TW" dirty="0" err="1"/>
              <a:t>django.db</a:t>
            </a:r>
            <a:r>
              <a:rPr lang="en-US" altLang="zh-TW" dirty="0"/>
              <a:t> import migrations, models</a:t>
            </a:r>
          </a:p>
          <a:p>
            <a:pPr marL="274320" lvl="1" indent="0">
              <a:buNone/>
            </a:pPr>
            <a:endParaRPr lang="en-US" altLang="zh-TW" dirty="0"/>
          </a:p>
          <a:p>
            <a:pPr marL="274320" lvl="1" indent="0">
              <a:buNone/>
            </a:pPr>
            <a:r>
              <a:rPr lang="en-US" altLang="zh-TW" dirty="0"/>
              <a:t>class Migration(</a:t>
            </a:r>
            <a:r>
              <a:rPr lang="en-US" altLang="zh-TW" dirty="0" err="1"/>
              <a:t>migrations.Migration</a:t>
            </a:r>
            <a:r>
              <a:rPr lang="en-US" altLang="zh-TW" dirty="0"/>
              <a:t>):</a:t>
            </a:r>
          </a:p>
          <a:p>
            <a:pPr marL="274320" lvl="1" indent="0">
              <a:buNone/>
            </a:pPr>
            <a:endParaRPr lang="en-US" altLang="zh-TW" dirty="0"/>
          </a:p>
          <a:p>
            <a:pPr marL="274320" lvl="1" indent="0">
              <a:buNone/>
            </a:pPr>
            <a:r>
              <a:rPr lang="en-US" altLang="zh-TW" dirty="0"/>
              <a:t>    dependencies = [</a:t>
            </a:r>
          </a:p>
          <a:p>
            <a:pPr marL="274320" lvl="1" indent="0">
              <a:buNone/>
            </a:pPr>
            <a:r>
              <a:rPr lang="en-US" altLang="zh-TW" dirty="0"/>
              <a:t>        ('</a:t>
            </a:r>
            <a:r>
              <a:rPr lang="en-US" altLang="zh-TW" dirty="0" err="1"/>
              <a:t>mysite</a:t>
            </a:r>
            <a:r>
              <a:rPr lang="en-US" altLang="zh-TW" dirty="0"/>
              <a:t>', '0002_product'),</a:t>
            </a:r>
          </a:p>
          <a:p>
            <a:pPr marL="274320" lvl="1" indent="0">
              <a:buNone/>
            </a:pPr>
            <a:r>
              <a:rPr lang="en-US" altLang="zh-TW" dirty="0"/>
              <a:t>    ]</a:t>
            </a:r>
          </a:p>
          <a:p>
            <a:pPr marL="274320" lvl="1" indent="0">
              <a:buNone/>
            </a:pPr>
            <a:endParaRPr lang="en-US" altLang="zh-TW" dirty="0"/>
          </a:p>
          <a:p>
            <a:pPr marL="274320" lvl="1" indent="0">
              <a:buNone/>
            </a:pPr>
            <a:r>
              <a:rPr lang="en-US" altLang="zh-TW" dirty="0"/>
              <a:t>    operations = [</a:t>
            </a:r>
          </a:p>
          <a:p>
            <a:pPr marL="274320" lvl="1" indent="0">
              <a:buNone/>
            </a:pPr>
            <a:r>
              <a:rPr lang="en-US" altLang="zh-TW" dirty="0"/>
              <a:t>        </a:t>
            </a:r>
            <a:r>
              <a:rPr lang="en-US" altLang="zh-TW" dirty="0" err="1"/>
              <a:t>migrations.AlterField</a:t>
            </a:r>
            <a:r>
              <a:rPr lang="en-US" altLang="zh-TW" dirty="0"/>
              <a:t>(</a:t>
            </a:r>
          </a:p>
          <a:p>
            <a:pPr marL="274320" lvl="1" indent="0">
              <a:buNone/>
            </a:pPr>
            <a:r>
              <a:rPr lang="en-US" altLang="zh-TW" dirty="0"/>
              <a:t>            </a:t>
            </a:r>
            <a:r>
              <a:rPr lang="en-US" altLang="zh-TW" dirty="0" err="1"/>
              <a:t>model_name</a:t>
            </a:r>
            <a:r>
              <a:rPr lang="en-US" altLang="zh-TW" dirty="0"/>
              <a:t>='product',</a:t>
            </a:r>
          </a:p>
          <a:p>
            <a:pPr marL="274320" lvl="1" indent="0">
              <a:buNone/>
            </a:pPr>
            <a:r>
              <a:rPr lang="en-US" altLang="zh-TW" dirty="0"/>
              <a:t>            name='size',</a:t>
            </a:r>
          </a:p>
          <a:p>
            <a:pPr marL="274320" lvl="1" indent="0">
              <a:buNone/>
            </a:pPr>
            <a:r>
              <a:rPr lang="en-US" altLang="zh-TW" dirty="0"/>
              <a:t>            field=</a:t>
            </a:r>
            <a:r>
              <a:rPr lang="en-US" altLang="zh-TW" dirty="0" err="1"/>
              <a:t>models.CharField</a:t>
            </a:r>
            <a:r>
              <a:rPr lang="en-US" altLang="zh-TW" dirty="0"/>
              <a:t>(choices=[('S', 'Small'), ('M', 'Medium'), ('L', 'Large')], </a:t>
            </a:r>
            <a:r>
              <a:rPr lang="en-US" altLang="zh-TW" dirty="0" err="1"/>
              <a:t>max_length</a:t>
            </a:r>
            <a:r>
              <a:rPr lang="en-US" altLang="zh-TW" dirty="0"/>
              <a:t>=1),</a:t>
            </a:r>
          </a:p>
          <a:p>
            <a:pPr marL="274320" lvl="1" indent="0">
              <a:buNone/>
            </a:pPr>
            <a:r>
              <a:rPr lang="en-US" altLang="zh-TW" dirty="0"/>
              <a:t>        ),</a:t>
            </a:r>
          </a:p>
          <a:p>
            <a:pPr marL="274320" lvl="1" indent="0">
              <a:buNone/>
            </a:pPr>
            <a:r>
              <a:rPr lang="en-US" altLang="zh-TW" dirty="0"/>
              <a:t>    ]</a:t>
            </a:r>
          </a:p>
          <a:p>
            <a:pPr marL="0" indent="0">
              <a:buNone/>
            </a:pPr>
            <a:endParaRPr lang="zh-TW" altLang="en-US" dirty="0"/>
          </a:p>
        </p:txBody>
      </p:sp>
    </p:spTree>
    <p:extLst>
      <p:ext uri="{BB962C8B-B14F-4D97-AF65-F5344CB8AC3E}">
        <p14:creationId xmlns:p14="http://schemas.microsoft.com/office/powerpoint/2010/main" val="354487534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Python Shell</a:t>
            </a:r>
            <a:r>
              <a:rPr lang="zh-TW" altLang="zh-TW" dirty="0"/>
              <a:t>中操作資料表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31</a:t>
            </a:fld>
            <a:endParaRPr lang="zh-TW" altLang="en-US"/>
          </a:p>
        </p:txBody>
      </p:sp>
      <p:sp>
        <p:nvSpPr>
          <p:cNvPr id="4" name="內容版面配置區 3"/>
          <p:cNvSpPr>
            <a:spLocks noGrp="1"/>
          </p:cNvSpPr>
          <p:nvPr>
            <p:ph sz="quarter" idx="1"/>
          </p:nvPr>
        </p:nvSpPr>
        <p:spPr>
          <a:xfrm>
            <a:off x="301752" y="1527048"/>
            <a:ext cx="8590728" cy="5142312"/>
          </a:xfrm>
        </p:spPr>
        <p:txBody>
          <a:bodyPr>
            <a:normAutofit/>
          </a:bodyPr>
          <a:lstStyle/>
          <a:p>
            <a:r>
              <a:rPr lang="zh-TW" altLang="zh-TW" dirty="0"/>
              <a:t>以</a:t>
            </a:r>
            <a:r>
              <a:rPr lang="en-US" altLang="zh-TW" dirty="0"/>
              <a:t>ORM</a:t>
            </a:r>
            <a:r>
              <a:rPr lang="zh-TW" altLang="zh-TW" dirty="0"/>
              <a:t>的方式來存取資料庫裡的內容</a:t>
            </a:r>
            <a:endParaRPr lang="en-US" altLang="zh-TW" dirty="0"/>
          </a:p>
          <a:p>
            <a:r>
              <a:rPr lang="en-US" altLang="zh-TW" dirty="0"/>
              <a:t>ORM(Object Relational Mapper)</a:t>
            </a:r>
            <a:r>
              <a:rPr lang="zh-TW" altLang="zh-TW" dirty="0"/>
              <a:t>，是一種物件導向程式設計技術的一種，它以物件的方式來看待每一筆資料，可以解決底層資料庫相容性的問題</a:t>
            </a:r>
            <a:endParaRPr lang="en-US" altLang="zh-TW" dirty="0"/>
          </a:p>
          <a:p>
            <a:r>
              <a:rPr lang="zh-TW" altLang="en-US" dirty="0"/>
              <a:t>可以在</a:t>
            </a:r>
            <a:r>
              <a:rPr lang="en-US" altLang="zh-TW" dirty="0"/>
              <a:t>Python</a:t>
            </a:r>
            <a:r>
              <a:rPr lang="zh-TW" altLang="en-US" dirty="0"/>
              <a:t>的交談式介面中直接操作使用，如下：</a:t>
            </a:r>
            <a:endParaRPr lang="en-US" altLang="zh-TW" dirty="0"/>
          </a:p>
          <a:p>
            <a:endParaRPr lang="en-US" altLang="zh-TW" dirty="0"/>
          </a:p>
          <a:p>
            <a:pPr marL="0" indent="0">
              <a:buNone/>
            </a:pPr>
            <a:r>
              <a:rPr lang="en-US" altLang="zh-TW" sz="1800" kern="100" dirty="0">
                <a:effectLst/>
                <a:latin typeface="Courier New" panose="02070309020205020404" pitchFamily="49" charset="0"/>
                <a:ea typeface="標楷體" panose="03000509000000000000" pitchFamily="65" charset="-120"/>
              </a:rPr>
              <a:t>(dj4ch04) PS D:\dj4book\dj4ch04&gt; </a:t>
            </a:r>
            <a:r>
              <a:rPr lang="en-US" altLang="zh-TW" sz="1800" kern="100" dirty="0">
                <a:solidFill>
                  <a:srgbClr val="FF0000"/>
                </a:solidFill>
                <a:effectLst/>
                <a:latin typeface="Courier New" panose="02070309020205020404" pitchFamily="49" charset="0"/>
                <a:ea typeface="標楷體" panose="03000509000000000000" pitchFamily="65" charset="-120"/>
              </a:rPr>
              <a:t>python .\manage.py shell</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Python 3.10.8 | packaged by </a:t>
            </a:r>
            <a:r>
              <a:rPr lang="en-US" altLang="zh-TW" sz="1800" kern="100" dirty="0" err="1">
                <a:effectLst/>
                <a:latin typeface="Courier New" panose="02070309020205020404" pitchFamily="49" charset="0"/>
                <a:ea typeface="標楷體" panose="03000509000000000000" pitchFamily="65" charset="-120"/>
              </a:rPr>
              <a:t>conda</a:t>
            </a:r>
            <a:r>
              <a:rPr lang="en-US" altLang="zh-TW" sz="1800" kern="100" dirty="0">
                <a:effectLst/>
                <a:latin typeface="Courier New" panose="02070309020205020404" pitchFamily="49" charset="0"/>
                <a:ea typeface="標楷體" panose="03000509000000000000" pitchFamily="65" charset="-120"/>
              </a:rPr>
              <a:t>-forge | (main, Nov 24 2022, 14:07:00) [MSC v.1916 64 bit (AMD64)] on win32</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Type "help", "copyright", "credits" or "license" for more information.</a:t>
            </a:r>
            <a:endParaRPr lang="zh-TW" altLang="zh-TW" sz="1800" kern="100" dirty="0">
              <a:effectLst/>
              <a:latin typeface="Courier New" panose="02070309020205020404" pitchFamily="49" charset="0"/>
              <a:ea typeface="標楷體" panose="03000509000000000000" pitchFamily="65" charset="-120"/>
            </a:endParaRPr>
          </a:p>
          <a:p>
            <a:pPr marL="0" indent="0">
              <a:buNone/>
            </a:pP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InteractiveConsole</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p:txBody>
      </p:sp>
    </p:spTree>
    <p:extLst>
      <p:ext uri="{BB962C8B-B14F-4D97-AF65-F5344CB8AC3E}">
        <p14:creationId xmlns:p14="http://schemas.microsoft.com/office/powerpoint/2010/main" val="298449975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Python Shell</a:t>
            </a:r>
            <a:r>
              <a:rPr lang="zh-TW" altLang="zh-TW" dirty="0"/>
              <a:t>中操作資料表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32</a:t>
            </a:fld>
            <a:endParaRPr lang="zh-TW" altLang="en-US"/>
          </a:p>
        </p:txBody>
      </p:sp>
      <p:sp>
        <p:nvSpPr>
          <p:cNvPr id="4" name="內容版面配置區 3"/>
          <p:cNvSpPr>
            <a:spLocks noGrp="1"/>
          </p:cNvSpPr>
          <p:nvPr>
            <p:ph sz="quarter" idx="1"/>
          </p:nvPr>
        </p:nvSpPr>
        <p:spPr/>
        <p:txBody>
          <a:bodyPr/>
          <a:lstStyle/>
          <a:p>
            <a:pPr marL="0" indent="0">
              <a:buNone/>
            </a:pPr>
            <a:r>
              <a:rPr lang="en-US" altLang="zh-TW" sz="2400" kern="100" dirty="0">
                <a:effectLst/>
                <a:latin typeface="Courier New" panose="02070309020205020404" pitchFamily="49" charset="0"/>
                <a:ea typeface="標楷體" panose="03000509000000000000" pitchFamily="65" charset="-120"/>
              </a:rPr>
              <a:t>&gt;&gt;&gt; from </a:t>
            </a:r>
            <a:r>
              <a:rPr lang="en-US" altLang="zh-TW" sz="2400" kern="100" dirty="0" err="1">
                <a:effectLst/>
                <a:latin typeface="Courier New" panose="02070309020205020404" pitchFamily="49" charset="0"/>
                <a:ea typeface="標楷體" panose="03000509000000000000" pitchFamily="65" charset="-120"/>
              </a:rPr>
              <a:t>mysite.models</a:t>
            </a:r>
            <a:r>
              <a:rPr lang="en-US" altLang="zh-TW" sz="2400" kern="100" dirty="0">
                <a:effectLst/>
                <a:latin typeface="Courier New" panose="02070309020205020404" pitchFamily="49" charset="0"/>
                <a:ea typeface="標楷體" panose="03000509000000000000" pitchFamily="65" charset="-120"/>
              </a:rPr>
              <a:t> import Product</a:t>
            </a:r>
            <a:endParaRPr lang="zh-TW" altLang="zh-TW" sz="2400" kern="100" dirty="0">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&gt;&gt;&gt; p = </a:t>
            </a:r>
            <a:r>
              <a:rPr lang="en-US" altLang="zh-TW" sz="2400" kern="100" dirty="0" err="1">
                <a:solidFill>
                  <a:srgbClr val="FF0000"/>
                </a:solidFill>
                <a:effectLst/>
                <a:latin typeface="Courier New" panose="02070309020205020404" pitchFamily="49" charset="0"/>
                <a:ea typeface="標楷體" panose="03000509000000000000" pitchFamily="65" charset="-120"/>
              </a:rPr>
              <a:t>Product.objects.</a:t>
            </a:r>
            <a:r>
              <a:rPr lang="en-US" altLang="zh-TW" sz="3200" b="1" kern="100" dirty="0" err="1">
                <a:solidFill>
                  <a:srgbClr val="FF0000"/>
                </a:solidFill>
                <a:effectLst/>
                <a:latin typeface="Courier New" panose="02070309020205020404" pitchFamily="49" charset="0"/>
                <a:ea typeface="標楷體" panose="03000509000000000000" pitchFamily="65" charset="-120"/>
              </a:rPr>
              <a:t>create</a:t>
            </a:r>
            <a:r>
              <a:rPr lang="en-US" altLang="zh-TW" sz="2400" kern="100" dirty="0">
                <a:effectLst/>
                <a:latin typeface="Courier New" panose="02070309020205020404" pitchFamily="49" charset="0"/>
                <a:ea typeface="標楷體" panose="03000509000000000000" pitchFamily="65" charset="-120"/>
              </a:rPr>
              <a:t>(</a:t>
            </a:r>
            <a:r>
              <a:rPr lang="en-US" altLang="zh-TW" sz="2400" kern="100" dirty="0" err="1">
                <a:effectLst/>
                <a:latin typeface="Courier New" panose="02070309020205020404" pitchFamily="49" charset="0"/>
                <a:ea typeface="標楷體" panose="03000509000000000000" pitchFamily="65" charset="-120"/>
              </a:rPr>
              <a:t>sku</a:t>
            </a:r>
            <a:r>
              <a:rPr lang="en-US" altLang="zh-TW" sz="2400" kern="100" dirty="0">
                <a:effectLst/>
                <a:latin typeface="Courier New" panose="02070309020205020404" pitchFamily="49" charset="0"/>
                <a:ea typeface="標楷體" panose="03000509000000000000" pitchFamily="65" charset="-120"/>
              </a:rPr>
              <a:t>='0001', name='</a:t>
            </a:r>
            <a:r>
              <a:rPr lang="en-US" altLang="zh-TW" sz="2400" kern="100" dirty="0" err="1">
                <a:effectLst/>
                <a:latin typeface="Courier New" panose="02070309020205020404" pitchFamily="49" charset="0"/>
                <a:ea typeface="標楷體" panose="03000509000000000000" pitchFamily="65" charset="-120"/>
              </a:rPr>
              <a:t>GrayBox</a:t>
            </a:r>
            <a:r>
              <a:rPr lang="en-US" altLang="zh-TW" sz="2400" kern="100" dirty="0">
                <a:effectLst/>
                <a:latin typeface="Courier New" panose="02070309020205020404" pitchFamily="49" charset="0"/>
                <a:ea typeface="標楷體" panose="03000509000000000000" pitchFamily="65" charset="-120"/>
              </a:rPr>
              <a:t>', price=100, </a:t>
            </a:r>
            <a:r>
              <a:rPr lang="en-US" altLang="zh-TW" sz="2400" kern="100" dirty="0">
                <a:solidFill>
                  <a:srgbClr val="FF0000"/>
                </a:solidFill>
                <a:effectLst/>
                <a:latin typeface="Courier New" panose="02070309020205020404" pitchFamily="49" charset="0"/>
                <a:ea typeface="標楷體" panose="03000509000000000000" pitchFamily="65" charset="-120"/>
              </a:rPr>
              <a:t>size='S')</a:t>
            </a:r>
            <a:endParaRPr lang="zh-TW" altLang="zh-TW" sz="24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2400" kern="100" dirty="0">
                <a:effectLst/>
                <a:latin typeface="Courier New" panose="02070309020205020404" pitchFamily="49" charset="0"/>
                <a:ea typeface="標楷體" panose="03000509000000000000" pitchFamily="65" charset="-120"/>
              </a:rPr>
              <a:t>&gt;&gt;&gt; </a:t>
            </a:r>
            <a:r>
              <a:rPr lang="en-US" altLang="zh-TW" sz="2400" kern="100" dirty="0" err="1">
                <a:effectLst/>
                <a:latin typeface="Courier New" panose="02070309020205020404" pitchFamily="49" charset="0"/>
                <a:ea typeface="標楷體" panose="03000509000000000000" pitchFamily="65" charset="-120"/>
              </a:rPr>
              <a:t>p.</a:t>
            </a:r>
            <a:r>
              <a:rPr lang="en-US" altLang="zh-TW" sz="3200" kern="100" dirty="0" err="1">
                <a:solidFill>
                  <a:srgbClr val="FF0000"/>
                </a:solidFill>
                <a:effectLst/>
                <a:latin typeface="Courier New" panose="02070309020205020404" pitchFamily="49" charset="0"/>
                <a:ea typeface="標楷體" panose="03000509000000000000" pitchFamily="65" charset="-120"/>
              </a:rPr>
              <a:t>save</a:t>
            </a:r>
            <a:r>
              <a:rPr lang="en-US" altLang="zh-TW" sz="3200" kern="100" dirty="0">
                <a:solidFill>
                  <a:srgbClr val="FF0000"/>
                </a:solidFill>
                <a:effectLst/>
                <a:latin typeface="Courier New" panose="02070309020205020404" pitchFamily="49" charset="0"/>
                <a:ea typeface="標楷體" panose="03000509000000000000" pitchFamily="65" charset="-120"/>
              </a:rPr>
              <a:t>()</a:t>
            </a:r>
            <a:endParaRPr lang="en-US" altLang="zh-TW" sz="2400" kern="100" dirty="0">
              <a:solidFill>
                <a:srgbClr val="FF0000"/>
              </a:solidFill>
              <a:effectLst/>
              <a:latin typeface="Courier New" panose="02070309020205020404" pitchFamily="49" charset="0"/>
              <a:ea typeface="標楷體" panose="03000509000000000000" pitchFamily="65" charset="-120"/>
            </a:endParaRPr>
          </a:p>
          <a:p>
            <a:pPr marL="0" indent="0">
              <a:buNone/>
            </a:pPr>
            <a:r>
              <a:rPr lang="en-US" altLang="zh-TW" sz="2400" kern="100" dirty="0">
                <a:latin typeface="Courier New" panose="02070309020205020404" pitchFamily="49" charset="0"/>
                <a:ea typeface="標楷體" panose="03000509000000000000" pitchFamily="65" charset="-120"/>
              </a:rPr>
              <a:t>&gt;&gt;&gt; exit()</a:t>
            </a:r>
            <a:endParaRPr lang="zh-TW" altLang="en-US" sz="2400" kern="100" dirty="0">
              <a:latin typeface="Courier New" panose="02070309020205020404" pitchFamily="49" charset="0"/>
              <a:ea typeface="標楷體" panose="03000509000000000000" pitchFamily="65" charset="-120"/>
            </a:endParaRPr>
          </a:p>
        </p:txBody>
      </p:sp>
      <p:pic>
        <p:nvPicPr>
          <p:cNvPr id="6" name="圖片 5" descr="一張含有 文字 的圖片&#10;&#10;自動產生的描述">
            <a:extLst>
              <a:ext uri="{FF2B5EF4-FFF2-40B4-BE49-F238E27FC236}">
                <a16:creationId xmlns:a16="http://schemas.microsoft.com/office/drawing/2014/main" id="{C325CDF1-BDF0-847A-6B0C-1A9C16C65FF8}"/>
              </a:ext>
            </a:extLst>
          </p:cNvPr>
          <p:cNvPicPr>
            <a:picLocks noChangeAspect="1"/>
          </p:cNvPicPr>
          <p:nvPr/>
        </p:nvPicPr>
        <p:blipFill>
          <a:blip r:embed="rId2"/>
          <a:stretch>
            <a:fillRect/>
          </a:stretch>
        </p:blipFill>
        <p:spPr>
          <a:xfrm>
            <a:off x="3074632" y="2966360"/>
            <a:ext cx="5961864" cy="3847016"/>
          </a:xfrm>
          <a:prstGeom prst="rect">
            <a:avLst/>
          </a:prstGeom>
        </p:spPr>
      </p:pic>
    </p:spTree>
    <p:extLst>
      <p:ext uri="{BB962C8B-B14F-4D97-AF65-F5344CB8AC3E}">
        <p14:creationId xmlns:p14="http://schemas.microsoft.com/office/powerpoint/2010/main" val="171484855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Python Shell</a:t>
            </a:r>
            <a:r>
              <a:rPr lang="zh-TW" altLang="zh-TW" dirty="0"/>
              <a:t>中操作資料表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33</a:t>
            </a:fld>
            <a:endParaRPr lang="zh-TW" altLang="en-US"/>
          </a:p>
        </p:txBody>
      </p:sp>
      <p:pic>
        <p:nvPicPr>
          <p:cNvPr id="6" name="內容版面配置區 5">
            <a:extLst>
              <a:ext uri="{FF2B5EF4-FFF2-40B4-BE49-F238E27FC236}">
                <a16:creationId xmlns:a16="http://schemas.microsoft.com/office/drawing/2014/main" id="{4B72DA11-C6F1-151A-A948-108EC790765E}"/>
              </a:ext>
            </a:extLst>
          </p:cNvPr>
          <p:cNvPicPr>
            <a:picLocks noGrp="1" noChangeAspect="1"/>
          </p:cNvPicPr>
          <p:nvPr>
            <p:ph sz="quarter" idx="1"/>
          </p:nvPr>
        </p:nvPicPr>
        <p:blipFill>
          <a:blip r:embed="rId2"/>
          <a:stretch>
            <a:fillRect/>
          </a:stretch>
        </p:blipFill>
        <p:spPr>
          <a:xfrm>
            <a:off x="1011799" y="1527175"/>
            <a:ext cx="7083889" cy="4572000"/>
          </a:xfrm>
          <a:prstGeom prst="rect">
            <a:avLst/>
          </a:prstGeom>
        </p:spPr>
      </p:pic>
    </p:spTree>
    <p:extLst>
      <p:ext uri="{BB962C8B-B14F-4D97-AF65-F5344CB8AC3E}">
        <p14:creationId xmlns:p14="http://schemas.microsoft.com/office/powerpoint/2010/main" val="277001539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Python Shell</a:t>
            </a:r>
            <a:r>
              <a:rPr lang="zh-TW" altLang="zh-TW" dirty="0"/>
              <a:t>中操作資料表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34</a:t>
            </a:fld>
            <a:endParaRPr lang="zh-TW" altLang="en-US"/>
          </a:p>
        </p:txBody>
      </p:sp>
      <p:sp>
        <p:nvSpPr>
          <p:cNvPr id="4" name="內容版面配置區 3"/>
          <p:cNvSpPr>
            <a:spLocks noGrp="1"/>
          </p:cNvSpPr>
          <p:nvPr>
            <p:ph sz="quarter" idx="1"/>
          </p:nvPr>
        </p:nvSpPr>
        <p:spPr>
          <a:xfrm>
            <a:off x="301752" y="1527048"/>
            <a:ext cx="8534400" cy="4926288"/>
          </a:xfrm>
        </p:spPr>
        <p:txBody>
          <a:bodyPr>
            <a:normAutofit/>
          </a:bodyPr>
          <a:lstStyle/>
          <a:p>
            <a:r>
              <a:rPr lang="zh-TW" altLang="en-US" dirty="0"/>
              <a:t>使用</a:t>
            </a:r>
            <a:r>
              <a:rPr lang="en-US" altLang="zh-TW" dirty="0" err="1"/>
              <a:t>Product.objects.all</a:t>
            </a:r>
            <a:r>
              <a:rPr lang="en-US" altLang="zh-TW" dirty="0"/>
              <a:t>()</a:t>
            </a:r>
            <a:r>
              <a:rPr lang="zh-TW" altLang="en-US" dirty="0"/>
              <a:t>函數以</a:t>
            </a:r>
            <a:r>
              <a:rPr lang="zh-TW" altLang="en-US" dirty="0">
                <a:solidFill>
                  <a:srgbClr val="FF0000"/>
                </a:solidFill>
              </a:rPr>
              <a:t>取得所有的資料</a:t>
            </a:r>
            <a:r>
              <a:rPr lang="zh-TW" altLang="en-US" dirty="0"/>
              <a:t>，而其資料型態稱為</a:t>
            </a:r>
            <a:r>
              <a:rPr lang="en-US" altLang="zh-TW" dirty="0" err="1"/>
              <a:t>QuerySet</a:t>
            </a:r>
            <a:r>
              <a:rPr lang="zh-TW" altLang="en-US" dirty="0"/>
              <a:t>，操作過程如下所示：</a:t>
            </a:r>
            <a:endParaRPr lang="en-US" altLang="zh-TW" dirty="0"/>
          </a:p>
          <a:p>
            <a:pPr marL="274320" lvl="1" indent="0">
              <a:buNone/>
            </a:pPr>
            <a:r>
              <a:rPr lang="en-US" altLang="zh-TW" sz="1800" kern="100" dirty="0">
                <a:effectLst/>
                <a:latin typeface="Courier New" panose="02070309020205020404" pitchFamily="49" charset="0"/>
                <a:ea typeface="標楷體" panose="03000509000000000000" pitchFamily="65" charset="-120"/>
              </a:rPr>
              <a:t>(dj4ch04) PS D:\dj4book\dj4ch04&gt; </a:t>
            </a:r>
            <a:r>
              <a:rPr lang="en-US" altLang="zh-TW" sz="1800" kern="100" dirty="0">
                <a:solidFill>
                  <a:srgbClr val="FF0000"/>
                </a:solidFill>
                <a:effectLst/>
                <a:latin typeface="Courier New" panose="02070309020205020404" pitchFamily="49" charset="0"/>
                <a:ea typeface="標楷體" panose="03000509000000000000" pitchFamily="65" charset="-120"/>
              </a:rPr>
              <a:t>python manage.py shell</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274320" lvl="1" indent="0">
              <a:buNone/>
            </a:pPr>
            <a:r>
              <a:rPr lang="en-US" altLang="zh-TW" sz="1800" kern="100" dirty="0">
                <a:effectLst/>
                <a:latin typeface="Courier New" panose="02070309020205020404" pitchFamily="49" charset="0"/>
                <a:ea typeface="標楷體" panose="03000509000000000000" pitchFamily="65" charset="-120"/>
              </a:rPr>
              <a:t>Python 3.10.8 | packaged by </a:t>
            </a:r>
            <a:r>
              <a:rPr lang="en-US" altLang="zh-TW" sz="1800" kern="100" dirty="0" err="1">
                <a:effectLst/>
                <a:latin typeface="Courier New" panose="02070309020205020404" pitchFamily="49" charset="0"/>
                <a:ea typeface="標楷體" panose="03000509000000000000" pitchFamily="65" charset="-120"/>
              </a:rPr>
              <a:t>conda</a:t>
            </a:r>
            <a:r>
              <a:rPr lang="en-US" altLang="zh-TW" sz="1800" kern="100" dirty="0">
                <a:effectLst/>
                <a:latin typeface="Courier New" panose="02070309020205020404" pitchFamily="49" charset="0"/>
                <a:ea typeface="標楷體" panose="03000509000000000000" pitchFamily="65" charset="-120"/>
              </a:rPr>
              <a:t>-forge | (main, Nov 24 2022, 14:07:00) [MSC v.1916 64 bit (AMD64)] on win32</a:t>
            </a:r>
            <a:endParaRPr lang="zh-TW" altLang="zh-TW" sz="1800" kern="100" dirty="0">
              <a:effectLst/>
              <a:latin typeface="Courier New" panose="02070309020205020404" pitchFamily="49" charset="0"/>
              <a:ea typeface="標楷體" panose="03000509000000000000" pitchFamily="65" charset="-120"/>
            </a:endParaRPr>
          </a:p>
          <a:p>
            <a:pPr marL="274320" lvl="1" indent="0">
              <a:buNone/>
            </a:pPr>
            <a:r>
              <a:rPr lang="en-US" altLang="zh-TW" sz="1800" kern="100" dirty="0">
                <a:effectLst/>
                <a:latin typeface="Courier New" panose="02070309020205020404" pitchFamily="49" charset="0"/>
                <a:ea typeface="標楷體" panose="03000509000000000000" pitchFamily="65" charset="-120"/>
              </a:rPr>
              <a:t>Type "help", "copyright", "credits" or "license" for more information.</a:t>
            </a:r>
            <a:endParaRPr lang="zh-TW" altLang="zh-TW" sz="1800" kern="100" dirty="0">
              <a:effectLst/>
              <a:latin typeface="Courier New" panose="02070309020205020404" pitchFamily="49" charset="0"/>
              <a:ea typeface="標楷體" panose="03000509000000000000" pitchFamily="65" charset="-120"/>
            </a:endParaRPr>
          </a:p>
          <a:p>
            <a:pPr marL="274320" lvl="1" indent="0">
              <a:buNone/>
            </a:pPr>
            <a:r>
              <a:rPr lang="en-US" altLang="zh-TW" sz="1800" kern="100" dirty="0">
                <a:effectLst/>
                <a:latin typeface="Courier New" panose="02070309020205020404" pitchFamily="49" charset="0"/>
                <a:ea typeface="標楷體" panose="03000509000000000000" pitchFamily="65" charset="-120"/>
              </a:rPr>
              <a:t>(</a:t>
            </a:r>
            <a:r>
              <a:rPr lang="en-US" altLang="zh-TW" sz="1800" kern="100" dirty="0" err="1">
                <a:effectLst/>
                <a:latin typeface="Courier New" panose="02070309020205020404" pitchFamily="49" charset="0"/>
                <a:ea typeface="標楷體" panose="03000509000000000000" pitchFamily="65" charset="-120"/>
              </a:rPr>
              <a:t>InteractiveConsole</a:t>
            </a:r>
            <a:r>
              <a:rPr lang="en-US" altLang="zh-TW" sz="1800" kern="100" dirty="0">
                <a:effectLst/>
                <a:latin typeface="Courier New" panose="02070309020205020404" pitchFamily="49" charset="0"/>
                <a:ea typeface="標楷體" panose="03000509000000000000" pitchFamily="65" charset="-120"/>
              </a:rPr>
              <a:t>)</a:t>
            </a:r>
            <a:endParaRPr lang="zh-TW" altLang="zh-TW" sz="1800" kern="100" dirty="0">
              <a:effectLst/>
              <a:latin typeface="Courier New" panose="02070309020205020404" pitchFamily="49" charset="0"/>
              <a:ea typeface="標楷體" panose="03000509000000000000" pitchFamily="65" charset="-120"/>
            </a:endParaRPr>
          </a:p>
          <a:p>
            <a:pPr marL="274320" lvl="1" indent="0">
              <a:buNone/>
            </a:pPr>
            <a:r>
              <a:rPr lang="en-US" altLang="zh-TW" sz="1800" kern="100" dirty="0">
                <a:effectLst/>
                <a:latin typeface="Courier New" panose="02070309020205020404" pitchFamily="49" charset="0"/>
                <a:ea typeface="標楷體" panose="03000509000000000000" pitchFamily="65" charset="-120"/>
              </a:rPr>
              <a:t>&gt;&gt;&gt; </a:t>
            </a:r>
            <a:r>
              <a:rPr lang="en-US" altLang="zh-TW" sz="1800" kern="100" dirty="0">
                <a:solidFill>
                  <a:srgbClr val="FF0000"/>
                </a:solidFill>
                <a:effectLst/>
                <a:latin typeface="Courier New" panose="02070309020205020404" pitchFamily="49" charset="0"/>
                <a:ea typeface="標楷體" panose="03000509000000000000" pitchFamily="65" charset="-120"/>
              </a:rPr>
              <a:t>from </a:t>
            </a:r>
            <a:r>
              <a:rPr lang="en-US" altLang="zh-TW" sz="1800" kern="100" dirty="0" err="1">
                <a:solidFill>
                  <a:srgbClr val="FF0000"/>
                </a:solidFill>
                <a:effectLst/>
                <a:latin typeface="Courier New" panose="02070309020205020404" pitchFamily="49" charset="0"/>
                <a:ea typeface="標楷體" panose="03000509000000000000" pitchFamily="65" charset="-120"/>
              </a:rPr>
              <a:t>mysite.models</a:t>
            </a:r>
            <a:r>
              <a:rPr lang="en-US" altLang="zh-TW" sz="1800" kern="100" dirty="0">
                <a:solidFill>
                  <a:srgbClr val="FF0000"/>
                </a:solidFill>
                <a:effectLst/>
                <a:latin typeface="Courier New" panose="02070309020205020404" pitchFamily="49" charset="0"/>
                <a:ea typeface="標楷體" panose="03000509000000000000" pitchFamily="65" charset="-120"/>
              </a:rPr>
              <a:t> import Product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274320" lvl="1" indent="0">
              <a:buNone/>
            </a:pPr>
            <a:r>
              <a:rPr lang="en-US" altLang="zh-TW" sz="1800" kern="100" dirty="0">
                <a:effectLst/>
                <a:latin typeface="Courier New" panose="02070309020205020404" pitchFamily="49" charset="0"/>
                <a:ea typeface="標楷體" panose="03000509000000000000" pitchFamily="65" charset="-120"/>
              </a:rPr>
              <a:t>&gt;&gt;&gt; </a:t>
            </a:r>
            <a:r>
              <a:rPr lang="en-US" altLang="zh-TW" sz="1800" kern="100" dirty="0" err="1">
                <a:solidFill>
                  <a:srgbClr val="FF0000"/>
                </a:solidFill>
                <a:effectLst/>
                <a:latin typeface="Courier New" panose="02070309020205020404" pitchFamily="49" charset="0"/>
                <a:ea typeface="標楷體" panose="03000509000000000000" pitchFamily="65" charset="-120"/>
              </a:rPr>
              <a:t>allp</a:t>
            </a:r>
            <a:r>
              <a:rPr lang="en-US" altLang="zh-TW" sz="1800" kern="100" dirty="0">
                <a:solidFill>
                  <a:srgbClr val="FF0000"/>
                </a:solidFill>
                <a:effectLst/>
                <a:latin typeface="Courier New" panose="02070309020205020404" pitchFamily="49" charset="0"/>
                <a:ea typeface="標楷體" panose="03000509000000000000" pitchFamily="65" charset="-120"/>
              </a:rPr>
              <a:t> = </a:t>
            </a:r>
            <a:r>
              <a:rPr lang="en-US" altLang="zh-TW" sz="1800" kern="100" dirty="0" err="1">
                <a:solidFill>
                  <a:srgbClr val="FF0000"/>
                </a:solidFill>
                <a:effectLst/>
                <a:latin typeface="Courier New" panose="02070309020205020404" pitchFamily="49" charset="0"/>
                <a:ea typeface="標楷體" panose="03000509000000000000" pitchFamily="65" charset="-120"/>
              </a:rPr>
              <a:t>Product.objects.all</a:t>
            </a:r>
            <a:r>
              <a:rPr lang="en-US" altLang="zh-TW" sz="1800" kern="100" dirty="0">
                <a:solidFill>
                  <a:srgbClr val="FF0000"/>
                </a:solidFill>
                <a:effectLst/>
                <a:latin typeface="Courier New" panose="02070309020205020404" pitchFamily="49" charset="0"/>
                <a:ea typeface="標楷體" panose="03000509000000000000" pitchFamily="65" charset="-120"/>
              </a:rPr>
              <a:t>()</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274320" lvl="1" indent="0">
              <a:buNone/>
            </a:pPr>
            <a:r>
              <a:rPr lang="en-US" altLang="zh-TW" sz="1800" kern="100" dirty="0">
                <a:effectLst/>
                <a:latin typeface="Courier New" panose="02070309020205020404" pitchFamily="49" charset="0"/>
                <a:ea typeface="標楷體" panose="03000509000000000000" pitchFamily="65" charset="-120"/>
              </a:rPr>
              <a:t>&gt;&gt;&gt; </a:t>
            </a:r>
            <a:r>
              <a:rPr lang="en-US" altLang="zh-TW" sz="1800" kern="100" dirty="0" err="1">
                <a:solidFill>
                  <a:srgbClr val="FF0000"/>
                </a:solidFill>
                <a:effectLst/>
                <a:latin typeface="Courier New" panose="02070309020205020404" pitchFamily="49" charset="0"/>
                <a:ea typeface="標楷體" panose="03000509000000000000" pitchFamily="65" charset="-120"/>
              </a:rPr>
              <a:t>allp</a:t>
            </a:r>
            <a:r>
              <a:rPr lang="en-US" altLang="zh-TW" sz="1800" kern="100" dirty="0">
                <a:solidFill>
                  <a:srgbClr val="FF0000"/>
                </a:solidFill>
                <a:effectLst/>
                <a:latin typeface="Courier New" panose="02070309020205020404" pitchFamily="49" charset="0"/>
                <a:ea typeface="標楷體" panose="03000509000000000000" pitchFamily="65" charset="-120"/>
              </a:rPr>
              <a:t>[0]</a:t>
            </a:r>
            <a:endParaRPr lang="zh-TW" altLang="zh-TW" sz="1800" kern="100" dirty="0">
              <a:solidFill>
                <a:srgbClr val="FF0000"/>
              </a:solidFill>
              <a:effectLst/>
              <a:latin typeface="Courier New" panose="02070309020205020404" pitchFamily="49" charset="0"/>
              <a:ea typeface="標楷體" panose="03000509000000000000" pitchFamily="65" charset="-120"/>
            </a:endParaRPr>
          </a:p>
          <a:p>
            <a:pPr marL="274320" lvl="1" indent="0">
              <a:buNone/>
            </a:pPr>
            <a:r>
              <a:rPr lang="en-US" altLang="zh-TW" sz="1800" kern="100" dirty="0">
                <a:effectLst/>
                <a:latin typeface="Courier New" panose="02070309020205020404" pitchFamily="49" charset="0"/>
                <a:ea typeface="標楷體" panose="03000509000000000000" pitchFamily="65" charset="-120"/>
              </a:rPr>
              <a:t>&lt;Product: Product object (1)&gt;</a:t>
            </a:r>
          </a:p>
          <a:p>
            <a:pPr marL="274320" lvl="1" indent="0">
              <a:buNone/>
            </a:pPr>
            <a:r>
              <a:rPr lang="en-US" altLang="zh-TW" sz="1800" kern="100" dirty="0">
                <a:latin typeface="Courier New" panose="02070309020205020404" pitchFamily="49" charset="0"/>
                <a:ea typeface="標楷體" panose="03000509000000000000" pitchFamily="65" charset="-120"/>
              </a:rPr>
              <a:t>&gt;&gt;&gt; </a:t>
            </a:r>
            <a:r>
              <a:rPr lang="en-US" altLang="zh-TW" sz="1800" kern="100" dirty="0">
                <a:solidFill>
                  <a:srgbClr val="FF0000"/>
                </a:solidFill>
                <a:latin typeface="Courier New" panose="02070309020205020404" pitchFamily="49" charset="0"/>
                <a:ea typeface="標楷體" panose="03000509000000000000" pitchFamily="65" charset="-120"/>
              </a:rPr>
              <a:t>print(</a:t>
            </a:r>
            <a:r>
              <a:rPr lang="en-US" altLang="zh-TW" sz="1800" kern="100" dirty="0" err="1">
                <a:solidFill>
                  <a:srgbClr val="FF0000"/>
                </a:solidFill>
                <a:latin typeface="Courier New" panose="02070309020205020404" pitchFamily="49" charset="0"/>
                <a:ea typeface="標楷體" panose="03000509000000000000" pitchFamily="65" charset="-120"/>
              </a:rPr>
              <a:t>allp</a:t>
            </a:r>
            <a:r>
              <a:rPr lang="en-US" altLang="zh-TW" sz="1800" kern="100" dirty="0">
                <a:solidFill>
                  <a:srgbClr val="FF0000"/>
                </a:solidFill>
                <a:latin typeface="Courier New" panose="02070309020205020404" pitchFamily="49" charset="0"/>
                <a:ea typeface="標楷體" panose="03000509000000000000" pitchFamily="65" charset="-120"/>
              </a:rPr>
              <a:t>[1])</a:t>
            </a:r>
          </a:p>
          <a:p>
            <a:pPr marL="274320" lvl="1" indent="0">
              <a:buNone/>
            </a:pPr>
            <a:r>
              <a:rPr lang="en-US" altLang="zh-TW" sz="1800" kern="100" dirty="0">
                <a:latin typeface="Courier New" panose="02070309020205020404" pitchFamily="49" charset="0"/>
                <a:ea typeface="標楷體" panose="03000509000000000000" pitchFamily="65" charset="-120"/>
              </a:rPr>
              <a:t>SONY Xperia Z3</a:t>
            </a:r>
            <a:endParaRPr lang="zh-TW" altLang="zh-TW" sz="1800" kern="100" dirty="0">
              <a:effectLst/>
              <a:latin typeface="Courier New" panose="02070309020205020404" pitchFamily="49" charset="0"/>
              <a:ea typeface="標楷體" panose="03000509000000000000" pitchFamily="65" charset="-120"/>
            </a:endParaRPr>
          </a:p>
          <a:p>
            <a:pPr lvl="1"/>
            <a:endParaRPr lang="zh-TW" altLang="en-US" dirty="0"/>
          </a:p>
        </p:txBody>
      </p:sp>
    </p:spTree>
    <p:extLst>
      <p:ext uri="{BB962C8B-B14F-4D97-AF65-F5344CB8AC3E}">
        <p14:creationId xmlns:p14="http://schemas.microsoft.com/office/powerpoint/2010/main" val="383676383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投影片編號版面配置區 2">
            <a:extLst>
              <a:ext uri="{FF2B5EF4-FFF2-40B4-BE49-F238E27FC236}">
                <a16:creationId xmlns:a16="http://schemas.microsoft.com/office/drawing/2014/main" id="{1EA69477-3B0F-34E1-945A-821C62F57810}"/>
              </a:ext>
            </a:extLst>
          </p:cNvPr>
          <p:cNvSpPr>
            <a:spLocks noGrp="1"/>
          </p:cNvSpPr>
          <p:nvPr>
            <p:ph type="sldNum" sz="quarter" idx="12"/>
          </p:nvPr>
        </p:nvSpPr>
        <p:spPr/>
        <p:txBody>
          <a:bodyPr/>
          <a:lstStyle/>
          <a:p>
            <a:fld id="{369E457D-EE12-4164-8E32-9DDD40A95892}" type="slidenum">
              <a:rPr lang="zh-TW" altLang="en-US" smtClean="0"/>
              <a:pPr/>
              <a:t>35</a:t>
            </a:fld>
            <a:endParaRPr lang="zh-TW" altLang="en-US"/>
          </a:p>
        </p:txBody>
      </p:sp>
      <p:sp>
        <p:nvSpPr>
          <p:cNvPr id="5" name="文字方塊 4">
            <a:extLst>
              <a:ext uri="{FF2B5EF4-FFF2-40B4-BE49-F238E27FC236}">
                <a16:creationId xmlns:a16="http://schemas.microsoft.com/office/drawing/2014/main" id="{46FC7ED5-EE27-F1F5-114A-A875E1339038}"/>
              </a:ext>
            </a:extLst>
          </p:cNvPr>
          <p:cNvSpPr txBox="1"/>
          <p:nvPr/>
        </p:nvSpPr>
        <p:spPr>
          <a:xfrm>
            <a:off x="-36512" y="188640"/>
            <a:ext cx="9144000" cy="5078313"/>
          </a:xfrm>
          <a:prstGeom prst="rect">
            <a:avLst/>
          </a:prstGeom>
          <a:noFill/>
        </p:spPr>
        <p:txBody>
          <a:bodyPr wrap="square">
            <a:spAutoFit/>
          </a:bodyPr>
          <a:lstStyle/>
          <a:p>
            <a:r>
              <a:rPr lang="en-US" altLang="zh-TW" dirty="0"/>
              <a:t>from </a:t>
            </a:r>
            <a:r>
              <a:rPr lang="en-US" altLang="zh-TW" dirty="0" err="1"/>
              <a:t>mysite.models</a:t>
            </a:r>
            <a:r>
              <a:rPr lang="en-US" altLang="zh-TW" dirty="0"/>
              <a:t> import Product    (ch04 products.py)</a:t>
            </a:r>
          </a:p>
          <a:p>
            <a:r>
              <a:rPr lang="en-US" altLang="zh-TW" dirty="0"/>
              <a:t>p = </a:t>
            </a:r>
            <a:r>
              <a:rPr lang="en-US" altLang="zh-TW" dirty="0" err="1"/>
              <a:t>Product.objects.create</a:t>
            </a:r>
            <a:r>
              <a:rPr lang="en-US" altLang="zh-TW" dirty="0"/>
              <a:t>(name=' HTC Magic', price=100, qty=0)</a:t>
            </a:r>
          </a:p>
          <a:p>
            <a:r>
              <a:rPr lang="en-US" altLang="zh-TW" dirty="0"/>
              <a:t>p = </a:t>
            </a:r>
            <a:r>
              <a:rPr lang="en-US" altLang="zh-TW" dirty="0" err="1"/>
              <a:t>Product.objects.create</a:t>
            </a:r>
            <a:r>
              <a:rPr lang="en-US" altLang="zh-TW" dirty="0"/>
              <a:t>(name=' SONY Xperia Z3', price= 15000, qty=1)</a:t>
            </a:r>
          </a:p>
          <a:p>
            <a:r>
              <a:rPr lang="en-US" altLang="zh-TW" dirty="0"/>
              <a:t>p = </a:t>
            </a:r>
            <a:r>
              <a:rPr lang="en-US" altLang="zh-TW" dirty="0" err="1"/>
              <a:t>Product.objects.create</a:t>
            </a:r>
            <a:r>
              <a:rPr lang="en-US" altLang="zh-TW" dirty="0"/>
              <a:t>(name=' Samsung DUOS', price=800, qty=2)</a:t>
            </a:r>
          </a:p>
          <a:p>
            <a:r>
              <a:rPr lang="en-US" altLang="zh-TW" dirty="0"/>
              <a:t>p = </a:t>
            </a:r>
            <a:r>
              <a:rPr lang="en-US" altLang="zh-TW" dirty="0" err="1"/>
              <a:t>Product.objects.create</a:t>
            </a:r>
            <a:r>
              <a:rPr lang="en-US" altLang="zh-TW" dirty="0"/>
              <a:t>(name=' Nokia Xpress 5800', price=500, qty=1)</a:t>
            </a:r>
          </a:p>
          <a:p>
            <a:r>
              <a:rPr lang="en-US" altLang="zh-TW" dirty="0"/>
              <a:t>p = </a:t>
            </a:r>
            <a:r>
              <a:rPr lang="en-US" altLang="zh-TW" dirty="0" err="1"/>
              <a:t>Product.objects.create</a:t>
            </a:r>
            <a:r>
              <a:rPr lang="en-US" altLang="zh-TW" dirty="0"/>
              <a:t>(name=' </a:t>
            </a:r>
            <a:r>
              <a:rPr lang="en-US" altLang="zh-TW" dirty="0" err="1"/>
              <a:t>Infocus</a:t>
            </a:r>
            <a:r>
              <a:rPr lang="en-US" altLang="zh-TW" dirty="0"/>
              <a:t> M370', price=1500, qty=2)</a:t>
            </a:r>
          </a:p>
          <a:p>
            <a:r>
              <a:rPr lang="en-US" altLang="zh-TW" dirty="0" err="1"/>
              <a:t>p.save</a:t>
            </a:r>
            <a:r>
              <a:rPr lang="en-US" altLang="zh-TW" dirty="0"/>
              <a:t>()</a:t>
            </a:r>
          </a:p>
          <a:p>
            <a:r>
              <a:rPr lang="en-US" altLang="zh-TW" dirty="0"/>
              <a:t>#exit()</a:t>
            </a:r>
          </a:p>
          <a:p>
            <a:endParaRPr lang="en-US" altLang="zh-TW" dirty="0"/>
          </a:p>
          <a:p>
            <a:r>
              <a:rPr lang="en-US" altLang="zh-TW" dirty="0" err="1"/>
              <a:t>allprod</a:t>
            </a:r>
            <a:r>
              <a:rPr lang="en-US" altLang="zh-TW" dirty="0"/>
              <a:t> = </a:t>
            </a:r>
            <a:r>
              <a:rPr lang="en-US" altLang="zh-TW" dirty="0" err="1"/>
              <a:t>Product.objects.all</a:t>
            </a:r>
            <a:r>
              <a:rPr lang="en-US" altLang="zh-TW" dirty="0"/>
              <a:t>()</a:t>
            </a:r>
          </a:p>
          <a:p>
            <a:r>
              <a:rPr lang="en-US" altLang="zh-TW" dirty="0"/>
              <a:t>for p in </a:t>
            </a:r>
            <a:r>
              <a:rPr lang="en-US" altLang="zh-TW" dirty="0" err="1"/>
              <a:t>allprod</a:t>
            </a:r>
            <a:r>
              <a:rPr lang="en-US" altLang="zh-TW" dirty="0"/>
              <a:t>:</a:t>
            </a:r>
          </a:p>
          <a:p>
            <a:r>
              <a:rPr lang="en-US" altLang="zh-TW" dirty="0"/>
              <a:t>    print(p.name, ‘, ’, </a:t>
            </a:r>
            <a:r>
              <a:rPr lang="en-US" altLang="zh-TW" dirty="0" err="1"/>
              <a:t>p.price</a:t>
            </a:r>
            <a:r>
              <a:rPr lang="en-US" altLang="zh-TW" dirty="0"/>
              <a:t>, ‘, ’, </a:t>
            </a:r>
            <a:r>
              <a:rPr lang="en-US" altLang="zh-TW" dirty="0" err="1"/>
              <a:t>p.qty</a:t>
            </a:r>
            <a:r>
              <a:rPr lang="en-US" altLang="zh-TW" dirty="0"/>
              <a:t>)  </a:t>
            </a:r>
            <a:r>
              <a:rPr lang="en-US" altLang="zh-TW" dirty="0">
                <a:solidFill>
                  <a:srgbClr val="FF0000"/>
                </a:solidFill>
              </a:rPr>
              <a:t>(</a:t>
            </a:r>
            <a:r>
              <a:rPr lang="zh-TW" altLang="en-US" dirty="0">
                <a:solidFill>
                  <a:srgbClr val="FF0000"/>
                </a:solidFill>
              </a:rPr>
              <a:t>打字到這邊要再按一下</a:t>
            </a:r>
            <a:r>
              <a:rPr lang="en-US" altLang="zh-TW" dirty="0">
                <a:solidFill>
                  <a:srgbClr val="FF0000"/>
                </a:solidFill>
              </a:rPr>
              <a:t>enter</a:t>
            </a:r>
            <a:r>
              <a:rPr lang="zh-TW" altLang="en-US" dirty="0">
                <a:solidFill>
                  <a:srgbClr val="FF0000"/>
                </a:solidFill>
              </a:rPr>
              <a:t>才會有結果</a:t>
            </a:r>
            <a:r>
              <a:rPr lang="en-US" altLang="zh-TW" dirty="0">
                <a:solidFill>
                  <a:srgbClr val="FF0000"/>
                </a:solidFill>
              </a:rPr>
              <a:t>)</a:t>
            </a:r>
          </a:p>
          <a:p>
            <a:endParaRPr lang="en-US" altLang="zh-TW" dirty="0"/>
          </a:p>
          <a:p>
            <a:r>
              <a:rPr lang="en-US" altLang="zh-TW" dirty="0"/>
              <a:t>HTC Magic ,  100 ,  0</a:t>
            </a:r>
          </a:p>
          <a:p>
            <a:r>
              <a:rPr lang="en-US" altLang="zh-TW" dirty="0"/>
              <a:t>SONY Xperia Z3 , 15000 , 1</a:t>
            </a:r>
          </a:p>
          <a:p>
            <a:r>
              <a:rPr lang="en-US" altLang="zh-TW" dirty="0"/>
              <a:t>Samsung DUOS , 800 , 2</a:t>
            </a:r>
          </a:p>
          <a:p>
            <a:r>
              <a:rPr lang="en-US" altLang="zh-TW" dirty="0"/>
              <a:t>Nokia Xpress 5800, 500, 1</a:t>
            </a:r>
          </a:p>
          <a:p>
            <a:r>
              <a:rPr lang="en-US" altLang="zh-TW" dirty="0" err="1"/>
              <a:t>Infocus</a:t>
            </a:r>
            <a:r>
              <a:rPr lang="en-US" altLang="zh-TW" dirty="0"/>
              <a:t> M370 , 1500 , 2</a:t>
            </a:r>
          </a:p>
        </p:txBody>
      </p:sp>
      <p:pic>
        <p:nvPicPr>
          <p:cNvPr id="7" name="圖片 6">
            <a:extLst>
              <a:ext uri="{FF2B5EF4-FFF2-40B4-BE49-F238E27FC236}">
                <a16:creationId xmlns:a16="http://schemas.microsoft.com/office/drawing/2014/main" id="{B68F56B5-230E-172F-05BE-14152ECD6F0F}"/>
              </a:ext>
            </a:extLst>
          </p:cNvPr>
          <p:cNvPicPr>
            <a:picLocks noChangeAspect="1"/>
          </p:cNvPicPr>
          <p:nvPr/>
        </p:nvPicPr>
        <p:blipFill>
          <a:blip r:embed="rId3"/>
          <a:stretch>
            <a:fillRect/>
          </a:stretch>
        </p:blipFill>
        <p:spPr>
          <a:xfrm>
            <a:off x="3347864" y="4369312"/>
            <a:ext cx="5849166" cy="2372056"/>
          </a:xfrm>
          <a:prstGeom prst="rect">
            <a:avLst/>
          </a:prstGeom>
        </p:spPr>
      </p:pic>
      <p:pic>
        <p:nvPicPr>
          <p:cNvPr id="4" name="圖片 3">
            <a:extLst>
              <a:ext uri="{FF2B5EF4-FFF2-40B4-BE49-F238E27FC236}">
                <a16:creationId xmlns:a16="http://schemas.microsoft.com/office/drawing/2014/main" id="{B0FAE2BC-E885-5B4A-0E4B-574296BD71A2}"/>
              </a:ext>
            </a:extLst>
          </p:cNvPr>
          <p:cNvPicPr>
            <a:picLocks noChangeAspect="1"/>
          </p:cNvPicPr>
          <p:nvPr/>
        </p:nvPicPr>
        <p:blipFill>
          <a:blip r:embed="rId4"/>
          <a:stretch>
            <a:fillRect/>
          </a:stretch>
        </p:blipFill>
        <p:spPr>
          <a:xfrm>
            <a:off x="3491880" y="3717032"/>
            <a:ext cx="5315692" cy="762106"/>
          </a:xfrm>
          <a:prstGeom prst="rect">
            <a:avLst/>
          </a:prstGeom>
        </p:spPr>
      </p:pic>
    </p:spTree>
    <p:extLst>
      <p:ext uri="{BB962C8B-B14F-4D97-AF65-F5344CB8AC3E}">
        <p14:creationId xmlns:p14="http://schemas.microsoft.com/office/powerpoint/2010/main" val="18365255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Python Shell</a:t>
            </a:r>
            <a:r>
              <a:rPr lang="zh-TW" altLang="zh-TW" dirty="0"/>
              <a:t>中操作資料表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36</a:t>
            </a:fld>
            <a:endParaRPr lang="zh-TW" altLang="en-US"/>
          </a:p>
        </p:txBody>
      </p:sp>
      <p:sp>
        <p:nvSpPr>
          <p:cNvPr id="4" name="內容版面配置區 3"/>
          <p:cNvSpPr>
            <a:spLocks noGrp="1"/>
          </p:cNvSpPr>
          <p:nvPr>
            <p:ph sz="quarter" idx="1"/>
          </p:nvPr>
        </p:nvSpPr>
        <p:spPr/>
        <p:txBody>
          <a:bodyPr/>
          <a:lstStyle/>
          <a:p>
            <a:r>
              <a:rPr lang="en-US" altLang="zh-TW" dirty="0"/>
              <a:t>__</a:t>
            </a:r>
            <a:r>
              <a:rPr lang="en-US" altLang="zh-TW" dirty="0" err="1"/>
              <a:t>str</a:t>
            </a:r>
            <a:r>
              <a:rPr lang="en-US" altLang="zh-TW" dirty="0"/>
              <a:t>__</a:t>
            </a:r>
            <a:r>
              <a:rPr lang="zh-TW" altLang="en-US" dirty="0"/>
              <a:t>函數是當這個類別的</a:t>
            </a:r>
            <a:r>
              <a:rPr lang="zh-TW" altLang="en-US" dirty="0">
                <a:solidFill>
                  <a:srgbClr val="FF0000"/>
                </a:solidFill>
              </a:rPr>
              <a:t>實例被列印出來</a:t>
            </a:r>
            <a:r>
              <a:rPr lang="zh-TW" altLang="en-US" dirty="0"/>
              <a:t>的時候會呼叫的函數，我們直接把它覆寫成顯示其中的</a:t>
            </a:r>
            <a:r>
              <a:rPr lang="en-US" altLang="zh-TW" dirty="0"/>
              <a:t>name</a:t>
            </a:r>
            <a:r>
              <a:rPr lang="zh-TW" altLang="en-US" dirty="0"/>
              <a:t>這個欄位</a:t>
            </a:r>
            <a:endParaRPr lang="en-US" altLang="zh-TW" dirty="0"/>
          </a:p>
          <a:p>
            <a:pPr marL="548640" lvl="2" indent="0">
              <a:buNone/>
            </a:pPr>
            <a:r>
              <a:rPr lang="en-US" altLang="zh-TW" dirty="0"/>
              <a:t> </a:t>
            </a:r>
            <a:r>
              <a:rPr lang="en-US" altLang="zh-TW" sz="2400" kern="100" dirty="0">
                <a:effectLst/>
                <a:latin typeface="Courier New" panose="02070309020205020404" pitchFamily="49" charset="0"/>
                <a:ea typeface="標楷體" panose="03000509000000000000" pitchFamily="65" charset="-120"/>
              </a:rPr>
              <a:t>def __str__(self):</a:t>
            </a:r>
            <a:endParaRPr lang="zh-TW" altLang="zh-TW" sz="2400" kern="100" dirty="0">
              <a:effectLst/>
              <a:latin typeface="Courier New" panose="02070309020205020404" pitchFamily="49" charset="0"/>
              <a:ea typeface="標楷體" panose="03000509000000000000" pitchFamily="65" charset="-120"/>
            </a:endParaRPr>
          </a:p>
          <a:p>
            <a:pPr marL="548640" lvl="2" indent="0">
              <a:buNone/>
            </a:pPr>
            <a:r>
              <a:rPr lang="en-US" altLang="zh-TW" sz="2400" kern="100" dirty="0">
                <a:effectLst/>
                <a:latin typeface="Courier New" panose="02070309020205020404" pitchFamily="49" charset="0"/>
                <a:ea typeface="標楷體" panose="03000509000000000000" pitchFamily="65" charset="-120"/>
              </a:rPr>
              <a:t>     return self.name</a:t>
            </a:r>
            <a:endParaRPr lang="zh-TW" altLang="zh-TW" sz="2400" kern="100" dirty="0">
              <a:effectLst/>
              <a:latin typeface="Courier New" panose="02070309020205020404" pitchFamily="49" charset="0"/>
              <a:ea typeface="標楷體" panose="03000509000000000000" pitchFamily="65" charset="-120"/>
            </a:endParaRPr>
          </a:p>
          <a:p>
            <a:pPr lvl="1"/>
            <a:endParaRPr lang="zh-TW" altLang="en-US" dirty="0"/>
          </a:p>
        </p:txBody>
      </p:sp>
      <p:sp>
        <p:nvSpPr>
          <p:cNvPr id="6" name="文字方塊 5">
            <a:extLst>
              <a:ext uri="{FF2B5EF4-FFF2-40B4-BE49-F238E27FC236}">
                <a16:creationId xmlns:a16="http://schemas.microsoft.com/office/drawing/2014/main" id="{30D8B43D-3D58-A8BC-085F-59BA347B5495}"/>
              </a:ext>
            </a:extLst>
          </p:cNvPr>
          <p:cNvSpPr txBox="1"/>
          <p:nvPr/>
        </p:nvSpPr>
        <p:spPr>
          <a:xfrm>
            <a:off x="683568" y="5330952"/>
            <a:ext cx="4572000" cy="646331"/>
          </a:xfrm>
          <a:prstGeom prst="rect">
            <a:avLst/>
          </a:prstGeom>
          <a:noFill/>
        </p:spPr>
        <p:txBody>
          <a:bodyPr wrap="square">
            <a:spAutoFit/>
          </a:bodyPr>
          <a:lstStyle/>
          <a:p>
            <a:r>
              <a:rPr lang="sv-SE" altLang="zh-TW" dirty="0"/>
              <a:t>&gt;&gt;&gt; print(allp[1])</a:t>
            </a:r>
          </a:p>
          <a:p>
            <a:r>
              <a:rPr lang="sv-SE" altLang="zh-TW" dirty="0"/>
              <a:t>SONY Xperia Z3</a:t>
            </a:r>
          </a:p>
        </p:txBody>
      </p:sp>
    </p:spTree>
    <p:extLst>
      <p:ext uri="{BB962C8B-B14F-4D97-AF65-F5344CB8AC3E}">
        <p14:creationId xmlns:p14="http://schemas.microsoft.com/office/powerpoint/2010/main" val="19478574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229744" y="156592"/>
            <a:ext cx="8534400" cy="758952"/>
          </a:xfrm>
        </p:spPr>
        <p:txBody>
          <a:bodyPr/>
          <a:lstStyle/>
          <a:p>
            <a:r>
              <a:rPr lang="zh-TW" altLang="zh-TW" dirty="0"/>
              <a:t>資料的查詢與編輯</a:t>
            </a:r>
            <a:endParaRPr lang="zh-TW" altLang="en-US" dirty="0"/>
          </a:p>
        </p:txBody>
      </p:sp>
      <p:sp>
        <p:nvSpPr>
          <p:cNvPr id="3" name="投影片編號版面配置區 2"/>
          <p:cNvSpPr>
            <a:spLocks noGrp="1"/>
          </p:cNvSpPr>
          <p:nvPr>
            <p:ph type="sldNum" sz="quarter" idx="12"/>
          </p:nvPr>
        </p:nvSpPr>
        <p:spPr>
          <a:xfrm>
            <a:off x="4289680" y="954364"/>
            <a:ext cx="457200" cy="441325"/>
          </a:xfrm>
        </p:spPr>
        <p:txBody>
          <a:bodyPr/>
          <a:lstStyle/>
          <a:p>
            <a:fld id="{369E457D-EE12-4164-8E32-9DDD40A95892}" type="slidenum">
              <a:rPr lang="zh-TW" altLang="en-US" smtClean="0"/>
              <a:pPr/>
              <a:t>37</a:t>
            </a:fld>
            <a:endParaRPr lang="zh-TW" altLang="en-US"/>
          </a:p>
        </p:txBody>
      </p:sp>
      <p:sp>
        <p:nvSpPr>
          <p:cNvPr id="4" name="內容版面配置區 3"/>
          <p:cNvSpPr>
            <a:spLocks noGrp="1"/>
          </p:cNvSpPr>
          <p:nvPr>
            <p:ph sz="quarter" idx="1"/>
          </p:nvPr>
        </p:nvSpPr>
        <p:spPr>
          <a:xfrm>
            <a:off x="229744" y="1455040"/>
            <a:ext cx="8503920" cy="4572000"/>
          </a:xfrm>
        </p:spPr>
        <p:txBody>
          <a:bodyPr/>
          <a:lstStyle/>
          <a:p>
            <a:r>
              <a:rPr lang="zh-TW" altLang="zh-TW" dirty="0"/>
              <a:t>除了之前的</a:t>
            </a:r>
            <a:r>
              <a:rPr lang="en-US" altLang="zh-TW" dirty="0"/>
              <a:t>create()</a:t>
            </a:r>
            <a:r>
              <a:rPr lang="zh-TW" altLang="zh-TW" dirty="0"/>
              <a:t>、</a:t>
            </a:r>
            <a:r>
              <a:rPr lang="en-US" altLang="zh-TW" dirty="0"/>
              <a:t>save()</a:t>
            </a:r>
            <a:r>
              <a:rPr lang="zh-TW" altLang="zh-TW" dirty="0"/>
              <a:t>和</a:t>
            </a:r>
            <a:r>
              <a:rPr lang="en-US" altLang="zh-TW" dirty="0"/>
              <a:t>all()</a:t>
            </a:r>
            <a:r>
              <a:rPr lang="zh-TW" altLang="zh-TW" dirty="0"/>
              <a:t>這三個函數之外，其它常用的函數以及可以加在函數中的修飾元摘要</a:t>
            </a:r>
            <a:r>
              <a:rPr lang="zh-TW" altLang="en-US" dirty="0"/>
              <a:t>，如下表：</a:t>
            </a:r>
            <a:endParaRPr lang="en-US" altLang="zh-TW" dirty="0"/>
          </a:p>
          <a:p>
            <a:endParaRPr lang="zh-TW" altLang="en-US" dirty="0"/>
          </a:p>
        </p:txBody>
      </p:sp>
      <p:graphicFrame>
        <p:nvGraphicFramePr>
          <p:cNvPr id="7" name="表格 6"/>
          <p:cNvGraphicFramePr>
            <a:graphicFrameLocks noGrp="1"/>
          </p:cNvGraphicFramePr>
          <p:nvPr>
            <p:extLst>
              <p:ext uri="{D42A27DB-BD31-4B8C-83A1-F6EECF244321}">
                <p14:modId xmlns:p14="http://schemas.microsoft.com/office/powerpoint/2010/main" val="3548829875"/>
              </p:ext>
            </p:extLst>
          </p:nvPr>
        </p:nvGraphicFramePr>
        <p:xfrm>
          <a:off x="410336" y="2780928"/>
          <a:ext cx="8503920" cy="4077074"/>
        </p:xfrm>
        <a:graphic>
          <a:graphicData uri="http://schemas.openxmlformats.org/drawingml/2006/table">
            <a:tbl>
              <a:tblPr firstRow="1" firstCol="1" bandRow="1">
                <a:tableStyleId>{5C22544A-7EE6-4342-B048-85BDC9FD1C3A}</a:tableStyleId>
              </a:tblPr>
              <a:tblGrid>
                <a:gridCol w="2830839">
                  <a:extLst>
                    <a:ext uri="{9D8B030D-6E8A-4147-A177-3AD203B41FA5}">
                      <a16:colId xmlns:a16="http://schemas.microsoft.com/office/drawing/2014/main" val="20000"/>
                    </a:ext>
                  </a:extLst>
                </a:gridCol>
                <a:gridCol w="5673081">
                  <a:extLst>
                    <a:ext uri="{9D8B030D-6E8A-4147-A177-3AD203B41FA5}">
                      <a16:colId xmlns:a16="http://schemas.microsoft.com/office/drawing/2014/main" val="20001"/>
                    </a:ext>
                  </a:extLst>
                </a:gridCol>
              </a:tblGrid>
              <a:tr h="338848">
                <a:tc>
                  <a:txBody>
                    <a:bodyPr/>
                    <a:lstStyle/>
                    <a:p>
                      <a:pPr algn="just">
                        <a:spcBef>
                          <a:spcPts val="600"/>
                        </a:spcBef>
                        <a:spcAft>
                          <a:spcPts val="600"/>
                        </a:spcAft>
                      </a:pPr>
                      <a:r>
                        <a:rPr lang="zh-TW" sz="1800" kern="100" dirty="0">
                          <a:effectLst/>
                        </a:rPr>
                        <a:t>函數名稱或修飾元</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說明</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338848">
                <a:tc>
                  <a:txBody>
                    <a:bodyPr/>
                    <a:lstStyle/>
                    <a:p>
                      <a:pPr algn="just">
                        <a:spcBef>
                          <a:spcPts val="600"/>
                        </a:spcBef>
                        <a:spcAft>
                          <a:spcPts val="600"/>
                        </a:spcAft>
                      </a:pPr>
                      <a:r>
                        <a:rPr lang="en-US" sz="1800" kern="100">
                          <a:effectLst/>
                        </a:rPr>
                        <a:t>filter()</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傳回符合指定條件的</a:t>
                      </a:r>
                      <a:r>
                        <a:rPr lang="en-US" sz="1800" kern="100">
                          <a:effectLst/>
                        </a:rPr>
                        <a:t>QuerySet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338848">
                <a:tc>
                  <a:txBody>
                    <a:bodyPr/>
                    <a:lstStyle/>
                    <a:p>
                      <a:pPr algn="just">
                        <a:spcBef>
                          <a:spcPts val="600"/>
                        </a:spcBef>
                        <a:spcAft>
                          <a:spcPts val="600"/>
                        </a:spcAft>
                      </a:pPr>
                      <a:r>
                        <a:rPr lang="en-US" sz="1800" kern="100">
                          <a:effectLst/>
                        </a:rPr>
                        <a:t>exclude()</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傳回不符合指令條件的</a:t>
                      </a:r>
                      <a:r>
                        <a:rPr lang="en-US" sz="1800" kern="100">
                          <a:effectLst/>
                        </a:rPr>
                        <a:t>QuerySet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677696">
                <a:tc>
                  <a:txBody>
                    <a:bodyPr/>
                    <a:lstStyle/>
                    <a:p>
                      <a:pPr algn="just">
                        <a:spcBef>
                          <a:spcPts val="600"/>
                        </a:spcBef>
                        <a:spcAft>
                          <a:spcPts val="600"/>
                        </a:spcAft>
                      </a:pPr>
                      <a:r>
                        <a:rPr lang="en-US" sz="1800" kern="100" dirty="0" err="1">
                          <a:effectLst/>
                        </a:rPr>
                        <a:t>order_by</a:t>
                      </a:r>
                      <a:r>
                        <a:rPr lang="en-US" sz="1800" kern="100" dirty="0">
                          <a:effectLst/>
                        </a:rPr>
                        <a:t>()</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串接到</a:t>
                      </a:r>
                      <a:r>
                        <a:rPr lang="en-US" sz="1800" kern="100" dirty="0" err="1">
                          <a:effectLst/>
                        </a:rPr>
                        <a:t>QuerySet</a:t>
                      </a:r>
                      <a:r>
                        <a:rPr lang="zh-TW" sz="1800" kern="100" dirty="0">
                          <a:effectLst/>
                        </a:rPr>
                        <a:t>之後，針對某一指定的欄位進行排序的動作。</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338848">
                <a:tc>
                  <a:txBody>
                    <a:bodyPr/>
                    <a:lstStyle/>
                    <a:p>
                      <a:pPr algn="just">
                        <a:spcBef>
                          <a:spcPts val="600"/>
                        </a:spcBef>
                        <a:spcAft>
                          <a:spcPts val="600"/>
                        </a:spcAft>
                      </a:pPr>
                      <a:r>
                        <a:rPr lang="en-US" sz="1800" kern="100">
                          <a:effectLst/>
                        </a:rPr>
                        <a:t>all()</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傳回所有的</a:t>
                      </a:r>
                      <a:r>
                        <a:rPr lang="en-US" sz="1800" kern="100">
                          <a:effectLst/>
                        </a:rPr>
                        <a:t>QuerySet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688594">
                <a:tc>
                  <a:txBody>
                    <a:bodyPr/>
                    <a:lstStyle/>
                    <a:p>
                      <a:pPr algn="just">
                        <a:spcBef>
                          <a:spcPts val="600"/>
                        </a:spcBef>
                        <a:spcAft>
                          <a:spcPts val="600"/>
                        </a:spcAft>
                      </a:pPr>
                      <a:r>
                        <a:rPr lang="en-US" sz="1800" kern="100">
                          <a:effectLst/>
                        </a:rPr>
                        <a:t>get()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取得指定符合條件的</a:t>
                      </a:r>
                      <a:r>
                        <a:rPr lang="zh-TW" sz="2400" b="1" kern="100" dirty="0">
                          <a:solidFill>
                            <a:srgbClr val="FF0000"/>
                          </a:solidFill>
                          <a:effectLst/>
                        </a:rPr>
                        <a:t>唯一元素</a:t>
                      </a:r>
                      <a:r>
                        <a:rPr lang="zh-TW" sz="1800" kern="100" dirty="0">
                          <a:effectLst/>
                        </a:rPr>
                        <a:t>，</a:t>
                      </a:r>
                      <a:r>
                        <a:rPr lang="zh-TW" sz="1800" kern="100" dirty="0">
                          <a:solidFill>
                            <a:srgbClr val="FF0000"/>
                          </a:solidFill>
                          <a:effectLst/>
                        </a:rPr>
                        <a:t>如果找不到或是一個以上符合條件，均會產生</a:t>
                      </a:r>
                      <a:r>
                        <a:rPr lang="en-US" sz="1800" kern="100" dirty="0">
                          <a:solidFill>
                            <a:srgbClr val="FF0000"/>
                          </a:solidFill>
                          <a:effectLst/>
                        </a:rPr>
                        <a:t>exception</a:t>
                      </a:r>
                      <a:endParaRPr lang="zh-TW" sz="1800" kern="100" dirty="0">
                        <a:solidFill>
                          <a:srgbClr val="FF0000"/>
                        </a:solidFill>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r h="338848">
                <a:tc>
                  <a:txBody>
                    <a:bodyPr/>
                    <a:lstStyle/>
                    <a:p>
                      <a:pPr algn="just">
                        <a:spcBef>
                          <a:spcPts val="600"/>
                        </a:spcBef>
                        <a:spcAft>
                          <a:spcPts val="600"/>
                        </a:spcAft>
                      </a:pPr>
                      <a:r>
                        <a:rPr lang="en-US" sz="1800" kern="100">
                          <a:effectLst/>
                        </a:rPr>
                        <a:t>first()/last()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取得第</a:t>
                      </a:r>
                      <a:r>
                        <a:rPr lang="en-US" sz="1800" kern="100">
                          <a:effectLst/>
                        </a:rPr>
                        <a:t>1</a:t>
                      </a:r>
                      <a:r>
                        <a:rPr lang="zh-TW" sz="1800" kern="100">
                          <a:effectLst/>
                        </a:rPr>
                        <a:t>個和最後</a:t>
                      </a:r>
                      <a:r>
                        <a:rPr lang="en-US" sz="1800" kern="100">
                          <a:effectLst/>
                        </a:rPr>
                        <a:t>1</a:t>
                      </a:r>
                      <a:r>
                        <a:rPr lang="zh-TW" sz="1800" kern="100">
                          <a:effectLst/>
                        </a:rPr>
                        <a:t>個元素</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6"/>
                  </a:ext>
                </a:extLst>
              </a:tr>
              <a:tr h="338848">
                <a:tc>
                  <a:txBody>
                    <a:bodyPr/>
                    <a:lstStyle/>
                    <a:p>
                      <a:pPr algn="just">
                        <a:spcBef>
                          <a:spcPts val="600"/>
                        </a:spcBef>
                        <a:spcAft>
                          <a:spcPts val="600"/>
                        </a:spcAft>
                      </a:pPr>
                      <a:r>
                        <a:rPr lang="en-US" sz="1800" kern="100" dirty="0">
                          <a:effectLst/>
                        </a:rPr>
                        <a:t>aggregate()</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可以用來計算資料項目的聚合函數</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7"/>
                  </a:ext>
                </a:extLst>
              </a:tr>
              <a:tr h="677696">
                <a:tc>
                  <a:txBody>
                    <a:bodyPr/>
                    <a:lstStyle/>
                    <a:p>
                      <a:pPr algn="just">
                        <a:spcBef>
                          <a:spcPts val="600"/>
                        </a:spcBef>
                        <a:spcAft>
                          <a:spcPts val="600"/>
                        </a:spcAft>
                      </a:pPr>
                      <a:r>
                        <a:rPr lang="en-US" sz="1800" kern="100" dirty="0">
                          <a:effectLst/>
                        </a:rPr>
                        <a:t>exists()</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用來檢查是否存在某指令條件之記錄，通常是附加在</a:t>
                      </a:r>
                      <a:r>
                        <a:rPr lang="en-US" sz="1800" kern="100" dirty="0">
                          <a:effectLst/>
                        </a:rPr>
                        <a:t>filter()</a:t>
                      </a:r>
                      <a:r>
                        <a:rPr lang="zh-TW" sz="1800" kern="100" dirty="0">
                          <a:effectLst/>
                        </a:rPr>
                        <a:t>後面</a:t>
                      </a:r>
                      <a:r>
                        <a:rPr lang="en-US" altLang="zh-TW" sz="1800" kern="100" dirty="0">
                          <a:effectLst/>
                        </a:rPr>
                        <a:t>   (return true or false)</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077992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資料的查詢與編輯</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38</a:t>
            </a:fld>
            <a:endParaRPr lang="zh-TW" altLang="en-US"/>
          </a:p>
        </p:txBody>
      </p:sp>
      <p:graphicFrame>
        <p:nvGraphicFramePr>
          <p:cNvPr id="5" name="內容版面配置區 4"/>
          <p:cNvGraphicFramePr>
            <a:graphicFrameLocks noGrp="1"/>
          </p:cNvGraphicFramePr>
          <p:nvPr>
            <p:ph sz="quarter" idx="1"/>
            <p:extLst>
              <p:ext uri="{D42A27DB-BD31-4B8C-83A1-F6EECF244321}">
                <p14:modId xmlns:p14="http://schemas.microsoft.com/office/powerpoint/2010/main" val="1724405372"/>
              </p:ext>
            </p:extLst>
          </p:nvPr>
        </p:nvGraphicFramePr>
        <p:xfrm>
          <a:off x="567777" y="1916832"/>
          <a:ext cx="8008446" cy="3960440"/>
        </p:xfrm>
        <a:graphic>
          <a:graphicData uri="http://schemas.openxmlformats.org/drawingml/2006/table">
            <a:tbl>
              <a:tblPr firstRow="1" firstCol="1" bandRow="1">
                <a:tableStyleId>{5C22544A-7EE6-4342-B048-85BDC9FD1C3A}</a:tableStyleId>
              </a:tblPr>
              <a:tblGrid>
                <a:gridCol w="2665902">
                  <a:extLst>
                    <a:ext uri="{9D8B030D-6E8A-4147-A177-3AD203B41FA5}">
                      <a16:colId xmlns:a16="http://schemas.microsoft.com/office/drawing/2014/main" val="20000"/>
                    </a:ext>
                  </a:extLst>
                </a:gridCol>
                <a:gridCol w="5342544">
                  <a:extLst>
                    <a:ext uri="{9D8B030D-6E8A-4147-A177-3AD203B41FA5}">
                      <a16:colId xmlns:a16="http://schemas.microsoft.com/office/drawing/2014/main" val="20001"/>
                    </a:ext>
                  </a:extLst>
                </a:gridCol>
              </a:tblGrid>
              <a:tr h="565777">
                <a:tc>
                  <a:txBody>
                    <a:bodyPr/>
                    <a:lstStyle/>
                    <a:p>
                      <a:pPr algn="just">
                        <a:spcBef>
                          <a:spcPts val="600"/>
                        </a:spcBef>
                        <a:spcAft>
                          <a:spcPts val="600"/>
                        </a:spcAft>
                      </a:pPr>
                      <a:r>
                        <a:rPr lang="en-US" sz="1800" kern="100">
                          <a:effectLst/>
                        </a:rPr>
                        <a:t>update()</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用來快速更新某些資料記錄中的欄位內容</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0"/>
                  </a:ext>
                </a:extLst>
              </a:tr>
              <a:tr h="565777">
                <a:tc>
                  <a:txBody>
                    <a:bodyPr/>
                    <a:lstStyle/>
                    <a:p>
                      <a:pPr algn="just">
                        <a:spcBef>
                          <a:spcPts val="600"/>
                        </a:spcBef>
                        <a:spcAft>
                          <a:spcPts val="600"/>
                        </a:spcAft>
                      </a:pPr>
                      <a:r>
                        <a:rPr lang="en-US" sz="1800" kern="100">
                          <a:effectLst/>
                        </a:rPr>
                        <a:t>delete()</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刪除指定的記錄</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1"/>
                  </a:ext>
                </a:extLst>
              </a:tr>
              <a:tr h="565777">
                <a:tc>
                  <a:txBody>
                    <a:bodyPr/>
                    <a:lstStyle/>
                    <a:p>
                      <a:pPr algn="just">
                        <a:spcBef>
                          <a:spcPts val="600"/>
                        </a:spcBef>
                        <a:spcAft>
                          <a:spcPts val="600"/>
                        </a:spcAft>
                      </a:pPr>
                      <a:r>
                        <a:rPr lang="en-US" sz="1800" kern="100">
                          <a:effectLst/>
                        </a:rPr>
                        <a:t>iexact</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不區分大小寫的條件設定</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2"/>
                  </a:ext>
                </a:extLst>
              </a:tr>
              <a:tr h="1131555">
                <a:tc>
                  <a:txBody>
                    <a:bodyPr/>
                    <a:lstStyle/>
                    <a:p>
                      <a:pPr algn="just">
                        <a:spcBef>
                          <a:spcPts val="600"/>
                        </a:spcBef>
                        <a:spcAft>
                          <a:spcPts val="600"/>
                        </a:spcAft>
                      </a:pPr>
                      <a:r>
                        <a:rPr lang="en-US" sz="1800" kern="100">
                          <a:effectLst/>
                        </a:rPr>
                        <a:t>contains/icontains</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設定條件為含有某一字串即符合，像是</a:t>
                      </a:r>
                      <a:r>
                        <a:rPr lang="en-US" sz="1800" kern="100">
                          <a:effectLst/>
                        </a:rPr>
                        <a:t>SQL</a:t>
                      </a:r>
                      <a:r>
                        <a:rPr lang="zh-TW" sz="1800" kern="100">
                          <a:effectLst/>
                        </a:rPr>
                        <a:t>語法中的</a:t>
                      </a:r>
                      <a:r>
                        <a:rPr lang="en-US" sz="1800" kern="100">
                          <a:effectLst/>
                        </a:rPr>
                        <a:t>LIKE</a:t>
                      </a:r>
                      <a:r>
                        <a:rPr lang="zh-TW" sz="1800" kern="100">
                          <a:effectLst/>
                        </a:rPr>
                        <a:t>和</a:t>
                      </a:r>
                      <a:r>
                        <a:rPr lang="en-US" sz="1800" kern="100">
                          <a:effectLst/>
                        </a:rPr>
                        <a:t>ILIKE</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3"/>
                  </a:ext>
                </a:extLst>
              </a:tr>
              <a:tr h="565777">
                <a:tc>
                  <a:txBody>
                    <a:bodyPr/>
                    <a:lstStyle/>
                    <a:p>
                      <a:pPr algn="just">
                        <a:spcBef>
                          <a:spcPts val="600"/>
                        </a:spcBef>
                        <a:spcAft>
                          <a:spcPts val="600"/>
                        </a:spcAft>
                      </a:pPr>
                      <a:r>
                        <a:rPr lang="en-US" sz="1800" kern="100">
                          <a:effectLst/>
                        </a:rPr>
                        <a:t>in</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a:effectLst/>
                        </a:rPr>
                        <a:t>提供一個串列，只要符合串列中的任一值均可</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4"/>
                  </a:ext>
                </a:extLst>
              </a:tr>
              <a:tr h="565777">
                <a:tc>
                  <a:txBody>
                    <a:bodyPr/>
                    <a:lstStyle/>
                    <a:p>
                      <a:pPr algn="just">
                        <a:spcBef>
                          <a:spcPts val="600"/>
                        </a:spcBef>
                        <a:spcAft>
                          <a:spcPts val="600"/>
                        </a:spcAft>
                      </a:pPr>
                      <a:r>
                        <a:rPr lang="en-US" sz="1800" kern="100">
                          <a:effectLst/>
                        </a:rPr>
                        <a:t>gt/gte/lt/lte</a:t>
                      </a:r>
                      <a:endParaRPr lang="zh-TW" sz="18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800" kern="100" dirty="0">
                          <a:effectLst/>
                        </a:rPr>
                        <a:t>大於</a:t>
                      </a:r>
                      <a:r>
                        <a:rPr lang="en-US" sz="1800" kern="100" dirty="0">
                          <a:effectLst/>
                        </a:rPr>
                        <a:t>/</a:t>
                      </a:r>
                      <a:r>
                        <a:rPr lang="zh-TW" sz="1800" kern="100" dirty="0">
                          <a:effectLst/>
                        </a:rPr>
                        <a:t>大於等於</a:t>
                      </a:r>
                      <a:r>
                        <a:rPr lang="en-US" sz="1800" kern="100" dirty="0">
                          <a:effectLst/>
                        </a:rPr>
                        <a:t>/</a:t>
                      </a:r>
                      <a:r>
                        <a:rPr lang="zh-TW" sz="1800" kern="100" dirty="0">
                          <a:effectLst/>
                        </a:rPr>
                        <a:t>小於</a:t>
                      </a:r>
                      <a:r>
                        <a:rPr lang="en-US" sz="1800" kern="100" dirty="0">
                          <a:effectLst/>
                        </a:rPr>
                        <a:t>/</a:t>
                      </a:r>
                      <a:r>
                        <a:rPr lang="zh-TW" sz="1800" kern="100" dirty="0">
                          <a:effectLst/>
                        </a:rPr>
                        <a:t>小於等於</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86008685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資料的查詢與編輯</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39</a:t>
            </a:fld>
            <a:endParaRPr lang="zh-TW" altLang="en-US"/>
          </a:p>
        </p:txBody>
      </p:sp>
      <p:sp>
        <p:nvSpPr>
          <p:cNvPr id="4" name="內容版面配置區 3"/>
          <p:cNvSpPr>
            <a:spLocks noGrp="1"/>
          </p:cNvSpPr>
          <p:nvPr>
            <p:ph sz="quarter" idx="1"/>
          </p:nvPr>
        </p:nvSpPr>
        <p:spPr/>
        <p:txBody>
          <a:bodyPr/>
          <a:lstStyle/>
          <a:p>
            <a:r>
              <a:rPr lang="zh-TW" altLang="zh-TW" dirty="0"/>
              <a:t>在上述的表格中，有一些函數如</a:t>
            </a:r>
            <a:r>
              <a:rPr lang="en-US" altLang="zh-TW" dirty="0"/>
              <a:t>reverse()</a:t>
            </a:r>
            <a:r>
              <a:rPr lang="zh-TW" altLang="zh-TW" dirty="0"/>
              <a:t>以及</a:t>
            </a:r>
            <a:r>
              <a:rPr lang="en-US" altLang="zh-TW" dirty="0"/>
              <a:t>exists()</a:t>
            </a:r>
            <a:r>
              <a:rPr lang="zh-TW" altLang="zh-TW" dirty="0"/>
              <a:t>等是可以串接在另外一些函數後面做進一步過濾資訊的，而修飾元則是放在參數中，把欄位名稱後面加上</a:t>
            </a:r>
            <a:r>
              <a:rPr lang="en-US" altLang="zh-TW" sz="3200" dirty="0">
                <a:solidFill>
                  <a:srgbClr val="FF0000"/>
                </a:solidFill>
              </a:rPr>
              <a:t>2</a:t>
            </a:r>
            <a:r>
              <a:rPr lang="zh-TW" altLang="zh-TW" sz="3200" dirty="0">
                <a:solidFill>
                  <a:srgbClr val="FF0000"/>
                </a:solidFill>
              </a:rPr>
              <a:t>個底線</a:t>
            </a:r>
            <a:r>
              <a:rPr lang="zh-TW" altLang="zh-TW" dirty="0"/>
              <a:t>之後再串接，可以為條件設定增加更多的彈性</a:t>
            </a:r>
            <a:endParaRPr lang="en-US" altLang="zh-TW" dirty="0"/>
          </a:p>
          <a:p>
            <a:r>
              <a:rPr lang="zh-TW" altLang="zh-TW" dirty="0"/>
              <a:t>原本使用</a:t>
            </a:r>
            <a:r>
              <a:rPr lang="en-US" altLang="zh-TW" dirty="0"/>
              <a:t>filter</a:t>
            </a:r>
            <a:r>
              <a:rPr lang="zh-TW" altLang="zh-TW" dirty="0"/>
              <a:t>只能設定等號，如果要使用小於</a:t>
            </a:r>
            <a:r>
              <a:rPr lang="en-US" altLang="zh-TW" dirty="0"/>
              <a:t>2</a:t>
            </a:r>
            <a:r>
              <a:rPr lang="zh-TW" altLang="zh-TW" dirty="0"/>
              <a:t>的條件，則要改為如下：</a:t>
            </a:r>
            <a:endParaRPr lang="en-US" altLang="zh-TW" dirty="0"/>
          </a:p>
          <a:p>
            <a:pPr lvl="1"/>
            <a:r>
              <a:rPr lang="en-US" altLang="zh-TW" dirty="0" err="1"/>
              <a:t>less_than_two</a:t>
            </a:r>
            <a:r>
              <a:rPr lang="en-US" altLang="zh-TW" dirty="0"/>
              <a:t> = </a:t>
            </a:r>
            <a:r>
              <a:rPr lang="en-US" altLang="zh-TW" dirty="0" err="1"/>
              <a:t>Product.objects.filter</a:t>
            </a:r>
            <a:r>
              <a:rPr lang="en-US" altLang="zh-TW" dirty="0"/>
              <a:t>(</a:t>
            </a:r>
            <a:r>
              <a:rPr lang="en-US" altLang="zh-TW" dirty="0" err="1"/>
              <a:t>qty</a:t>
            </a:r>
            <a:r>
              <a:rPr lang="en-US" altLang="zh-TW" dirty="0">
                <a:solidFill>
                  <a:srgbClr val="FF0000"/>
                </a:solidFill>
              </a:rPr>
              <a:t>__</a:t>
            </a:r>
            <a:r>
              <a:rPr lang="en-US" altLang="zh-TW" dirty="0" err="1">
                <a:solidFill>
                  <a:srgbClr val="FF0000"/>
                </a:solidFill>
              </a:rPr>
              <a:t>lt</a:t>
            </a:r>
            <a:r>
              <a:rPr lang="en-US" altLang="zh-TW" dirty="0"/>
              <a:t>=2)</a:t>
            </a:r>
            <a:endParaRPr lang="zh-TW" altLang="en-US" dirty="0"/>
          </a:p>
        </p:txBody>
      </p:sp>
    </p:spTree>
    <p:extLst>
      <p:ext uri="{BB962C8B-B14F-4D97-AF65-F5344CB8AC3E}">
        <p14:creationId xmlns:p14="http://schemas.microsoft.com/office/powerpoint/2010/main" val="4260629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1569FF-2E91-7B98-39FD-E371010D3776}"/>
              </a:ext>
            </a:extLst>
          </p:cNvPr>
          <p:cNvSpPr>
            <a:spLocks noGrp="1"/>
          </p:cNvSpPr>
          <p:nvPr>
            <p:ph type="title"/>
          </p:nvPr>
        </p:nvSpPr>
        <p:spPr>
          <a:xfrm>
            <a:off x="301752" y="437800"/>
            <a:ext cx="8534400" cy="758952"/>
          </a:xfrm>
        </p:spPr>
        <p:txBody>
          <a:bodyPr>
            <a:normAutofit fontScale="90000"/>
          </a:bodyPr>
          <a:lstStyle/>
          <a:p>
            <a:r>
              <a:rPr lang="zh-TW" altLang="en-US" dirty="0"/>
              <a:t>查詢範例 </a:t>
            </a:r>
            <a:r>
              <a:rPr lang="zh-TW" altLang="en-US" sz="4400" dirty="0">
                <a:solidFill>
                  <a:srgbClr val="FF0000"/>
                </a:solidFill>
              </a:rPr>
              <a:t>記得先</a:t>
            </a:r>
            <a:br>
              <a:rPr lang="en-US" altLang="zh-TW" dirty="0"/>
            </a:br>
            <a:r>
              <a:rPr lang="en-US" altLang="zh-TW" dirty="0"/>
              <a:t>from </a:t>
            </a:r>
            <a:r>
              <a:rPr lang="en-US" altLang="zh-TW" dirty="0" err="1"/>
              <a:t>mysite.models</a:t>
            </a:r>
            <a:r>
              <a:rPr lang="en-US" altLang="zh-TW" dirty="0"/>
              <a:t> import Product</a:t>
            </a:r>
            <a:endParaRPr lang="zh-TW" altLang="en-US" dirty="0"/>
          </a:p>
        </p:txBody>
      </p:sp>
      <p:sp>
        <p:nvSpPr>
          <p:cNvPr id="3" name="投影片編號版面配置區 2">
            <a:extLst>
              <a:ext uri="{FF2B5EF4-FFF2-40B4-BE49-F238E27FC236}">
                <a16:creationId xmlns:a16="http://schemas.microsoft.com/office/drawing/2014/main" id="{2141321D-901C-C0F7-70DD-839BA15F6B2D}"/>
              </a:ext>
            </a:extLst>
          </p:cNvPr>
          <p:cNvSpPr>
            <a:spLocks noGrp="1"/>
          </p:cNvSpPr>
          <p:nvPr>
            <p:ph type="sldNum" sz="quarter" idx="12"/>
          </p:nvPr>
        </p:nvSpPr>
        <p:spPr/>
        <p:txBody>
          <a:bodyPr/>
          <a:lstStyle/>
          <a:p>
            <a:fld id="{369E457D-EE12-4164-8E32-9DDD40A95892}" type="slidenum">
              <a:rPr lang="zh-TW" altLang="en-US" smtClean="0"/>
              <a:pPr/>
              <a:t>40</a:t>
            </a:fld>
            <a:endParaRPr lang="zh-TW" altLang="en-US"/>
          </a:p>
        </p:txBody>
      </p:sp>
      <p:graphicFrame>
        <p:nvGraphicFramePr>
          <p:cNvPr id="5" name="內容版面配置區 4">
            <a:extLst>
              <a:ext uri="{FF2B5EF4-FFF2-40B4-BE49-F238E27FC236}">
                <a16:creationId xmlns:a16="http://schemas.microsoft.com/office/drawing/2014/main" id="{B0641FC8-4C11-285A-C062-289D4DC5D830}"/>
              </a:ext>
            </a:extLst>
          </p:cNvPr>
          <p:cNvGraphicFramePr>
            <a:graphicFrameLocks noGrp="1"/>
          </p:cNvGraphicFramePr>
          <p:nvPr>
            <p:ph sz="quarter" idx="1"/>
            <p:extLst>
              <p:ext uri="{D42A27DB-BD31-4B8C-83A1-F6EECF244321}">
                <p14:modId xmlns:p14="http://schemas.microsoft.com/office/powerpoint/2010/main" val="158163266"/>
              </p:ext>
            </p:extLst>
          </p:nvPr>
        </p:nvGraphicFramePr>
        <p:xfrm>
          <a:off x="395536" y="1506517"/>
          <a:ext cx="8440616" cy="5122883"/>
        </p:xfrm>
        <a:graphic>
          <a:graphicData uri="http://schemas.openxmlformats.org/drawingml/2006/table">
            <a:tbl>
              <a:tblPr firstRow="1" firstCol="1" bandRow="1">
                <a:tableStyleId>{5C22544A-7EE6-4342-B048-85BDC9FD1C3A}</a:tableStyleId>
              </a:tblPr>
              <a:tblGrid>
                <a:gridCol w="2068795">
                  <a:extLst>
                    <a:ext uri="{9D8B030D-6E8A-4147-A177-3AD203B41FA5}">
                      <a16:colId xmlns:a16="http://schemas.microsoft.com/office/drawing/2014/main" val="2846651318"/>
                    </a:ext>
                  </a:extLst>
                </a:gridCol>
                <a:gridCol w="6371821">
                  <a:extLst>
                    <a:ext uri="{9D8B030D-6E8A-4147-A177-3AD203B41FA5}">
                      <a16:colId xmlns:a16="http://schemas.microsoft.com/office/drawing/2014/main" val="3818094713"/>
                    </a:ext>
                  </a:extLst>
                </a:gridCol>
              </a:tblGrid>
              <a:tr h="353862">
                <a:tc>
                  <a:txBody>
                    <a:bodyPr/>
                    <a:lstStyle/>
                    <a:p>
                      <a:pPr algn="just">
                        <a:spcBef>
                          <a:spcPts val="600"/>
                        </a:spcBef>
                        <a:spcAft>
                          <a:spcPts val="600"/>
                        </a:spcAft>
                      </a:pPr>
                      <a:r>
                        <a:rPr lang="zh-TW" sz="1600" kern="100">
                          <a:effectLst/>
                        </a:rPr>
                        <a:t>想要達成的目標</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a:effectLst/>
                        </a:rPr>
                        <a:t>查詢寫法和執行結果</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458416311"/>
                  </a:ext>
                </a:extLst>
              </a:tr>
              <a:tr h="1474425">
                <a:tc>
                  <a:txBody>
                    <a:bodyPr/>
                    <a:lstStyle/>
                    <a:p>
                      <a:pPr algn="just">
                        <a:spcBef>
                          <a:spcPts val="600"/>
                        </a:spcBef>
                        <a:spcAft>
                          <a:spcPts val="600"/>
                        </a:spcAft>
                      </a:pPr>
                      <a:r>
                        <a:rPr lang="zh-TW" sz="1600" kern="100">
                          <a:effectLst/>
                        </a:rPr>
                        <a:t>取出所有的資料內容</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400" kern="100" dirty="0">
                          <a:effectLst/>
                        </a:rPr>
                        <a:t>&gt;&gt;&gt; </a:t>
                      </a:r>
                      <a:r>
                        <a:rPr lang="en-US" sz="1400" kern="100" dirty="0" err="1">
                          <a:effectLst/>
                        </a:rPr>
                        <a:t>Product.objects.all</a:t>
                      </a:r>
                      <a:r>
                        <a:rPr lang="en-US" sz="1400" kern="100" dirty="0">
                          <a:effectLst/>
                        </a:rPr>
                        <a:t>()</a:t>
                      </a:r>
                      <a:endParaRPr lang="zh-TW" sz="2000" kern="100" dirty="0">
                        <a:effectLst/>
                      </a:endParaRPr>
                    </a:p>
                    <a:p>
                      <a:pPr algn="just">
                        <a:spcBef>
                          <a:spcPts val="600"/>
                        </a:spcBef>
                        <a:spcAft>
                          <a:spcPts val="600"/>
                        </a:spcAft>
                      </a:pPr>
                      <a:r>
                        <a:rPr lang="en-US" sz="1400" kern="100" dirty="0">
                          <a:effectLst/>
                        </a:rPr>
                        <a:t>&lt;</a:t>
                      </a:r>
                      <a:r>
                        <a:rPr lang="en-US" sz="1400" kern="100" dirty="0" err="1">
                          <a:effectLst/>
                        </a:rPr>
                        <a:t>QuerySet</a:t>
                      </a:r>
                      <a:r>
                        <a:rPr lang="en-US" sz="1400" kern="100" dirty="0">
                          <a:effectLst/>
                        </a:rPr>
                        <a:t> [&lt;Product: HTC Magic&gt;, &lt;Product: SONY Xperia Z3&gt;, &lt;Product: Samsung DUOS&gt;, &lt;Product: Nokia Xpress 5800&gt;, &lt;Product: </a:t>
                      </a:r>
                      <a:r>
                        <a:rPr lang="en-US" sz="1400" kern="100" dirty="0" err="1">
                          <a:effectLst/>
                        </a:rPr>
                        <a:t>Infocus</a:t>
                      </a:r>
                      <a:r>
                        <a:rPr lang="en-US" sz="1400" kern="100" dirty="0">
                          <a:effectLst/>
                        </a:rPr>
                        <a:t> M370&gt;]&gt;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224030595"/>
                  </a:ext>
                </a:extLst>
              </a:tr>
              <a:tr h="884655">
                <a:tc>
                  <a:txBody>
                    <a:bodyPr/>
                    <a:lstStyle/>
                    <a:p>
                      <a:pPr algn="just">
                        <a:spcBef>
                          <a:spcPts val="600"/>
                        </a:spcBef>
                        <a:spcAft>
                          <a:spcPts val="600"/>
                        </a:spcAft>
                      </a:pPr>
                      <a:r>
                        <a:rPr lang="zh-TW" sz="1600" kern="100">
                          <a:effectLst/>
                        </a:rPr>
                        <a:t>找出已經沒有庫存的二手機</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400" kern="100" dirty="0">
                          <a:effectLst/>
                        </a:rPr>
                        <a:t>&gt;&gt;&gt; </a:t>
                      </a:r>
                      <a:r>
                        <a:rPr lang="en-US" sz="1400" kern="100" dirty="0" err="1">
                          <a:effectLst/>
                        </a:rPr>
                        <a:t>Product.objects.filter</a:t>
                      </a:r>
                      <a:r>
                        <a:rPr lang="en-US" sz="1400" kern="100" dirty="0">
                          <a:effectLst/>
                        </a:rPr>
                        <a:t>(qty=0)</a:t>
                      </a:r>
                      <a:endParaRPr lang="zh-TW" sz="2000" kern="100" dirty="0">
                        <a:effectLst/>
                      </a:endParaRPr>
                    </a:p>
                    <a:p>
                      <a:pPr algn="just">
                        <a:spcBef>
                          <a:spcPts val="600"/>
                        </a:spcBef>
                        <a:spcAft>
                          <a:spcPts val="600"/>
                        </a:spcAft>
                      </a:pPr>
                      <a:r>
                        <a:rPr lang="en-US" sz="1400" kern="100" dirty="0">
                          <a:effectLst/>
                        </a:rPr>
                        <a:t>&lt;</a:t>
                      </a:r>
                      <a:r>
                        <a:rPr lang="en-US" sz="1400" kern="100" dirty="0" err="1">
                          <a:effectLst/>
                        </a:rPr>
                        <a:t>QuerySet</a:t>
                      </a:r>
                      <a:r>
                        <a:rPr lang="en-US" sz="1400" kern="100" dirty="0">
                          <a:effectLst/>
                        </a:rPr>
                        <a:t> [&lt;Product: HTC Magic&gt;]&gt;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466804221"/>
                  </a:ext>
                </a:extLst>
              </a:tr>
              <a:tr h="1230401">
                <a:tc>
                  <a:txBody>
                    <a:bodyPr/>
                    <a:lstStyle/>
                    <a:p>
                      <a:pPr algn="just">
                        <a:spcBef>
                          <a:spcPts val="600"/>
                        </a:spcBef>
                        <a:spcAft>
                          <a:spcPts val="600"/>
                        </a:spcAft>
                      </a:pPr>
                      <a:r>
                        <a:rPr lang="zh-TW" sz="1600" kern="100">
                          <a:effectLst/>
                        </a:rPr>
                        <a:t>找出有庫存的二手機</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400" kern="100" dirty="0">
                          <a:effectLst/>
                        </a:rPr>
                        <a:t>&gt;&gt;&gt; </a:t>
                      </a:r>
                      <a:r>
                        <a:rPr lang="en-US" sz="1400" kern="100" dirty="0" err="1">
                          <a:effectLst/>
                        </a:rPr>
                        <a:t>Product.objects.</a:t>
                      </a:r>
                      <a:r>
                        <a:rPr lang="en-US" sz="1400" kern="100" dirty="0" err="1">
                          <a:solidFill>
                            <a:srgbClr val="FF0000"/>
                          </a:solidFill>
                          <a:effectLst/>
                        </a:rPr>
                        <a:t>exclude</a:t>
                      </a:r>
                      <a:r>
                        <a:rPr lang="en-US" sz="1400" kern="100" dirty="0">
                          <a:effectLst/>
                        </a:rPr>
                        <a:t>(qty=0) </a:t>
                      </a:r>
                      <a:endParaRPr lang="zh-TW" sz="2000" kern="100" dirty="0">
                        <a:effectLst/>
                      </a:endParaRPr>
                    </a:p>
                    <a:p>
                      <a:pPr algn="just">
                        <a:spcBef>
                          <a:spcPts val="600"/>
                        </a:spcBef>
                        <a:spcAft>
                          <a:spcPts val="600"/>
                        </a:spcAft>
                      </a:pPr>
                      <a:r>
                        <a:rPr lang="en-US" sz="1400" kern="100" dirty="0">
                          <a:effectLst/>
                        </a:rPr>
                        <a:t>&lt;</a:t>
                      </a:r>
                      <a:r>
                        <a:rPr lang="en-US" sz="1400" kern="100" dirty="0" err="1">
                          <a:effectLst/>
                        </a:rPr>
                        <a:t>QuerySet</a:t>
                      </a:r>
                      <a:r>
                        <a:rPr lang="en-US" sz="1400" kern="100" dirty="0">
                          <a:effectLst/>
                        </a:rPr>
                        <a:t> [&lt;Product: SONY Xperia Z3&gt;, &lt;Product: Samsung DUOS&gt;, &lt;Product: Nokia Xpress 5800&gt;, &lt;Product: </a:t>
                      </a:r>
                      <a:r>
                        <a:rPr lang="en-US" sz="1400" kern="100" dirty="0" err="1">
                          <a:effectLst/>
                        </a:rPr>
                        <a:t>Infocus</a:t>
                      </a:r>
                      <a:r>
                        <a:rPr lang="en-US" sz="1400" kern="100" dirty="0">
                          <a:effectLst/>
                        </a:rPr>
                        <a:t> M370&gt;]&gt;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960341814"/>
                  </a:ext>
                </a:extLst>
              </a:tr>
              <a:tr h="1179540">
                <a:tc>
                  <a:txBody>
                    <a:bodyPr/>
                    <a:lstStyle/>
                    <a:p>
                      <a:pPr algn="just">
                        <a:spcBef>
                          <a:spcPts val="600"/>
                        </a:spcBef>
                        <a:spcAft>
                          <a:spcPts val="600"/>
                        </a:spcAft>
                      </a:pPr>
                      <a:r>
                        <a:rPr lang="zh-TW" sz="1600" kern="100">
                          <a:effectLst/>
                        </a:rPr>
                        <a:t>找出價格低於</a:t>
                      </a:r>
                      <a:r>
                        <a:rPr lang="en-US" sz="1600" kern="100">
                          <a:effectLst/>
                        </a:rPr>
                        <a:t>500</a:t>
                      </a:r>
                      <a:r>
                        <a:rPr lang="zh-TW" sz="1600" kern="100">
                          <a:effectLst/>
                        </a:rPr>
                        <a:t>元的二手機</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en-US" sz="1400" kern="100" dirty="0">
                          <a:effectLst/>
                        </a:rPr>
                        <a:t>&gt;&gt;&gt; </a:t>
                      </a:r>
                      <a:r>
                        <a:rPr lang="en-US" sz="1400" kern="100" dirty="0" err="1">
                          <a:effectLst/>
                        </a:rPr>
                        <a:t>Product.objects.filter</a:t>
                      </a:r>
                      <a:r>
                        <a:rPr lang="en-US" sz="1400" kern="100" dirty="0">
                          <a:effectLst/>
                        </a:rPr>
                        <a:t>(price__</a:t>
                      </a:r>
                      <a:r>
                        <a:rPr lang="en-US" sz="1400" kern="100" dirty="0" err="1">
                          <a:effectLst/>
                        </a:rPr>
                        <a:t>lte</a:t>
                      </a:r>
                      <a:r>
                        <a:rPr lang="en-US" sz="1400" kern="100" dirty="0">
                          <a:effectLst/>
                        </a:rPr>
                        <a:t>=500)</a:t>
                      </a:r>
                      <a:endParaRPr lang="zh-TW" sz="2000" kern="100" dirty="0">
                        <a:effectLst/>
                      </a:endParaRPr>
                    </a:p>
                    <a:p>
                      <a:pPr algn="just">
                        <a:spcBef>
                          <a:spcPts val="600"/>
                        </a:spcBef>
                        <a:spcAft>
                          <a:spcPts val="600"/>
                        </a:spcAft>
                      </a:pPr>
                      <a:r>
                        <a:rPr lang="en-US" sz="1400" kern="100" dirty="0">
                          <a:effectLst/>
                        </a:rPr>
                        <a:t>&lt;</a:t>
                      </a:r>
                      <a:r>
                        <a:rPr lang="en-US" sz="1400" kern="100" dirty="0" err="1">
                          <a:effectLst/>
                        </a:rPr>
                        <a:t>QuerySet</a:t>
                      </a:r>
                      <a:r>
                        <a:rPr lang="en-US" sz="1400" kern="100" dirty="0">
                          <a:effectLst/>
                        </a:rPr>
                        <a:t> [&lt;Product: HTC Magic&gt;, &lt;Product: Nokia Xpress 5800&gt;]&gt;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676436013"/>
                  </a:ext>
                </a:extLst>
              </a:tr>
            </a:tbl>
          </a:graphicData>
        </a:graphic>
      </p:graphicFrame>
    </p:spTree>
    <p:extLst>
      <p:ext uri="{BB962C8B-B14F-4D97-AF65-F5344CB8AC3E}">
        <p14:creationId xmlns:p14="http://schemas.microsoft.com/office/powerpoint/2010/main" val="32177691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FBC253E-26B6-5271-911B-68048296A8AC}"/>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FF2CE5A6-0125-AD96-09BF-01374DD9C2C8}"/>
              </a:ext>
            </a:extLst>
          </p:cNvPr>
          <p:cNvSpPr>
            <a:spLocks noGrp="1"/>
          </p:cNvSpPr>
          <p:nvPr>
            <p:ph type="title"/>
          </p:nvPr>
        </p:nvSpPr>
        <p:spPr/>
        <p:txBody>
          <a:bodyPr/>
          <a:lstStyle/>
          <a:p>
            <a:r>
              <a:rPr lang="zh-TW" altLang="en-US" dirty="0"/>
              <a:t>查詢練習</a:t>
            </a:r>
          </a:p>
        </p:txBody>
      </p:sp>
      <p:sp>
        <p:nvSpPr>
          <p:cNvPr id="3" name="投影片編號版面配置區 2">
            <a:extLst>
              <a:ext uri="{FF2B5EF4-FFF2-40B4-BE49-F238E27FC236}">
                <a16:creationId xmlns:a16="http://schemas.microsoft.com/office/drawing/2014/main" id="{46C62173-EE84-106F-233D-B4228B044522}"/>
              </a:ext>
            </a:extLst>
          </p:cNvPr>
          <p:cNvSpPr>
            <a:spLocks noGrp="1"/>
          </p:cNvSpPr>
          <p:nvPr>
            <p:ph type="sldNum" sz="quarter" idx="12"/>
          </p:nvPr>
        </p:nvSpPr>
        <p:spPr/>
        <p:txBody>
          <a:bodyPr/>
          <a:lstStyle/>
          <a:p>
            <a:fld id="{369E457D-EE12-4164-8E32-9DDD40A95892}" type="slidenum">
              <a:rPr lang="zh-TW" altLang="en-US" smtClean="0"/>
              <a:pPr/>
              <a:t>41</a:t>
            </a:fld>
            <a:endParaRPr lang="zh-TW" altLang="en-US"/>
          </a:p>
        </p:txBody>
      </p:sp>
      <p:graphicFrame>
        <p:nvGraphicFramePr>
          <p:cNvPr id="5" name="內容版面配置區 4">
            <a:extLst>
              <a:ext uri="{FF2B5EF4-FFF2-40B4-BE49-F238E27FC236}">
                <a16:creationId xmlns:a16="http://schemas.microsoft.com/office/drawing/2014/main" id="{268D758A-9B09-AD18-6AB0-C8A1C76742A9}"/>
              </a:ext>
            </a:extLst>
          </p:cNvPr>
          <p:cNvGraphicFramePr>
            <a:graphicFrameLocks noGrp="1"/>
          </p:cNvGraphicFramePr>
          <p:nvPr>
            <p:ph sz="quarter" idx="1"/>
            <p:extLst>
              <p:ext uri="{D42A27DB-BD31-4B8C-83A1-F6EECF244321}">
                <p14:modId xmlns:p14="http://schemas.microsoft.com/office/powerpoint/2010/main" val="1934011363"/>
              </p:ext>
            </p:extLst>
          </p:nvPr>
        </p:nvGraphicFramePr>
        <p:xfrm>
          <a:off x="395536" y="1506517"/>
          <a:ext cx="8440616" cy="4325112"/>
        </p:xfrm>
        <a:graphic>
          <a:graphicData uri="http://schemas.openxmlformats.org/drawingml/2006/table">
            <a:tbl>
              <a:tblPr firstRow="1" firstCol="1" bandRow="1">
                <a:tableStyleId>{5C22544A-7EE6-4342-B048-85BDC9FD1C3A}</a:tableStyleId>
              </a:tblPr>
              <a:tblGrid>
                <a:gridCol w="2068795">
                  <a:extLst>
                    <a:ext uri="{9D8B030D-6E8A-4147-A177-3AD203B41FA5}">
                      <a16:colId xmlns:a16="http://schemas.microsoft.com/office/drawing/2014/main" val="2846651318"/>
                    </a:ext>
                  </a:extLst>
                </a:gridCol>
                <a:gridCol w="6371821">
                  <a:extLst>
                    <a:ext uri="{9D8B030D-6E8A-4147-A177-3AD203B41FA5}">
                      <a16:colId xmlns:a16="http://schemas.microsoft.com/office/drawing/2014/main" val="3818094713"/>
                    </a:ext>
                  </a:extLst>
                </a:gridCol>
              </a:tblGrid>
              <a:tr h="301752">
                <a:tc>
                  <a:txBody>
                    <a:bodyPr/>
                    <a:lstStyle/>
                    <a:p>
                      <a:pPr algn="just">
                        <a:spcBef>
                          <a:spcPts val="600"/>
                        </a:spcBef>
                        <a:spcAft>
                          <a:spcPts val="600"/>
                        </a:spcAft>
                      </a:pPr>
                      <a:r>
                        <a:rPr lang="zh-TW" sz="1600" kern="100">
                          <a:effectLst/>
                        </a:rPr>
                        <a:t>想要達成的目標</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r>
                        <a:rPr lang="zh-TW" sz="1600" kern="100">
                          <a:effectLst/>
                        </a:rPr>
                        <a:t>查詢寫法和執行結果</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458416311"/>
                  </a:ext>
                </a:extLst>
              </a:tr>
              <a:tr h="1257300">
                <a:tc>
                  <a:txBody>
                    <a:bodyPr/>
                    <a:lstStyle/>
                    <a:p>
                      <a:pPr algn="just">
                        <a:spcBef>
                          <a:spcPts val="600"/>
                        </a:spcBef>
                        <a:spcAft>
                          <a:spcPts val="600"/>
                        </a:spcAft>
                      </a:pPr>
                      <a:r>
                        <a:rPr lang="zh-TW" sz="1600" kern="100">
                          <a:effectLst/>
                        </a:rPr>
                        <a:t>取出所有的資料內容</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endParaRPr lang="en-US" sz="1400" kern="100" dirty="0">
                        <a:effectLst/>
                      </a:endParaRPr>
                    </a:p>
                    <a:p>
                      <a:pPr algn="just">
                        <a:spcBef>
                          <a:spcPts val="600"/>
                        </a:spcBef>
                        <a:spcAft>
                          <a:spcPts val="600"/>
                        </a:spcAft>
                      </a:pPr>
                      <a:r>
                        <a:rPr lang="en-US" sz="1400" kern="100" dirty="0">
                          <a:effectLst/>
                        </a:rPr>
                        <a:t>&lt;</a:t>
                      </a:r>
                      <a:r>
                        <a:rPr lang="en-US" sz="1400" kern="100" dirty="0" err="1">
                          <a:effectLst/>
                        </a:rPr>
                        <a:t>QuerySet</a:t>
                      </a:r>
                      <a:r>
                        <a:rPr lang="en-US" sz="1400" kern="100" dirty="0">
                          <a:effectLst/>
                        </a:rPr>
                        <a:t> [&lt;Product: HTC Magic&gt;, &lt;Product: SONY Xperia Z3&gt;, &lt;Product: Samsung DUOS&gt;, &lt;Product: Nokia Xpress 5800&gt;, &lt;Product: </a:t>
                      </a:r>
                      <a:r>
                        <a:rPr lang="en-US" sz="1400" kern="100" dirty="0" err="1">
                          <a:effectLst/>
                        </a:rPr>
                        <a:t>Infocus</a:t>
                      </a:r>
                      <a:r>
                        <a:rPr lang="en-US" sz="1400" kern="100" dirty="0">
                          <a:effectLst/>
                        </a:rPr>
                        <a:t> M370&gt;]&gt;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224030595"/>
                  </a:ext>
                </a:extLst>
              </a:tr>
              <a:tr h="754380">
                <a:tc>
                  <a:txBody>
                    <a:bodyPr/>
                    <a:lstStyle/>
                    <a:p>
                      <a:pPr algn="just">
                        <a:spcBef>
                          <a:spcPts val="600"/>
                        </a:spcBef>
                        <a:spcAft>
                          <a:spcPts val="600"/>
                        </a:spcAft>
                      </a:pPr>
                      <a:r>
                        <a:rPr lang="zh-TW" sz="1600" kern="100">
                          <a:effectLst/>
                        </a:rPr>
                        <a:t>找出已經沒有庫存的二手機</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endParaRPr lang="en-US" sz="1400" kern="100" dirty="0">
                        <a:effectLst/>
                      </a:endParaRPr>
                    </a:p>
                    <a:p>
                      <a:pPr algn="just">
                        <a:spcBef>
                          <a:spcPts val="600"/>
                        </a:spcBef>
                        <a:spcAft>
                          <a:spcPts val="600"/>
                        </a:spcAft>
                      </a:pPr>
                      <a:r>
                        <a:rPr lang="en-US" sz="1400" kern="100" dirty="0">
                          <a:effectLst/>
                        </a:rPr>
                        <a:t>&lt;</a:t>
                      </a:r>
                      <a:r>
                        <a:rPr lang="en-US" sz="1400" kern="100" dirty="0" err="1">
                          <a:effectLst/>
                        </a:rPr>
                        <a:t>QuerySet</a:t>
                      </a:r>
                      <a:r>
                        <a:rPr lang="en-US" sz="1400" kern="100" dirty="0">
                          <a:effectLst/>
                        </a:rPr>
                        <a:t> [&lt;Product: HTC Magic&gt;]&gt;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466804221"/>
                  </a:ext>
                </a:extLst>
              </a:tr>
              <a:tr h="1005840">
                <a:tc>
                  <a:txBody>
                    <a:bodyPr/>
                    <a:lstStyle/>
                    <a:p>
                      <a:pPr algn="just">
                        <a:spcBef>
                          <a:spcPts val="600"/>
                        </a:spcBef>
                        <a:spcAft>
                          <a:spcPts val="600"/>
                        </a:spcAft>
                      </a:pPr>
                      <a:r>
                        <a:rPr lang="zh-TW" sz="1600" kern="100">
                          <a:effectLst/>
                        </a:rPr>
                        <a:t>找出有庫存的二手機</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endParaRPr lang="en-US" sz="1400" kern="100" dirty="0">
                        <a:effectLst/>
                      </a:endParaRPr>
                    </a:p>
                    <a:p>
                      <a:pPr algn="just">
                        <a:spcBef>
                          <a:spcPts val="600"/>
                        </a:spcBef>
                        <a:spcAft>
                          <a:spcPts val="600"/>
                        </a:spcAft>
                      </a:pPr>
                      <a:r>
                        <a:rPr lang="en-US" sz="1400" kern="100" dirty="0">
                          <a:effectLst/>
                        </a:rPr>
                        <a:t>&lt;</a:t>
                      </a:r>
                      <a:r>
                        <a:rPr lang="en-US" sz="1400" kern="100" dirty="0" err="1">
                          <a:effectLst/>
                        </a:rPr>
                        <a:t>QuerySet</a:t>
                      </a:r>
                      <a:r>
                        <a:rPr lang="en-US" sz="1400" kern="100" dirty="0">
                          <a:effectLst/>
                        </a:rPr>
                        <a:t> [&lt;Product: SONY Xperia Z3&gt;, &lt;Product: Samsung DUOS&gt;, &lt;Product: Nokia Xpress 5800&gt;, &lt;Product: </a:t>
                      </a:r>
                      <a:r>
                        <a:rPr lang="en-US" sz="1400" kern="100" dirty="0" err="1">
                          <a:effectLst/>
                        </a:rPr>
                        <a:t>Infocus</a:t>
                      </a:r>
                      <a:r>
                        <a:rPr lang="en-US" sz="1400" kern="100" dirty="0">
                          <a:effectLst/>
                        </a:rPr>
                        <a:t> M370&gt;]&gt;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3960341814"/>
                  </a:ext>
                </a:extLst>
              </a:tr>
              <a:tr h="1005840">
                <a:tc>
                  <a:txBody>
                    <a:bodyPr/>
                    <a:lstStyle/>
                    <a:p>
                      <a:pPr algn="just">
                        <a:spcBef>
                          <a:spcPts val="600"/>
                        </a:spcBef>
                        <a:spcAft>
                          <a:spcPts val="600"/>
                        </a:spcAft>
                      </a:pPr>
                      <a:r>
                        <a:rPr lang="zh-TW" sz="1600" kern="100">
                          <a:effectLst/>
                        </a:rPr>
                        <a:t>找出價格低於</a:t>
                      </a:r>
                      <a:r>
                        <a:rPr lang="en-US" sz="1600" kern="100">
                          <a:effectLst/>
                        </a:rPr>
                        <a:t>500</a:t>
                      </a:r>
                      <a:r>
                        <a:rPr lang="zh-TW" sz="1600" kern="100">
                          <a:effectLst/>
                        </a:rPr>
                        <a:t>元的二手機</a:t>
                      </a:r>
                      <a:endParaRPr lang="zh-TW" sz="1600" kern="10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tc>
                  <a:txBody>
                    <a:bodyPr/>
                    <a:lstStyle/>
                    <a:p>
                      <a:pPr algn="just">
                        <a:spcBef>
                          <a:spcPts val="600"/>
                        </a:spcBef>
                        <a:spcAft>
                          <a:spcPts val="600"/>
                        </a:spcAft>
                      </a:pPr>
                      <a:endParaRPr lang="en-US" sz="1400" kern="100" dirty="0">
                        <a:effectLst/>
                      </a:endParaRPr>
                    </a:p>
                    <a:p>
                      <a:pPr algn="just">
                        <a:spcBef>
                          <a:spcPts val="600"/>
                        </a:spcBef>
                        <a:spcAft>
                          <a:spcPts val="600"/>
                        </a:spcAft>
                      </a:pPr>
                      <a:r>
                        <a:rPr lang="en-US" sz="1400" kern="100" dirty="0">
                          <a:effectLst/>
                        </a:rPr>
                        <a:t>&lt;</a:t>
                      </a:r>
                      <a:r>
                        <a:rPr lang="en-US" sz="1400" kern="100" dirty="0" err="1">
                          <a:effectLst/>
                        </a:rPr>
                        <a:t>QuerySet</a:t>
                      </a:r>
                      <a:r>
                        <a:rPr lang="en-US" sz="1400" kern="100" dirty="0">
                          <a:effectLst/>
                        </a:rPr>
                        <a:t> [&lt;Product: HTC Magic&gt;, &lt;Product: Nokia Xpress 5800&gt;]&gt;</a:t>
                      </a:r>
                      <a:endParaRPr lang="zh-TW" sz="20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68580" marR="68580" marT="0" marB="0"/>
                </a:tc>
                <a:extLst>
                  <a:ext uri="{0D108BD9-81ED-4DB2-BD59-A6C34878D82A}">
                    <a16:rowId xmlns:a16="http://schemas.microsoft.com/office/drawing/2014/main" val="676436013"/>
                  </a:ext>
                </a:extLst>
              </a:tr>
            </a:tbl>
          </a:graphicData>
        </a:graphic>
      </p:graphicFrame>
    </p:spTree>
    <p:extLst>
      <p:ext uri="{BB962C8B-B14F-4D97-AF65-F5344CB8AC3E}">
        <p14:creationId xmlns:p14="http://schemas.microsoft.com/office/powerpoint/2010/main" val="6969586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01569FF-2E91-7B98-39FD-E371010D3776}"/>
              </a:ext>
            </a:extLst>
          </p:cNvPr>
          <p:cNvSpPr>
            <a:spLocks noGrp="1"/>
          </p:cNvSpPr>
          <p:nvPr>
            <p:ph type="title"/>
          </p:nvPr>
        </p:nvSpPr>
        <p:spPr>
          <a:xfrm>
            <a:off x="107504" y="404664"/>
            <a:ext cx="9036496" cy="758952"/>
          </a:xfrm>
        </p:spPr>
        <p:txBody>
          <a:bodyPr>
            <a:normAutofit fontScale="90000"/>
          </a:bodyPr>
          <a:lstStyle/>
          <a:p>
            <a:r>
              <a:rPr lang="zh-TW" altLang="en-US" dirty="0"/>
              <a:t>查詢範例</a:t>
            </a:r>
            <a:r>
              <a:rPr lang="zh-TW" altLang="en-US" sz="3600" dirty="0">
                <a:solidFill>
                  <a:srgbClr val="FF0000"/>
                </a:solidFill>
              </a:rPr>
              <a:t>記得先</a:t>
            </a:r>
            <a:br>
              <a:rPr lang="en-US" altLang="zh-TW" sz="3600" dirty="0">
                <a:solidFill>
                  <a:srgbClr val="FF0000"/>
                </a:solidFill>
              </a:rPr>
            </a:br>
            <a:r>
              <a:rPr lang="en-US" altLang="zh-TW" sz="3600" kern="100" dirty="0"/>
              <a:t>from </a:t>
            </a:r>
            <a:r>
              <a:rPr lang="en-US" altLang="zh-TW" sz="3600" kern="100" dirty="0" err="1"/>
              <a:t>django.db.models</a:t>
            </a:r>
            <a:r>
              <a:rPr lang="en-US" altLang="zh-TW" sz="3600" kern="100" dirty="0"/>
              <a:t> import </a:t>
            </a:r>
            <a:r>
              <a:rPr lang="en-US" altLang="zh-TW" sz="3600" kern="100" dirty="0" err="1"/>
              <a:t>Count,Sum</a:t>
            </a:r>
            <a:endParaRPr lang="zh-TW" altLang="en-US" dirty="0"/>
          </a:p>
        </p:txBody>
      </p:sp>
      <p:sp>
        <p:nvSpPr>
          <p:cNvPr id="3" name="投影片編號版面配置區 2">
            <a:extLst>
              <a:ext uri="{FF2B5EF4-FFF2-40B4-BE49-F238E27FC236}">
                <a16:creationId xmlns:a16="http://schemas.microsoft.com/office/drawing/2014/main" id="{2141321D-901C-C0F7-70DD-839BA15F6B2D}"/>
              </a:ext>
            </a:extLst>
          </p:cNvPr>
          <p:cNvSpPr>
            <a:spLocks noGrp="1"/>
          </p:cNvSpPr>
          <p:nvPr>
            <p:ph type="sldNum" sz="quarter" idx="12"/>
          </p:nvPr>
        </p:nvSpPr>
        <p:spPr/>
        <p:txBody>
          <a:bodyPr/>
          <a:lstStyle/>
          <a:p>
            <a:fld id="{369E457D-EE12-4164-8E32-9DDD40A95892}" type="slidenum">
              <a:rPr lang="zh-TW" altLang="en-US" smtClean="0"/>
              <a:pPr/>
              <a:t>42</a:t>
            </a:fld>
            <a:endParaRPr lang="zh-TW" altLang="en-US"/>
          </a:p>
        </p:txBody>
      </p:sp>
      <p:graphicFrame>
        <p:nvGraphicFramePr>
          <p:cNvPr id="8" name="內容版面配置區 7">
            <a:extLst>
              <a:ext uri="{FF2B5EF4-FFF2-40B4-BE49-F238E27FC236}">
                <a16:creationId xmlns:a16="http://schemas.microsoft.com/office/drawing/2014/main" id="{A3AF5B7A-01A4-EB32-EC16-0F83DD9379A2}"/>
              </a:ext>
            </a:extLst>
          </p:cNvPr>
          <p:cNvGraphicFramePr>
            <a:graphicFrameLocks noGrp="1"/>
          </p:cNvGraphicFramePr>
          <p:nvPr>
            <p:ph sz="quarter" idx="1"/>
            <p:extLst>
              <p:ext uri="{D42A27DB-BD31-4B8C-83A1-F6EECF244321}">
                <p14:modId xmlns:p14="http://schemas.microsoft.com/office/powerpoint/2010/main" val="888502255"/>
              </p:ext>
            </p:extLst>
          </p:nvPr>
        </p:nvGraphicFramePr>
        <p:xfrm>
          <a:off x="179512" y="1506516"/>
          <a:ext cx="8784976" cy="5304750"/>
        </p:xfrm>
        <a:graphic>
          <a:graphicData uri="http://schemas.openxmlformats.org/drawingml/2006/table">
            <a:tbl>
              <a:tblPr firstRow="1" firstCol="1" bandRow="1">
                <a:tableStyleId>{5C22544A-7EE6-4342-B048-85BDC9FD1C3A}</a:tableStyleId>
              </a:tblPr>
              <a:tblGrid>
                <a:gridCol w="1630689">
                  <a:extLst>
                    <a:ext uri="{9D8B030D-6E8A-4147-A177-3AD203B41FA5}">
                      <a16:colId xmlns:a16="http://schemas.microsoft.com/office/drawing/2014/main" val="502122950"/>
                    </a:ext>
                  </a:extLst>
                </a:gridCol>
                <a:gridCol w="7154287">
                  <a:extLst>
                    <a:ext uri="{9D8B030D-6E8A-4147-A177-3AD203B41FA5}">
                      <a16:colId xmlns:a16="http://schemas.microsoft.com/office/drawing/2014/main" val="3034078935"/>
                    </a:ext>
                  </a:extLst>
                </a:gridCol>
              </a:tblGrid>
              <a:tr h="214283">
                <a:tc>
                  <a:txBody>
                    <a:bodyPr/>
                    <a:lstStyle/>
                    <a:p>
                      <a:pPr algn="just">
                        <a:spcBef>
                          <a:spcPts val="600"/>
                        </a:spcBef>
                        <a:spcAft>
                          <a:spcPts val="600"/>
                        </a:spcAft>
                      </a:pPr>
                      <a:r>
                        <a:rPr lang="zh-TW" sz="1400" kern="100" dirty="0">
                          <a:effectLst/>
                        </a:rPr>
                        <a:t>想要達成的目標</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r>
                        <a:rPr lang="zh-TW" sz="1200" kern="100" dirty="0">
                          <a:effectLst/>
                        </a:rPr>
                        <a:t>查詢寫法和執行結果</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345004272"/>
                  </a:ext>
                </a:extLst>
              </a:tr>
              <a:tr h="1249987">
                <a:tc>
                  <a:txBody>
                    <a:bodyPr/>
                    <a:lstStyle/>
                    <a:p>
                      <a:pPr algn="just">
                        <a:spcBef>
                          <a:spcPts val="600"/>
                        </a:spcBef>
                        <a:spcAft>
                          <a:spcPts val="600"/>
                        </a:spcAft>
                      </a:pPr>
                      <a:r>
                        <a:rPr lang="zh-TW" sz="1400" kern="100" dirty="0">
                          <a:effectLst/>
                        </a:rPr>
                        <a:t>算出價格低於</a:t>
                      </a:r>
                      <a:r>
                        <a:rPr lang="en-US" sz="1400" kern="100" dirty="0">
                          <a:effectLst/>
                        </a:rPr>
                        <a:t>500</a:t>
                      </a:r>
                      <a:r>
                        <a:rPr lang="zh-TW" sz="1400" kern="100" dirty="0">
                          <a:effectLst/>
                        </a:rPr>
                        <a:t>元的二手機有幾種</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r>
                        <a:rPr lang="en-US" sz="1600" kern="100" dirty="0">
                          <a:effectLst/>
                        </a:rPr>
                        <a:t>&gt;&gt;&gt; from </a:t>
                      </a:r>
                      <a:r>
                        <a:rPr lang="en-US" sz="1600" kern="100" dirty="0" err="1">
                          <a:effectLst/>
                        </a:rPr>
                        <a:t>django.db.models</a:t>
                      </a:r>
                      <a:r>
                        <a:rPr lang="en-US" sz="1600" kern="100" dirty="0">
                          <a:effectLst/>
                        </a:rPr>
                        <a:t> import Count</a:t>
                      </a:r>
                      <a:endParaRPr lang="zh-TW" sz="1800" kern="100" dirty="0">
                        <a:effectLst/>
                      </a:endParaRPr>
                    </a:p>
                    <a:p>
                      <a:pPr algn="just">
                        <a:spcBef>
                          <a:spcPts val="600"/>
                        </a:spcBef>
                        <a:spcAft>
                          <a:spcPts val="600"/>
                        </a:spcAft>
                      </a:pPr>
                      <a:r>
                        <a:rPr lang="en-US" sz="1600" kern="100" dirty="0">
                          <a:effectLst/>
                        </a:rPr>
                        <a:t>&gt;&gt;&gt; </a:t>
                      </a:r>
                      <a:r>
                        <a:rPr lang="en-US" sz="1600" kern="100" dirty="0" err="1">
                          <a:effectLst/>
                        </a:rPr>
                        <a:t>Product.objects.filter</a:t>
                      </a:r>
                      <a:r>
                        <a:rPr lang="en-US" sz="1600" kern="100" dirty="0">
                          <a:effectLst/>
                        </a:rPr>
                        <a:t>(price__</a:t>
                      </a:r>
                      <a:r>
                        <a:rPr lang="en-US" sz="1600" kern="100" dirty="0" err="1">
                          <a:effectLst/>
                        </a:rPr>
                        <a:t>lte</a:t>
                      </a:r>
                      <a:r>
                        <a:rPr lang="en-US" sz="1600" kern="100" dirty="0">
                          <a:effectLst/>
                        </a:rPr>
                        <a:t>=500).aggregate(Count('qty'))</a:t>
                      </a:r>
                      <a:endParaRPr lang="zh-TW" sz="1800" kern="100" dirty="0">
                        <a:effectLst/>
                      </a:endParaRPr>
                    </a:p>
                    <a:p>
                      <a:pPr algn="just">
                        <a:spcBef>
                          <a:spcPts val="600"/>
                        </a:spcBef>
                        <a:spcAft>
                          <a:spcPts val="600"/>
                        </a:spcAft>
                      </a:pPr>
                      <a:r>
                        <a:rPr lang="en-US" sz="1600" kern="100" dirty="0">
                          <a:effectLst/>
                        </a:rPr>
                        <a:t>{'</a:t>
                      </a:r>
                      <a:r>
                        <a:rPr lang="en-US" sz="1600" kern="100" dirty="0" err="1">
                          <a:effectLst/>
                        </a:rPr>
                        <a:t>qty__count</a:t>
                      </a:r>
                      <a:r>
                        <a:rPr lang="en-US" sz="1600" kern="100" dirty="0">
                          <a:effectLst/>
                        </a:rPr>
                        <a:t>': 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3213201141"/>
                  </a:ext>
                </a:extLst>
              </a:tr>
              <a:tr h="1249987">
                <a:tc>
                  <a:txBody>
                    <a:bodyPr/>
                    <a:lstStyle/>
                    <a:p>
                      <a:pPr algn="just">
                        <a:spcBef>
                          <a:spcPts val="600"/>
                        </a:spcBef>
                        <a:spcAft>
                          <a:spcPts val="600"/>
                        </a:spcAft>
                      </a:pPr>
                      <a:r>
                        <a:rPr lang="zh-TW" sz="1400" kern="100" dirty="0">
                          <a:effectLst/>
                        </a:rPr>
                        <a:t>算出價格低於</a:t>
                      </a:r>
                      <a:r>
                        <a:rPr lang="en-US" sz="1400" kern="100" dirty="0">
                          <a:effectLst/>
                        </a:rPr>
                        <a:t>800</a:t>
                      </a:r>
                      <a:r>
                        <a:rPr lang="zh-TW" sz="1400" kern="100" dirty="0">
                          <a:effectLst/>
                        </a:rPr>
                        <a:t>元的共有幾支二手機庫存</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r>
                        <a:rPr lang="en-US" sz="1600" kern="100" dirty="0">
                          <a:effectLst/>
                        </a:rPr>
                        <a:t>&gt;&gt;&gt; from </a:t>
                      </a:r>
                      <a:r>
                        <a:rPr lang="en-US" sz="1600" kern="100" dirty="0" err="1">
                          <a:effectLst/>
                        </a:rPr>
                        <a:t>django.db.models</a:t>
                      </a:r>
                      <a:r>
                        <a:rPr lang="en-US" sz="1600" kern="100" dirty="0">
                          <a:effectLst/>
                        </a:rPr>
                        <a:t> import Sum</a:t>
                      </a:r>
                      <a:endParaRPr lang="zh-TW" sz="1800" kern="100" dirty="0">
                        <a:effectLst/>
                      </a:endParaRPr>
                    </a:p>
                    <a:p>
                      <a:pPr algn="just">
                        <a:spcBef>
                          <a:spcPts val="600"/>
                        </a:spcBef>
                        <a:spcAft>
                          <a:spcPts val="600"/>
                        </a:spcAft>
                      </a:pPr>
                      <a:r>
                        <a:rPr lang="en-US" sz="1600" kern="100" dirty="0">
                          <a:effectLst/>
                        </a:rPr>
                        <a:t>&gt;&gt;&gt; </a:t>
                      </a:r>
                      <a:r>
                        <a:rPr lang="en-US" sz="1600" kern="100" dirty="0" err="1">
                          <a:effectLst/>
                        </a:rPr>
                        <a:t>Product.objects.filter</a:t>
                      </a:r>
                      <a:r>
                        <a:rPr lang="en-US" sz="1600" kern="100" dirty="0">
                          <a:effectLst/>
                        </a:rPr>
                        <a:t>(price__</a:t>
                      </a:r>
                      <a:r>
                        <a:rPr lang="en-US" sz="1600" kern="100" dirty="0" err="1">
                          <a:effectLst/>
                        </a:rPr>
                        <a:t>lte</a:t>
                      </a:r>
                      <a:r>
                        <a:rPr lang="en-US" sz="1600" kern="100" dirty="0">
                          <a:effectLst/>
                        </a:rPr>
                        <a:t>=800).aggregate(Sum('</a:t>
                      </a:r>
                      <a:r>
                        <a:rPr lang="en-US" sz="1600" kern="100" dirty="0" err="1">
                          <a:effectLst/>
                        </a:rPr>
                        <a:t>qty</a:t>
                      </a:r>
                      <a:r>
                        <a:rPr lang="en-US" sz="1600" kern="100" dirty="0">
                          <a:effectLst/>
                        </a:rPr>
                        <a:t>'))</a:t>
                      </a:r>
                    </a:p>
                    <a:p>
                      <a:pPr marL="0" marR="0" lvl="0" indent="0" algn="just" defTabSz="914400" rtl="0" eaLnBrk="1" fontAlgn="auto" latinLnBrk="0" hangingPunct="1">
                        <a:lnSpc>
                          <a:spcPct val="100000"/>
                        </a:lnSpc>
                        <a:spcBef>
                          <a:spcPts val="600"/>
                        </a:spcBef>
                        <a:spcAft>
                          <a:spcPts val="600"/>
                        </a:spcAft>
                        <a:buClrTx/>
                        <a:buSzTx/>
                        <a:buFontTx/>
                        <a:buNone/>
                        <a:tabLst/>
                        <a:defRPr/>
                      </a:pPr>
                      <a:r>
                        <a:rPr kumimoji="0" lang="en-US" altLang="zh-TW" sz="1600" b="0" i="0" u="none" strike="noStrike" kern="100" cap="none" spc="0" normalizeH="0" baseline="0" noProof="0" dirty="0">
                          <a:ln>
                            <a:noFill/>
                          </a:ln>
                          <a:solidFill>
                            <a:prstClr val="black"/>
                          </a:solidFill>
                          <a:effectLst/>
                          <a:uLnTx/>
                          <a:uFillTx/>
                          <a:latin typeface="+mn-lt"/>
                          <a:ea typeface="+mn-ea"/>
                          <a:cs typeface="+mn-cs"/>
                        </a:rPr>
                        <a:t>&gt;&gt;&gt; </a:t>
                      </a:r>
                      <a:r>
                        <a:rPr kumimoji="0" lang="en-US" altLang="zh-TW" sz="1600" b="0" i="0" u="none" strike="noStrike" kern="100" cap="none" spc="0" normalizeH="0" baseline="0" noProof="0" dirty="0" err="1">
                          <a:ln>
                            <a:noFill/>
                          </a:ln>
                          <a:solidFill>
                            <a:prstClr val="black"/>
                          </a:solidFill>
                          <a:effectLst/>
                          <a:uLnTx/>
                          <a:uFillTx/>
                          <a:latin typeface="+mn-lt"/>
                          <a:ea typeface="+mn-ea"/>
                          <a:cs typeface="+mn-cs"/>
                        </a:rPr>
                        <a:t>Product.objects.filter</a:t>
                      </a:r>
                      <a:r>
                        <a:rPr kumimoji="0" lang="en-US" altLang="zh-TW" sz="1600" b="0" i="0" u="none" strike="noStrike" kern="100" cap="none" spc="0" normalizeH="0" baseline="0" noProof="0" dirty="0">
                          <a:ln>
                            <a:noFill/>
                          </a:ln>
                          <a:solidFill>
                            <a:prstClr val="black"/>
                          </a:solidFill>
                          <a:effectLst/>
                          <a:uLnTx/>
                          <a:uFillTx/>
                          <a:latin typeface="+mn-lt"/>
                          <a:ea typeface="+mn-ea"/>
                          <a:cs typeface="+mn-cs"/>
                        </a:rPr>
                        <a:t>(price__</a:t>
                      </a:r>
                      <a:r>
                        <a:rPr kumimoji="0" lang="en-US" altLang="zh-TW" sz="1600" b="0" i="0" u="none" strike="noStrike" kern="100" cap="none" spc="0" normalizeH="0" baseline="0" noProof="0" dirty="0" err="1">
                          <a:ln>
                            <a:noFill/>
                          </a:ln>
                          <a:solidFill>
                            <a:prstClr val="black"/>
                          </a:solidFill>
                          <a:effectLst/>
                          <a:uLnTx/>
                          <a:uFillTx/>
                          <a:latin typeface="+mn-lt"/>
                          <a:ea typeface="+mn-ea"/>
                          <a:cs typeface="+mn-cs"/>
                        </a:rPr>
                        <a:t>lte</a:t>
                      </a:r>
                      <a:r>
                        <a:rPr kumimoji="0" lang="en-US" altLang="zh-TW" sz="1600" b="0" i="0" u="none" strike="noStrike" kern="100" cap="none" spc="0" normalizeH="0" baseline="0" noProof="0" dirty="0">
                          <a:ln>
                            <a:noFill/>
                          </a:ln>
                          <a:solidFill>
                            <a:prstClr val="black"/>
                          </a:solidFill>
                          <a:effectLst/>
                          <a:uLnTx/>
                          <a:uFillTx/>
                          <a:latin typeface="+mn-lt"/>
                          <a:ea typeface="+mn-ea"/>
                          <a:cs typeface="+mn-cs"/>
                        </a:rPr>
                        <a:t>=800).aggregate(Sum(‘</a:t>
                      </a:r>
                      <a:r>
                        <a:rPr kumimoji="0" lang="en-US" altLang="zh-TW" sz="1600" b="0" i="0" u="none" strike="noStrike" kern="100" cap="none" spc="0" normalizeH="0" baseline="0" noProof="0" dirty="0">
                          <a:ln>
                            <a:noFill/>
                          </a:ln>
                          <a:solidFill>
                            <a:srgbClr val="FF0000"/>
                          </a:solidFill>
                          <a:effectLst/>
                          <a:uLnTx/>
                          <a:uFillTx/>
                          <a:latin typeface="+mn-lt"/>
                          <a:ea typeface="+mn-ea"/>
                          <a:cs typeface="+mn-cs"/>
                        </a:rPr>
                        <a:t>price</a:t>
                      </a:r>
                      <a:r>
                        <a:rPr kumimoji="0" lang="en-US" altLang="zh-TW" sz="1600" b="0" i="0" u="none" strike="noStrike" kern="100" cap="none" spc="0" normalizeH="0" baseline="0" noProof="0" dirty="0">
                          <a:ln>
                            <a:noFill/>
                          </a:ln>
                          <a:solidFill>
                            <a:prstClr val="black"/>
                          </a:solidFill>
                          <a:effectLst/>
                          <a:uLnTx/>
                          <a:uFillTx/>
                          <a:latin typeface="+mn-lt"/>
                          <a:ea typeface="+mn-ea"/>
                          <a:cs typeface="+mn-cs"/>
                        </a:rPr>
                        <a:t>'))</a:t>
                      </a:r>
                      <a:endParaRPr kumimoji="0" lang="zh-TW" altLang="en-US" sz="1800" b="0" i="0" u="none" strike="noStrike" kern="100" cap="none" spc="0" normalizeH="0" baseline="0" noProof="0" dirty="0">
                        <a:ln>
                          <a:noFill/>
                        </a:ln>
                        <a:solidFill>
                          <a:prstClr val="black"/>
                        </a:solidFill>
                        <a:effectLst/>
                        <a:uLnTx/>
                        <a:uFillTx/>
                        <a:latin typeface="+mn-lt"/>
                        <a:ea typeface="+mn-ea"/>
                        <a:cs typeface="+mn-cs"/>
                      </a:endParaRPr>
                    </a:p>
                    <a:p>
                      <a:pPr marL="0" marR="0" indent="0" algn="just" defTabSz="914400" rtl="0" eaLnBrk="1" fontAlgn="auto" latinLnBrk="0" hangingPunct="1">
                        <a:lnSpc>
                          <a:spcPct val="100000"/>
                        </a:lnSpc>
                        <a:spcBef>
                          <a:spcPts val="600"/>
                        </a:spcBef>
                        <a:spcAft>
                          <a:spcPts val="600"/>
                        </a:spcAft>
                        <a:buClrTx/>
                        <a:buSzTx/>
                        <a:buFontTx/>
                        <a:buNone/>
                        <a:tabLst/>
                        <a:defRPr/>
                      </a:pPr>
                      <a:r>
                        <a:rPr lang="en-US" sz="1600" kern="100" dirty="0">
                          <a:effectLst/>
                        </a:rPr>
                        <a:t>{'</a:t>
                      </a:r>
                      <a:r>
                        <a:rPr lang="en-US" sz="1600" kern="100" dirty="0" err="1">
                          <a:effectLst/>
                        </a:rPr>
                        <a:t>qty</a:t>
                      </a:r>
                      <a:r>
                        <a:rPr lang="en-US" sz="1600" kern="100" dirty="0">
                          <a:effectLst/>
                        </a:rPr>
                        <a:t>__sum': 3} </a:t>
                      </a:r>
                      <a:r>
                        <a:rPr lang="en-US" altLang="zh-TW" sz="1600" kern="100" dirty="0">
                          <a:effectLst/>
                        </a:rPr>
                        <a:t>{‘</a:t>
                      </a:r>
                      <a:r>
                        <a:rPr lang="en-US" altLang="zh-TW" sz="1600" kern="100" dirty="0" err="1">
                          <a:effectLst/>
                        </a:rPr>
                        <a:t>price__sum</a:t>
                      </a:r>
                      <a:r>
                        <a:rPr lang="en-US" altLang="zh-TW" sz="1600" kern="100" dirty="0">
                          <a:effectLst/>
                        </a:rPr>
                        <a:t>': 1400}</a:t>
                      </a:r>
                      <a:endParaRPr lang="zh-TW" alt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2468487237"/>
                  </a:ext>
                </a:extLst>
              </a:tr>
              <a:tr h="627713">
                <a:tc>
                  <a:txBody>
                    <a:bodyPr/>
                    <a:lstStyle/>
                    <a:p>
                      <a:pPr algn="just">
                        <a:spcBef>
                          <a:spcPts val="600"/>
                        </a:spcBef>
                        <a:spcAft>
                          <a:spcPts val="600"/>
                        </a:spcAft>
                      </a:pPr>
                      <a:r>
                        <a:rPr lang="zh-TW" sz="1400" kern="100" dirty="0">
                          <a:effectLst/>
                        </a:rPr>
                        <a:t>找出所有</a:t>
                      </a:r>
                      <a:r>
                        <a:rPr lang="en-US" sz="1400" kern="100" dirty="0">
                          <a:effectLst/>
                        </a:rPr>
                        <a:t>SONY</a:t>
                      </a:r>
                      <a:r>
                        <a:rPr lang="zh-TW" sz="1400" kern="100" dirty="0">
                          <a:effectLst/>
                        </a:rPr>
                        <a:t>的二手機</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r>
                        <a:rPr lang="en-US" sz="1600" kern="100" dirty="0">
                          <a:effectLst/>
                        </a:rPr>
                        <a:t>&gt;&gt;&gt; </a:t>
                      </a:r>
                      <a:r>
                        <a:rPr lang="en-US" sz="1600" kern="100" dirty="0" err="1">
                          <a:effectLst/>
                        </a:rPr>
                        <a:t>Product.objects.filter</a:t>
                      </a:r>
                      <a:r>
                        <a:rPr lang="en-US" sz="1600" kern="100" dirty="0">
                          <a:effectLst/>
                        </a:rPr>
                        <a:t>(name__</a:t>
                      </a:r>
                      <a:r>
                        <a:rPr lang="en-US" sz="1600" kern="100" dirty="0" err="1">
                          <a:effectLst/>
                        </a:rPr>
                        <a:t>icontains</a:t>
                      </a:r>
                      <a:r>
                        <a:rPr lang="en-US" sz="1600" kern="100" dirty="0">
                          <a:effectLst/>
                        </a:rPr>
                        <a:t>='</a:t>
                      </a:r>
                      <a:r>
                        <a:rPr lang="en-US" sz="1600" kern="100" dirty="0" err="1">
                          <a:effectLst/>
                        </a:rPr>
                        <a:t>sony</a:t>
                      </a:r>
                      <a:r>
                        <a:rPr lang="en-US" sz="1600" kern="100" dirty="0">
                          <a:effectLst/>
                        </a:rPr>
                        <a:t>')</a:t>
                      </a:r>
                      <a:endParaRPr lang="zh-TW" sz="1800" kern="100" dirty="0">
                        <a:effectLst/>
                      </a:endParaRPr>
                    </a:p>
                    <a:p>
                      <a:pPr algn="just">
                        <a:spcBef>
                          <a:spcPts val="600"/>
                        </a:spcBef>
                        <a:spcAft>
                          <a:spcPts val="600"/>
                        </a:spcAft>
                      </a:pPr>
                      <a:r>
                        <a:rPr lang="en-US" sz="1600" kern="100" dirty="0">
                          <a:effectLst/>
                        </a:rPr>
                        <a:t>&lt;</a:t>
                      </a:r>
                      <a:r>
                        <a:rPr lang="en-US" sz="1600" kern="100" dirty="0" err="1">
                          <a:effectLst/>
                        </a:rPr>
                        <a:t>QuerySet</a:t>
                      </a:r>
                      <a:r>
                        <a:rPr lang="en-US" sz="1600" kern="100" dirty="0">
                          <a:effectLst/>
                        </a:rPr>
                        <a:t> [&lt;Product: SONY Xperia Z3&gt;]&gt;</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1202249030"/>
                  </a:ext>
                </a:extLst>
              </a:tr>
              <a:tr h="977134">
                <a:tc>
                  <a:txBody>
                    <a:bodyPr/>
                    <a:lstStyle/>
                    <a:p>
                      <a:pPr algn="just">
                        <a:spcBef>
                          <a:spcPts val="600"/>
                        </a:spcBef>
                        <a:spcAft>
                          <a:spcPts val="600"/>
                        </a:spcAft>
                      </a:pPr>
                      <a:r>
                        <a:rPr lang="zh-TW" sz="1400" kern="100" dirty="0">
                          <a:effectLst/>
                        </a:rPr>
                        <a:t>找出庫存</a:t>
                      </a:r>
                      <a:r>
                        <a:rPr lang="en-US" sz="1400" kern="100" dirty="0">
                          <a:effectLst/>
                        </a:rPr>
                        <a:t>1</a:t>
                      </a:r>
                      <a:r>
                        <a:rPr lang="zh-TW" sz="1400" kern="100" dirty="0">
                          <a:effectLst/>
                        </a:rPr>
                        <a:t>支或</a:t>
                      </a:r>
                      <a:r>
                        <a:rPr lang="en-US" sz="1400" kern="100" dirty="0">
                          <a:effectLst/>
                        </a:rPr>
                        <a:t>2</a:t>
                      </a:r>
                      <a:r>
                        <a:rPr lang="zh-TW" sz="1400" kern="100" dirty="0">
                          <a:effectLst/>
                        </a:rPr>
                        <a:t>支的二手機</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r>
                        <a:rPr lang="en-US" sz="1600" kern="100" dirty="0">
                          <a:effectLst/>
                        </a:rPr>
                        <a:t>&gt;&gt;&gt; </a:t>
                      </a:r>
                      <a:r>
                        <a:rPr lang="en-US" sz="1600" kern="100" dirty="0" err="1">
                          <a:effectLst/>
                        </a:rPr>
                        <a:t>Product.objects.filter</a:t>
                      </a:r>
                      <a:r>
                        <a:rPr lang="en-US" sz="1600" kern="100" dirty="0">
                          <a:effectLst/>
                        </a:rPr>
                        <a:t>(</a:t>
                      </a:r>
                      <a:r>
                        <a:rPr lang="en-US" sz="1600" kern="100" dirty="0" err="1">
                          <a:effectLst/>
                        </a:rPr>
                        <a:t>qty__in</a:t>
                      </a:r>
                      <a:r>
                        <a:rPr lang="en-US" sz="1600" kern="100" dirty="0">
                          <a:effectLst/>
                        </a:rPr>
                        <a:t>=[1,2])</a:t>
                      </a:r>
                      <a:endParaRPr lang="zh-TW" sz="1800" kern="100" dirty="0">
                        <a:effectLst/>
                      </a:endParaRPr>
                    </a:p>
                    <a:p>
                      <a:pPr algn="just">
                        <a:spcBef>
                          <a:spcPts val="600"/>
                        </a:spcBef>
                        <a:spcAft>
                          <a:spcPts val="600"/>
                        </a:spcAft>
                      </a:pPr>
                      <a:r>
                        <a:rPr lang="en-US" sz="1600" kern="100" dirty="0">
                          <a:effectLst/>
                        </a:rPr>
                        <a:t>&lt;</a:t>
                      </a:r>
                      <a:r>
                        <a:rPr lang="en-US" sz="1600" kern="100" dirty="0" err="1">
                          <a:effectLst/>
                        </a:rPr>
                        <a:t>QuerySet</a:t>
                      </a:r>
                      <a:r>
                        <a:rPr lang="en-US" sz="1600" kern="100" dirty="0">
                          <a:effectLst/>
                        </a:rPr>
                        <a:t> [&lt;Product: SONY Xperia Z3&gt;, &lt;Product: Samsung DUOS&gt;, &lt;Product: Nokia Xpress 5800&gt;, &lt;Product: </a:t>
                      </a:r>
                      <a:r>
                        <a:rPr lang="en-US" sz="1600" kern="100" dirty="0" err="1">
                          <a:effectLst/>
                        </a:rPr>
                        <a:t>Infocus</a:t>
                      </a:r>
                      <a:r>
                        <a:rPr lang="en-US" sz="1600" kern="100" dirty="0">
                          <a:effectLst/>
                        </a:rPr>
                        <a:t> M370&gt;]&gt;</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1852630895"/>
                  </a:ext>
                </a:extLst>
              </a:tr>
              <a:tr h="627713">
                <a:tc>
                  <a:txBody>
                    <a:bodyPr/>
                    <a:lstStyle/>
                    <a:p>
                      <a:pPr algn="just">
                        <a:spcBef>
                          <a:spcPts val="600"/>
                        </a:spcBef>
                        <a:spcAft>
                          <a:spcPts val="600"/>
                        </a:spcAft>
                      </a:pPr>
                      <a:r>
                        <a:rPr lang="zh-TW" sz="1400" kern="100" dirty="0">
                          <a:effectLst/>
                        </a:rPr>
                        <a:t>檢查庫存中是否有</a:t>
                      </a:r>
                      <a:r>
                        <a:rPr lang="en-US" sz="1400" kern="100" dirty="0">
                          <a:effectLst/>
                        </a:rPr>
                        <a:t>SONY</a:t>
                      </a:r>
                      <a:r>
                        <a:rPr lang="zh-TW" sz="1400" kern="100" dirty="0">
                          <a:effectLst/>
                        </a:rPr>
                        <a:t>的二手機</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r>
                        <a:rPr lang="en-US" sz="1600" kern="100" dirty="0">
                          <a:effectLst/>
                        </a:rPr>
                        <a:t>&gt;&gt;&gt; </a:t>
                      </a:r>
                      <a:r>
                        <a:rPr lang="en-US" sz="1600" kern="100" dirty="0" err="1">
                          <a:effectLst/>
                        </a:rPr>
                        <a:t>Product.objects.filter</a:t>
                      </a:r>
                      <a:r>
                        <a:rPr lang="en-US" sz="1600" kern="100" dirty="0">
                          <a:effectLst/>
                        </a:rPr>
                        <a:t>(</a:t>
                      </a:r>
                      <a:r>
                        <a:rPr lang="en-US" sz="1600" kern="100" dirty="0" err="1">
                          <a:effectLst/>
                        </a:rPr>
                        <a:t>name__contains</a:t>
                      </a:r>
                      <a:r>
                        <a:rPr lang="en-US" sz="1600" kern="100" dirty="0">
                          <a:effectLst/>
                        </a:rPr>
                        <a:t>='SONY').exists()</a:t>
                      </a:r>
                      <a:endParaRPr lang="zh-TW" sz="1800" kern="100" dirty="0">
                        <a:effectLst/>
                      </a:endParaRPr>
                    </a:p>
                    <a:p>
                      <a:pPr algn="just">
                        <a:spcBef>
                          <a:spcPts val="600"/>
                        </a:spcBef>
                        <a:spcAft>
                          <a:spcPts val="600"/>
                        </a:spcAft>
                      </a:pPr>
                      <a:r>
                        <a:rPr lang="en-US" sz="1600" kern="100" dirty="0">
                          <a:effectLst/>
                        </a:rPr>
                        <a:t>True</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2322648987"/>
                  </a:ext>
                </a:extLst>
              </a:tr>
            </a:tbl>
          </a:graphicData>
        </a:graphic>
      </p:graphicFrame>
    </p:spTree>
    <p:extLst>
      <p:ext uri="{BB962C8B-B14F-4D97-AF65-F5344CB8AC3E}">
        <p14:creationId xmlns:p14="http://schemas.microsoft.com/office/powerpoint/2010/main" val="39983675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50B2F9F-21E4-ECDD-16E7-F83AC786EE9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A61093D1-6293-560C-5990-9456EDA7E4EE}"/>
              </a:ext>
            </a:extLst>
          </p:cNvPr>
          <p:cNvSpPr>
            <a:spLocks noGrp="1"/>
          </p:cNvSpPr>
          <p:nvPr>
            <p:ph type="title"/>
          </p:nvPr>
        </p:nvSpPr>
        <p:spPr/>
        <p:txBody>
          <a:bodyPr/>
          <a:lstStyle/>
          <a:p>
            <a:r>
              <a:rPr lang="zh-TW" altLang="en-US" dirty="0"/>
              <a:t>查詢練習</a:t>
            </a:r>
          </a:p>
        </p:txBody>
      </p:sp>
      <p:sp>
        <p:nvSpPr>
          <p:cNvPr id="3" name="投影片編號版面配置區 2">
            <a:extLst>
              <a:ext uri="{FF2B5EF4-FFF2-40B4-BE49-F238E27FC236}">
                <a16:creationId xmlns:a16="http://schemas.microsoft.com/office/drawing/2014/main" id="{D30FF552-F61C-C799-7E70-07A14433740C}"/>
              </a:ext>
            </a:extLst>
          </p:cNvPr>
          <p:cNvSpPr>
            <a:spLocks noGrp="1"/>
          </p:cNvSpPr>
          <p:nvPr>
            <p:ph type="sldNum" sz="quarter" idx="12"/>
          </p:nvPr>
        </p:nvSpPr>
        <p:spPr/>
        <p:txBody>
          <a:bodyPr/>
          <a:lstStyle/>
          <a:p>
            <a:fld id="{369E457D-EE12-4164-8E32-9DDD40A95892}" type="slidenum">
              <a:rPr lang="zh-TW" altLang="en-US" smtClean="0"/>
              <a:pPr/>
              <a:t>43</a:t>
            </a:fld>
            <a:endParaRPr lang="zh-TW" altLang="en-US"/>
          </a:p>
        </p:txBody>
      </p:sp>
      <p:graphicFrame>
        <p:nvGraphicFramePr>
          <p:cNvPr id="8" name="內容版面配置區 7">
            <a:extLst>
              <a:ext uri="{FF2B5EF4-FFF2-40B4-BE49-F238E27FC236}">
                <a16:creationId xmlns:a16="http://schemas.microsoft.com/office/drawing/2014/main" id="{2D670FFF-ABB2-494E-54C6-8431D2F7BA48}"/>
              </a:ext>
            </a:extLst>
          </p:cNvPr>
          <p:cNvGraphicFramePr>
            <a:graphicFrameLocks noGrp="1"/>
          </p:cNvGraphicFramePr>
          <p:nvPr>
            <p:ph sz="quarter" idx="1"/>
            <p:extLst>
              <p:ext uri="{D42A27DB-BD31-4B8C-83A1-F6EECF244321}">
                <p14:modId xmlns:p14="http://schemas.microsoft.com/office/powerpoint/2010/main" val="2123471141"/>
              </p:ext>
            </p:extLst>
          </p:nvPr>
        </p:nvGraphicFramePr>
        <p:xfrm>
          <a:off x="179512" y="1506516"/>
          <a:ext cx="8784976" cy="5122177"/>
        </p:xfrm>
        <a:graphic>
          <a:graphicData uri="http://schemas.openxmlformats.org/drawingml/2006/table">
            <a:tbl>
              <a:tblPr firstRow="1" firstCol="1" bandRow="1">
                <a:tableStyleId>{5C22544A-7EE6-4342-B048-85BDC9FD1C3A}</a:tableStyleId>
              </a:tblPr>
              <a:tblGrid>
                <a:gridCol w="1630689">
                  <a:extLst>
                    <a:ext uri="{9D8B030D-6E8A-4147-A177-3AD203B41FA5}">
                      <a16:colId xmlns:a16="http://schemas.microsoft.com/office/drawing/2014/main" val="502122950"/>
                    </a:ext>
                  </a:extLst>
                </a:gridCol>
                <a:gridCol w="7154287">
                  <a:extLst>
                    <a:ext uri="{9D8B030D-6E8A-4147-A177-3AD203B41FA5}">
                      <a16:colId xmlns:a16="http://schemas.microsoft.com/office/drawing/2014/main" val="3034078935"/>
                    </a:ext>
                  </a:extLst>
                </a:gridCol>
              </a:tblGrid>
              <a:tr h="214283">
                <a:tc>
                  <a:txBody>
                    <a:bodyPr/>
                    <a:lstStyle/>
                    <a:p>
                      <a:pPr algn="just">
                        <a:spcBef>
                          <a:spcPts val="600"/>
                        </a:spcBef>
                        <a:spcAft>
                          <a:spcPts val="600"/>
                        </a:spcAft>
                      </a:pPr>
                      <a:r>
                        <a:rPr lang="zh-TW" sz="1400" kern="100" dirty="0">
                          <a:effectLst/>
                        </a:rPr>
                        <a:t>想要達成的目標</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r>
                        <a:rPr lang="zh-TW" sz="1200" kern="100" dirty="0">
                          <a:effectLst/>
                        </a:rPr>
                        <a:t>查詢寫法和執行結果</a:t>
                      </a:r>
                      <a:endParaRPr lang="zh-TW" sz="12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345004272"/>
                  </a:ext>
                </a:extLst>
              </a:tr>
              <a:tr h="1249987">
                <a:tc>
                  <a:txBody>
                    <a:bodyPr/>
                    <a:lstStyle/>
                    <a:p>
                      <a:pPr algn="just">
                        <a:spcBef>
                          <a:spcPts val="600"/>
                        </a:spcBef>
                        <a:spcAft>
                          <a:spcPts val="600"/>
                        </a:spcAft>
                      </a:pPr>
                      <a:r>
                        <a:rPr lang="zh-TW" sz="1400" kern="100" dirty="0">
                          <a:effectLst/>
                        </a:rPr>
                        <a:t>算出價格低於</a:t>
                      </a:r>
                      <a:r>
                        <a:rPr lang="en-US" sz="1400" kern="100" dirty="0">
                          <a:effectLst/>
                        </a:rPr>
                        <a:t>500</a:t>
                      </a:r>
                      <a:r>
                        <a:rPr lang="zh-TW" sz="1400" kern="100" dirty="0">
                          <a:effectLst/>
                        </a:rPr>
                        <a:t>元的二手機有幾種</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endParaRPr lang="en-US" sz="1600" kern="100" dirty="0">
                        <a:effectLst/>
                      </a:endParaRPr>
                    </a:p>
                    <a:p>
                      <a:pPr algn="just">
                        <a:spcBef>
                          <a:spcPts val="600"/>
                        </a:spcBef>
                        <a:spcAft>
                          <a:spcPts val="600"/>
                        </a:spcAft>
                      </a:pPr>
                      <a:endParaRPr lang="en-US" sz="1600" kern="100" dirty="0">
                        <a:effectLst/>
                      </a:endParaRPr>
                    </a:p>
                    <a:p>
                      <a:pPr algn="just">
                        <a:spcBef>
                          <a:spcPts val="600"/>
                        </a:spcBef>
                        <a:spcAft>
                          <a:spcPts val="600"/>
                        </a:spcAft>
                      </a:pPr>
                      <a:r>
                        <a:rPr lang="en-US" sz="1600" kern="100" dirty="0">
                          <a:effectLst/>
                        </a:rPr>
                        <a:t>{'</a:t>
                      </a:r>
                      <a:r>
                        <a:rPr lang="en-US" sz="1600" kern="100" dirty="0" err="1">
                          <a:effectLst/>
                        </a:rPr>
                        <a:t>qty__count</a:t>
                      </a:r>
                      <a:r>
                        <a:rPr lang="en-US" sz="1600" kern="100" dirty="0">
                          <a:effectLst/>
                        </a:rPr>
                        <a:t>': 2}</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3213201141"/>
                  </a:ext>
                </a:extLst>
              </a:tr>
              <a:tr h="1249987">
                <a:tc>
                  <a:txBody>
                    <a:bodyPr/>
                    <a:lstStyle/>
                    <a:p>
                      <a:pPr algn="just">
                        <a:spcBef>
                          <a:spcPts val="600"/>
                        </a:spcBef>
                        <a:spcAft>
                          <a:spcPts val="600"/>
                        </a:spcAft>
                      </a:pPr>
                      <a:r>
                        <a:rPr lang="zh-TW" sz="1400" kern="100" dirty="0">
                          <a:effectLst/>
                        </a:rPr>
                        <a:t>算出價格低於</a:t>
                      </a:r>
                      <a:r>
                        <a:rPr lang="en-US" sz="1400" kern="100" dirty="0">
                          <a:effectLst/>
                        </a:rPr>
                        <a:t>800</a:t>
                      </a:r>
                      <a:r>
                        <a:rPr lang="zh-TW" sz="1400" kern="100" dirty="0">
                          <a:effectLst/>
                        </a:rPr>
                        <a:t>元的共有幾支二手機庫存</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endParaRPr lang="en-US" sz="1600" kern="100" dirty="0">
                        <a:effectLst/>
                      </a:endParaRPr>
                    </a:p>
                    <a:p>
                      <a:pPr algn="just">
                        <a:spcBef>
                          <a:spcPts val="600"/>
                        </a:spcBef>
                        <a:spcAft>
                          <a:spcPts val="600"/>
                        </a:spcAft>
                      </a:pPr>
                      <a:endParaRPr lang="en-US" sz="1600" kern="100" dirty="0">
                        <a:effectLst/>
                      </a:endParaRPr>
                    </a:p>
                    <a:p>
                      <a:pPr algn="just">
                        <a:spcBef>
                          <a:spcPts val="600"/>
                        </a:spcBef>
                        <a:spcAft>
                          <a:spcPts val="600"/>
                        </a:spcAft>
                      </a:pPr>
                      <a:r>
                        <a:rPr lang="en-US" sz="1600" kern="100" dirty="0">
                          <a:effectLst/>
                        </a:rPr>
                        <a:t>{'</a:t>
                      </a:r>
                      <a:r>
                        <a:rPr lang="en-US" sz="1600" kern="100" dirty="0" err="1">
                          <a:effectLst/>
                        </a:rPr>
                        <a:t>qty__sum</a:t>
                      </a:r>
                      <a:r>
                        <a:rPr lang="en-US" sz="1600" kern="100" dirty="0">
                          <a:effectLst/>
                        </a:rPr>
                        <a:t>': 3}</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2468487237"/>
                  </a:ext>
                </a:extLst>
              </a:tr>
              <a:tr h="627713">
                <a:tc>
                  <a:txBody>
                    <a:bodyPr/>
                    <a:lstStyle/>
                    <a:p>
                      <a:pPr algn="just">
                        <a:spcBef>
                          <a:spcPts val="600"/>
                        </a:spcBef>
                        <a:spcAft>
                          <a:spcPts val="600"/>
                        </a:spcAft>
                      </a:pPr>
                      <a:r>
                        <a:rPr lang="zh-TW" sz="1400" kern="100" dirty="0">
                          <a:effectLst/>
                        </a:rPr>
                        <a:t>找出所有</a:t>
                      </a:r>
                      <a:r>
                        <a:rPr lang="en-US" sz="1400" kern="100" dirty="0">
                          <a:effectLst/>
                        </a:rPr>
                        <a:t>SONY</a:t>
                      </a:r>
                      <a:r>
                        <a:rPr lang="zh-TW" sz="1400" kern="100" dirty="0">
                          <a:effectLst/>
                        </a:rPr>
                        <a:t>的二手機</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endParaRPr lang="en-US" sz="1600" kern="100" dirty="0">
                        <a:effectLst/>
                      </a:endParaRPr>
                    </a:p>
                    <a:p>
                      <a:pPr algn="just">
                        <a:spcBef>
                          <a:spcPts val="600"/>
                        </a:spcBef>
                        <a:spcAft>
                          <a:spcPts val="600"/>
                        </a:spcAft>
                      </a:pPr>
                      <a:r>
                        <a:rPr lang="en-US" sz="1600" kern="100" dirty="0">
                          <a:effectLst/>
                        </a:rPr>
                        <a:t>&lt;</a:t>
                      </a:r>
                      <a:r>
                        <a:rPr lang="en-US" sz="1600" kern="100" dirty="0" err="1">
                          <a:effectLst/>
                        </a:rPr>
                        <a:t>QuerySet</a:t>
                      </a:r>
                      <a:r>
                        <a:rPr lang="en-US" sz="1600" kern="100" dirty="0">
                          <a:effectLst/>
                        </a:rPr>
                        <a:t> [&lt;Product: SONY Xperia Z3&gt;]&gt;</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1202249030"/>
                  </a:ext>
                </a:extLst>
              </a:tr>
              <a:tr h="977134">
                <a:tc>
                  <a:txBody>
                    <a:bodyPr/>
                    <a:lstStyle/>
                    <a:p>
                      <a:pPr algn="just">
                        <a:spcBef>
                          <a:spcPts val="600"/>
                        </a:spcBef>
                        <a:spcAft>
                          <a:spcPts val="600"/>
                        </a:spcAft>
                      </a:pPr>
                      <a:r>
                        <a:rPr lang="zh-TW" sz="1400" kern="100" dirty="0">
                          <a:effectLst/>
                        </a:rPr>
                        <a:t>找出庫存</a:t>
                      </a:r>
                      <a:r>
                        <a:rPr lang="en-US" sz="1400" kern="100" dirty="0">
                          <a:effectLst/>
                        </a:rPr>
                        <a:t>1</a:t>
                      </a:r>
                      <a:r>
                        <a:rPr lang="zh-TW" sz="1400" kern="100" dirty="0">
                          <a:effectLst/>
                        </a:rPr>
                        <a:t>支或</a:t>
                      </a:r>
                      <a:r>
                        <a:rPr lang="en-US" sz="1400" kern="100" dirty="0">
                          <a:effectLst/>
                        </a:rPr>
                        <a:t>2</a:t>
                      </a:r>
                      <a:r>
                        <a:rPr lang="zh-TW" sz="1400" kern="100" dirty="0">
                          <a:effectLst/>
                        </a:rPr>
                        <a:t>支的二手機</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endParaRPr lang="en-US" sz="1600" kern="100" dirty="0">
                        <a:effectLst/>
                      </a:endParaRPr>
                    </a:p>
                    <a:p>
                      <a:pPr algn="just">
                        <a:spcBef>
                          <a:spcPts val="600"/>
                        </a:spcBef>
                        <a:spcAft>
                          <a:spcPts val="600"/>
                        </a:spcAft>
                      </a:pPr>
                      <a:r>
                        <a:rPr lang="en-US" sz="1600" kern="100" dirty="0">
                          <a:effectLst/>
                        </a:rPr>
                        <a:t>&lt;</a:t>
                      </a:r>
                      <a:r>
                        <a:rPr lang="en-US" sz="1600" kern="100" dirty="0" err="1">
                          <a:effectLst/>
                        </a:rPr>
                        <a:t>QuerySet</a:t>
                      </a:r>
                      <a:r>
                        <a:rPr lang="en-US" sz="1600" kern="100" dirty="0">
                          <a:effectLst/>
                        </a:rPr>
                        <a:t> [&lt;Product: SONY Xperia Z3&gt;, &lt;Product: Samsung DUOS&gt;, &lt;Product: Nokia Xpress 5800&gt;, &lt;Product: </a:t>
                      </a:r>
                      <a:r>
                        <a:rPr lang="en-US" sz="1600" kern="100" dirty="0" err="1">
                          <a:effectLst/>
                        </a:rPr>
                        <a:t>Infocus</a:t>
                      </a:r>
                      <a:r>
                        <a:rPr lang="en-US" sz="1600" kern="100" dirty="0">
                          <a:effectLst/>
                        </a:rPr>
                        <a:t> M370&gt;]&gt;</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1852630895"/>
                  </a:ext>
                </a:extLst>
              </a:tr>
              <a:tr h="627713">
                <a:tc>
                  <a:txBody>
                    <a:bodyPr/>
                    <a:lstStyle/>
                    <a:p>
                      <a:pPr algn="just">
                        <a:spcBef>
                          <a:spcPts val="600"/>
                        </a:spcBef>
                        <a:spcAft>
                          <a:spcPts val="600"/>
                        </a:spcAft>
                      </a:pPr>
                      <a:r>
                        <a:rPr lang="zh-TW" sz="1400" kern="100" dirty="0">
                          <a:effectLst/>
                        </a:rPr>
                        <a:t>檢查庫存中是否有</a:t>
                      </a:r>
                      <a:r>
                        <a:rPr lang="en-US" sz="1400" kern="100" dirty="0">
                          <a:effectLst/>
                        </a:rPr>
                        <a:t>SONY</a:t>
                      </a:r>
                      <a:r>
                        <a:rPr lang="zh-TW" sz="1400" kern="100" dirty="0">
                          <a:effectLst/>
                        </a:rPr>
                        <a:t>的二手機</a:t>
                      </a:r>
                      <a:endParaRPr lang="zh-TW" sz="14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tc>
                  <a:txBody>
                    <a:bodyPr/>
                    <a:lstStyle/>
                    <a:p>
                      <a:pPr algn="just">
                        <a:spcBef>
                          <a:spcPts val="600"/>
                        </a:spcBef>
                        <a:spcAft>
                          <a:spcPts val="600"/>
                        </a:spcAft>
                      </a:pPr>
                      <a:endParaRPr lang="en-US" sz="1600" kern="100" dirty="0">
                        <a:effectLst/>
                      </a:endParaRPr>
                    </a:p>
                    <a:p>
                      <a:pPr algn="just">
                        <a:spcBef>
                          <a:spcPts val="600"/>
                        </a:spcBef>
                        <a:spcAft>
                          <a:spcPts val="600"/>
                        </a:spcAft>
                      </a:pPr>
                      <a:r>
                        <a:rPr lang="en-US" sz="1600" kern="100" dirty="0">
                          <a:effectLst/>
                        </a:rPr>
                        <a:t>True</a:t>
                      </a:r>
                      <a:endParaRPr lang="zh-TW" sz="1800" kern="100" dirty="0">
                        <a:effectLst/>
                        <a:latin typeface="Calibri" panose="020F0502020204030204" pitchFamily="34" charset="0"/>
                        <a:ea typeface="新細明體" panose="02020500000000000000" pitchFamily="18" charset="-120"/>
                        <a:cs typeface="Times New Roman" panose="02020603050405020304" pitchFamily="18" charset="0"/>
                      </a:endParaRPr>
                    </a:p>
                  </a:txBody>
                  <a:tcPr marL="47625" marR="47625" marT="0" marB="0"/>
                </a:tc>
                <a:extLst>
                  <a:ext uri="{0D108BD9-81ED-4DB2-BD59-A6C34878D82A}">
                    <a16:rowId xmlns:a16="http://schemas.microsoft.com/office/drawing/2014/main" val="2322648987"/>
                  </a:ext>
                </a:extLst>
              </a:tr>
            </a:tbl>
          </a:graphicData>
        </a:graphic>
      </p:graphicFrame>
    </p:spTree>
    <p:extLst>
      <p:ext uri="{BB962C8B-B14F-4D97-AF65-F5344CB8AC3E}">
        <p14:creationId xmlns:p14="http://schemas.microsoft.com/office/powerpoint/2010/main" val="21912603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019F228-F518-2A7C-3A36-17155E7AF0FF}"/>
              </a:ext>
            </a:extLst>
          </p:cNvPr>
          <p:cNvSpPr>
            <a:spLocks noGrp="1"/>
          </p:cNvSpPr>
          <p:nvPr>
            <p:ph type="title"/>
          </p:nvPr>
        </p:nvSpPr>
        <p:spPr>
          <a:xfrm>
            <a:off x="86708" y="1085872"/>
            <a:ext cx="9057292" cy="758952"/>
          </a:xfrm>
        </p:spPr>
        <p:txBody>
          <a:bodyPr>
            <a:normAutofit fontScale="90000"/>
          </a:bodyPr>
          <a:lstStyle/>
          <a:p>
            <a:r>
              <a:rPr lang="en-US" altLang="zh-TW" dirty="0"/>
              <a:t>Migrate</a:t>
            </a:r>
            <a:r>
              <a:rPr lang="zh-TW" altLang="en-US" dirty="0"/>
              <a:t>回退功能</a:t>
            </a:r>
            <a:br>
              <a:rPr lang="en-US" altLang="zh-TW" dirty="0"/>
            </a:br>
            <a:r>
              <a:rPr lang="en-US" altLang="zh-TW" dirty="0">
                <a:solidFill>
                  <a:srgbClr val="FF0000"/>
                </a:solidFill>
              </a:rPr>
              <a:t>(</a:t>
            </a:r>
            <a:r>
              <a:rPr lang="zh-TW" altLang="en-US" dirty="0">
                <a:solidFill>
                  <a:srgbClr val="FF0000"/>
                </a:solidFill>
              </a:rPr>
              <a:t>記得將</a:t>
            </a:r>
            <a:r>
              <a:rPr lang="en-US" altLang="zh-TW" dirty="0" err="1">
                <a:solidFill>
                  <a:srgbClr val="FF0000"/>
                </a:solidFill>
              </a:rPr>
              <a:t>db</a:t>
            </a:r>
            <a:r>
              <a:rPr lang="zh-TW" altLang="en-US" dirty="0">
                <a:solidFill>
                  <a:srgbClr val="FF0000"/>
                </a:solidFill>
              </a:rPr>
              <a:t>檔案備份，回退時</a:t>
            </a:r>
            <a:r>
              <a:rPr lang="en-US" altLang="zh-TW" dirty="0">
                <a:solidFill>
                  <a:srgbClr val="FF0000"/>
                </a:solidFill>
              </a:rPr>
              <a:t>data</a:t>
            </a:r>
            <a:r>
              <a:rPr lang="zh-TW" altLang="en-US" dirty="0">
                <a:solidFill>
                  <a:srgbClr val="FF0000"/>
                </a:solidFill>
              </a:rPr>
              <a:t>會不見</a:t>
            </a:r>
            <a:r>
              <a:rPr lang="en-US" altLang="zh-TW" b="1" dirty="0">
                <a:solidFill>
                  <a:srgbClr val="FF0000"/>
                </a:solidFill>
              </a:rPr>
              <a:t>model.py</a:t>
            </a:r>
            <a:r>
              <a:rPr lang="zh-TW" altLang="en-US" b="1" dirty="0">
                <a:solidFill>
                  <a:srgbClr val="FF0000"/>
                </a:solidFill>
              </a:rPr>
              <a:t>也要改成正確的</a:t>
            </a:r>
            <a:r>
              <a:rPr lang="zh-TW" altLang="en-US" dirty="0">
                <a:solidFill>
                  <a:srgbClr val="FF0000"/>
                </a:solidFill>
              </a:rPr>
              <a:t>，網站顯示的內容才是正確的</a:t>
            </a:r>
            <a:r>
              <a:rPr lang="en-US" altLang="zh-TW" dirty="0">
                <a:solidFill>
                  <a:srgbClr val="FF0000"/>
                </a:solidFill>
              </a:rPr>
              <a:t>)</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7D1B4C5C-6537-E0C3-9E88-B36710B1A60E}"/>
              </a:ext>
            </a:extLst>
          </p:cNvPr>
          <p:cNvSpPr>
            <a:spLocks noGrp="1"/>
          </p:cNvSpPr>
          <p:nvPr>
            <p:ph type="sldNum" sz="quarter" idx="12"/>
          </p:nvPr>
        </p:nvSpPr>
        <p:spPr/>
        <p:txBody>
          <a:bodyPr/>
          <a:lstStyle/>
          <a:p>
            <a:fld id="{369E457D-EE12-4164-8E32-9DDD40A95892}" type="slidenum">
              <a:rPr lang="zh-TW" altLang="en-US" smtClean="0"/>
              <a:pPr/>
              <a:t>44</a:t>
            </a:fld>
            <a:endParaRPr lang="zh-TW" altLang="en-US"/>
          </a:p>
        </p:txBody>
      </p:sp>
      <p:sp>
        <p:nvSpPr>
          <p:cNvPr id="5" name="文字方塊 4">
            <a:extLst>
              <a:ext uri="{FF2B5EF4-FFF2-40B4-BE49-F238E27FC236}">
                <a16:creationId xmlns:a16="http://schemas.microsoft.com/office/drawing/2014/main" id="{57C7A10B-86D9-B866-79D2-AC62CAC94DD6}"/>
              </a:ext>
            </a:extLst>
          </p:cNvPr>
          <p:cNvSpPr txBox="1"/>
          <p:nvPr/>
        </p:nvSpPr>
        <p:spPr>
          <a:xfrm>
            <a:off x="86708" y="1700808"/>
            <a:ext cx="8964488" cy="4524315"/>
          </a:xfrm>
          <a:prstGeom prst="rect">
            <a:avLst/>
          </a:prstGeom>
          <a:noFill/>
        </p:spPr>
        <p:txBody>
          <a:bodyPr wrap="square">
            <a:spAutoFit/>
          </a:bodyPr>
          <a:lstStyle/>
          <a:p>
            <a:r>
              <a:rPr lang="zh-TW" altLang="en-US" sz="2400" dirty="0"/>
              <a:t>查看應用程式的所有遷移歷史和目前的狀態：</a:t>
            </a:r>
            <a:endParaRPr lang="en-US" altLang="zh-TW" sz="2400" dirty="0"/>
          </a:p>
          <a:p>
            <a:r>
              <a:rPr lang="en-US" altLang="zh-TW" sz="2400" dirty="0"/>
              <a:t>python manage.py </a:t>
            </a:r>
            <a:r>
              <a:rPr lang="en-US" altLang="zh-TW" sz="2400" dirty="0" err="1">
                <a:solidFill>
                  <a:srgbClr val="FF0000"/>
                </a:solidFill>
              </a:rPr>
              <a:t>showmigrations</a:t>
            </a:r>
            <a:r>
              <a:rPr lang="en-US" altLang="zh-TW" sz="2400" dirty="0"/>
              <a:t> &lt;</a:t>
            </a:r>
            <a:r>
              <a:rPr lang="en-US" altLang="zh-TW" sz="2400" dirty="0" err="1"/>
              <a:t>app_name</a:t>
            </a:r>
            <a:r>
              <a:rPr lang="en-US" altLang="zh-TW" sz="2400" dirty="0"/>
              <a:t>&gt;</a:t>
            </a:r>
          </a:p>
          <a:p>
            <a:endParaRPr lang="en-US" altLang="zh-TW" sz="2400" dirty="0"/>
          </a:p>
          <a:p>
            <a:r>
              <a:rPr lang="zh-TW" altLang="en-US" sz="2400" dirty="0"/>
              <a:t>回退到</a:t>
            </a:r>
            <a:r>
              <a:rPr lang="en-US" altLang="zh-TW" sz="2400" dirty="0"/>
              <a:t>0002</a:t>
            </a:r>
            <a:r>
              <a:rPr lang="zh-TW" altLang="en-US" sz="2400" dirty="0"/>
              <a:t>並撤銷</a:t>
            </a:r>
            <a:r>
              <a:rPr lang="en-US" altLang="zh-TW" sz="2400" dirty="0"/>
              <a:t>0003 </a:t>
            </a:r>
          </a:p>
          <a:p>
            <a:r>
              <a:rPr lang="en-US" altLang="zh-TW" sz="2400" dirty="0"/>
              <a:t>(</a:t>
            </a:r>
            <a:r>
              <a:rPr lang="zh-TW" altLang="en-US" sz="2400" dirty="0"/>
              <a:t>紅色是</a:t>
            </a:r>
            <a:r>
              <a:rPr lang="en-US" altLang="zh-TW" sz="2400" dirty="0"/>
              <a:t>app</a:t>
            </a:r>
            <a:r>
              <a:rPr lang="zh-TW" altLang="en-US" sz="2400" dirty="0"/>
              <a:t>名稱</a:t>
            </a:r>
            <a:r>
              <a:rPr lang="en-US" altLang="zh-TW" sz="2400" dirty="0"/>
              <a:t>-</a:t>
            </a:r>
            <a:r>
              <a:rPr lang="zh-TW" altLang="en-US" sz="2400" dirty="0"/>
              <a:t>須指名，因有內建其他</a:t>
            </a:r>
            <a:r>
              <a:rPr lang="en-US" altLang="zh-TW" sz="2400" dirty="0"/>
              <a:t>app)</a:t>
            </a:r>
          </a:p>
          <a:p>
            <a:r>
              <a:rPr lang="en-US" altLang="zh-TW" sz="2400" dirty="0"/>
              <a:t>python manage.py migrate </a:t>
            </a:r>
            <a:r>
              <a:rPr lang="en-US" altLang="zh-TW" sz="2400">
                <a:solidFill>
                  <a:srgbClr val="FF0000"/>
                </a:solidFill>
              </a:rPr>
              <a:t>mysite</a:t>
            </a:r>
            <a:r>
              <a:rPr lang="en-US" altLang="zh-TW" sz="2400" dirty="0"/>
              <a:t> 0002</a:t>
            </a:r>
          </a:p>
          <a:p>
            <a:endParaRPr lang="en-US" altLang="zh-TW" sz="2400" dirty="0"/>
          </a:p>
          <a:p>
            <a:r>
              <a:rPr lang="zh-TW" altLang="en-US" sz="2400" dirty="0"/>
              <a:t>回退全部</a:t>
            </a:r>
            <a:endParaRPr lang="en-US" altLang="zh-TW" sz="2400" dirty="0"/>
          </a:p>
          <a:p>
            <a:r>
              <a:rPr lang="en-US" altLang="zh-TW" sz="2400" dirty="0"/>
              <a:t>python manage.py migrate </a:t>
            </a:r>
            <a:r>
              <a:rPr lang="en-US" altLang="zh-TW" sz="2400" dirty="0">
                <a:solidFill>
                  <a:srgbClr val="FF0000"/>
                </a:solidFill>
              </a:rPr>
              <a:t>&lt;</a:t>
            </a:r>
            <a:r>
              <a:rPr lang="en-US" altLang="zh-TW" sz="2400" dirty="0" err="1">
                <a:solidFill>
                  <a:srgbClr val="FF0000"/>
                </a:solidFill>
              </a:rPr>
              <a:t>app_name</a:t>
            </a:r>
            <a:r>
              <a:rPr lang="en-US" altLang="zh-TW" sz="2400" dirty="0">
                <a:solidFill>
                  <a:srgbClr val="FF0000"/>
                </a:solidFill>
              </a:rPr>
              <a:t>&gt; </a:t>
            </a:r>
            <a:r>
              <a:rPr lang="en-US" altLang="zh-TW" sz="2400" dirty="0"/>
              <a:t>zero</a:t>
            </a:r>
          </a:p>
          <a:p>
            <a:endParaRPr lang="en-US" altLang="zh-TW" sz="2400" dirty="0"/>
          </a:p>
          <a:p>
            <a:endParaRPr lang="en-US" altLang="zh-TW" sz="2400" dirty="0"/>
          </a:p>
          <a:p>
            <a:endParaRPr lang="zh-TW" altLang="en-US" sz="2400" dirty="0"/>
          </a:p>
        </p:txBody>
      </p:sp>
    </p:spTree>
    <p:extLst>
      <p:ext uri="{BB962C8B-B14F-4D97-AF65-F5344CB8AC3E}">
        <p14:creationId xmlns:p14="http://schemas.microsoft.com/office/powerpoint/2010/main" val="240634693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967E2A-17C1-BCDE-AEEA-78FE1C520EF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4C56303-AF89-4A3E-0E8A-A0CCCA91676F}"/>
              </a:ext>
            </a:extLst>
          </p:cNvPr>
          <p:cNvSpPr>
            <a:spLocks noGrp="1"/>
          </p:cNvSpPr>
          <p:nvPr>
            <p:ph type="title"/>
          </p:nvPr>
        </p:nvSpPr>
        <p:spPr/>
        <p:txBody>
          <a:bodyPr>
            <a:normAutofit fontScale="90000"/>
          </a:bodyPr>
          <a:lstStyle/>
          <a:p>
            <a:r>
              <a:rPr lang="en-US" altLang="zh-TW" dirty="0"/>
              <a:t>Migrate</a:t>
            </a:r>
            <a:r>
              <a:rPr lang="zh-TW" altLang="en-US" dirty="0"/>
              <a:t>回退功能</a:t>
            </a:r>
            <a:br>
              <a:rPr lang="en-US" altLang="zh-TW" dirty="0"/>
            </a:br>
            <a:r>
              <a:rPr lang="en-US" altLang="zh-TW" dirty="0">
                <a:solidFill>
                  <a:srgbClr val="FF0000"/>
                </a:solidFill>
              </a:rPr>
              <a:t>(</a:t>
            </a:r>
            <a:r>
              <a:rPr lang="zh-TW" altLang="en-US" dirty="0">
                <a:solidFill>
                  <a:srgbClr val="FF0000"/>
                </a:solidFill>
              </a:rPr>
              <a:t>記得將</a:t>
            </a:r>
            <a:r>
              <a:rPr lang="en-US" altLang="zh-TW" dirty="0" err="1">
                <a:solidFill>
                  <a:srgbClr val="FF0000"/>
                </a:solidFill>
              </a:rPr>
              <a:t>db</a:t>
            </a:r>
            <a:r>
              <a:rPr lang="zh-TW" altLang="en-US" dirty="0">
                <a:solidFill>
                  <a:srgbClr val="FF0000"/>
                </a:solidFill>
              </a:rPr>
              <a:t>檔案備份，回退時</a:t>
            </a:r>
            <a:r>
              <a:rPr lang="en-US" altLang="zh-TW" dirty="0">
                <a:solidFill>
                  <a:srgbClr val="FF0000"/>
                </a:solidFill>
              </a:rPr>
              <a:t>data</a:t>
            </a:r>
            <a:r>
              <a:rPr lang="zh-TW" altLang="en-US" dirty="0">
                <a:solidFill>
                  <a:srgbClr val="FF0000"/>
                </a:solidFill>
              </a:rPr>
              <a:t>會不見</a:t>
            </a:r>
            <a:r>
              <a:rPr lang="en-US" altLang="zh-TW" dirty="0">
                <a:solidFill>
                  <a:srgbClr val="FF0000"/>
                </a:solidFill>
              </a:rPr>
              <a:t>)</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B9818121-AB04-2D1C-1EC7-C3010EA71BD3}"/>
              </a:ext>
            </a:extLst>
          </p:cNvPr>
          <p:cNvSpPr>
            <a:spLocks noGrp="1"/>
          </p:cNvSpPr>
          <p:nvPr>
            <p:ph type="sldNum" sz="quarter" idx="12"/>
          </p:nvPr>
        </p:nvSpPr>
        <p:spPr>
          <a:xfrm>
            <a:off x="4343400" y="1396060"/>
            <a:ext cx="457200" cy="441325"/>
          </a:xfrm>
        </p:spPr>
        <p:txBody>
          <a:bodyPr/>
          <a:lstStyle/>
          <a:p>
            <a:fld id="{369E457D-EE12-4164-8E32-9DDD40A95892}" type="slidenum">
              <a:rPr lang="zh-TW" altLang="en-US" smtClean="0"/>
              <a:pPr/>
              <a:t>45</a:t>
            </a:fld>
            <a:endParaRPr lang="zh-TW" altLang="en-US"/>
          </a:p>
        </p:txBody>
      </p:sp>
      <p:pic>
        <p:nvPicPr>
          <p:cNvPr id="6" name="圖片 5">
            <a:extLst>
              <a:ext uri="{FF2B5EF4-FFF2-40B4-BE49-F238E27FC236}">
                <a16:creationId xmlns:a16="http://schemas.microsoft.com/office/drawing/2014/main" id="{29E8A1CC-5793-9E73-A689-F1A35BDF53B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72000" y="4097610"/>
            <a:ext cx="4572000" cy="2571750"/>
          </a:xfrm>
          <a:prstGeom prst="rect">
            <a:avLst/>
          </a:prstGeom>
        </p:spPr>
      </p:pic>
      <p:pic>
        <p:nvPicPr>
          <p:cNvPr id="8" name="圖片 7">
            <a:extLst>
              <a:ext uri="{FF2B5EF4-FFF2-40B4-BE49-F238E27FC236}">
                <a16:creationId xmlns:a16="http://schemas.microsoft.com/office/drawing/2014/main" id="{E1E7C61B-59AF-7624-50BD-228BCA7F5EB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17290"/>
            <a:ext cx="4572000" cy="2571750"/>
          </a:xfrm>
          <a:prstGeom prst="rect">
            <a:avLst/>
          </a:prstGeom>
        </p:spPr>
      </p:pic>
      <p:pic>
        <p:nvPicPr>
          <p:cNvPr id="10" name="圖片 9">
            <a:extLst>
              <a:ext uri="{FF2B5EF4-FFF2-40B4-BE49-F238E27FC236}">
                <a16:creationId xmlns:a16="http://schemas.microsoft.com/office/drawing/2014/main" id="{72832ABD-0E31-08F6-4BF0-E90A63C8EFA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4097610"/>
            <a:ext cx="4572000" cy="2571750"/>
          </a:xfrm>
          <a:prstGeom prst="rect">
            <a:avLst/>
          </a:prstGeom>
        </p:spPr>
      </p:pic>
      <p:pic>
        <p:nvPicPr>
          <p:cNvPr id="12" name="圖片 11">
            <a:extLst>
              <a:ext uri="{FF2B5EF4-FFF2-40B4-BE49-F238E27FC236}">
                <a16:creationId xmlns:a16="http://schemas.microsoft.com/office/drawing/2014/main" id="{A656D17F-3B7E-3C57-85A3-CC8562B1086E}"/>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565904" y="1219978"/>
            <a:ext cx="4572000" cy="2571750"/>
          </a:xfrm>
          <a:prstGeom prst="rect">
            <a:avLst/>
          </a:prstGeom>
        </p:spPr>
      </p:pic>
    </p:spTree>
    <p:extLst>
      <p:ext uri="{BB962C8B-B14F-4D97-AF65-F5344CB8AC3E}">
        <p14:creationId xmlns:p14="http://schemas.microsoft.com/office/powerpoint/2010/main" val="23835586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View</a:t>
            </a:r>
            <a:r>
              <a:rPr lang="zh-TW" altLang="zh-TW" dirty="0"/>
              <a:t>簡介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46</a:t>
            </a:fld>
            <a:endParaRPr lang="zh-TW" altLang="en-US"/>
          </a:p>
        </p:txBody>
      </p:sp>
      <p:sp>
        <p:nvSpPr>
          <p:cNvPr id="4" name="內容版面配置區 3"/>
          <p:cNvSpPr>
            <a:spLocks noGrp="1"/>
          </p:cNvSpPr>
          <p:nvPr>
            <p:ph sz="quarter" idx="1"/>
          </p:nvPr>
        </p:nvSpPr>
        <p:spPr/>
        <p:txBody>
          <a:bodyPr>
            <a:normAutofit lnSpcReduction="10000"/>
          </a:bodyPr>
          <a:lstStyle/>
          <a:p>
            <a:r>
              <a:rPr lang="zh-TW" altLang="zh-TW" dirty="0"/>
              <a:t>是</a:t>
            </a:r>
            <a:r>
              <a:rPr lang="en-US" altLang="zh-TW" dirty="0"/>
              <a:t>Django</a:t>
            </a:r>
            <a:r>
              <a:rPr lang="zh-TW" altLang="zh-TW" dirty="0"/>
              <a:t>最重要的程式邏輯所在的地方，網站</a:t>
            </a:r>
            <a:r>
              <a:rPr lang="zh-TW" altLang="zh-TW" dirty="0">
                <a:solidFill>
                  <a:srgbClr val="FF0000"/>
                </a:solidFill>
              </a:rPr>
              <a:t>大部份的程式設計</a:t>
            </a:r>
            <a:r>
              <a:rPr lang="zh-TW" altLang="zh-TW" dirty="0"/>
              <a:t>都放在這邊。</a:t>
            </a:r>
            <a:endParaRPr lang="en-US" altLang="zh-TW" dirty="0"/>
          </a:p>
          <a:p>
            <a:r>
              <a:rPr lang="en-US" altLang="zh-TW" dirty="0">
                <a:solidFill>
                  <a:srgbClr val="FF0000"/>
                </a:solidFill>
              </a:rPr>
              <a:t>Templates</a:t>
            </a:r>
            <a:r>
              <a:rPr lang="zh-TW" altLang="en-US" dirty="0">
                <a:solidFill>
                  <a:srgbClr val="FF0000"/>
                </a:solidFill>
              </a:rPr>
              <a:t>應儘可能的單純，不要有太多的羅輯運算，要讓不熟悉程式設計的美編能容易操作及修改，也是能展現前後端分離的做法</a:t>
            </a:r>
            <a:endParaRPr lang="en-US" altLang="zh-TW" dirty="0">
              <a:solidFill>
                <a:srgbClr val="FF0000"/>
              </a:solidFill>
            </a:endParaRPr>
          </a:p>
          <a:p>
            <a:r>
              <a:rPr lang="zh-TW" altLang="zh-TW" dirty="0"/>
              <a:t>對初學者來說，這裡放了許多我們要操作資料，以及安排哪些資料需要被顯示出來的函數，在函數中把這些資料傳遞給網頁伺服器或是先交由</a:t>
            </a:r>
            <a:r>
              <a:rPr lang="en-US" altLang="zh-TW" dirty="0"/>
              <a:t>Template</a:t>
            </a:r>
            <a:r>
              <a:rPr lang="zh-TW" altLang="zh-TW" dirty="0"/>
              <a:t>的渲染器之後再送到網頁伺服器中。</a:t>
            </a:r>
            <a:endParaRPr lang="en-US" altLang="zh-TW" dirty="0"/>
          </a:p>
          <a:p>
            <a:r>
              <a:rPr lang="zh-TW" altLang="zh-TW" dirty="0"/>
              <a:t>這些放在</a:t>
            </a:r>
            <a:r>
              <a:rPr lang="en-US" altLang="zh-TW" dirty="0"/>
              <a:t>views.py</a:t>
            </a:r>
            <a:r>
              <a:rPr lang="zh-TW" altLang="zh-TW" dirty="0"/>
              <a:t>中的函數，再由</a:t>
            </a:r>
            <a:r>
              <a:rPr lang="en-US" altLang="zh-TW" dirty="0"/>
              <a:t>urls.py</a:t>
            </a:r>
            <a:r>
              <a:rPr lang="zh-TW" altLang="zh-TW" dirty="0"/>
              <a:t>中的設計做對應和派發。</a:t>
            </a:r>
            <a:endParaRPr lang="zh-TW" altLang="en-US" dirty="0"/>
          </a:p>
        </p:txBody>
      </p:sp>
    </p:spTree>
    <p:extLst>
      <p:ext uri="{BB962C8B-B14F-4D97-AF65-F5344CB8AC3E}">
        <p14:creationId xmlns:p14="http://schemas.microsoft.com/office/powerpoint/2010/main" val="10611940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1F9B376-27D6-2668-4314-8B7460963242}"/>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525D69A-665A-DBA4-0295-4981394CC49D}"/>
              </a:ext>
            </a:extLst>
          </p:cNvPr>
          <p:cNvSpPr>
            <a:spLocks noGrp="1"/>
          </p:cNvSpPr>
          <p:nvPr>
            <p:ph type="title"/>
          </p:nvPr>
        </p:nvSpPr>
        <p:spPr/>
        <p:txBody>
          <a:bodyPr/>
          <a:lstStyle/>
          <a:p>
            <a:r>
              <a:rPr lang="en-US" altLang="zh-TW" dirty="0"/>
              <a:t>Django</a:t>
            </a:r>
            <a:r>
              <a:rPr lang="zh-TW" altLang="zh-TW" dirty="0"/>
              <a:t>的</a:t>
            </a:r>
            <a:r>
              <a:rPr lang="en-US" altLang="zh-TW" dirty="0"/>
              <a:t>MTV</a:t>
            </a:r>
            <a:r>
              <a:rPr lang="zh-TW" altLang="zh-TW" dirty="0"/>
              <a:t>架構</a:t>
            </a:r>
            <a:endParaRPr lang="zh-TW" altLang="en-US" dirty="0"/>
          </a:p>
        </p:txBody>
      </p:sp>
      <p:sp>
        <p:nvSpPr>
          <p:cNvPr id="3" name="投影片編號版面配置區 2">
            <a:extLst>
              <a:ext uri="{FF2B5EF4-FFF2-40B4-BE49-F238E27FC236}">
                <a16:creationId xmlns:a16="http://schemas.microsoft.com/office/drawing/2014/main" id="{28CAB002-134A-4D86-585F-E36B7C082813}"/>
              </a:ext>
            </a:extLst>
          </p:cNvPr>
          <p:cNvSpPr>
            <a:spLocks noGrp="1"/>
          </p:cNvSpPr>
          <p:nvPr>
            <p:ph type="sldNum" sz="quarter" idx="12"/>
          </p:nvPr>
        </p:nvSpPr>
        <p:spPr/>
        <p:txBody>
          <a:bodyPr/>
          <a:lstStyle/>
          <a:p>
            <a:fld id="{369E457D-EE12-4164-8E32-9DDD40A95892}" type="slidenum">
              <a:rPr lang="zh-TW" altLang="en-US" smtClean="0"/>
              <a:pPr/>
              <a:t>47</a:t>
            </a:fld>
            <a:endParaRPr lang="zh-TW" altLang="en-US"/>
          </a:p>
        </p:txBody>
      </p:sp>
      <p:sp>
        <p:nvSpPr>
          <p:cNvPr id="4" name="內容版面配置區 3">
            <a:extLst>
              <a:ext uri="{FF2B5EF4-FFF2-40B4-BE49-F238E27FC236}">
                <a16:creationId xmlns:a16="http://schemas.microsoft.com/office/drawing/2014/main" id="{996F2891-3E17-1DA7-E9CA-07695050FB14}"/>
              </a:ext>
            </a:extLst>
          </p:cNvPr>
          <p:cNvSpPr>
            <a:spLocks noGrp="1"/>
          </p:cNvSpPr>
          <p:nvPr>
            <p:ph sz="quarter" idx="1"/>
          </p:nvPr>
        </p:nvSpPr>
        <p:spPr/>
        <p:txBody>
          <a:bodyPr/>
          <a:lstStyle/>
          <a:p>
            <a:endParaRPr lang="zh-TW" altLang="en-US"/>
          </a:p>
        </p:txBody>
      </p:sp>
      <p:pic>
        <p:nvPicPr>
          <p:cNvPr id="5" name="圖片 4">
            <a:extLst>
              <a:ext uri="{FF2B5EF4-FFF2-40B4-BE49-F238E27FC236}">
                <a16:creationId xmlns:a16="http://schemas.microsoft.com/office/drawing/2014/main" id="{A14D3130-A81C-E641-C11C-13CCE3CA3674}"/>
              </a:ext>
            </a:extLst>
          </p:cNvPr>
          <p:cNvPicPr/>
          <p:nvPr/>
        </p:nvPicPr>
        <p:blipFill>
          <a:blip r:embed="rId3">
            <a:extLst>
              <a:ext uri="{28A0092B-C50C-407E-A947-70E740481C1C}">
                <a14:useLocalDpi xmlns:a14="http://schemas.microsoft.com/office/drawing/2010/main" val="0"/>
              </a:ext>
            </a:extLst>
          </a:blip>
          <a:stretch>
            <a:fillRect/>
          </a:stretch>
        </p:blipFill>
        <p:spPr>
          <a:xfrm>
            <a:off x="719572" y="1527048"/>
            <a:ext cx="7704856" cy="4998296"/>
          </a:xfrm>
          <a:prstGeom prst="rect">
            <a:avLst/>
          </a:prstGeom>
        </p:spPr>
      </p:pic>
      <p:sp>
        <p:nvSpPr>
          <p:cNvPr id="8" name="箭號: 向右 7">
            <a:extLst>
              <a:ext uri="{FF2B5EF4-FFF2-40B4-BE49-F238E27FC236}">
                <a16:creationId xmlns:a16="http://schemas.microsoft.com/office/drawing/2014/main" id="{9643DDDF-CD0A-2C4C-8338-D5C475891DDB}"/>
              </a:ext>
            </a:extLst>
          </p:cNvPr>
          <p:cNvSpPr/>
          <p:nvPr/>
        </p:nvSpPr>
        <p:spPr>
          <a:xfrm rot="10800000">
            <a:off x="2627784" y="3140968"/>
            <a:ext cx="2191104" cy="288032"/>
          </a:xfrm>
          <a:prstGeom prst="rightArrow">
            <a:avLst/>
          </a:prstGeom>
        </p:spPr>
        <p:style>
          <a:lnRef idx="1">
            <a:schemeClr val="accent3"/>
          </a:lnRef>
          <a:fillRef idx="3">
            <a:schemeClr val="accent3"/>
          </a:fillRef>
          <a:effectRef idx="2">
            <a:schemeClr val="accent3"/>
          </a:effectRef>
          <a:fontRef idx="minor">
            <a:schemeClr val="lt1"/>
          </a:fontRef>
        </p:style>
        <p:txBody>
          <a:bodyPr rtlCol="0" anchor="ctr"/>
          <a:lstStyle/>
          <a:p>
            <a:pPr algn="ctr"/>
            <a:endParaRPr lang="zh-TW" altLang="en-US"/>
          </a:p>
        </p:txBody>
      </p:sp>
      <p:sp>
        <p:nvSpPr>
          <p:cNvPr id="6" name="文字方塊 5">
            <a:extLst>
              <a:ext uri="{FF2B5EF4-FFF2-40B4-BE49-F238E27FC236}">
                <a16:creationId xmlns:a16="http://schemas.microsoft.com/office/drawing/2014/main" id="{AA08BBD0-FA9F-90A3-CC22-8CDCD953376C}"/>
              </a:ext>
            </a:extLst>
          </p:cNvPr>
          <p:cNvSpPr txBox="1"/>
          <p:nvPr/>
        </p:nvSpPr>
        <p:spPr>
          <a:xfrm>
            <a:off x="2915816" y="2843644"/>
            <a:ext cx="1785232" cy="369332"/>
          </a:xfrm>
          <a:prstGeom prst="rect">
            <a:avLst/>
          </a:prstGeom>
          <a:noFill/>
        </p:spPr>
        <p:txBody>
          <a:bodyPr wrap="none" rtlCol="0">
            <a:spAutoFit/>
          </a:bodyPr>
          <a:lstStyle/>
          <a:p>
            <a:r>
              <a:rPr lang="en-US" altLang="zh-TW" dirty="0" err="1"/>
              <a:t>HttpResponse</a:t>
            </a:r>
            <a:endParaRPr lang="zh-TW" altLang="en-US" dirty="0"/>
          </a:p>
        </p:txBody>
      </p:sp>
      <p:sp>
        <p:nvSpPr>
          <p:cNvPr id="7" name="文字方塊 6">
            <a:extLst>
              <a:ext uri="{FF2B5EF4-FFF2-40B4-BE49-F238E27FC236}">
                <a16:creationId xmlns:a16="http://schemas.microsoft.com/office/drawing/2014/main" id="{A196EA9E-F686-A956-5CA7-EFC6C5894E52}"/>
              </a:ext>
            </a:extLst>
          </p:cNvPr>
          <p:cNvSpPr txBox="1"/>
          <p:nvPr/>
        </p:nvSpPr>
        <p:spPr>
          <a:xfrm>
            <a:off x="4716016" y="4005064"/>
            <a:ext cx="946093" cy="369332"/>
          </a:xfrm>
          <a:prstGeom prst="rect">
            <a:avLst/>
          </a:prstGeom>
          <a:noFill/>
        </p:spPr>
        <p:txBody>
          <a:bodyPr wrap="none" rtlCol="0">
            <a:spAutoFit/>
          </a:bodyPr>
          <a:lstStyle/>
          <a:p>
            <a:r>
              <a:rPr lang="en-US" altLang="zh-TW" dirty="0"/>
              <a:t>render</a:t>
            </a:r>
            <a:endParaRPr lang="zh-TW" altLang="en-US" dirty="0"/>
          </a:p>
        </p:txBody>
      </p:sp>
      <p:sp>
        <p:nvSpPr>
          <p:cNvPr id="9" name="文字方塊 8">
            <a:extLst>
              <a:ext uri="{FF2B5EF4-FFF2-40B4-BE49-F238E27FC236}">
                <a16:creationId xmlns:a16="http://schemas.microsoft.com/office/drawing/2014/main" id="{E29FC052-538A-CB08-6E21-68A1B5B3B293}"/>
              </a:ext>
            </a:extLst>
          </p:cNvPr>
          <p:cNvSpPr txBox="1"/>
          <p:nvPr/>
        </p:nvSpPr>
        <p:spPr>
          <a:xfrm>
            <a:off x="2915816" y="4797152"/>
            <a:ext cx="2805576" cy="369332"/>
          </a:xfrm>
          <a:prstGeom prst="rect">
            <a:avLst/>
          </a:prstGeom>
          <a:noFill/>
        </p:spPr>
        <p:txBody>
          <a:bodyPr wrap="none" rtlCol="0">
            <a:spAutoFit/>
          </a:bodyPr>
          <a:lstStyle/>
          <a:p>
            <a:r>
              <a:rPr lang="en-US" altLang="zh-TW" dirty="0"/>
              <a:t>HTML+</a:t>
            </a:r>
            <a:r>
              <a:rPr lang="zh-TW" altLang="en-US" dirty="0"/>
              <a:t>模板語言</a:t>
            </a:r>
            <a:r>
              <a:rPr lang="en-US" altLang="zh-TW" dirty="0"/>
              <a:t>{% %}</a:t>
            </a:r>
            <a:endParaRPr lang="zh-TW" altLang="en-US" dirty="0"/>
          </a:p>
        </p:txBody>
      </p:sp>
    </p:spTree>
    <p:extLst>
      <p:ext uri="{BB962C8B-B14F-4D97-AF65-F5344CB8AC3E}">
        <p14:creationId xmlns:p14="http://schemas.microsoft.com/office/powerpoint/2010/main" val="109583735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建立簡易的</a:t>
            </a:r>
            <a:r>
              <a:rPr lang="en-US" altLang="zh-TW" dirty="0" err="1"/>
              <a:t>HttpResponse</a:t>
            </a:r>
            <a:r>
              <a:rPr lang="zh-TW" altLang="zh-TW" dirty="0"/>
              <a:t>網頁</a:t>
            </a:r>
            <a:br>
              <a:rPr lang="en-US" altLang="zh-TW" dirty="0"/>
            </a:br>
            <a:r>
              <a:rPr lang="zh-TW" altLang="en-US" dirty="0">
                <a:solidFill>
                  <a:srgbClr val="FF0000"/>
                </a:solidFill>
              </a:rPr>
              <a:t>先建立一個</a:t>
            </a:r>
            <a:r>
              <a:rPr lang="en-US" altLang="zh-TW" dirty="0">
                <a:solidFill>
                  <a:srgbClr val="FF0000"/>
                </a:solidFill>
              </a:rPr>
              <a:t>about.html</a:t>
            </a:r>
            <a:r>
              <a:rPr lang="zh-TW" altLang="en-US" dirty="0">
                <a:solidFill>
                  <a:srgbClr val="FF0000"/>
                </a:solidFill>
              </a:rPr>
              <a:t>來</a:t>
            </a:r>
            <a:r>
              <a:rPr lang="en-US" altLang="zh-TW" dirty="0">
                <a:solidFill>
                  <a:srgbClr val="FF0000"/>
                </a:solidFill>
              </a:rPr>
              <a:t>copy</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48</a:t>
            </a:fld>
            <a:endParaRPr lang="zh-TW" altLang="en-US"/>
          </a:p>
        </p:txBody>
      </p:sp>
      <p:sp>
        <p:nvSpPr>
          <p:cNvPr id="4" name="內容版面配置區 3"/>
          <p:cNvSpPr>
            <a:spLocks noGrp="1"/>
          </p:cNvSpPr>
          <p:nvPr>
            <p:ph sz="quarter" idx="1"/>
          </p:nvPr>
        </p:nvSpPr>
        <p:spPr>
          <a:xfrm>
            <a:off x="301752" y="1124744"/>
            <a:ext cx="8534400" cy="5733256"/>
          </a:xfrm>
        </p:spPr>
        <p:txBody>
          <a:bodyPr>
            <a:normAutofit fontScale="92500" lnSpcReduction="20000"/>
          </a:bodyPr>
          <a:lstStyle/>
          <a:p>
            <a:r>
              <a:rPr lang="zh-TW" altLang="zh-TW" dirty="0"/>
              <a:t>直接顯示資料到網頁的步驟是</a:t>
            </a:r>
            <a:endParaRPr lang="en-US" altLang="zh-TW" dirty="0"/>
          </a:p>
          <a:p>
            <a:pPr lvl="1"/>
            <a:r>
              <a:rPr lang="zh-TW" altLang="zh-TW" dirty="0"/>
              <a:t>先到</a:t>
            </a:r>
            <a:r>
              <a:rPr lang="en-US" altLang="zh-TW" sz="3300" dirty="0">
                <a:solidFill>
                  <a:srgbClr val="FF0000"/>
                </a:solidFill>
              </a:rPr>
              <a:t>urls.py</a:t>
            </a:r>
            <a:r>
              <a:rPr lang="zh-TW" altLang="zh-TW" dirty="0"/>
              <a:t>設定一個網址的對應</a:t>
            </a:r>
            <a:endParaRPr lang="en-US" altLang="zh-TW" dirty="0"/>
          </a:p>
          <a:p>
            <a:pPr marL="594360" lvl="2" indent="0">
              <a:buNone/>
            </a:pPr>
            <a:r>
              <a:rPr lang="en-US" altLang="zh-TW" dirty="0"/>
              <a:t>from </a:t>
            </a:r>
            <a:r>
              <a:rPr lang="en-US" altLang="zh-TW" dirty="0" err="1"/>
              <a:t>mysite.views</a:t>
            </a:r>
            <a:r>
              <a:rPr lang="en-US" altLang="zh-TW" dirty="0"/>
              <a:t> import </a:t>
            </a:r>
            <a:r>
              <a:rPr lang="en-US" altLang="zh-TW" dirty="0">
                <a:solidFill>
                  <a:srgbClr val="FF0000"/>
                </a:solidFill>
              </a:rPr>
              <a:t>about</a:t>
            </a:r>
          </a:p>
          <a:p>
            <a:pPr marL="594360" lvl="2" indent="0">
              <a:buNone/>
            </a:pPr>
            <a:r>
              <a:rPr lang="en-US" altLang="zh-TW" dirty="0">
                <a:solidFill>
                  <a:srgbClr val="FF0000"/>
                </a:solidFill>
              </a:rPr>
              <a:t>path('about/', about),</a:t>
            </a:r>
          </a:p>
          <a:p>
            <a:pPr lvl="1"/>
            <a:r>
              <a:rPr lang="zh-TW" altLang="zh-TW" dirty="0"/>
              <a:t>然後在</a:t>
            </a:r>
            <a:r>
              <a:rPr lang="en-US" altLang="zh-TW" sz="3300" dirty="0">
                <a:solidFill>
                  <a:srgbClr val="FF0000"/>
                </a:solidFill>
              </a:rPr>
              <a:t>views.py</a:t>
            </a:r>
            <a:r>
              <a:rPr lang="zh-TW" altLang="zh-TW" dirty="0"/>
              <a:t>中編寫一個函數，透過</a:t>
            </a:r>
            <a:r>
              <a:rPr lang="en-US" altLang="zh-TW" dirty="0" err="1"/>
              <a:t>HttpResponse</a:t>
            </a:r>
            <a:r>
              <a:rPr lang="zh-TW" altLang="zh-TW" dirty="0"/>
              <a:t>傳遞出想要顯示的資料</a:t>
            </a:r>
            <a:endParaRPr lang="en-US" altLang="zh-TW" dirty="0"/>
          </a:p>
          <a:p>
            <a:pPr marL="594360" lvl="2" indent="0">
              <a:buNone/>
            </a:pPr>
            <a:r>
              <a:rPr lang="en-US" altLang="zh-TW" dirty="0"/>
              <a:t>from </a:t>
            </a:r>
            <a:r>
              <a:rPr lang="en-US" altLang="zh-TW" dirty="0" err="1"/>
              <a:t>djanto.http</a:t>
            </a:r>
            <a:r>
              <a:rPr lang="en-US" altLang="zh-TW" dirty="0"/>
              <a:t> </a:t>
            </a:r>
            <a:r>
              <a:rPr lang="en-US" altLang="zh-TW" dirty="0">
                <a:solidFill>
                  <a:srgbClr val="FF0000"/>
                </a:solidFill>
              </a:rPr>
              <a:t>import </a:t>
            </a:r>
            <a:r>
              <a:rPr lang="en-US" altLang="zh-TW" dirty="0" err="1">
                <a:solidFill>
                  <a:srgbClr val="FF0000"/>
                </a:solidFill>
              </a:rPr>
              <a:t>HttpResponse</a:t>
            </a:r>
            <a:endParaRPr lang="en-US" altLang="zh-TW" dirty="0">
              <a:solidFill>
                <a:srgbClr val="FF0000"/>
              </a:solidFill>
            </a:endParaRPr>
          </a:p>
          <a:p>
            <a:pPr marL="594360" lvl="2" indent="0">
              <a:buNone/>
            </a:pPr>
            <a:endParaRPr lang="en-US" altLang="zh-TW" dirty="0">
              <a:solidFill>
                <a:srgbClr val="FF0000"/>
              </a:solidFill>
            </a:endParaRPr>
          </a:p>
          <a:p>
            <a:pPr marL="594360" lvl="2" indent="0">
              <a:buNone/>
            </a:pPr>
            <a:r>
              <a:rPr lang="en-US" altLang="zh-TW" dirty="0">
                <a:solidFill>
                  <a:srgbClr val="FF0000"/>
                </a:solidFill>
              </a:rPr>
              <a:t>def about</a:t>
            </a:r>
            <a:r>
              <a:rPr lang="en-US" altLang="zh-TW" dirty="0"/>
              <a:t>(request):</a:t>
            </a:r>
          </a:p>
          <a:p>
            <a:pPr marL="594360" lvl="2" indent="0">
              <a:buNone/>
            </a:pPr>
            <a:r>
              <a:rPr lang="en-US" altLang="zh-TW" dirty="0"/>
              <a:t>    </a:t>
            </a:r>
            <a:r>
              <a:rPr lang="en-US" altLang="zh-TW" dirty="0">
                <a:solidFill>
                  <a:srgbClr val="FF0000"/>
                </a:solidFill>
              </a:rPr>
              <a:t>html</a:t>
            </a:r>
            <a:r>
              <a:rPr lang="en-US" altLang="zh-TW" dirty="0"/>
              <a:t> = '''&lt;!DOCTYPE html&gt;</a:t>
            </a:r>
          </a:p>
          <a:p>
            <a:pPr marL="594360" lvl="2" indent="0">
              <a:buNone/>
            </a:pPr>
            <a:r>
              <a:rPr lang="en-US" altLang="zh-TW" dirty="0"/>
              <a:t>&lt;html&gt;</a:t>
            </a:r>
          </a:p>
          <a:p>
            <a:pPr marL="594360" lvl="2" indent="0">
              <a:buNone/>
            </a:pPr>
            <a:r>
              <a:rPr lang="en-US" altLang="zh-TW" dirty="0"/>
              <a:t>&lt;head&gt;&lt;title&gt;About Myself&lt;/title&gt;&lt;/head&gt;</a:t>
            </a:r>
          </a:p>
          <a:p>
            <a:pPr marL="594360" lvl="2" indent="0">
              <a:buNone/>
            </a:pPr>
            <a:r>
              <a:rPr lang="en-US" altLang="zh-TW" dirty="0"/>
              <a:t>&lt;body&gt;&lt;h2&gt;Somebody&lt;/h2&gt;&lt;</a:t>
            </a:r>
            <a:r>
              <a:rPr lang="en-US" altLang="zh-TW" dirty="0" err="1"/>
              <a:t>hr</a:t>
            </a:r>
            <a:r>
              <a:rPr lang="en-US" altLang="zh-TW" dirty="0"/>
              <a:t>&gt;</a:t>
            </a:r>
          </a:p>
          <a:p>
            <a:pPr marL="594360" lvl="2" indent="0">
              <a:buNone/>
            </a:pPr>
            <a:r>
              <a:rPr lang="en-US" altLang="zh-TW" dirty="0"/>
              <a:t>&lt;p&gt;Hi, I am </a:t>
            </a:r>
            <a:r>
              <a:rPr lang="en-US" altLang="zh-TW" dirty="0" err="1"/>
              <a:t>xxxxx</a:t>
            </a:r>
            <a:r>
              <a:rPr lang="en-US" altLang="zh-TW" dirty="0"/>
              <a:t>. Nice to meet you!&lt;/p&gt;</a:t>
            </a:r>
          </a:p>
          <a:p>
            <a:pPr marL="594360" lvl="2" indent="0">
              <a:buNone/>
            </a:pPr>
            <a:r>
              <a:rPr lang="en-US" altLang="zh-TW" dirty="0"/>
              <a:t>&lt;/body&gt;</a:t>
            </a:r>
          </a:p>
          <a:p>
            <a:pPr marL="594360" lvl="2" indent="0">
              <a:buNone/>
            </a:pPr>
            <a:r>
              <a:rPr lang="en-US" altLang="zh-TW" dirty="0"/>
              <a:t>&lt;/html&gt;</a:t>
            </a:r>
          </a:p>
          <a:p>
            <a:pPr marL="594360" lvl="2" indent="0">
              <a:buNone/>
            </a:pPr>
            <a:r>
              <a:rPr lang="en-US" altLang="zh-TW" dirty="0"/>
              <a:t>'''</a:t>
            </a:r>
          </a:p>
          <a:p>
            <a:pPr marL="594360" lvl="2" indent="0">
              <a:buNone/>
            </a:pPr>
            <a:r>
              <a:rPr lang="en-US" altLang="zh-TW" dirty="0"/>
              <a:t> return </a:t>
            </a:r>
            <a:r>
              <a:rPr lang="en-US" altLang="zh-TW" dirty="0" err="1">
                <a:solidFill>
                  <a:srgbClr val="FF0000"/>
                </a:solidFill>
              </a:rPr>
              <a:t>HttpResponse</a:t>
            </a:r>
            <a:r>
              <a:rPr lang="en-US" altLang="zh-TW" dirty="0"/>
              <a:t>(html)    </a:t>
            </a:r>
          </a:p>
        </p:txBody>
      </p:sp>
    </p:spTree>
    <p:extLst>
      <p:ext uri="{BB962C8B-B14F-4D97-AF65-F5344CB8AC3E}">
        <p14:creationId xmlns:p14="http://schemas.microsoft.com/office/powerpoint/2010/main" val="395802150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E702FAC-9F9C-1489-DDCE-F5C88705E756}"/>
              </a:ext>
            </a:extLst>
          </p:cNvPr>
          <p:cNvSpPr>
            <a:spLocks noGrp="1"/>
          </p:cNvSpPr>
          <p:nvPr>
            <p:ph type="title"/>
          </p:nvPr>
        </p:nvSpPr>
        <p:spPr/>
        <p:txBody>
          <a:bodyPr/>
          <a:lstStyle/>
          <a:p>
            <a:r>
              <a:rPr lang="zh-TW" altLang="en-US" dirty="0"/>
              <a:t>使用</a:t>
            </a:r>
            <a:r>
              <a:rPr lang="en-US" altLang="zh-TW" dirty="0" err="1"/>
              <a:t>HttpResponse</a:t>
            </a:r>
            <a:r>
              <a:rPr lang="zh-TW" altLang="en-US" dirty="0"/>
              <a:t>執行的畫面</a:t>
            </a:r>
          </a:p>
        </p:txBody>
      </p:sp>
      <p:sp>
        <p:nvSpPr>
          <p:cNvPr id="3" name="投影片編號版面配置區 2">
            <a:extLst>
              <a:ext uri="{FF2B5EF4-FFF2-40B4-BE49-F238E27FC236}">
                <a16:creationId xmlns:a16="http://schemas.microsoft.com/office/drawing/2014/main" id="{211F0FD0-6C9B-8F80-95A5-DFAC25F152F5}"/>
              </a:ext>
            </a:extLst>
          </p:cNvPr>
          <p:cNvSpPr>
            <a:spLocks noGrp="1"/>
          </p:cNvSpPr>
          <p:nvPr>
            <p:ph type="sldNum" sz="quarter" idx="12"/>
          </p:nvPr>
        </p:nvSpPr>
        <p:spPr/>
        <p:txBody>
          <a:bodyPr/>
          <a:lstStyle/>
          <a:p>
            <a:fld id="{369E457D-EE12-4164-8E32-9DDD40A95892}" type="slidenum">
              <a:rPr lang="zh-TW" altLang="en-US" smtClean="0"/>
              <a:pPr/>
              <a:t>49</a:t>
            </a:fld>
            <a:endParaRPr lang="zh-TW" altLang="en-US"/>
          </a:p>
        </p:txBody>
      </p:sp>
      <p:pic>
        <p:nvPicPr>
          <p:cNvPr id="5" name="內容版面配置區 4" descr="一張含有 文字 的圖片&#10;&#10;自動產生的描述">
            <a:extLst>
              <a:ext uri="{FF2B5EF4-FFF2-40B4-BE49-F238E27FC236}">
                <a16:creationId xmlns:a16="http://schemas.microsoft.com/office/drawing/2014/main" id="{D771478D-A979-272C-F341-A08EDA19928F}"/>
              </a:ext>
            </a:extLst>
          </p:cNvPr>
          <p:cNvPicPr>
            <a:picLocks noGrp="1" noChangeAspect="1"/>
          </p:cNvPicPr>
          <p:nvPr>
            <p:ph sz="quarter" idx="1"/>
          </p:nvPr>
        </p:nvPicPr>
        <p:blipFill>
          <a:blip r:embed="rId2"/>
          <a:stretch>
            <a:fillRect/>
          </a:stretch>
        </p:blipFill>
        <p:spPr>
          <a:xfrm>
            <a:off x="301752" y="2780928"/>
            <a:ext cx="8403971" cy="2880320"/>
          </a:xfrm>
          <a:prstGeom prst="rect">
            <a:avLst/>
          </a:prstGeom>
        </p:spPr>
      </p:pic>
    </p:spTree>
    <p:extLst>
      <p:ext uri="{BB962C8B-B14F-4D97-AF65-F5344CB8AC3E}">
        <p14:creationId xmlns:p14="http://schemas.microsoft.com/office/powerpoint/2010/main" val="39085515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D21EB72-4468-DC00-3CDE-80BA01723321}"/>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1637EFD8-38EE-875F-56D5-CFB4F16E1AAE}"/>
              </a:ext>
            </a:extLst>
          </p:cNvPr>
          <p:cNvSpPr>
            <a:spLocks noGrp="1"/>
          </p:cNvSpPr>
          <p:nvPr>
            <p:ph type="title"/>
          </p:nvPr>
        </p:nvSpPr>
        <p:spPr/>
        <p:txBody>
          <a:bodyPr/>
          <a:lstStyle/>
          <a:p>
            <a:r>
              <a:rPr lang="zh-TW" altLang="en-US" dirty="0"/>
              <a:t>使用</a:t>
            </a:r>
            <a:r>
              <a:rPr lang="en-US" altLang="zh-TW" dirty="0" err="1"/>
              <a:t>HttpResponse</a:t>
            </a:r>
            <a:r>
              <a:rPr lang="zh-TW" altLang="en-US" dirty="0"/>
              <a:t>執行的畫面</a:t>
            </a:r>
          </a:p>
        </p:txBody>
      </p:sp>
      <p:sp>
        <p:nvSpPr>
          <p:cNvPr id="3" name="投影片編號版面配置區 2">
            <a:extLst>
              <a:ext uri="{FF2B5EF4-FFF2-40B4-BE49-F238E27FC236}">
                <a16:creationId xmlns:a16="http://schemas.microsoft.com/office/drawing/2014/main" id="{987A1611-255D-C917-9B5A-0E70CADB0605}"/>
              </a:ext>
            </a:extLst>
          </p:cNvPr>
          <p:cNvSpPr>
            <a:spLocks noGrp="1"/>
          </p:cNvSpPr>
          <p:nvPr>
            <p:ph type="sldNum" sz="quarter" idx="12"/>
          </p:nvPr>
        </p:nvSpPr>
        <p:spPr/>
        <p:txBody>
          <a:bodyPr/>
          <a:lstStyle/>
          <a:p>
            <a:fld id="{369E457D-EE12-4164-8E32-9DDD40A95892}" type="slidenum">
              <a:rPr lang="zh-TW" altLang="en-US" smtClean="0"/>
              <a:pPr/>
              <a:t>50</a:t>
            </a:fld>
            <a:endParaRPr lang="zh-TW" altLang="en-US"/>
          </a:p>
        </p:txBody>
      </p:sp>
      <p:pic>
        <p:nvPicPr>
          <p:cNvPr id="8" name="內容版面配置區 7">
            <a:extLst>
              <a:ext uri="{FF2B5EF4-FFF2-40B4-BE49-F238E27FC236}">
                <a16:creationId xmlns:a16="http://schemas.microsoft.com/office/drawing/2014/main" id="{D357FBD9-78B5-5BAA-4D23-51765FDB8462}"/>
              </a:ext>
            </a:extLst>
          </p:cNvPr>
          <p:cNvPicPr>
            <a:picLocks noGrp="1" noChangeAspect="1"/>
          </p:cNvPicPr>
          <p:nvPr>
            <p:ph sz="quarter" idx="1"/>
          </p:nvPr>
        </p:nvPicPr>
        <p:blipFill>
          <a:blip r:embed="rId2"/>
          <a:stretch>
            <a:fillRect/>
          </a:stretch>
        </p:blipFill>
        <p:spPr>
          <a:xfrm>
            <a:off x="852765" y="2836726"/>
            <a:ext cx="7401958" cy="1952898"/>
          </a:xfrm>
        </p:spPr>
      </p:pic>
    </p:spTree>
    <p:extLst>
      <p:ext uri="{BB962C8B-B14F-4D97-AF65-F5344CB8AC3E}">
        <p14:creationId xmlns:p14="http://schemas.microsoft.com/office/powerpoint/2010/main" val="405926027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Template</a:t>
            </a:r>
            <a:r>
              <a:rPr lang="zh-TW" altLang="zh-TW" dirty="0"/>
              <a:t>簡介</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51</a:t>
            </a:fld>
            <a:endParaRPr lang="zh-TW" altLang="en-US"/>
          </a:p>
        </p:txBody>
      </p:sp>
      <p:sp>
        <p:nvSpPr>
          <p:cNvPr id="4" name="內容版面配置區 3"/>
          <p:cNvSpPr>
            <a:spLocks noGrp="1"/>
          </p:cNvSpPr>
          <p:nvPr>
            <p:ph sz="quarter" idx="1"/>
          </p:nvPr>
        </p:nvSpPr>
        <p:spPr/>
        <p:txBody>
          <a:bodyPr/>
          <a:lstStyle/>
          <a:p>
            <a:r>
              <a:rPr lang="zh-TW" altLang="zh-TW" dirty="0"/>
              <a:t>建立專業網站，一定要使用進階功能的樣板渲染方法。</a:t>
            </a:r>
            <a:endParaRPr lang="en-US" altLang="zh-TW" dirty="0"/>
          </a:p>
          <a:p>
            <a:r>
              <a:rPr lang="zh-TW" altLang="en-US" dirty="0"/>
              <a:t>主流的方法是</a:t>
            </a:r>
            <a:r>
              <a:rPr lang="zh-TW" altLang="zh-TW" dirty="0"/>
              <a:t>把</a:t>
            </a:r>
            <a:r>
              <a:rPr lang="en-US" altLang="zh-TW" dirty="0"/>
              <a:t>HTML</a:t>
            </a:r>
            <a:r>
              <a:rPr lang="zh-TW" altLang="zh-TW" dirty="0"/>
              <a:t>檔案另外存成樣板檔案，然後把想要顯示在網頁的資料另外以變數的方式傳遞給渲染器，讓渲染器根據變數的內容和指定的樣板檔案做整合，再把結果輸出給網頁伺服器。</a:t>
            </a:r>
          </a:p>
        </p:txBody>
      </p:sp>
    </p:spTree>
    <p:extLst>
      <p:ext uri="{BB962C8B-B14F-4D97-AF65-F5344CB8AC3E}">
        <p14:creationId xmlns:p14="http://schemas.microsoft.com/office/powerpoint/2010/main" val="17412742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zh-TW" altLang="zh-TW" dirty="0"/>
              <a:t>建立</a:t>
            </a:r>
            <a:r>
              <a:rPr lang="en-US" altLang="zh-TW" dirty="0"/>
              <a:t>template</a:t>
            </a:r>
            <a:r>
              <a:rPr lang="zh-TW" altLang="zh-TW" dirty="0"/>
              <a:t>資料夾與檔案</a:t>
            </a:r>
            <a:br>
              <a:rPr lang="en-US" altLang="zh-TW" dirty="0"/>
            </a:br>
            <a:r>
              <a:rPr lang="zh-TW" altLang="en-US" sz="4000" dirty="0">
                <a:solidFill>
                  <a:srgbClr val="FF0000"/>
                </a:solidFill>
              </a:rPr>
              <a:t>記得在</a:t>
            </a:r>
            <a:r>
              <a:rPr lang="en-US" altLang="zh-TW" sz="4000" dirty="0">
                <a:solidFill>
                  <a:srgbClr val="FF0000"/>
                </a:solidFill>
              </a:rPr>
              <a:t>view</a:t>
            </a:r>
            <a:r>
              <a:rPr lang="zh-TW" altLang="en-US" sz="4000" dirty="0">
                <a:solidFill>
                  <a:srgbClr val="FF0000"/>
                </a:solidFill>
              </a:rPr>
              <a:t>改成</a:t>
            </a:r>
            <a:r>
              <a:rPr lang="en-US" altLang="zh-TW" sz="4000" dirty="0">
                <a:solidFill>
                  <a:srgbClr val="FF0000"/>
                </a:solidFill>
              </a:rPr>
              <a:t>render</a:t>
            </a:r>
            <a:r>
              <a:rPr lang="zh-TW" altLang="en-US" sz="4000" dirty="0">
                <a:solidFill>
                  <a:srgbClr val="FF0000"/>
                </a:solidFill>
              </a:rPr>
              <a:t>，</a:t>
            </a:r>
            <a:r>
              <a:rPr lang="zh-TW" altLang="en-US" dirty="0">
                <a:solidFill>
                  <a:srgbClr val="FF0000"/>
                </a:solidFill>
              </a:rPr>
              <a:t>重新</a:t>
            </a:r>
            <a:r>
              <a:rPr lang="en-US" altLang="zh-TW" dirty="0">
                <a:solidFill>
                  <a:srgbClr val="FF0000"/>
                </a:solidFill>
              </a:rPr>
              <a:t>run server</a:t>
            </a:r>
            <a:endParaRPr lang="zh-TW" altLang="en-US"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52</a:t>
            </a:fld>
            <a:endParaRPr lang="zh-TW" altLang="en-US"/>
          </a:p>
        </p:txBody>
      </p:sp>
      <p:sp>
        <p:nvSpPr>
          <p:cNvPr id="4" name="內容版面配置區 3"/>
          <p:cNvSpPr>
            <a:spLocks noGrp="1"/>
          </p:cNvSpPr>
          <p:nvPr>
            <p:ph sz="quarter" idx="1"/>
          </p:nvPr>
        </p:nvSpPr>
        <p:spPr/>
        <p:txBody>
          <a:bodyPr>
            <a:normAutofit fontScale="77500" lnSpcReduction="20000"/>
          </a:bodyPr>
          <a:lstStyle/>
          <a:p>
            <a:r>
              <a:rPr lang="zh-TW" altLang="zh-TW" dirty="0"/>
              <a:t>在使用之前，要先在網頁中建立放置樣板檔案的資料夾，並在</a:t>
            </a:r>
            <a:r>
              <a:rPr lang="en-US" altLang="zh-TW" dirty="0"/>
              <a:t>settings.py</a:t>
            </a:r>
            <a:r>
              <a:rPr lang="zh-TW" altLang="zh-TW" dirty="0"/>
              <a:t>中設定此資料夾的存取住址</a:t>
            </a:r>
            <a:endParaRPr lang="en-US" altLang="zh-TW" dirty="0"/>
          </a:p>
          <a:p>
            <a:pPr marL="274320" lvl="1" indent="0">
              <a:buNone/>
            </a:pPr>
            <a:r>
              <a:rPr lang="en-US" altLang="zh-TW" dirty="0"/>
              <a:t>TEMPLATES = [</a:t>
            </a:r>
          </a:p>
          <a:p>
            <a:pPr marL="274320" lvl="1" indent="0">
              <a:buNone/>
            </a:pPr>
            <a:r>
              <a:rPr lang="en-US" altLang="zh-TW" dirty="0"/>
              <a:t>    {</a:t>
            </a:r>
          </a:p>
          <a:p>
            <a:pPr marL="274320" lvl="1" indent="0">
              <a:buNone/>
            </a:pPr>
            <a:r>
              <a:rPr lang="en-US" altLang="zh-TW" dirty="0"/>
              <a:t>        'BACKEND': '</a:t>
            </a:r>
            <a:r>
              <a:rPr lang="en-US" altLang="zh-TW" dirty="0" err="1"/>
              <a:t>django.template.backends.django.DjangoTemplates</a:t>
            </a:r>
            <a:r>
              <a:rPr lang="en-US" altLang="zh-TW" dirty="0"/>
              <a:t>',</a:t>
            </a:r>
          </a:p>
          <a:p>
            <a:pPr marL="274320" lvl="1" indent="0">
              <a:buNone/>
            </a:pPr>
            <a:r>
              <a:rPr lang="en-US" altLang="zh-TW" dirty="0"/>
              <a:t>        </a:t>
            </a:r>
            <a:r>
              <a:rPr lang="en-US" altLang="zh-TW" dirty="0">
                <a:solidFill>
                  <a:srgbClr val="FF0000"/>
                </a:solidFill>
              </a:rPr>
              <a:t>'DIRS': [BASE_DIR / 'templates'],</a:t>
            </a:r>
          </a:p>
          <a:p>
            <a:pPr marL="274320" lvl="1" indent="0">
              <a:buNone/>
            </a:pPr>
            <a:r>
              <a:rPr lang="en-US" altLang="zh-TW" dirty="0">
                <a:solidFill>
                  <a:srgbClr val="FF0000"/>
                </a:solidFill>
              </a:rPr>
              <a:t>        'APP_DIRS': True,</a:t>
            </a:r>
          </a:p>
          <a:p>
            <a:pPr marL="274320" lvl="1" indent="0">
              <a:buNone/>
            </a:pPr>
            <a:r>
              <a:rPr lang="en-US" altLang="zh-TW" dirty="0"/>
              <a:t>        'OPTIONS': {</a:t>
            </a:r>
          </a:p>
          <a:p>
            <a:pPr marL="274320" lvl="1" indent="0">
              <a:buNone/>
            </a:pPr>
            <a:r>
              <a:rPr lang="en-US" altLang="zh-TW" dirty="0"/>
              <a:t>            '</a:t>
            </a:r>
            <a:r>
              <a:rPr lang="en-US" altLang="zh-TW" dirty="0" err="1"/>
              <a:t>context_processors</a:t>
            </a:r>
            <a:r>
              <a:rPr lang="en-US" altLang="zh-TW" dirty="0"/>
              <a:t>': [</a:t>
            </a:r>
          </a:p>
          <a:p>
            <a:pPr marL="274320" lvl="1" indent="0">
              <a:buNone/>
            </a:pPr>
            <a:r>
              <a:rPr lang="en-US" altLang="zh-TW" dirty="0"/>
              <a:t>                '</a:t>
            </a:r>
            <a:r>
              <a:rPr lang="en-US" altLang="zh-TW" dirty="0" err="1"/>
              <a:t>django.template.context_processors.debug</a:t>
            </a:r>
            <a:r>
              <a:rPr lang="en-US" altLang="zh-TW" dirty="0"/>
              <a:t>',</a:t>
            </a:r>
          </a:p>
          <a:p>
            <a:pPr marL="274320" lvl="1" indent="0">
              <a:buNone/>
            </a:pPr>
            <a:r>
              <a:rPr lang="en-US" altLang="zh-TW" dirty="0"/>
              <a:t>                '</a:t>
            </a:r>
            <a:r>
              <a:rPr lang="en-US" altLang="zh-TW" dirty="0" err="1"/>
              <a:t>django.template.context_processors.request</a:t>
            </a:r>
            <a:r>
              <a:rPr lang="en-US" altLang="zh-TW" dirty="0"/>
              <a:t>',</a:t>
            </a:r>
          </a:p>
          <a:p>
            <a:pPr marL="274320" lvl="1" indent="0">
              <a:buNone/>
            </a:pPr>
            <a:r>
              <a:rPr lang="en-US" altLang="zh-TW" dirty="0"/>
              <a:t>                '</a:t>
            </a:r>
            <a:r>
              <a:rPr lang="en-US" altLang="zh-TW" dirty="0" err="1"/>
              <a:t>django.contrib.auth.context_processors.auth</a:t>
            </a:r>
            <a:r>
              <a:rPr lang="en-US" altLang="zh-TW" dirty="0"/>
              <a:t>',</a:t>
            </a:r>
          </a:p>
          <a:p>
            <a:pPr marL="274320" lvl="1" indent="0">
              <a:buNone/>
            </a:pPr>
            <a:r>
              <a:rPr lang="en-US" altLang="zh-TW" dirty="0"/>
              <a:t>                '</a:t>
            </a:r>
            <a:r>
              <a:rPr lang="en-US" altLang="zh-TW" dirty="0" err="1"/>
              <a:t>django.contrib.messages.context_processors.messages</a:t>
            </a:r>
            <a:r>
              <a:rPr lang="en-US" altLang="zh-TW" dirty="0"/>
              <a:t>',</a:t>
            </a:r>
          </a:p>
          <a:p>
            <a:pPr marL="274320" lvl="1" indent="0">
              <a:buNone/>
            </a:pPr>
            <a:r>
              <a:rPr lang="en-US" altLang="zh-TW" dirty="0"/>
              <a:t>            ],</a:t>
            </a:r>
          </a:p>
          <a:p>
            <a:pPr marL="274320" lvl="1" indent="0">
              <a:buNone/>
            </a:pPr>
            <a:r>
              <a:rPr lang="en-US" altLang="zh-TW" dirty="0"/>
              <a:t>        },</a:t>
            </a:r>
          </a:p>
          <a:p>
            <a:pPr marL="274320" lvl="1" indent="0">
              <a:buNone/>
            </a:pPr>
            <a:r>
              <a:rPr lang="en-US" altLang="zh-TW" dirty="0"/>
              <a:t>    },</a:t>
            </a:r>
          </a:p>
          <a:p>
            <a:pPr marL="274320" lvl="1" indent="0">
              <a:buNone/>
            </a:pPr>
            <a:r>
              <a:rPr lang="en-US" altLang="zh-TW" dirty="0"/>
              <a:t>]</a:t>
            </a:r>
          </a:p>
        </p:txBody>
      </p:sp>
    </p:spTree>
    <p:extLst>
      <p:ext uri="{BB962C8B-B14F-4D97-AF65-F5344CB8AC3E}">
        <p14:creationId xmlns:p14="http://schemas.microsoft.com/office/powerpoint/2010/main" val="217913081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2777277-FBFC-EC03-77B1-DCCDB738F7CE}"/>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DDF18ABD-A14A-A9C1-7C2C-E7C9D81626F9}"/>
              </a:ext>
            </a:extLst>
          </p:cNvPr>
          <p:cNvSpPr>
            <a:spLocks noGrp="1"/>
          </p:cNvSpPr>
          <p:nvPr>
            <p:ph type="title"/>
          </p:nvPr>
        </p:nvSpPr>
        <p:spPr/>
        <p:txBody>
          <a:bodyPr/>
          <a:lstStyle/>
          <a:p>
            <a:r>
              <a:rPr lang="zh-TW" altLang="zh-TW" dirty="0"/>
              <a:t>建立</a:t>
            </a:r>
            <a:r>
              <a:rPr lang="en-US" altLang="zh-TW" dirty="0"/>
              <a:t>template</a:t>
            </a:r>
            <a:r>
              <a:rPr lang="zh-TW" altLang="zh-TW" dirty="0"/>
              <a:t>資料夾與檔案</a:t>
            </a:r>
            <a:endParaRPr lang="zh-TW" altLang="en-US" dirty="0"/>
          </a:p>
        </p:txBody>
      </p:sp>
      <p:sp>
        <p:nvSpPr>
          <p:cNvPr id="3" name="投影片編號版面配置區 2">
            <a:extLst>
              <a:ext uri="{FF2B5EF4-FFF2-40B4-BE49-F238E27FC236}">
                <a16:creationId xmlns:a16="http://schemas.microsoft.com/office/drawing/2014/main" id="{C05F5815-9005-91A8-CFE4-A1EAD0C6B19A}"/>
              </a:ext>
            </a:extLst>
          </p:cNvPr>
          <p:cNvSpPr>
            <a:spLocks noGrp="1"/>
          </p:cNvSpPr>
          <p:nvPr>
            <p:ph type="sldNum" sz="quarter" idx="12"/>
          </p:nvPr>
        </p:nvSpPr>
        <p:spPr/>
        <p:txBody>
          <a:bodyPr/>
          <a:lstStyle/>
          <a:p>
            <a:fld id="{369E457D-EE12-4164-8E32-9DDD40A95892}" type="slidenum">
              <a:rPr lang="zh-TW" altLang="en-US" smtClean="0"/>
              <a:pPr/>
              <a:t>53</a:t>
            </a:fld>
            <a:endParaRPr lang="zh-TW" altLang="en-US"/>
          </a:p>
        </p:txBody>
      </p:sp>
      <p:pic>
        <p:nvPicPr>
          <p:cNvPr id="8" name="圖片 7">
            <a:extLst>
              <a:ext uri="{FF2B5EF4-FFF2-40B4-BE49-F238E27FC236}">
                <a16:creationId xmlns:a16="http://schemas.microsoft.com/office/drawing/2014/main" id="{6D5A9066-0DBB-166E-D11E-FAB6585056BD}"/>
              </a:ext>
            </a:extLst>
          </p:cNvPr>
          <p:cNvPicPr>
            <a:picLocks noChangeAspect="1"/>
          </p:cNvPicPr>
          <p:nvPr/>
        </p:nvPicPr>
        <p:blipFill>
          <a:blip r:embed="rId3">
            <a:extLst>
              <a:ext uri="{28A0092B-C50C-407E-A947-70E740481C1C}">
                <a14:useLocalDpi xmlns:a14="http://schemas.microsoft.com/office/drawing/2010/main" val="0"/>
              </a:ext>
            </a:extLst>
          </a:blip>
          <a:srcRect t="17316"/>
          <a:stretch>
            <a:fillRect/>
          </a:stretch>
        </p:blipFill>
        <p:spPr>
          <a:xfrm>
            <a:off x="-12128" y="0"/>
            <a:ext cx="9144000" cy="3717032"/>
          </a:xfrm>
          <a:prstGeom prst="rect">
            <a:avLst/>
          </a:prstGeom>
        </p:spPr>
      </p:pic>
      <p:pic>
        <p:nvPicPr>
          <p:cNvPr id="10" name="圖片 9">
            <a:extLst>
              <a:ext uri="{FF2B5EF4-FFF2-40B4-BE49-F238E27FC236}">
                <a16:creationId xmlns:a16="http://schemas.microsoft.com/office/drawing/2014/main" id="{E76EFF81-41F5-77B8-C5AC-AA094FC2226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3573016"/>
            <a:ext cx="9144000" cy="3600400"/>
          </a:xfrm>
          <a:prstGeom prst="rect">
            <a:avLst/>
          </a:prstGeom>
        </p:spPr>
      </p:pic>
    </p:spTree>
    <p:extLst>
      <p:ext uri="{BB962C8B-B14F-4D97-AF65-F5344CB8AC3E}">
        <p14:creationId xmlns:p14="http://schemas.microsoft.com/office/powerpoint/2010/main" val="21907624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建立</a:t>
            </a:r>
            <a:r>
              <a:rPr lang="en-US" altLang="zh-TW" dirty="0"/>
              <a:t>template</a:t>
            </a:r>
            <a:r>
              <a:rPr lang="zh-TW" altLang="zh-TW" dirty="0"/>
              <a:t>資料夾與檔案</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54</a:t>
            </a:fld>
            <a:endParaRPr lang="zh-TW" altLang="en-US"/>
          </a:p>
        </p:txBody>
      </p:sp>
      <p:sp>
        <p:nvSpPr>
          <p:cNvPr id="4" name="內容版面配置區 3"/>
          <p:cNvSpPr>
            <a:spLocks noGrp="1"/>
          </p:cNvSpPr>
          <p:nvPr>
            <p:ph sz="quarter" idx="1"/>
          </p:nvPr>
        </p:nvSpPr>
        <p:spPr>
          <a:xfrm>
            <a:off x="301752" y="1527048"/>
            <a:ext cx="8534400" cy="5142312"/>
          </a:xfrm>
        </p:spPr>
        <p:txBody>
          <a:bodyPr>
            <a:normAutofit fontScale="85000" lnSpcReduction="20000"/>
          </a:bodyPr>
          <a:lstStyle/>
          <a:p>
            <a:r>
              <a:rPr lang="zh-TW" altLang="zh-TW" dirty="0"/>
              <a:t>在</a:t>
            </a:r>
            <a:r>
              <a:rPr lang="en-US" altLang="zh-TW" dirty="0"/>
              <a:t>templates</a:t>
            </a:r>
            <a:r>
              <a:rPr lang="zh-TW" altLang="zh-TW" dirty="0"/>
              <a:t>資料夾中建立一個</a:t>
            </a:r>
            <a:r>
              <a:rPr lang="en-US" altLang="zh-TW" dirty="0">
                <a:solidFill>
                  <a:srgbClr val="FF0000"/>
                </a:solidFill>
              </a:rPr>
              <a:t>about.html</a:t>
            </a:r>
            <a:r>
              <a:rPr lang="zh-TW" altLang="zh-TW" dirty="0"/>
              <a:t>檔案，如下所示：</a:t>
            </a:r>
          </a:p>
          <a:p>
            <a:pPr marL="274320" lvl="1" indent="0">
              <a:buNone/>
            </a:pPr>
            <a:r>
              <a:rPr lang="en-US" altLang="zh-TW" dirty="0"/>
              <a:t>&lt;!-- about.html --&gt;</a:t>
            </a:r>
            <a:endParaRPr lang="zh-TW" altLang="zh-TW" dirty="0"/>
          </a:p>
          <a:p>
            <a:pPr marL="274320" lvl="1" indent="0">
              <a:buNone/>
            </a:pPr>
            <a:r>
              <a:rPr lang="en-US" altLang="zh-TW" dirty="0"/>
              <a:t>&lt;!DOCTYPE html&gt;</a:t>
            </a:r>
            <a:endParaRPr lang="zh-TW" altLang="zh-TW" dirty="0"/>
          </a:p>
          <a:p>
            <a:pPr marL="274320" lvl="1" indent="0">
              <a:buNone/>
            </a:pPr>
            <a:r>
              <a:rPr lang="en-US" altLang="zh-TW" dirty="0"/>
              <a:t>&lt;html&gt;</a:t>
            </a:r>
            <a:endParaRPr lang="zh-TW" altLang="zh-TW" dirty="0"/>
          </a:p>
          <a:p>
            <a:pPr marL="274320" lvl="1" indent="0">
              <a:buNone/>
            </a:pPr>
            <a:r>
              <a:rPr lang="en-US" altLang="zh-TW" dirty="0"/>
              <a:t>&lt;head&gt;</a:t>
            </a:r>
            <a:endParaRPr lang="zh-TW" altLang="zh-TW" dirty="0"/>
          </a:p>
          <a:p>
            <a:pPr marL="274320" lvl="1" indent="0">
              <a:buNone/>
            </a:pPr>
            <a:r>
              <a:rPr lang="en-US" altLang="zh-TW" dirty="0"/>
              <a:t>    &lt;meta charset='utf-8'&gt;</a:t>
            </a:r>
            <a:endParaRPr lang="zh-TW" altLang="zh-TW" dirty="0"/>
          </a:p>
          <a:p>
            <a:pPr marL="274320" lvl="1" indent="0">
              <a:buNone/>
            </a:pPr>
            <a:r>
              <a:rPr lang="en-US" altLang="zh-TW" dirty="0"/>
              <a:t>    &lt;title&gt;About Myself&lt;/title&gt;</a:t>
            </a:r>
            <a:endParaRPr lang="zh-TW" altLang="zh-TW" dirty="0"/>
          </a:p>
          <a:p>
            <a:pPr marL="274320" lvl="1" indent="0">
              <a:buNone/>
            </a:pPr>
            <a:r>
              <a:rPr lang="en-US" altLang="zh-TW" dirty="0"/>
              <a:t>&lt;/head&gt;</a:t>
            </a:r>
            <a:endParaRPr lang="zh-TW" altLang="zh-TW" dirty="0"/>
          </a:p>
          <a:p>
            <a:pPr marL="274320" lvl="1" indent="0">
              <a:buNone/>
            </a:pPr>
            <a:r>
              <a:rPr lang="en-US" altLang="zh-TW" dirty="0"/>
              <a:t>&lt;body&gt;</a:t>
            </a:r>
            <a:endParaRPr lang="zh-TW" altLang="zh-TW" dirty="0"/>
          </a:p>
          <a:p>
            <a:pPr marL="274320" lvl="1" indent="0">
              <a:buNone/>
            </a:pPr>
            <a:r>
              <a:rPr lang="en-US" altLang="zh-TW" dirty="0"/>
              <a:t>&lt;h2&gt;Somebody&lt;/h2&gt;</a:t>
            </a:r>
            <a:endParaRPr lang="zh-TW" altLang="zh-TW" dirty="0"/>
          </a:p>
          <a:p>
            <a:pPr marL="274320" lvl="1" indent="0">
              <a:buNone/>
            </a:pPr>
            <a:r>
              <a:rPr lang="en-US" altLang="zh-TW" dirty="0"/>
              <a:t>&lt;</a:t>
            </a:r>
            <a:r>
              <a:rPr lang="en-US" altLang="zh-TW" dirty="0" err="1"/>
              <a:t>hr</a:t>
            </a:r>
            <a:r>
              <a:rPr lang="en-US" altLang="zh-TW" dirty="0"/>
              <a:t>&gt;</a:t>
            </a:r>
            <a:endParaRPr lang="zh-TW" altLang="zh-TW" dirty="0"/>
          </a:p>
          <a:p>
            <a:pPr marL="274320" lvl="1" indent="0">
              <a:buNone/>
            </a:pPr>
            <a:r>
              <a:rPr lang="en-US" altLang="zh-TW" dirty="0"/>
              <a:t>&lt;p&gt;</a:t>
            </a:r>
            <a:endParaRPr lang="zh-TW" altLang="zh-TW" dirty="0"/>
          </a:p>
          <a:p>
            <a:pPr marL="274320" lvl="1" indent="0">
              <a:buNone/>
            </a:pPr>
            <a:r>
              <a:rPr lang="en-US" altLang="zh-TW" dirty="0"/>
              <a:t>Hi, I am </a:t>
            </a:r>
            <a:r>
              <a:rPr lang="en-US" altLang="zh-TW" dirty="0" err="1"/>
              <a:t>xxxxxx</a:t>
            </a:r>
            <a:r>
              <a:rPr lang="en-US" altLang="zh-TW" dirty="0"/>
              <a:t>. Nice to meet you!</a:t>
            </a:r>
            <a:endParaRPr lang="zh-TW" altLang="zh-TW" dirty="0"/>
          </a:p>
          <a:p>
            <a:pPr marL="274320" lvl="1" indent="0">
              <a:buNone/>
            </a:pPr>
            <a:r>
              <a:rPr lang="en-US" altLang="zh-TW" dirty="0"/>
              <a:t>&lt;/p&gt;</a:t>
            </a:r>
            <a:endParaRPr lang="zh-TW" altLang="zh-TW" dirty="0"/>
          </a:p>
          <a:p>
            <a:pPr marL="274320" lvl="1" indent="0">
              <a:buNone/>
            </a:pPr>
            <a:r>
              <a:rPr lang="en-US" altLang="zh-TW" dirty="0">
                <a:solidFill>
                  <a:srgbClr val="FF0000"/>
                </a:solidFill>
              </a:rPr>
              <a:t>&lt;</a:t>
            </a:r>
            <a:r>
              <a:rPr lang="en-US" altLang="zh-TW" dirty="0" err="1">
                <a:solidFill>
                  <a:srgbClr val="FF0000"/>
                </a:solidFill>
              </a:rPr>
              <a:t>em</a:t>
            </a:r>
            <a:r>
              <a:rPr lang="en-US" altLang="zh-TW" dirty="0">
                <a:solidFill>
                  <a:srgbClr val="FF0000"/>
                </a:solidFill>
              </a:rPr>
              <a:t>&gt;</a:t>
            </a:r>
            <a:r>
              <a:rPr lang="zh-TW" altLang="zh-TW" dirty="0">
                <a:solidFill>
                  <a:srgbClr val="FF0000"/>
                </a:solidFill>
              </a:rPr>
              <a:t>今日佳句：</a:t>
            </a:r>
            <a:r>
              <a:rPr lang="en-US" altLang="zh-TW" dirty="0">
                <a:solidFill>
                  <a:srgbClr val="FF0000"/>
                </a:solidFill>
              </a:rPr>
              <a:t>{{ quote }}&lt;/</a:t>
            </a:r>
            <a:r>
              <a:rPr lang="en-US" altLang="zh-TW" dirty="0" err="1">
                <a:solidFill>
                  <a:srgbClr val="FF0000"/>
                </a:solidFill>
              </a:rPr>
              <a:t>em</a:t>
            </a:r>
            <a:r>
              <a:rPr lang="en-US" altLang="zh-TW" dirty="0">
                <a:solidFill>
                  <a:srgbClr val="FF0000"/>
                </a:solidFill>
              </a:rPr>
              <a:t>&gt;</a:t>
            </a:r>
            <a:endParaRPr lang="zh-TW" altLang="zh-TW" dirty="0">
              <a:solidFill>
                <a:srgbClr val="FF0000"/>
              </a:solidFill>
            </a:endParaRPr>
          </a:p>
          <a:p>
            <a:pPr marL="274320" lvl="1" indent="0">
              <a:buNone/>
            </a:pPr>
            <a:r>
              <a:rPr lang="en-US" altLang="zh-TW" dirty="0"/>
              <a:t>&lt;/body&gt;</a:t>
            </a:r>
            <a:endParaRPr lang="zh-TW" altLang="zh-TW" dirty="0"/>
          </a:p>
          <a:p>
            <a:pPr marL="274320" lvl="1" indent="0">
              <a:buNone/>
            </a:pPr>
            <a:r>
              <a:rPr lang="en-US" altLang="zh-TW" dirty="0"/>
              <a:t>&lt;/html&gt;</a:t>
            </a:r>
            <a:endParaRPr lang="zh-TW" altLang="zh-TW" dirty="0"/>
          </a:p>
        </p:txBody>
      </p:sp>
    </p:spTree>
    <p:extLst>
      <p:ext uri="{BB962C8B-B14F-4D97-AF65-F5344CB8AC3E}">
        <p14:creationId xmlns:p14="http://schemas.microsoft.com/office/powerpoint/2010/main" val="36592222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傳遞變數到</a:t>
            </a:r>
            <a:r>
              <a:rPr lang="en-US" altLang="zh-TW" dirty="0"/>
              <a:t>template</a:t>
            </a:r>
            <a:r>
              <a:rPr lang="zh-TW" altLang="zh-TW" dirty="0"/>
              <a:t>檔案中</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55</a:t>
            </a:fld>
            <a:endParaRPr lang="zh-TW" altLang="en-US"/>
          </a:p>
        </p:txBody>
      </p:sp>
      <p:sp>
        <p:nvSpPr>
          <p:cNvPr id="4" name="內容版面配置區 3"/>
          <p:cNvSpPr>
            <a:spLocks noGrp="1"/>
          </p:cNvSpPr>
          <p:nvPr>
            <p:ph sz="quarter" idx="1"/>
          </p:nvPr>
        </p:nvSpPr>
        <p:spPr/>
        <p:txBody>
          <a:bodyPr>
            <a:normAutofit/>
          </a:bodyPr>
          <a:lstStyle/>
          <a:p>
            <a:pPr marL="0" indent="0">
              <a:buNone/>
            </a:pPr>
            <a:r>
              <a:rPr lang="en-US" altLang="zh-TW" sz="2400" dirty="0">
                <a:solidFill>
                  <a:srgbClr val="FF0000"/>
                </a:solidFill>
              </a:rPr>
              <a:t>import random</a:t>
            </a:r>
          </a:p>
          <a:p>
            <a:pPr marL="0" indent="0">
              <a:buNone/>
            </a:pPr>
            <a:r>
              <a:rPr lang="zh-TW" altLang="en-US" sz="2400" dirty="0"/>
              <a:t>（略）</a:t>
            </a:r>
            <a:endParaRPr lang="en-US" altLang="zh-TW" sz="2400" dirty="0"/>
          </a:p>
          <a:p>
            <a:pPr marL="0" indent="0">
              <a:buNone/>
            </a:pPr>
            <a:r>
              <a:rPr lang="en-US" altLang="zh-TW" sz="2400" dirty="0"/>
              <a:t>def about(request):</a:t>
            </a:r>
            <a:endParaRPr lang="zh-TW" altLang="zh-TW" sz="2400" dirty="0"/>
          </a:p>
          <a:p>
            <a:pPr marL="0" indent="0">
              <a:buNone/>
            </a:pPr>
            <a:r>
              <a:rPr lang="en-US" altLang="zh-TW" sz="2400" dirty="0"/>
              <a:t>    quotes = ['</a:t>
            </a:r>
            <a:r>
              <a:rPr lang="zh-TW" altLang="zh-TW" sz="2400" dirty="0"/>
              <a:t>今日事，今日畢</a:t>
            </a:r>
            <a:r>
              <a:rPr lang="en-US" altLang="zh-TW" sz="2400" dirty="0"/>
              <a:t>',</a:t>
            </a:r>
            <a:endParaRPr lang="zh-TW" altLang="zh-TW" sz="2400" dirty="0"/>
          </a:p>
          <a:p>
            <a:pPr marL="0" indent="0">
              <a:buNone/>
            </a:pPr>
            <a:r>
              <a:rPr lang="en-US" altLang="zh-TW" sz="2400" dirty="0"/>
              <a:t>            '</a:t>
            </a:r>
            <a:r>
              <a:rPr lang="zh-TW" altLang="zh-TW" sz="2400" dirty="0"/>
              <a:t>要怎麼收穫，先那麼栽</a:t>
            </a:r>
            <a:r>
              <a:rPr lang="en-US" altLang="zh-TW" sz="2400" dirty="0"/>
              <a:t>',</a:t>
            </a:r>
            <a:endParaRPr lang="zh-TW" altLang="zh-TW" sz="2400" dirty="0"/>
          </a:p>
          <a:p>
            <a:pPr marL="0" indent="0">
              <a:buNone/>
            </a:pPr>
            <a:r>
              <a:rPr lang="en-US" altLang="zh-TW" sz="2400" dirty="0"/>
              <a:t>            '</a:t>
            </a:r>
            <a:r>
              <a:rPr lang="zh-TW" altLang="zh-TW" sz="2400" dirty="0"/>
              <a:t>知識就是力量</a:t>
            </a:r>
            <a:r>
              <a:rPr lang="en-US" altLang="zh-TW" sz="2400" dirty="0"/>
              <a:t>',</a:t>
            </a:r>
            <a:endParaRPr lang="zh-TW" altLang="zh-TW" sz="2400" dirty="0"/>
          </a:p>
          <a:p>
            <a:pPr marL="0" indent="0">
              <a:buNone/>
            </a:pPr>
            <a:r>
              <a:rPr lang="en-US" altLang="zh-TW" sz="2400" dirty="0"/>
              <a:t>            '</a:t>
            </a:r>
            <a:r>
              <a:rPr lang="zh-TW" altLang="zh-TW" sz="2400" dirty="0"/>
              <a:t>一個人的個性就是他的命運</a:t>
            </a:r>
            <a:r>
              <a:rPr lang="en-US" altLang="zh-TW" sz="2400" dirty="0"/>
              <a:t>']</a:t>
            </a:r>
            <a:endParaRPr lang="zh-TW" altLang="zh-TW" sz="2400" dirty="0"/>
          </a:p>
          <a:p>
            <a:pPr marL="0" indent="0">
              <a:buNone/>
            </a:pPr>
            <a:r>
              <a:rPr lang="en-US" altLang="zh-TW" sz="2400" dirty="0"/>
              <a:t>    quote = </a:t>
            </a:r>
            <a:r>
              <a:rPr lang="en-US" altLang="zh-TW" sz="2400" dirty="0" err="1">
                <a:solidFill>
                  <a:srgbClr val="FF0000"/>
                </a:solidFill>
              </a:rPr>
              <a:t>random.choice</a:t>
            </a:r>
            <a:r>
              <a:rPr lang="en-US" altLang="zh-TW" sz="2400" dirty="0"/>
              <a:t>(quotes)</a:t>
            </a:r>
            <a:endParaRPr lang="zh-TW" altLang="zh-TW" sz="2400" dirty="0"/>
          </a:p>
          <a:p>
            <a:pPr marL="0" indent="0">
              <a:buNone/>
            </a:pPr>
            <a:r>
              <a:rPr lang="en-US" altLang="zh-TW" sz="2400" dirty="0"/>
              <a:t>    return render(request, 'about.html', </a:t>
            </a:r>
            <a:r>
              <a:rPr lang="en-US" altLang="zh-TW" sz="2400" dirty="0">
                <a:solidFill>
                  <a:srgbClr val="FF0000"/>
                </a:solidFill>
              </a:rPr>
              <a:t>locals())   </a:t>
            </a:r>
            <a:endParaRPr lang="zh-TW" altLang="zh-TW" sz="2400" dirty="0">
              <a:solidFill>
                <a:srgbClr val="FF0000"/>
              </a:solidFill>
            </a:endParaRPr>
          </a:p>
          <a:p>
            <a:endParaRPr lang="zh-TW" altLang="en-US" sz="2400" dirty="0"/>
          </a:p>
        </p:txBody>
      </p:sp>
      <p:pic>
        <p:nvPicPr>
          <p:cNvPr id="7" name="圖片 6">
            <a:extLst>
              <a:ext uri="{FF2B5EF4-FFF2-40B4-BE49-F238E27FC236}">
                <a16:creationId xmlns:a16="http://schemas.microsoft.com/office/drawing/2014/main" id="{AF0FD90D-449A-9915-3BAF-F5C6B9A27246}"/>
              </a:ext>
            </a:extLst>
          </p:cNvPr>
          <p:cNvPicPr>
            <a:picLocks noChangeAspect="1"/>
          </p:cNvPicPr>
          <p:nvPr/>
        </p:nvPicPr>
        <p:blipFill>
          <a:blip r:embed="rId3"/>
          <a:stretch>
            <a:fillRect/>
          </a:stretch>
        </p:blipFill>
        <p:spPr>
          <a:xfrm>
            <a:off x="5220072" y="1340768"/>
            <a:ext cx="4143953" cy="2172003"/>
          </a:xfrm>
          <a:prstGeom prst="rect">
            <a:avLst/>
          </a:prstGeom>
        </p:spPr>
      </p:pic>
    </p:spTree>
    <p:extLst>
      <p:ext uri="{BB962C8B-B14F-4D97-AF65-F5344CB8AC3E}">
        <p14:creationId xmlns:p14="http://schemas.microsoft.com/office/powerpoint/2010/main" val="240903245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views.py</a:t>
            </a:r>
            <a:r>
              <a:rPr lang="zh-TW" altLang="zh-TW" dirty="0"/>
              <a:t>顯示查詢資料列表</a:t>
            </a:r>
            <a:r>
              <a:rPr lang="en-US" altLang="zh-TW" dirty="0"/>
              <a:t> by render()</a:t>
            </a:r>
            <a:endParaRPr lang="zh-TW" altLang="zh-TW"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56</a:t>
            </a:fld>
            <a:endParaRPr lang="zh-TW" altLang="en-US"/>
          </a:p>
        </p:txBody>
      </p:sp>
      <p:sp>
        <p:nvSpPr>
          <p:cNvPr id="4" name="內容版面配置區 3"/>
          <p:cNvSpPr>
            <a:spLocks noGrp="1"/>
          </p:cNvSpPr>
          <p:nvPr>
            <p:ph sz="quarter" idx="1"/>
          </p:nvPr>
        </p:nvSpPr>
        <p:spPr/>
        <p:txBody>
          <a:bodyPr/>
          <a:lstStyle/>
          <a:p>
            <a:r>
              <a:rPr lang="zh-TW" altLang="zh-TW" dirty="0"/>
              <a:t>示範的是如何在</a:t>
            </a:r>
            <a:r>
              <a:rPr lang="en-US" altLang="zh-TW" dirty="0"/>
              <a:t>views.py</a:t>
            </a:r>
            <a:r>
              <a:rPr lang="zh-TW" altLang="zh-TW" dirty="0"/>
              <a:t>中查詢在</a:t>
            </a:r>
            <a:r>
              <a:rPr lang="en-US" altLang="zh-TW" dirty="0"/>
              <a:t>models.py</a:t>
            </a:r>
            <a:r>
              <a:rPr lang="zh-TW" altLang="zh-TW" dirty="0"/>
              <a:t>中定義且已儲存的資料，並顯示在使用者端的網頁上。設定的網址是</a:t>
            </a:r>
            <a:r>
              <a:rPr lang="en-US" altLang="zh-TW" dirty="0"/>
              <a:t>localhost:8000/list</a:t>
            </a:r>
            <a:r>
              <a:rPr lang="zh-TW" altLang="zh-TW" dirty="0"/>
              <a:t>，而顯示出來的結果如</a:t>
            </a:r>
            <a:r>
              <a:rPr lang="zh-TW" altLang="en-US" dirty="0"/>
              <a:t>下</a:t>
            </a:r>
            <a:r>
              <a:rPr lang="zh-TW" altLang="zh-TW" dirty="0"/>
              <a:t>圖</a:t>
            </a:r>
            <a:endParaRPr lang="zh-TW" altLang="en-US" dirty="0"/>
          </a:p>
        </p:txBody>
      </p:sp>
      <p:pic>
        <p:nvPicPr>
          <p:cNvPr id="6" name="圖片 5" descr="一張含有 桌 的圖片&#10;&#10;自動產生的描述">
            <a:extLst>
              <a:ext uri="{FF2B5EF4-FFF2-40B4-BE49-F238E27FC236}">
                <a16:creationId xmlns:a16="http://schemas.microsoft.com/office/drawing/2014/main" id="{4203D9AD-9EE5-9FCB-EC29-0455F9AF7952}"/>
              </a:ext>
            </a:extLst>
          </p:cNvPr>
          <p:cNvPicPr>
            <a:picLocks noChangeAspect="1"/>
          </p:cNvPicPr>
          <p:nvPr/>
        </p:nvPicPr>
        <p:blipFill>
          <a:blip r:embed="rId2"/>
          <a:stretch>
            <a:fillRect/>
          </a:stretch>
        </p:blipFill>
        <p:spPr>
          <a:xfrm>
            <a:off x="1835696" y="2950972"/>
            <a:ext cx="6780170" cy="3430356"/>
          </a:xfrm>
          <a:prstGeom prst="rect">
            <a:avLst/>
          </a:prstGeom>
        </p:spPr>
      </p:pic>
    </p:spTree>
    <p:extLst>
      <p:ext uri="{BB962C8B-B14F-4D97-AF65-F5344CB8AC3E}">
        <p14:creationId xmlns:p14="http://schemas.microsoft.com/office/powerpoint/2010/main" val="189771032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zh-TW" altLang="zh-TW" dirty="0"/>
              <a:t>在</a:t>
            </a:r>
            <a:r>
              <a:rPr lang="en-US" altLang="zh-TW" dirty="0"/>
              <a:t>template</a:t>
            </a:r>
            <a:r>
              <a:rPr lang="zh-TW" altLang="zh-TW" dirty="0"/>
              <a:t>中處理串列變數</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57</a:t>
            </a:fld>
            <a:endParaRPr lang="zh-TW" altLang="en-US"/>
          </a:p>
        </p:txBody>
      </p:sp>
      <p:sp>
        <p:nvSpPr>
          <p:cNvPr id="6" name="內容版面配置區 5"/>
          <p:cNvSpPr>
            <a:spLocks noGrp="1"/>
          </p:cNvSpPr>
          <p:nvPr>
            <p:ph sz="quarter" idx="1"/>
          </p:nvPr>
        </p:nvSpPr>
        <p:spPr/>
        <p:txBody>
          <a:bodyPr/>
          <a:lstStyle/>
          <a:p>
            <a:r>
              <a:rPr lang="zh-TW" altLang="zh-TW" dirty="0"/>
              <a:t>在</a:t>
            </a:r>
            <a:r>
              <a:rPr lang="en-US" altLang="zh-TW" dirty="0">
                <a:solidFill>
                  <a:srgbClr val="FF0000"/>
                </a:solidFill>
              </a:rPr>
              <a:t>views.py</a:t>
            </a:r>
            <a:r>
              <a:rPr lang="en-US" altLang="zh-TW" dirty="0"/>
              <a:t> </a:t>
            </a:r>
            <a:r>
              <a:rPr lang="zh-TW" altLang="en-US" dirty="0"/>
              <a:t>的</a:t>
            </a:r>
            <a:r>
              <a:rPr lang="en-US" altLang="zh-TW" dirty="0">
                <a:solidFill>
                  <a:srgbClr val="FF0000"/>
                </a:solidFill>
              </a:rPr>
              <a:t>list</a:t>
            </a:r>
            <a:r>
              <a:rPr lang="zh-TW" altLang="zh-TW" dirty="0"/>
              <a:t>函數中要顯示全部的資料項目列表</a:t>
            </a:r>
            <a:endParaRPr lang="en-US" altLang="zh-TW" dirty="0"/>
          </a:p>
          <a:p>
            <a:pPr marL="274320" lvl="1" indent="0">
              <a:buNone/>
            </a:pPr>
            <a:r>
              <a:rPr lang="en-US" altLang="zh-TW" dirty="0"/>
              <a:t>def </a:t>
            </a:r>
            <a:r>
              <a:rPr lang="en-US" altLang="zh-TW" dirty="0">
                <a:solidFill>
                  <a:srgbClr val="FF0000"/>
                </a:solidFill>
              </a:rPr>
              <a:t>list</a:t>
            </a:r>
            <a:r>
              <a:rPr lang="en-US" altLang="zh-TW" dirty="0"/>
              <a:t>(request):</a:t>
            </a:r>
          </a:p>
          <a:p>
            <a:pPr marL="274320" lvl="1" indent="0">
              <a:buNone/>
            </a:pPr>
            <a:r>
              <a:rPr lang="en-US" altLang="zh-TW" dirty="0"/>
              <a:t>    	products = </a:t>
            </a:r>
            <a:r>
              <a:rPr lang="en-US" altLang="zh-TW" dirty="0" err="1"/>
              <a:t>Product.objects.all</a:t>
            </a:r>
            <a:r>
              <a:rPr lang="en-US" altLang="zh-TW" dirty="0"/>
              <a:t>()</a:t>
            </a:r>
          </a:p>
          <a:p>
            <a:pPr marL="274320" lvl="1" indent="0">
              <a:buNone/>
            </a:pPr>
            <a:r>
              <a:rPr lang="en-US" altLang="zh-TW" dirty="0"/>
              <a:t>	</a:t>
            </a:r>
            <a:r>
              <a:rPr lang="en-US" altLang="zh-TW" dirty="0" err="1"/>
              <a:t>products_ok</a:t>
            </a:r>
            <a:r>
              <a:rPr lang="en-US" altLang="zh-TW" dirty="0"/>
              <a:t> = </a:t>
            </a:r>
            <a:r>
              <a:rPr lang="en-US" altLang="zh-TW" dirty="0" err="1"/>
              <a:t>Product.objects.filter</a:t>
            </a:r>
            <a:r>
              <a:rPr lang="en-US" altLang="zh-TW" dirty="0"/>
              <a:t>(</a:t>
            </a:r>
            <a:r>
              <a:rPr lang="en-US" altLang="zh-TW" dirty="0" err="1"/>
              <a:t>qty</a:t>
            </a:r>
            <a:r>
              <a:rPr lang="en-US" altLang="zh-TW" dirty="0"/>
              <a:t>__</a:t>
            </a:r>
            <a:r>
              <a:rPr lang="en-US" altLang="zh-TW" dirty="0" err="1"/>
              <a:t>gt</a:t>
            </a:r>
            <a:r>
              <a:rPr lang="en-US" altLang="zh-TW" dirty="0"/>
              <a:t>=0) </a:t>
            </a:r>
          </a:p>
          <a:p>
            <a:pPr marL="274320" lvl="1" indent="0">
              <a:buNone/>
            </a:pPr>
            <a:r>
              <a:rPr lang="en-US" altLang="zh-TW" dirty="0"/>
              <a:t>	#</a:t>
            </a:r>
            <a:r>
              <a:rPr lang="zh-TW" altLang="en-US" dirty="0"/>
              <a:t>庫存大於</a:t>
            </a:r>
            <a:r>
              <a:rPr lang="en-US" altLang="zh-TW" dirty="0"/>
              <a:t>0</a:t>
            </a:r>
            <a:r>
              <a:rPr lang="zh-TW" altLang="en-US" dirty="0"/>
              <a:t>的商品</a:t>
            </a:r>
            <a:r>
              <a:rPr lang="en-US" altLang="zh-TW" dirty="0"/>
              <a:t>	</a:t>
            </a:r>
          </a:p>
          <a:p>
            <a:pPr marL="274320" lvl="1" indent="0">
              <a:buNone/>
            </a:pPr>
            <a:r>
              <a:rPr lang="en-US" altLang="zh-TW" dirty="0"/>
              <a:t>    return </a:t>
            </a:r>
            <a:r>
              <a:rPr lang="en-US" altLang="zh-TW" sz="3200" dirty="0">
                <a:solidFill>
                  <a:srgbClr val="FF0000"/>
                </a:solidFill>
              </a:rPr>
              <a:t>render</a:t>
            </a:r>
            <a:r>
              <a:rPr lang="en-US" altLang="zh-TW" dirty="0"/>
              <a:t>(request, 'list.html', locals())</a:t>
            </a:r>
          </a:p>
          <a:p>
            <a:pPr lvl="1"/>
            <a:r>
              <a:rPr lang="en-US" altLang="zh-TW" dirty="0">
                <a:solidFill>
                  <a:srgbClr val="FF0000"/>
                </a:solidFill>
              </a:rPr>
              <a:t>Urls.py</a:t>
            </a:r>
          </a:p>
        </p:txBody>
      </p:sp>
      <p:sp>
        <p:nvSpPr>
          <p:cNvPr id="4" name="文字方塊 3">
            <a:extLst>
              <a:ext uri="{FF2B5EF4-FFF2-40B4-BE49-F238E27FC236}">
                <a16:creationId xmlns:a16="http://schemas.microsoft.com/office/drawing/2014/main" id="{7DA3EC69-7520-27ED-0BF5-6F3260B6D940}"/>
              </a:ext>
            </a:extLst>
          </p:cNvPr>
          <p:cNvSpPr txBox="1"/>
          <p:nvPr/>
        </p:nvSpPr>
        <p:spPr>
          <a:xfrm>
            <a:off x="358080" y="4761145"/>
            <a:ext cx="8534400" cy="1908215"/>
          </a:xfrm>
          <a:prstGeom prst="rect">
            <a:avLst/>
          </a:prstGeom>
          <a:noFill/>
        </p:spPr>
        <p:txBody>
          <a:bodyPr wrap="square">
            <a:spAutoFit/>
          </a:bodyPr>
          <a:lstStyle/>
          <a:p>
            <a:pPr>
              <a:buNone/>
            </a:pPr>
            <a:r>
              <a:rPr lang="en-US" altLang="zh-TW" b="0" dirty="0" err="1">
                <a:effectLst/>
                <a:latin typeface="Consolas" panose="020B0609020204030204" pitchFamily="49" charset="0"/>
              </a:rPr>
              <a:t>urlpatterns</a:t>
            </a:r>
            <a:r>
              <a:rPr lang="en-US" altLang="zh-TW" b="0" dirty="0">
                <a:effectLst/>
                <a:latin typeface="Consolas" panose="020B0609020204030204" pitchFamily="49" charset="0"/>
              </a:rPr>
              <a:t> = [</a:t>
            </a:r>
          </a:p>
          <a:p>
            <a:pPr>
              <a:buNone/>
            </a:pPr>
            <a:r>
              <a:rPr lang="en-US" altLang="zh-TW" b="0" dirty="0">
                <a:effectLst/>
                <a:latin typeface="Consolas" panose="020B0609020204030204" pitchFamily="49" charset="0"/>
              </a:rPr>
              <a:t>    path('admin/', </a:t>
            </a:r>
            <a:r>
              <a:rPr lang="en-US" altLang="zh-TW" b="0" dirty="0" err="1">
                <a:effectLst/>
                <a:latin typeface="Consolas" panose="020B0609020204030204" pitchFamily="49" charset="0"/>
              </a:rPr>
              <a:t>admin.site.urls</a:t>
            </a:r>
            <a:r>
              <a:rPr lang="en-US" altLang="zh-TW" b="0" dirty="0">
                <a:effectLst/>
                <a:latin typeface="Consolas" panose="020B0609020204030204" pitchFamily="49" charset="0"/>
              </a:rPr>
              <a:t>),</a:t>
            </a:r>
          </a:p>
          <a:p>
            <a:pPr>
              <a:buNone/>
            </a:pPr>
            <a:r>
              <a:rPr lang="en-US" altLang="zh-TW" b="0" dirty="0">
                <a:effectLst/>
                <a:latin typeface="Consolas" panose="020B0609020204030204" pitchFamily="49" charset="0"/>
              </a:rPr>
              <a:t>    path('', homepage, name='homepage'),</a:t>
            </a:r>
          </a:p>
          <a:p>
            <a:pPr>
              <a:buNone/>
            </a:pPr>
            <a:r>
              <a:rPr lang="en-US" altLang="zh-TW" b="0" dirty="0">
                <a:effectLst/>
                <a:latin typeface="Consolas" panose="020B0609020204030204" pitchFamily="49" charset="0"/>
              </a:rPr>
              <a:t>    path('post/&lt;</a:t>
            </a:r>
            <a:r>
              <a:rPr lang="en-US" altLang="zh-TW" b="0" dirty="0" err="1">
                <a:effectLst/>
                <a:latin typeface="Consolas" panose="020B0609020204030204" pitchFamily="49" charset="0"/>
              </a:rPr>
              <a:t>slug:slug</a:t>
            </a:r>
            <a:r>
              <a:rPr lang="en-US" altLang="zh-TW" b="0" dirty="0">
                <a:effectLst/>
                <a:latin typeface="Consolas" panose="020B0609020204030204" pitchFamily="49" charset="0"/>
              </a:rPr>
              <a:t>&gt;/', </a:t>
            </a:r>
            <a:r>
              <a:rPr lang="en-US" altLang="zh-TW" b="0" dirty="0" err="1">
                <a:effectLst/>
                <a:latin typeface="Consolas" panose="020B0609020204030204" pitchFamily="49" charset="0"/>
              </a:rPr>
              <a:t>showpost</a:t>
            </a:r>
            <a:r>
              <a:rPr lang="en-US" altLang="zh-TW" b="0" dirty="0">
                <a:effectLst/>
                <a:latin typeface="Consolas" panose="020B0609020204030204" pitchFamily="49" charset="0"/>
              </a:rPr>
              <a:t>, name='</a:t>
            </a:r>
            <a:r>
              <a:rPr lang="en-US" altLang="zh-TW" b="0" dirty="0" err="1">
                <a:effectLst/>
                <a:latin typeface="Consolas" panose="020B0609020204030204" pitchFamily="49" charset="0"/>
              </a:rPr>
              <a:t>showpost</a:t>
            </a:r>
            <a:r>
              <a:rPr lang="en-US" altLang="zh-TW" b="0" dirty="0">
                <a:effectLst/>
                <a:latin typeface="Consolas" panose="020B0609020204030204" pitchFamily="49" charset="0"/>
              </a:rPr>
              <a:t>'),</a:t>
            </a:r>
          </a:p>
          <a:p>
            <a:pPr>
              <a:buNone/>
            </a:pPr>
            <a:r>
              <a:rPr lang="en-US" altLang="zh-TW" b="0" dirty="0">
                <a:solidFill>
                  <a:srgbClr val="CCCCCC"/>
                </a:solidFill>
                <a:effectLst/>
                <a:latin typeface="Consolas" panose="020B0609020204030204" pitchFamily="49" charset="0"/>
              </a:rPr>
              <a:t>    </a:t>
            </a:r>
            <a:r>
              <a:rPr lang="en-US" altLang="zh-TW" b="0" dirty="0">
                <a:solidFill>
                  <a:srgbClr val="FF0000"/>
                </a:solidFill>
                <a:effectLst/>
                <a:latin typeface="Consolas" panose="020B0609020204030204" pitchFamily="49" charset="0"/>
              </a:rPr>
              <a:t>path('list/', list, name='list'),</a:t>
            </a:r>
          </a:p>
          <a:p>
            <a:pPr>
              <a:buNone/>
            </a:pPr>
            <a:r>
              <a:rPr lang="en-US" altLang="zh-TW" b="0" dirty="0">
                <a:solidFill>
                  <a:srgbClr val="CCCCCC"/>
                </a:solidFill>
                <a:effectLst/>
                <a:latin typeface="Consolas" panose="020B0609020204030204" pitchFamily="49" charset="0"/>
              </a:rPr>
              <a:t>    </a:t>
            </a:r>
            <a:r>
              <a:rPr lang="en-US" altLang="zh-TW" sz="2800" b="0" dirty="0">
                <a:solidFill>
                  <a:srgbClr val="FF0000"/>
                </a:solidFill>
                <a:effectLst/>
                <a:latin typeface="Consolas" panose="020B0609020204030204" pitchFamily="49" charset="0"/>
              </a:rPr>
              <a:t>path</a:t>
            </a:r>
            <a:r>
              <a:rPr lang="en-US" altLang="zh-TW" b="0" dirty="0">
                <a:solidFill>
                  <a:srgbClr val="CCCCCC"/>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'list/&lt;</a:t>
            </a:r>
            <a:r>
              <a:rPr lang="en-US" altLang="zh-TW" b="0" dirty="0" err="1">
                <a:solidFill>
                  <a:srgbClr val="CE9178"/>
                </a:solidFill>
                <a:effectLst/>
                <a:latin typeface="Consolas" panose="020B0609020204030204" pitchFamily="49" charset="0"/>
              </a:rPr>
              <a:t>str:</a:t>
            </a:r>
            <a:r>
              <a:rPr lang="en-US" altLang="zh-TW" dirty="0" err="1">
                <a:solidFill>
                  <a:srgbClr val="CE9178"/>
                </a:solidFill>
                <a:latin typeface="Consolas" panose="020B0609020204030204" pitchFamily="49" charset="0"/>
              </a:rPr>
              <a:t>id</a:t>
            </a:r>
            <a:r>
              <a:rPr lang="en-US" altLang="zh-TW" b="0" dirty="0">
                <a:solidFill>
                  <a:srgbClr val="CE9178"/>
                </a:solidFill>
                <a:effectLst/>
                <a:latin typeface="Consolas" panose="020B0609020204030204" pitchFamily="49" charset="0"/>
              </a:rPr>
              <a:t>&gt;/'</a:t>
            </a:r>
            <a:r>
              <a:rPr lang="en-US" altLang="zh-TW" b="0" dirty="0">
                <a:solidFill>
                  <a:srgbClr val="CCCCCC"/>
                </a:solidFill>
                <a:effectLst/>
                <a:latin typeface="Consolas" panose="020B0609020204030204" pitchFamily="49" charset="0"/>
              </a:rPr>
              <a:t>, detail, </a:t>
            </a:r>
            <a:r>
              <a:rPr lang="en-US" altLang="zh-TW" b="0" dirty="0">
                <a:solidFill>
                  <a:srgbClr val="9CDCFE"/>
                </a:solidFill>
                <a:effectLst/>
                <a:latin typeface="Consolas" panose="020B0609020204030204" pitchFamily="49" charset="0"/>
              </a:rPr>
              <a:t>name</a:t>
            </a:r>
            <a:r>
              <a:rPr lang="en-US" altLang="zh-TW" b="0" dirty="0">
                <a:solidFill>
                  <a:srgbClr val="D4D4D4"/>
                </a:solidFill>
                <a:effectLst/>
                <a:latin typeface="Consolas" panose="020B0609020204030204" pitchFamily="49" charset="0"/>
              </a:rPr>
              <a:t>=</a:t>
            </a:r>
            <a:r>
              <a:rPr lang="en-US" altLang="zh-TW" b="0" dirty="0">
                <a:solidFill>
                  <a:srgbClr val="CE9178"/>
                </a:solidFill>
                <a:effectLst/>
                <a:latin typeface="Consolas" panose="020B0609020204030204" pitchFamily="49" charset="0"/>
              </a:rPr>
              <a:t>‘detail'</a:t>
            </a:r>
            <a:r>
              <a:rPr lang="en-US" altLang="zh-TW" b="0" dirty="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43500854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template</a:t>
            </a:r>
            <a:r>
              <a:rPr lang="zh-TW" altLang="zh-TW" dirty="0"/>
              <a:t>中處理串列變數</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58</a:t>
            </a:fld>
            <a:endParaRPr lang="zh-TW" altLang="en-US"/>
          </a:p>
        </p:txBody>
      </p:sp>
      <p:sp>
        <p:nvSpPr>
          <p:cNvPr id="4" name="內容版面配置區 3"/>
          <p:cNvSpPr>
            <a:spLocks noGrp="1"/>
          </p:cNvSpPr>
          <p:nvPr>
            <p:ph sz="quarter" idx="1"/>
          </p:nvPr>
        </p:nvSpPr>
        <p:spPr>
          <a:xfrm>
            <a:off x="301752" y="1527048"/>
            <a:ext cx="8534400" cy="5430344"/>
          </a:xfrm>
        </p:spPr>
        <p:txBody>
          <a:bodyPr>
            <a:normAutofit fontScale="47500" lnSpcReduction="20000"/>
          </a:bodyPr>
          <a:lstStyle/>
          <a:p>
            <a:r>
              <a:rPr lang="en-US" altLang="zh-TW" sz="5800" dirty="0">
                <a:solidFill>
                  <a:srgbClr val="FF0000"/>
                </a:solidFill>
              </a:rPr>
              <a:t>list.html</a:t>
            </a:r>
            <a:r>
              <a:rPr lang="zh-TW" altLang="zh-TW" sz="3600" dirty="0"/>
              <a:t>，如下所示：</a:t>
            </a:r>
          </a:p>
          <a:p>
            <a:pPr marL="274320" lvl="1" indent="0">
              <a:buNone/>
            </a:pPr>
            <a:r>
              <a:rPr lang="en-US" altLang="zh-TW" sz="2600" dirty="0"/>
              <a:t>&lt;!-- list.html --&gt;</a:t>
            </a:r>
            <a:endParaRPr lang="zh-TW" altLang="zh-TW" sz="2600" dirty="0"/>
          </a:p>
          <a:p>
            <a:pPr marL="274320" lvl="1" indent="0">
              <a:buNone/>
            </a:pPr>
            <a:r>
              <a:rPr lang="en-US" altLang="zh-TW" sz="2600" dirty="0"/>
              <a:t>&lt;!DOCTYPE html&gt;</a:t>
            </a:r>
            <a:endParaRPr lang="zh-TW" altLang="zh-TW" sz="2600" dirty="0"/>
          </a:p>
          <a:p>
            <a:pPr marL="274320" lvl="1" indent="0">
              <a:buNone/>
            </a:pPr>
            <a:r>
              <a:rPr lang="en-US" altLang="zh-TW" sz="2600" dirty="0"/>
              <a:t>&lt;html&gt;</a:t>
            </a:r>
            <a:endParaRPr lang="zh-TW" altLang="zh-TW" sz="2600" dirty="0"/>
          </a:p>
          <a:p>
            <a:pPr marL="274320" lvl="1" indent="0">
              <a:buNone/>
            </a:pPr>
            <a:r>
              <a:rPr lang="en-US" altLang="zh-TW" sz="2600" dirty="0"/>
              <a:t>&lt;head&gt;</a:t>
            </a:r>
            <a:endParaRPr lang="zh-TW" altLang="zh-TW" sz="2600" dirty="0"/>
          </a:p>
          <a:p>
            <a:pPr marL="274320" lvl="1" indent="0">
              <a:buNone/>
            </a:pPr>
            <a:r>
              <a:rPr lang="en-US" altLang="zh-TW" sz="2600" dirty="0"/>
              <a:t>&lt;meta charset='utf-8'&gt;</a:t>
            </a:r>
            <a:endParaRPr lang="zh-TW" altLang="zh-TW" sz="2600" dirty="0"/>
          </a:p>
          <a:p>
            <a:pPr marL="274320" lvl="1" indent="0">
              <a:buNone/>
            </a:pPr>
            <a:r>
              <a:rPr lang="en-US" altLang="zh-TW" sz="2600" dirty="0"/>
              <a:t>&lt;title&gt;</a:t>
            </a:r>
            <a:r>
              <a:rPr lang="zh-TW" altLang="zh-TW" sz="2600" dirty="0"/>
              <a:t>中古機列表</a:t>
            </a:r>
            <a:r>
              <a:rPr lang="en-US" altLang="zh-TW" sz="2600" dirty="0"/>
              <a:t>&lt;/title&gt;</a:t>
            </a:r>
            <a:endParaRPr lang="zh-TW" altLang="zh-TW" sz="2600" dirty="0"/>
          </a:p>
          <a:p>
            <a:pPr marL="274320" lvl="1" indent="0">
              <a:buNone/>
            </a:pPr>
            <a:r>
              <a:rPr lang="en-US" altLang="zh-TW" sz="2600" dirty="0"/>
              <a:t>&lt;/head&gt;</a:t>
            </a:r>
            <a:endParaRPr lang="zh-TW" altLang="zh-TW" sz="2600" dirty="0"/>
          </a:p>
          <a:p>
            <a:pPr marL="274320" lvl="1" indent="0">
              <a:buNone/>
            </a:pPr>
            <a:r>
              <a:rPr lang="en-US" altLang="zh-TW" sz="2600" dirty="0"/>
              <a:t>&lt;body&gt;</a:t>
            </a:r>
            <a:endParaRPr lang="zh-TW" altLang="zh-TW" sz="2600" dirty="0"/>
          </a:p>
          <a:p>
            <a:pPr marL="274320" lvl="1" indent="0">
              <a:buNone/>
            </a:pPr>
            <a:r>
              <a:rPr lang="en-US" altLang="zh-TW" sz="2600" dirty="0"/>
              <a:t>&lt;h2&gt;</a:t>
            </a:r>
            <a:r>
              <a:rPr lang="zh-TW" altLang="zh-TW" sz="2600" dirty="0"/>
              <a:t>以下是目前本店販售中的二手機列表</a:t>
            </a:r>
            <a:r>
              <a:rPr lang="en-US" altLang="zh-TW" sz="2600" dirty="0"/>
              <a:t>&lt;/h2&gt;</a:t>
            </a:r>
            <a:endParaRPr lang="zh-TW" altLang="zh-TW" sz="2600" dirty="0"/>
          </a:p>
          <a:p>
            <a:pPr marL="274320" lvl="1" indent="0">
              <a:buNone/>
            </a:pPr>
            <a:r>
              <a:rPr lang="en-US" altLang="zh-TW" sz="2600" dirty="0"/>
              <a:t>&lt;</a:t>
            </a:r>
            <a:r>
              <a:rPr lang="en-US" altLang="zh-TW" sz="2600" dirty="0" err="1"/>
              <a:t>hr</a:t>
            </a:r>
            <a:r>
              <a:rPr lang="en-US" altLang="zh-TW" sz="2600" dirty="0"/>
              <a:t>&gt;</a:t>
            </a:r>
            <a:endParaRPr lang="zh-TW" altLang="zh-TW" sz="2600" dirty="0"/>
          </a:p>
          <a:p>
            <a:pPr marL="274320" lvl="1" indent="0">
              <a:buNone/>
            </a:pPr>
            <a:r>
              <a:rPr lang="en-US" altLang="zh-TW" sz="4400" b="1" dirty="0">
                <a:solidFill>
                  <a:srgbClr val="FF0000"/>
                </a:solidFill>
              </a:rPr>
              <a:t>&lt;table </a:t>
            </a:r>
            <a:r>
              <a:rPr lang="en-US" altLang="zh-TW" sz="2600" dirty="0"/>
              <a:t>width=400 border=1 </a:t>
            </a:r>
            <a:r>
              <a:rPr lang="en-US" altLang="zh-TW" sz="2600" dirty="0" err="1"/>
              <a:t>bgcolor</a:t>
            </a:r>
            <a:r>
              <a:rPr lang="en-US" altLang="zh-TW" sz="2600" dirty="0"/>
              <a:t>='#</a:t>
            </a:r>
            <a:r>
              <a:rPr lang="en-US" altLang="zh-TW" sz="2600" dirty="0" err="1"/>
              <a:t>ccffcc</a:t>
            </a:r>
            <a:r>
              <a:rPr lang="en-US" altLang="zh-TW" sz="2600" dirty="0"/>
              <a:t>'&gt;</a:t>
            </a:r>
            <a:endParaRPr lang="zh-TW" altLang="zh-TW" sz="2600" dirty="0"/>
          </a:p>
          <a:p>
            <a:pPr marL="274320" lvl="1" indent="0">
              <a:buNone/>
            </a:pPr>
            <a:r>
              <a:rPr lang="en-US" altLang="zh-TW" sz="2600" dirty="0"/>
              <a:t>    &lt;</a:t>
            </a:r>
            <a:r>
              <a:rPr lang="en-US" altLang="zh-TW" sz="2600" dirty="0" err="1"/>
              <a:t>tr</a:t>
            </a:r>
            <a:r>
              <a:rPr lang="en-US" altLang="zh-TW" sz="2600" dirty="0"/>
              <a:t>&gt;&lt;td&gt;</a:t>
            </a:r>
            <a:r>
              <a:rPr lang="zh-TW" altLang="zh-TW" sz="2600" dirty="0"/>
              <a:t>品名</a:t>
            </a:r>
            <a:r>
              <a:rPr lang="en-US" altLang="zh-TW" sz="2600" dirty="0"/>
              <a:t>&lt;/td&gt;&lt;td&gt;</a:t>
            </a:r>
            <a:r>
              <a:rPr lang="zh-TW" altLang="zh-TW" sz="2600" dirty="0"/>
              <a:t>售價</a:t>
            </a:r>
            <a:r>
              <a:rPr lang="en-US" altLang="zh-TW" sz="2600" dirty="0"/>
              <a:t>&lt;/td&gt;&lt;td&gt;</a:t>
            </a:r>
            <a:r>
              <a:rPr lang="zh-TW" altLang="zh-TW" sz="2600" dirty="0"/>
              <a:t>庫存量</a:t>
            </a:r>
            <a:r>
              <a:rPr lang="en-US" altLang="zh-TW" sz="2600" dirty="0"/>
              <a:t>&lt;/td&gt;&lt;/</a:t>
            </a:r>
            <a:r>
              <a:rPr lang="en-US" altLang="zh-TW" sz="2600" dirty="0" err="1"/>
              <a:t>tr</a:t>
            </a:r>
            <a:r>
              <a:rPr lang="en-US" altLang="zh-TW" sz="2600" dirty="0"/>
              <a:t>&gt;</a:t>
            </a:r>
            <a:endParaRPr lang="zh-TW" altLang="zh-TW" sz="2600" dirty="0"/>
          </a:p>
          <a:p>
            <a:pPr marL="274320" lvl="1" indent="0">
              <a:buNone/>
            </a:pPr>
            <a:r>
              <a:rPr lang="en-US" altLang="zh-TW" sz="5100" dirty="0">
                <a:solidFill>
                  <a:srgbClr val="FF0000"/>
                </a:solidFill>
              </a:rPr>
              <a:t>{% for p in products %}</a:t>
            </a:r>
            <a:endParaRPr lang="zh-TW" altLang="zh-TW" sz="5100" dirty="0">
              <a:solidFill>
                <a:srgbClr val="FF0000"/>
              </a:solidFill>
            </a:endParaRPr>
          </a:p>
          <a:p>
            <a:pPr marL="274320" lvl="1" indent="0">
              <a:buNone/>
            </a:pPr>
            <a:r>
              <a:rPr lang="en-US" altLang="zh-TW" sz="2600" dirty="0"/>
              <a:t>    &lt;</a:t>
            </a:r>
            <a:r>
              <a:rPr lang="en-US" altLang="zh-TW" sz="2600" dirty="0" err="1"/>
              <a:t>tr</a:t>
            </a:r>
            <a:r>
              <a:rPr lang="en-US" altLang="zh-TW" sz="2600" dirty="0"/>
              <a:t>&gt;</a:t>
            </a:r>
            <a:endParaRPr lang="zh-TW" altLang="zh-TW" sz="2600" dirty="0"/>
          </a:p>
          <a:p>
            <a:pPr marL="274320" lvl="1" indent="0">
              <a:buNone/>
            </a:pPr>
            <a:r>
              <a:rPr lang="en-US" altLang="zh-TW" sz="2600" dirty="0"/>
              <a:t>        &lt;td&gt;{{p.name}}&lt;/td&gt;</a:t>
            </a:r>
            <a:endParaRPr lang="zh-TW" altLang="zh-TW" sz="2600" dirty="0"/>
          </a:p>
          <a:p>
            <a:pPr marL="274320" lvl="1" indent="0">
              <a:buNone/>
            </a:pPr>
            <a:r>
              <a:rPr lang="en-US" altLang="zh-TW" sz="2600" dirty="0"/>
              <a:t>        &lt;td&gt;{{</a:t>
            </a:r>
            <a:r>
              <a:rPr lang="en-US" altLang="zh-TW" sz="2600" dirty="0" err="1"/>
              <a:t>p.price</a:t>
            </a:r>
            <a:r>
              <a:rPr lang="en-US" altLang="zh-TW" sz="2600" dirty="0"/>
              <a:t>}}&lt;/td&gt;</a:t>
            </a:r>
            <a:endParaRPr lang="zh-TW" altLang="zh-TW" sz="2600" dirty="0"/>
          </a:p>
          <a:p>
            <a:pPr marL="274320" lvl="1" indent="0">
              <a:buNone/>
            </a:pPr>
            <a:r>
              <a:rPr lang="en-US" altLang="zh-TW" sz="2600" dirty="0"/>
              <a:t>        &lt;td&gt;{{</a:t>
            </a:r>
            <a:r>
              <a:rPr lang="en-US" altLang="zh-TW" sz="2600" dirty="0" err="1"/>
              <a:t>p.qty</a:t>
            </a:r>
            <a:r>
              <a:rPr lang="en-US" altLang="zh-TW" sz="2600" dirty="0"/>
              <a:t>}}&lt;/td&gt;</a:t>
            </a:r>
            <a:endParaRPr lang="zh-TW" altLang="zh-TW" sz="2600" dirty="0"/>
          </a:p>
          <a:p>
            <a:pPr marL="274320" lvl="1" indent="0">
              <a:buNone/>
            </a:pPr>
            <a:r>
              <a:rPr lang="en-US" altLang="zh-TW" sz="2600" dirty="0"/>
              <a:t>    &lt;/</a:t>
            </a:r>
            <a:r>
              <a:rPr lang="en-US" altLang="zh-TW" sz="2600" dirty="0" err="1"/>
              <a:t>tr</a:t>
            </a:r>
            <a:r>
              <a:rPr lang="en-US" altLang="zh-TW" sz="2600" dirty="0"/>
              <a:t>&gt;</a:t>
            </a:r>
            <a:endParaRPr lang="zh-TW" altLang="zh-TW" sz="2600" dirty="0"/>
          </a:p>
          <a:p>
            <a:pPr marL="274320" lvl="1" indent="0">
              <a:buNone/>
            </a:pPr>
            <a:r>
              <a:rPr lang="en-US" altLang="zh-TW" sz="2600" dirty="0">
                <a:solidFill>
                  <a:srgbClr val="FF0000"/>
                </a:solidFill>
              </a:rPr>
              <a:t>{% </a:t>
            </a:r>
            <a:r>
              <a:rPr lang="en-US" altLang="zh-TW" sz="2600" dirty="0" err="1">
                <a:solidFill>
                  <a:srgbClr val="FF0000"/>
                </a:solidFill>
              </a:rPr>
              <a:t>endfor</a:t>
            </a:r>
            <a:r>
              <a:rPr lang="en-US" altLang="zh-TW" sz="2600" dirty="0">
                <a:solidFill>
                  <a:srgbClr val="FF0000"/>
                </a:solidFill>
              </a:rPr>
              <a:t> %}</a:t>
            </a:r>
            <a:endParaRPr lang="zh-TW" altLang="zh-TW" sz="2600" dirty="0">
              <a:solidFill>
                <a:srgbClr val="FF0000"/>
              </a:solidFill>
            </a:endParaRPr>
          </a:p>
          <a:p>
            <a:pPr marL="274320" lvl="1" indent="0">
              <a:buNone/>
            </a:pPr>
            <a:r>
              <a:rPr lang="en-US" altLang="zh-TW" sz="2600" dirty="0"/>
              <a:t>&lt;/table&gt;</a:t>
            </a:r>
            <a:endParaRPr lang="zh-TW" altLang="zh-TW" sz="2600" dirty="0"/>
          </a:p>
          <a:p>
            <a:pPr marL="274320" lvl="1" indent="0">
              <a:buNone/>
            </a:pPr>
            <a:r>
              <a:rPr lang="en-US" altLang="zh-TW" sz="2600" dirty="0"/>
              <a:t>&lt;/body&gt;</a:t>
            </a:r>
            <a:endParaRPr lang="zh-TW" altLang="zh-TW" sz="2600" dirty="0"/>
          </a:p>
          <a:p>
            <a:pPr marL="274320" lvl="1" indent="0">
              <a:buNone/>
            </a:pPr>
            <a:r>
              <a:rPr lang="en-US" altLang="zh-TW" sz="2600" dirty="0"/>
              <a:t>&lt;/html&gt;</a:t>
            </a:r>
            <a:endParaRPr lang="zh-TW" altLang="zh-TW" sz="2600" dirty="0"/>
          </a:p>
          <a:p>
            <a:endParaRPr lang="zh-TW" altLang="en-US" dirty="0"/>
          </a:p>
        </p:txBody>
      </p:sp>
    </p:spTree>
    <p:extLst>
      <p:ext uri="{BB962C8B-B14F-4D97-AF65-F5344CB8AC3E}">
        <p14:creationId xmlns:p14="http://schemas.microsoft.com/office/powerpoint/2010/main" val="902833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323528" y="548680"/>
            <a:ext cx="8534400" cy="758952"/>
          </a:xfrm>
        </p:spPr>
        <p:txBody>
          <a:bodyPr>
            <a:normAutofit fontScale="90000"/>
          </a:bodyPr>
          <a:lstStyle/>
          <a:p>
            <a:r>
              <a:rPr lang="zh-TW" altLang="zh-TW" dirty="0"/>
              <a:t>傳遞變數到</a:t>
            </a:r>
            <a:r>
              <a:rPr lang="en-US" altLang="zh-TW" dirty="0"/>
              <a:t>template</a:t>
            </a:r>
            <a:r>
              <a:rPr lang="zh-TW" altLang="zh-TW" dirty="0"/>
              <a:t>檔案中</a:t>
            </a:r>
            <a:r>
              <a:rPr lang="en-US" altLang="zh-TW" dirty="0"/>
              <a:t>-</a:t>
            </a:r>
            <a:r>
              <a:rPr lang="en-US" altLang="zh-TW" dirty="0">
                <a:solidFill>
                  <a:srgbClr val="FF0000"/>
                </a:solidFill>
              </a:rPr>
              <a:t>view.py</a:t>
            </a:r>
            <a:br>
              <a:rPr lang="en-US" altLang="zh-TW" dirty="0">
                <a:solidFill>
                  <a:srgbClr val="FF0000"/>
                </a:solidFill>
              </a:rPr>
            </a:br>
            <a:r>
              <a:rPr lang="zh-TW" altLang="en-US" dirty="0">
                <a:solidFill>
                  <a:srgbClr val="FF0000"/>
                </a:solidFill>
              </a:rPr>
              <a:t>注意要記得填</a:t>
            </a:r>
            <a:r>
              <a:rPr lang="en-US" altLang="zh-TW" dirty="0">
                <a:solidFill>
                  <a:srgbClr val="FF0000"/>
                </a:solidFill>
              </a:rPr>
              <a:t>id</a:t>
            </a:r>
            <a:r>
              <a:rPr lang="zh-TW" altLang="en-US" dirty="0">
                <a:solidFill>
                  <a:srgbClr val="FF0000"/>
                </a:solidFill>
              </a:rPr>
              <a:t>參數</a:t>
            </a:r>
            <a:r>
              <a:rPr lang="en-US" altLang="zh-TW" sz="4000" dirty="0">
                <a:solidFill>
                  <a:srgbClr val="FF0000"/>
                </a:solidFill>
              </a:rPr>
              <a:t>(</a:t>
            </a:r>
            <a:r>
              <a:rPr lang="zh-TW" altLang="en-US" sz="4000" dirty="0">
                <a:solidFill>
                  <a:srgbClr val="FF0000"/>
                </a:solidFill>
              </a:rPr>
              <a:t>改用</a:t>
            </a:r>
            <a:r>
              <a:rPr lang="en-US" altLang="zh-TW" sz="4000" dirty="0">
                <a:solidFill>
                  <a:srgbClr val="FF0000"/>
                </a:solidFill>
              </a:rPr>
              <a:t>id</a:t>
            </a:r>
            <a:r>
              <a:rPr lang="zh-TW" altLang="en-US" sz="4000" dirty="0">
                <a:solidFill>
                  <a:srgbClr val="FF0000"/>
                </a:solidFill>
              </a:rPr>
              <a:t>就好</a:t>
            </a:r>
            <a:r>
              <a:rPr lang="en-US" altLang="zh-TW" sz="4000" dirty="0">
                <a:solidFill>
                  <a:srgbClr val="FF0000"/>
                </a:solidFill>
              </a:rPr>
              <a:t>)</a:t>
            </a:r>
            <a:endParaRPr lang="zh-TW" altLang="en-US" sz="4000" dirty="0">
              <a:solidFill>
                <a:srgbClr val="FF0000"/>
              </a:solidFill>
            </a:endParaRPr>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59</a:t>
            </a:fld>
            <a:endParaRPr lang="zh-TW" altLang="en-US"/>
          </a:p>
        </p:txBody>
      </p:sp>
      <p:sp>
        <p:nvSpPr>
          <p:cNvPr id="4" name="內容版面配置區 3"/>
          <p:cNvSpPr>
            <a:spLocks noGrp="1"/>
          </p:cNvSpPr>
          <p:nvPr>
            <p:ph sz="quarter" idx="1"/>
          </p:nvPr>
        </p:nvSpPr>
        <p:spPr/>
        <p:txBody>
          <a:bodyPr>
            <a:normAutofit/>
          </a:bodyPr>
          <a:lstStyle/>
          <a:p>
            <a:pPr marL="0" indent="0">
              <a:buNone/>
            </a:pPr>
            <a:r>
              <a:rPr lang="en-US" altLang="zh-TW" sz="2400" dirty="0"/>
              <a:t>def detail(request, </a:t>
            </a:r>
            <a:r>
              <a:rPr lang="en-US" altLang="zh-TW" sz="6600" dirty="0">
                <a:solidFill>
                  <a:srgbClr val="FF0000"/>
                </a:solidFill>
              </a:rPr>
              <a:t>id</a:t>
            </a:r>
            <a:r>
              <a:rPr lang="en-US" altLang="zh-TW" sz="2400" dirty="0"/>
              <a:t>):</a:t>
            </a:r>
            <a:endParaRPr lang="zh-TW" altLang="zh-TW" sz="2400" dirty="0"/>
          </a:p>
          <a:p>
            <a:pPr marL="0" indent="0">
              <a:buNone/>
            </a:pPr>
            <a:r>
              <a:rPr lang="en-US" altLang="zh-TW" sz="2400" dirty="0"/>
              <a:t>    try:	</a:t>
            </a:r>
            <a:endParaRPr lang="zh-TW" altLang="zh-TW" sz="2400" dirty="0"/>
          </a:p>
          <a:p>
            <a:r>
              <a:rPr lang="en-US" altLang="zh-TW" sz="2400" dirty="0"/>
              <a:t> 	p = </a:t>
            </a:r>
            <a:r>
              <a:rPr lang="en-US" altLang="zh-TW" sz="2400" dirty="0" err="1"/>
              <a:t>Product.objects.get</a:t>
            </a:r>
            <a:r>
              <a:rPr lang="en-US" altLang="zh-TW" sz="4000" dirty="0">
                <a:solidFill>
                  <a:srgbClr val="FF0000"/>
                </a:solidFill>
              </a:rPr>
              <a:t>(id=id</a:t>
            </a:r>
            <a:r>
              <a:rPr lang="en-US" altLang="zh-TW" sz="2400" dirty="0"/>
              <a:t>)</a:t>
            </a:r>
          </a:p>
          <a:p>
            <a:pPr marL="0" indent="0">
              <a:buNone/>
            </a:pPr>
            <a:r>
              <a:rPr lang="en-US" altLang="zh-TW" sz="2400" dirty="0"/>
              <a:t>    except </a:t>
            </a:r>
            <a:r>
              <a:rPr lang="en-US" altLang="zh-TW" sz="2400" dirty="0" err="1"/>
              <a:t>Product.DoesNotExist</a:t>
            </a:r>
            <a:r>
              <a:rPr lang="en-US" altLang="zh-TW" sz="2400" dirty="0"/>
              <a:t>:</a:t>
            </a:r>
            <a:endParaRPr lang="zh-TW" altLang="zh-TW" sz="2400" dirty="0"/>
          </a:p>
          <a:p>
            <a:pPr marL="0" indent="0">
              <a:buNone/>
            </a:pPr>
            <a:r>
              <a:rPr lang="en-US" altLang="zh-TW" sz="2400" dirty="0"/>
              <a:t>        </a:t>
            </a:r>
            <a:r>
              <a:rPr lang="en-US" altLang="zh-TW" sz="3600" dirty="0">
                <a:solidFill>
                  <a:srgbClr val="FF0000"/>
                </a:solidFill>
              </a:rPr>
              <a:t>raise</a:t>
            </a:r>
            <a:r>
              <a:rPr lang="en-US" altLang="zh-TW" sz="2400" dirty="0"/>
              <a:t> Http404('</a:t>
            </a:r>
            <a:r>
              <a:rPr lang="zh-TW" altLang="zh-TW" sz="2400" dirty="0"/>
              <a:t>找不到指定的品項編號</a:t>
            </a:r>
            <a:r>
              <a:rPr lang="en-US" altLang="zh-TW" sz="2400" dirty="0"/>
              <a:t>')</a:t>
            </a:r>
            <a:endParaRPr lang="zh-TW" altLang="zh-TW" sz="2400" dirty="0"/>
          </a:p>
          <a:p>
            <a:pPr marL="0" indent="0">
              <a:buNone/>
            </a:pPr>
            <a:r>
              <a:rPr lang="en-US" altLang="zh-TW" sz="2400" dirty="0"/>
              <a:t>    return render(request, 'disp.html', locals())</a:t>
            </a:r>
            <a:endParaRPr lang="zh-TW" altLang="en-US" sz="2400" dirty="0"/>
          </a:p>
        </p:txBody>
      </p:sp>
    </p:spTree>
    <p:extLst>
      <p:ext uri="{BB962C8B-B14F-4D97-AF65-F5344CB8AC3E}">
        <p14:creationId xmlns:p14="http://schemas.microsoft.com/office/powerpoint/2010/main" val="242020047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傳遞變數到</a:t>
            </a:r>
            <a:r>
              <a:rPr lang="en-US" altLang="zh-TW" dirty="0"/>
              <a:t>template</a:t>
            </a:r>
            <a:r>
              <a:rPr lang="zh-TW" altLang="zh-TW" dirty="0"/>
              <a:t>檔案中</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60</a:t>
            </a:fld>
            <a:endParaRPr lang="zh-TW" altLang="en-US"/>
          </a:p>
        </p:txBody>
      </p:sp>
      <p:sp>
        <p:nvSpPr>
          <p:cNvPr id="4" name="內容版面配置區 3"/>
          <p:cNvSpPr>
            <a:spLocks noGrp="1"/>
          </p:cNvSpPr>
          <p:nvPr>
            <p:ph sz="quarter" idx="1"/>
          </p:nvPr>
        </p:nvSpPr>
        <p:spPr>
          <a:xfrm>
            <a:off x="179512" y="1527048"/>
            <a:ext cx="8856984" cy="5330952"/>
          </a:xfrm>
        </p:spPr>
        <p:txBody>
          <a:bodyPr>
            <a:normAutofit fontScale="70000" lnSpcReduction="20000"/>
          </a:bodyPr>
          <a:lstStyle/>
          <a:p>
            <a:r>
              <a:rPr lang="zh-TW" altLang="zh-TW" sz="2900" dirty="0"/>
              <a:t>同樣的方法亦可馬上套用到</a:t>
            </a:r>
            <a:r>
              <a:rPr lang="en-US" altLang="zh-TW" sz="2900" dirty="0"/>
              <a:t>detail</a:t>
            </a:r>
            <a:r>
              <a:rPr lang="zh-TW" altLang="zh-TW" sz="2900" dirty="0"/>
              <a:t>函數中。也是先建立一個</a:t>
            </a:r>
            <a:r>
              <a:rPr lang="en-US" altLang="zh-TW" sz="2900" dirty="0">
                <a:solidFill>
                  <a:srgbClr val="FF0000"/>
                </a:solidFill>
              </a:rPr>
              <a:t>detail.html</a:t>
            </a:r>
            <a:r>
              <a:rPr lang="zh-TW" altLang="zh-TW" sz="2900" dirty="0"/>
              <a:t>，如下所示：</a:t>
            </a:r>
          </a:p>
          <a:p>
            <a:pPr marL="274320" lvl="1" indent="0">
              <a:buNone/>
            </a:pPr>
            <a:r>
              <a:rPr lang="en-US" altLang="zh-TW" sz="2300" dirty="0"/>
              <a:t>&lt;!-- disp.html --&gt;</a:t>
            </a:r>
          </a:p>
          <a:p>
            <a:pPr marL="274320" lvl="1" indent="0">
              <a:buNone/>
            </a:pPr>
            <a:r>
              <a:rPr lang="en-US" altLang="zh-TW" sz="2300" dirty="0"/>
              <a:t>&lt;!DOCTYPE html&gt;</a:t>
            </a:r>
          </a:p>
          <a:p>
            <a:pPr marL="274320" lvl="1" indent="0">
              <a:buNone/>
            </a:pPr>
            <a:r>
              <a:rPr lang="en-US" altLang="zh-TW" sz="2300" dirty="0"/>
              <a:t>&lt;html&gt;</a:t>
            </a:r>
          </a:p>
          <a:p>
            <a:pPr marL="274320" lvl="1" indent="0">
              <a:buNone/>
            </a:pPr>
            <a:r>
              <a:rPr lang="en-US" altLang="zh-TW" sz="2300" dirty="0"/>
              <a:t>&lt;head&gt;</a:t>
            </a:r>
          </a:p>
          <a:p>
            <a:pPr marL="274320" lvl="1" indent="0">
              <a:buNone/>
            </a:pPr>
            <a:r>
              <a:rPr lang="en-US" altLang="zh-TW" sz="2300" dirty="0"/>
              <a:t>&lt;meta charset='utf-8'&gt;</a:t>
            </a:r>
          </a:p>
          <a:p>
            <a:pPr marL="274320" lvl="1" indent="0">
              <a:buNone/>
            </a:pPr>
            <a:r>
              <a:rPr lang="en-US" altLang="zh-TW" sz="2300" dirty="0"/>
              <a:t>&lt;title&gt;</a:t>
            </a:r>
            <a:r>
              <a:rPr lang="en-US" altLang="zh-TW" sz="2300" dirty="0">
                <a:solidFill>
                  <a:srgbClr val="FF0000"/>
                </a:solidFill>
              </a:rPr>
              <a:t>{{p.name}}</a:t>
            </a:r>
            <a:r>
              <a:rPr lang="en-US" altLang="zh-TW" sz="2300" dirty="0"/>
              <a:t>&lt;/title&gt;</a:t>
            </a:r>
          </a:p>
          <a:p>
            <a:pPr marL="274320" lvl="1" indent="0">
              <a:buNone/>
            </a:pPr>
            <a:r>
              <a:rPr lang="en-US" altLang="zh-TW" sz="2300" dirty="0"/>
              <a:t>&lt;/head&gt;</a:t>
            </a:r>
          </a:p>
          <a:p>
            <a:pPr marL="274320" lvl="1" indent="0">
              <a:buNone/>
            </a:pPr>
            <a:r>
              <a:rPr lang="en-US" altLang="zh-TW" sz="2300" dirty="0"/>
              <a:t>&lt;body&gt;</a:t>
            </a:r>
          </a:p>
          <a:p>
            <a:pPr marL="274320" lvl="1" indent="0">
              <a:buNone/>
            </a:pPr>
            <a:r>
              <a:rPr lang="en-US" altLang="zh-TW" sz="2300" dirty="0"/>
              <a:t>&lt;h2&gt;</a:t>
            </a:r>
            <a:r>
              <a:rPr lang="en-US" altLang="zh-TW" sz="2300" dirty="0">
                <a:solidFill>
                  <a:srgbClr val="FF0000"/>
                </a:solidFill>
              </a:rPr>
              <a:t>{{p.name}}</a:t>
            </a:r>
            <a:r>
              <a:rPr lang="en-US" altLang="zh-TW" sz="2300" dirty="0"/>
              <a:t>&lt;/h2&gt;</a:t>
            </a:r>
          </a:p>
          <a:p>
            <a:pPr marL="274320" lvl="1" indent="0">
              <a:buNone/>
            </a:pPr>
            <a:r>
              <a:rPr lang="en-US" altLang="zh-TW" sz="2300" dirty="0"/>
              <a:t>&lt;</a:t>
            </a:r>
            <a:r>
              <a:rPr lang="en-US" altLang="zh-TW" sz="2300" dirty="0" err="1"/>
              <a:t>hr</a:t>
            </a:r>
            <a:r>
              <a:rPr lang="en-US" altLang="zh-TW" sz="2300" dirty="0"/>
              <a:t>&gt;</a:t>
            </a:r>
          </a:p>
          <a:p>
            <a:pPr marL="274320" lvl="1" indent="0">
              <a:buNone/>
            </a:pPr>
            <a:r>
              <a:rPr lang="en-US" altLang="zh-TW" sz="2300" dirty="0"/>
              <a:t>&lt;table width=400 border=1 </a:t>
            </a:r>
            <a:r>
              <a:rPr lang="en-US" altLang="zh-TW" sz="2300" dirty="0" err="1"/>
              <a:t>bgcolor</a:t>
            </a:r>
            <a:r>
              <a:rPr lang="en-US" altLang="zh-TW" sz="2300" dirty="0"/>
              <a:t>='#</a:t>
            </a:r>
            <a:r>
              <a:rPr lang="en-US" altLang="zh-TW" sz="2300" dirty="0" err="1"/>
              <a:t>ccffcc</a:t>
            </a:r>
            <a:r>
              <a:rPr lang="en-US" altLang="zh-TW" sz="2300" dirty="0"/>
              <a:t>'&gt;</a:t>
            </a:r>
          </a:p>
          <a:p>
            <a:pPr marL="274320" lvl="1" indent="0">
              <a:buNone/>
            </a:pPr>
            <a:r>
              <a:rPr lang="en-US" altLang="zh-TW" sz="2300" dirty="0"/>
              <a:t>&lt;</a:t>
            </a:r>
            <a:r>
              <a:rPr lang="en-US" altLang="zh-TW" sz="2300" dirty="0" err="1"/>
              <a:t>tr</a:t>
            </a:r>
            <a:r>
              <a:rPr lang="en-US" altLang="zh-TW" sz="2300" dirty="0"/>
              <a:t>&gt;&lt;td&gt;</a:t>
            </a:r>
            <a:r>
              <a:rPr lang="zh-TW" altLang="en-US" sz="2300" dirty="0"/>
              <a:t>品項編號</a:t>
            </a:r>
            <a:r>
              <a:rPr lang="en-US" altLang="zh-TW" sz="2300" dirty="0"/>
              <a:t>&lt;/td&gt;&lt;td&gt;</a:t>
            </a:r>
            <a:r>
              <a:rPr lang="en-US" altLang="zh-TW" sz="2300" dirty="0">
                <a:solidFill>
                  <a:srgbClr val="FF0000"/>
                </a:solidFill>
              </a:rPr>
              <a:t>{{</a:t>
            </a:r>
            <a:r>
              <a:rPr lang="en-US" altLang="zh-TW" sz="2300" dirty="0" err="1">
                <a:solidFill>
                  <a:srgbClr val="FF0000"/>
                </a:solidFill>
              </a:rPr>
              <a:t>p.sku</a:t>
            </a:r>
            <a:r>
              <a:rPr lang="en-US" altLang="zh-TW" sz="2300" dirty="0">
                <a:solidFill>
                  <a:srgbClr val="FF0000"/>
                </a:solidFill>
              </a:rPr>
              <a:t>}}</a:t>
            </a:r>
            <a:r>
              <a:rPr lang="en-US" altLang="zh-TW" sz="2300" dirty="0"/>
              <a:t>&lt;/td&gt;&lt;/</a:t>
            </a:r>
            <a:r>
              <a:rPr lang="en-US" altLang="zh-TW" sz="2300" dirty="0" err="1"/>
              <a:t>tr</a:t>
            </a:r>
            <a:r>
              <a:rPr lang="en-US" altLang="zh-TW" sz="2300" dirty="0"/>
              <a:t>&gt;</a:t>
            </a:r>
          </a:p>
          <a:p>
            <a:pPr marL="274320" lvl="1" indent="0">
              <a:buNone/>
            </a:pPr>
            <a:r>
              <a:rPr lang="en-US" altLang="zh-TW" sz="2300" dirty="0"/>
              <a:t>&lt;</a:t>
            </a:r>
            <a:r>
              <a:rPr lang="en-US" altLang="zh-TW" sz="2300" dirty="0" err="1"/>
              <a:t>tr</a:t>
            </a:r>
            <a:r>
              <a:rPr lang="en-US" altLang="zh-TW" sz="2300" dirty="0"/>
              <a:t>&gt;&lt;td&gt;</a:t>
            </a:r>
            <a:r>
              <a:rPr lang="zh-TW" altLang="en-US" sz="2300" dirty="0"/>
              <a:t>品項名稱</a:t>
            </a:r>
            <a:r>
              <a:rPr lang="en-US" altLang="zh-TW" sz="2300" dirty="0"/>
              <a:t>&lt;/td&gt;&lt;td&gt;</a:t>
            </a:r>
            <a:r>
              <a:rPr lang="en-US" altLang="zh-TW" sz="2300" dirty="0">
                <a:solidFill>
                  <a:srgbClr val="FF0000"/>
                </a:solidFill>
              </a:rPr>
              <a:t>{{p.name}}</a:t>
            </a:r>
            <a:r>
              <a:rPr lang="en-US" altLang="zh-TW" sz="2300" dirty="0"/>
              <a:t>&lt;/td&gt;&lt;/</a:t>
            </a:r>
            <a:r>
              <a:rPr lang="en-US" altLang="zh-TW" sz="2300" dirty="0" err="1"/>
              <a:t>tr</a:t>
            </a:r>
            <a:r>
              <a:rPr lang="en-US" altLang="zh-TW" sz="2300" dirty="0"/>
              <a:t>&gt;</a:t>
            </a:r>
          </a:p>
          <a:p>
            <a:pPr marL="274320" lvl="1" indent="0">
              <a:buNone/>
            </a:pPr>
            <a:r>
              <a:rPr lang="en-US" altLang="zh-TW" sz="2300" dirty="0"/>
              <a:t>&lt;</a:t>
            </a:r>
            <a:r>
              <a:rPr lang="en-US" altLang="zh-TW" sz="2300" dirty="0" err="1"/>
              <a:t>tr</a:t>
            </a:r>
            <a:r>
              <a:rPr lang="en-US" altLang="zh-TW" sz="2300" dirty="0"/>
              <a:t>&gt;&lt;td&gt;</a:t>
            </a:r>
            <a:r>
              <a:rPr lang="zh-TW" altLang="en-US" sz="2300" dirty="0"/>
              <a:t>二手售價</a:t>
            </a:r>
            <a:r>
              <a:rPr lang="en-US" altLang="zh-TW" sz="2300" dirty="0"/>
              <a:t>&lt;/td&gt;&lt;td&gt;</a:t>
            </a:r>
            <a:r>
              <a:rPr lang="en-US" altLang="zh-TW" sz="2300" dirty="0">
                <a:solidFill>
                  <a:srgbClr val="FF0000"/>
                </a:solidFill>
              </a:rPr>
              <a:t>{{</a:t>
            </a:r>
            <a:r>
              <a:rPr lang="en-US" altLang="zh-TW" sz="2300" dirty="0" err="1">
                <a:solidFill>
                  <a:srgbClr val="FF0000"/>
                </a:solidFill>
              </a:rPr>
              <a:t>p.price</a:t>
            </a:r>
            <a:r>
              <a:rPr lang="en-US" altLang="zh-TW" sz="2300" dirty="0">
                <a:solidFill>
                  <a:srgbClr val="FF0000"/>
                </a:solidFill>
              </a:rPr>
              <a:t>}}</a:t>
            </a:r>
            <a:r>
              <a:rPr lang="en-US" altLang="zh-TW" sz="2300" dirty="0"/>
              <a:t>&lt;/td&gt;&lt;/</a:t>
            </a:r>
            <a:r>
              <a:rPr lang="en-US" altLang="zh-TW" sz="2300" dirty="0" err="1"/>
              <a:t>tr</a:t>
            </a:r>
            <a:r>
              <a:rPr lang="en-US" altLang="zh-TW" sz="2300" dirty="0"/>
              <a:t>&gt;</a:t>
            </a:r>
          </a:p>
          <a:p>
            <a:pPr marL="274320" lvl="1" indent="0">
              <a:buNone/>
            </a:pPr>
            <a:r>
              <a:rPr lang="en-US" altLang="zh-TW" sz="2300" dirty="0"/>
              <a:t>&lt;</a:t>
            </a:r>
            <a:r>
              <a:rPr lang="en-US" altLang="zh-TW" sz="2300" dirty="0" err="1"/>
              <a:t>tr</a:t>
            </a:r>
            <a:r>
              <a:rPr lang="en-US" altLang="zh-TW" sz="2300" dirty="0"/>
              <a:t>&gt;&lt;td&gt;</a:t>
            </a:r>
            <a:r>
              <a:rPr lang="zh-TW" altLang="en-US" sz="2300" dirty="0"/>
              <a:t>庫頁數量</a:t>
            </a:r>
            <a:r>
              <a:rPr lang="en-US" altLang="zh-TW" sz="2300" dirty="0"/>
              <a:t>&lt;/td&gt;&lt;td&gt;</a:t>
            </a:r>
            <a:r>
              <a:rPr lang="en-US" altLang="zh-TW" sz="2300" dirty="0">
                <a:solidFill>
                  <a:srgbClr val="FF0000"/>
                </a:solidFill>
              </a:rPr>
              <a:t>{{</a:t>
            </a:r>
            <a:r>
              <a:rPr lang="en-US" altLang="zh-TW" sz="2300" dirty="0" err="1">
                <a:solidFill>
                  <a:srgbClr val="FF0000"/>
                </a:solidFill>
              </a:rPr>
              <a:t>p.qty</a:t>
            </a:r>
            <a:r>
              <a:rPr lang="en-US" altLang="zh-TW" sz="2300" dirty="0">
                <a:solidFill>
                  <a:srgbClr val="FF0000"/>
                </a:solidFill>
              </a:rPr>
              <a:t>}}</a:t>
            </a:r>
            <a:r>
              <a:rPr lang="en-US" altLang="zh-TW" sz="2300" dirty="0"/>
              <a:t>&lt;/td&gt;&lt;/</a:t>
            </a:r>
            <a:r>
              <a:rPr lang="en-US" altLang="zh-TW" sz="2300" dirty="0" err="1"/>
              <a:t>tr</a:t>
            </a:r>
            <a:r>
              <a:rPr lang="en-US" altLang="zh-TW" sz="2300" dirty="0"/>
              <a:t>&gt;</a:t>
            </a:r>
          </a:p>
          <a:p>
            <a:pPr marL="274320" lvl="1" indent="0">
              <a:buNone/>
            </a:pPr>
            <a:r>
              <a:rPr lang="en-US" altLang="zh-TW" sz="2300" dirty="0"/>
              <a:t>&lt;/table&gt;</a:t>
            </a:r>
          </a:p>
          <a:p>
            <a:pPr marL="274320" lvl="1" indent="0">
              <a:buNone/>
            </a:pPr>
            <a:r>
              <a:rPr lang="en-US" altLang="zh-TW" sz="2300" dirty="0"/>
              <a:t>&lt;a </a:t>
            </a:r>
            <a:r>
              <a:rPr lang="en-US" altLang="zh-TW" sz="2300" dirty="0" err="1"/>
              <a:t>href</a:t>
            </a:r>
            <a:r>
              <a:rPr lang="en-US" altLang="zh-TW" sz="2300" dirty="0"/>
              <a:t>='/list'&gt;</a:t>
            </a:r>
            <a:r>
              <a:rPr lang="zh-TW" altLang="en-US" sz="2300" dirty="0"/>
              <a:t>回列表</a:t>
            </a:r>
            <a:r>
              <a:rPr lang="en-US" altLang="zh-TW" sz="2300" dirty="0"/>
              <a:t>&lt;/a&gt;</a:t>
            </a:r>
          </a:p>
          <a:p>
            <a:pPr marL="274320" lvl="1" indent="0">
              <a:buNone/>
            </a:pPr>
            <a:r>
              <a:rPr lang="en-US" altLang="zh-TW" sz="2300" dirty="0"/>
              <a:t>&lt;/body&gt;</a:t>
            </a:r>
          </a:p>
          <a:p>
            <a:pPr marL="274320" lvl="1" indent="0">
              <a:buNone/>
            </a:pPr>
            <a:r>
              <a:rPr lang="en-US" altLang="zh-TW" sz="2300" dirty="0"/>
              <a:t>&lt;/html&gt;</a:t>
            </a:r>
          </a:p>
        </p:txBody>
      </p:sp>
    </p:spTree>
    <p:extLst>
      <p:ext uri="{BB962C8B-B14F-4D97-AF65-F5344CB8AC3E}">
        <p14:creationId xmlns:p14="http://schemas.microsoft.com/office/powerpoint/2010/main" val="226169218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zh-TW" dirty="0"/>
              <a:t>在</a:t>
            </a:r>
            <a:r>
              <a:rPr lang="en-US" altLang="zh-TW" dirty="0"/>
              <a:t>views.py</a:t>
            </a:r>
            <a:r>
              <a:rPr lang="zh-TW" altLang="zh-TW" dirty="0"/>
              <a:t>顯示查詢資料列表</a:t>
            </a:r>
            <a:endParaRPr lang="zh-TW" altLang="en-US" dirty="0"/>
          </a:p>
        </p:txBody>
      </p:sp>
      <p:sp>
        <p:nvSpPr>
          <p:cNvPr id="3" name="投影片編號版面配置區 2"/>
          <p:cNvSpPr>
            <a:spLocks noGrp="1"/>
          </p:cNvSpPr>
          <p:nvPr>
            <p:ph type="sldNum" sz="quarter" idx="12"/>
          </p:nvPr>
        </p:nvSpPr>
        <p:spPr/>
        <p:txBody>
          <a:bodyPr/>
          <a:lstStyle/>
          <a:p>
            <a:fld id="{369E457D-EE12-4164-8E32-9DDD40A95892}" type="slidenum">
              <a:rPr lang="zh-TW" altLang="en-US" smtClean="0"/>
              <a:pPr/>
              <a:t>61</a:t>
            </a:fld>
            <a:endParaRPr lang="zh-TW" altLang="en-US"/>
          </a:p>
        </p:txBody>
      </p:sp>
      <p:sp>
        <p:nvSpPr>
          <p:cNvPr id="4" name="內容版面配置區 3"/>
          <p:cNvSpPr>
            <a:spLocks noGrp="1"/>
          </p:cNvSpPr>
          <p:nvPr>
            <p:ph sz="quarter" idx="1"/>
          </p:nvPr>
        </p:nvSpPr>
        <p:spPr/>
        <p:txBody>
          <a:bodyPr/>
          <a:lstStyle/>
          <a:p>
            <a:r>
              <a:rPr lang="zh-TW" altLang="zh-TW" dirty="0"/>
              <a:t>在</a:t>
            </a:r>
            <a:r>
              <a:rPr lang="en-US" altLang="zh-TW" dirty="0"/>
              <a:t>urls.py</a:t>
            </a:r>
            <a:r>
              <a:rPr lang="zh-TW" altLang="zh-TW" dirty="0"/>
              <a:t>中，加入對於</a:t>
            </a:r>
            <a:r>
              <a:rPr lang="en-US" altLang="zh-TW" dirty="0"/>
              <a:t>listing</a:t>
            </a:r>
            <a:r>
              <a:rPr lang="zh-TW" altLang="zh-TW" dirty="0"/>
              <a:t>函數的</a:t>
            </a:r>
            <a:r>
              <a:rPr lang="en-US" altLang="zh-TW" dirty="0"/>
              <a:t>import</a:t>
            </a:r>
            <a:r>
              <a:rPr lang="zh-TW" altLang="zh-TW" dirty="0"/>
              <a:t>以及</a:t>
            </a:r>
            <a:r>
              <a:rPr lang="en-US" altLang="zh-TW" dirty="0"/>
              <a:t>URL</a:t>
            </a:r>
            <a:r>
              <a:rPr lang="zh-TW" altLang="zh-TW" dirty="0"/>
              <a:t>的對應</a:t>
            </a:r>
            <a:r>
              <a:rPr lang="zh-TW" altLang="en-US" dirty="0"/>
              <a:t>：</a:t>
            </a:r>
            <a:endParaRPr lang="en-US" altLang="zh-TW" dirty="0"/>
          </a:p>
          <a:p>
            <a:pPr marL="274320" lvl="1" indent="0">
              <a:buNone/>
            </a:pPr>
            <a:r>
              <a:rPr lang="en-US" altLang="zh-TW" dirty="0"/>
              <a:t>from </a:t>
            </a:r>
            <a:r>
              <a:rPr lang="en-US" altLang="zh-TW" dirty="0" err="1"/>
              <a:t>django.contrib</a:t>
            </a:r>
            <a:r>
              <a:rPr lang="en-US" altLang="zh-TW" dirty="0"/>
              <a:t> import admin</a:t>
            </a:r>
          </a:p>
          <a:p>
            <a:pPr marL="274320" lvl="1" indent="0">
              <a:buNone/>
            </a:pPr>
            <a:r>
              <a:rPr lang="en-US" altLang="zh-TW" dirty="0"/>
              <a:t>from </a:t>
            </a:r>
            <a:r>
              <a:rPr lang="en-US" altLang="zh-TW" dirty="0" err="1"/>
              <a:t>django.urls</a:t>
            </a:r>
            <a:r>
              <a:rPr lang="en-US" altLang="zh-TW" dirty="0"/>
              <a:t> import path</a:t>
            </a:r>
          </a:p>
          <a:p>
            <a:pPr marL="274320" lvl="1" indent="0">
              <a:buNone/>
            </a:pPr>
            <a:r>
              <a:rPr lang="en-US" altLang="zh-TW" dirty="0">
                <a:solidFill>
                  <a:srgbClr val="FF0000"/>
                </a:solidFill>
              </a:rPr>
              <a:t>from </a:t>
            </a:r>
            <a:r>
              <a:rPr lang="en-US" altLang="zh-TW" dirty="0" err="1">
                <a:solidFill>
                  <a:srgbClr val="FF0000"/>
                </a:solidFill>
              </a:rPr>
              <a:t>mysite.views</a:t>
            </a:r>
            <a:r>
              <a:rPr lang="en-US" altLang="zh-TW" dirty="0">
                <a:solidFill>
                  <a:srgbClr val="FF0000"/>
                </a:solidFill>
              </a:rPr>
              <a:t> import about, listing</a:t>
            </a:r>
          </a:p>
          <a:p>
            <a:pPr marL="274320" lvl="1" indent="0">
              <a:buNone/>
            </a:pPr>
            <a:endParaRPr lang="en-US" altLang="zh-TW" dirty="0"/>
          </a:p>
          <a:p>
            <a:pPr marL="274320" lvl="1" indent="0">
              <a:buNone/>
            </a:pPr>
            <a:r>
              <a:rPr lang="en-US" altLang="zh-TW" dirty="0" err="1"/>
              <a:t>urlpatterns</a:t>
            </a:r>
            <a:r>
              <a:rPr lang="en-US" altLang="zh-TW" dirty="0"/>
              <a:t> = [</a:t>
            </a:r>
          </a:p>
          <a:p>
            <a:pPr marL="274320" lvl="1" indent="0">
              <a:buNone/>
            </a:pPr>
            <a:r>
              <a:rPr lang="en-US" altLang="zh-TW" dirty="0"/>
              <a:t>    path('admin/', </a:t>
            </a:r>
            <a:r>
              <a:rPr lang="en-US" altLang="zh-TW" dirty="0" err="1"/>
              <a:t>admin.site.urls</a:t>
            </a:r>
            <a:r>
              <a:rPr lang="en-US" altLang="zh-TW" dirty="0"/>
              <a:t>),</a:t>
            </a:r>
          </a:p>
          <a:p>
            <a:pPr marL="274320" lvl="1" indent="0">
              <a:buNone/>
            </a:pPr>
            <a:r>
              <a:rPr lang="en-US" altLang="zh-TW" dirty="0"/>
              <a:t>    path('about/', about),</a:t>
            </a:r>
          </a:p>
          <a:p>
            <a:pPr marL="274320" lvl="1" indent="0">
              <a:buNone/>
            </a:pPr>
            <a:r>
              <a:rPr lang="en-US" altLang="zh-TW" dirty="0"/>
              <a:t>    </a:t>
            </a:r>
            <a:r>
              <a:rPr lang="en-US" altLang="zh-TW" dirty="0">
                <a:solidFill>
                  <a:srgbClr val="FF0000"/>
                </a:solidFill>
              </a:rPr>
              <a:t>path('list/', listing),</a:t>
            </a:r>
          </a:p>
          <a:p>
            <a:pPr marL="274320" lvl="1" indent="0">
              <a:buNone/>
            </a:pPr>
            <a:r>
              <a:rPr lang="en-US" altLang="zh-TW" dirty="0"/>
              <a:t>]</a:t>
            </a:r>
          </a:p>
          <a:p>
            <a:pPr lvl="1"/>
            <a:endParaRPr lang="zh-TW" altLang="en-US" dirty="0"/>
          </a:p>
        </p:txBody>
      </p:sp>
    </p:spTree>
    <p:extLst>
      <p:ext uri="{BB962C8B-B14F-4D97-AF65-F5344CB8AC3E}">
        <p14:creationId xmlns:p14="http://schemas.microsoft.com/office/powerpoint/2010/main" val="269067770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8E1803-FE40-AA30-F7F5-8400D4E0A576}"/>
              </a:ext>
            </a:extLst>
          </p:cNvPr>
          <p:cNvSpPr>
            <a:spLocks noGrp="1"/>
          </p:cNvSpPr>
          <p:nvPr>
            <p:ph type="title"/>
          </p:nvPr>
        </p:nvSpPr>
        <p:spPr/>
        <p:txBody>
          <a:bodyPr/>
          <a:lstStyle/>
          <a:p>
            <a:r>
              <a:rPr lang="zh-TW" altLang="en-US" dirty="0"/>
              <a:t>找到資料時的畫面</a:t>
            </a:r>
          </a:p>
        </p:txBody>
      </p:sp>
      <p:sp>
        <p:nvSpPr>
          <p:cNvPr id="3" name="投影片編號版面配置區 2">
            <a:extLst>
              <a:ext uri="{FF2B5EF4-FFF2-40B4-BE49-F238E27FC236}">
                <a16:creationId xmlns:a16="http://schemas.microsoft.com/office/drawing/2014/main" id="{1B21C000-8054-1C80-E31A-08E83A35F94E}"/>
              </a:ext>
            </a:extLst>
          </p:cNvPr>
          <p:cNvSpPr>
            <a:spLocks noGrp="1"/>
          </p:cNvSpPr>
          <p:nvPr>
            <p:ph type="sldNum" sz="quarter" idx="12"/>
          </p:nvPr>
        </p:nvSpPr>
        <p:spPr/>
        <p:txBody>
          <a:bodyPr/>
          <a:lstStyle/>
          <a:p>
            <a:fld id="{369E457D-EE12-4164-8E32-9DDD40A95892}" type="slidenum">
              <a:rPr lang="zh-TW" altLang="en-US" smtClean="0"/>
              <a:pPr/>
              <a:t>62</a:t>
            </a:fld>
            <a:endParaRPr lang="zh-TW" altLang="en-US"/>
          </a:p>
        </p:txBody>
      </p:sp>
      <p:pic>
        <p:nvPicPr>
          <p:cNvPr id="5" name="內容版面配置區 4" descr="一張含有 桌 的圖片&#10;&#10;自動產生的描述">
            <a:extLst>
              <a:ext uri="{FF2B5EF4-FFF2-40B4-BE49-F238E27FC236}">
                <a16:creationId xmlns:a16="http://schemas.microsoft.com/office/drawing/2014/main" id="{532366A6-5493-B130-9F03-C6B69D7613DF}"/>
              </a:ext>
            </a:extLst>
          </p:cNvPr>
          <p:cNvPicPr>
            <a:picLocks noGrp="1" noChangeAspect="1"/>
          </p:cNvPicPr>
          <p:nvPr>
            <p:ph sz="quarter" idx="1"/>
          </p:nvPr>
        </p:nvPicPr>
        <p:blipFill>
          <a:blip r:embed="rId2"/>
          <a:stretch>
            <a:fillRect/>
          </a:stretch>
        </p:blipFill>
        <p:spPr>
          <a:xfrm>
            <a:off x="1090154" y="2060423"/>
            <a:ext cx="6927180" cy="3505504"/>
          </a:xfrm>
          <a:prstGeom prst="rect">
            <a:avLst/>
          </a:prstGeom>
        </p:spPr>
      </p:pic>
    </p:spTree>
    <p:extLst>
      <p:ext uri="{BB962C8B-B14F-4D97-AF65-F5344CB8AC3E}">
        <p14:creationId xmlns:p14="http://schemas.microsoft.com/office/powerpoint/2010/main" val="317214184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6075992-6867-AF97-B33D-DA03FBCAB28D}"/>
              </a:ext>
            </a:extLst>
          </p:cNvPr>
          <p:cNvSpPr>
            <a:spLocks noGrp="1"/>
          </p:cNvSpPr>
          <p:nvPr>
            <p:ph type="title"/>
          </p:nvPr>
        </p:nvSpPr>
        <p:spPr>
          <a:xfrm>
            <a:off x="304800" y="18260"/>
            <a:ext cx="8534400" cy="758952"/>
          </a:xfrm>
        </p:spPr>
        <p:txBody>
          <a:bodyPr>
            <a:normAutofit fontScale="90000"/>
          </a:bodyPr>
          <a:lstStyle/>
          <a:p>
            <a:r>
              <a:rPr lang="zh-TW" altLang="en-US" dirty="0"/>
              <a:t>找不到資料時的畫面</a:t>
            </a:r>
            <a:r>
              <a:rPr lang="en-US" altLang="zh-TW" dirty="0">
                <a:solidFill>
                  <a:srgbClr val="FF0000"/>
                </a:solidFill>
              </a:rPr>
              <a:t>(</a:t>
            </a:r>
            <a:r>
              <a:rPr lang="zh-TW" altLang="en-US" dirty="0">
                <a:solidFill>
                  <a:srgbClr val="FF0000"/>
                </a:solidFill>
              </a:rPr>
              <a:t>說明</a:t>
            </a:r>
            <a:r>
              <a:rPr lang="en-US" altLang="zh-TW" dirty="0">
                <a:solidFill>
                  <a:srgbClr val="FF0000"/>
                </a:solidFill>
              </a:rPr>
              <a:t>get</a:t>
            </a:r>
            <a:r>
              <a:rPr lang="zh-TW" altLang="en-US" dirty="0">
                <a:solidFill>
                  <a:srgbClr val="FF0000"/>
                </a:solidFill>
              </a:rPr>
              <a:t>為何要加</a:t>
            </a:r>
            <a:r>
              <a:rPr lang="en-US" altLang="zh-TW" dirty="0">
                <a:solidFill>
                  <a:srgbClr val="FF0000"/>
                </a:solidFill>
              </a:rPr>
              <a:t>try exp)</a:t>
            </a:r>
            <a:endParaRPr lang="zh-TW" altLang="en-US" dirty="0">
              <a:solidFill>
                <a:srgbClr val="FF0000"/>
              </a:solidFill>
            </a:endParaRPr>
          </a:p>
        </p:txBody>
      </p:sp>
      <p:sp>
        <p:nvSpPr>
          <p:cNvPr id="3" name="投影片編號版面配置區 2">
            <a:extLst>
              <a:ext uri="{FF2B5EF4-FFF2-40B4-BE49-F238E27FC236}">
                <a16:creationId xmlns:a16="http://schemas.microsoft.com/office/drawing/2014/main" id="{0C111103-11F9-F7F9-4349-4303A2EA969B}"/>
              </a:ext>
            </a:extLst>
          </p:cNvPr>
          <p:cNvSpPr>
            <a:spLocks noGrp="1"/>
          </p:cNvSpPr>
          <p:nvPr>
            <p:ph type="sldNum" sz="quarter" idx="12"/>
          </p:nvPr>
        </p:nvSpPr>
        <p:spPr>
          <a:xfrm>
            <a:off x="4361688" y="1288040"/>
            <a:ext cx="457200" cy="441325"/>
          </a:xfrm>
        </p:spPr>
        <p:txBody>
          <a:bodyPr/>
          <a:lstStyle/>
          <a:p>
            <a:fld id="{369E457D-EE12-4164-8E32-9DDD40A95892}" type="slidenum">
              <a:rPr lang="zh-TW" altLang="en-US" smtClean="0"/>
              <a:pPr/>
              <a:t>63</a:t>
            </a:fld>
            <a:endParaRPr lang="zh-TW" altLang="en-US"/>
          </a:p>
        </p:txBody>
      </p:sp>
      <p:pic>
        <p:nvPicPr>
          <p:cNvPr id="8" name="內容版面配置區 7">
            <a:extLst>
              <a:ext uri="{FF2B5EF4-FFF2-40B4-BE49-F238E27FC236}">
                <a16:creationId xmlns:a16="http://schemas.microsoft.com/office/drawing/2014/main" id="{290A66A5-0A75-D608-400E-4ADF7B9D0E91}"/>
              </a:ext>
            </a:extLst>
          </p:cNvPr>
          <p:cNvPicPr>
            <a:picLocks noGrp="1" noChangeAspect="1"/>
          </p:cNvPicPr>
          <p:nvPr>
            <p:ph sz="quarter" idx="1"/>
          </p:nvPr>
        </p:nvPicPr>
        <p:blipFill>
          <a:blip r:embed="rId3">
            <a:extLst>
              <a:ext uri="{28A0092B-C50C-407E-A947-70E740481C1C}">
                <a14:useLocalDpi xmlns:a14="http://schemas.microsoft.com/office/drawing/2010/main" val="0"/>
              </a:ext>
            </a:extLst>
          </a:blip>
          <a:srcRect b="34650"/>
          <a:stretch>
            <a:fillRect/>
          </a:stretch>
        </p:blipFill>
        <p:spPr>
          <a:xfrm>
            <a:off x="489744" y="3897560"/>
            <a:ext cx="8128000" cy="2987824"/>
          </a:xfrm>
        </p:spPr>
      </p:pic>
      <p:pic>
        <p:nvPicPr>
          <p:cNvPr id="10" name="圖片 9">
            <a:extLst>
              <a:ext uri="{FF2B5EF4-FFF2-40B4-BE49-F238E27FC236}">
                <a16:creationId xmlns:a16="http://schemas.microsoft.com/office/drawing/2014/main" id="{DC91ACAF-4284-3D04-3810-CE62020465C5}"/>
              </a:ext>
            </a:extLst>
          </p:cNvPr>
          <p:cNvPicPr>
            <a:picLocks noChangeAspect="1"/>
          </p:cNvPicPr>
          <p:nvPr/>
        </p:nvPicPr>
        <p:blipFill>
          <a:blip r:embed="rId4">
            <a:extLst>
              <a:ext uri="{28A0092B-C50C-407E-A947-70E740481C1C}">
                <a14:useLocalDpi xmlns:a14="http://schemas.microsoft.com/office/drawing/2010/main" val="0"/>
              </a:ext>
            </a:extLst>
          </a:blip>
          <a:srcRect t="3288" b="37401"/>
          <a:stretch>
            <a:fillRect/>
          </a:stretch>
        </p:blipFill>
        <p:spPr>
          <a:xfrm>
            <a:off x="0" y="738340"/>
            <a:ext cx="9144000" cy="3050700"/>
          </a:xfrm>
          <a:prstGeom prst="rect">
            <a:avLst/>
          </a:prstGeom>
        </p:spPr>
      </p:pic>
    </p:spTree>
    <p:extLst>
      <p:ext uri="{BB962C8B-B14F-4D97-AF65-F5344CB8AC3E}">
        <p14:creationId xmlns:p14="http://schemas.microsoft.com/office/powerpoint/2010/main" val="13534897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B84BDE7-94E0-C1B4-AAA3-7145DB2C5839}"/>
              </a:ext>
            </a:extLst>
          </p:cNvPr>
          <p:cNvSpPr>
            <a:spLocks noGrp="1"/>
          </p:cNvSpPr>
          <p:nvPr>
            <p:ph type="title"/>
          </p:nvPr>
        </p:nvSpPr>
        <p:spPr/>
        <p:txBody>
          <a:bodyPr>
            <a:normAutofit fontScale="90000"/>
          </a:bodyPr>
          <a:lstStyle/>
          <a:p>
            <a:r>
              <a:rPr lang="zh-TW" altLang="en-US" dirty="0"/>
              <a:t>練習用模板語法顯示資料</a:t>
            </a:r>
            <a:br>
              <a:rPr lang="en-US" altLang="zh-TW" dirty="0"/>
            </a:br>
            <a:r>
              <a:rPr lang="zh-TW" altLang="en-US" dirty="0">
                <a:solidFill>
                  <a:srgbClr val="FF0000"/>
                </a:solidFill>
              </a:rPr>
              <a:t>解答在</a:t>
            </a:r>
            <a:r>
              <a:rPr lang="en-US" altLang="zh-TW" dirty="0">
                <a:solidFill>
                  <a:srgbClr val="FF0000"/>
                </a:solidFill>
              </a:rPr>
              <a:t>02mblog</a:t>
            </a:r>
            <a:endParaRPr lang="zh-TW" altLang="en-US" dirty="0">
              <a:solidFill>
                <a:srgbClr val="FF0000"/>
              </a:solidFill>
            </a:endParaRPr>
          </a:p>
        </p:txBody>
      </p:sp>
      <p:sp>
        <p:nvSpPr>
          <p:cNvPr id="3" name="直排文字版面配置區 2">
            <a:extLst>
              <a:ext uri="{FF2B5EF4-FFF2-40B4-BE49-F238E27FC236}">
                <a16:creationId xmlns:a16="http://schemas.microsoft.com/office/drawing/2014/main" id="{7475DFBA-081B-83B9-CB3B-AB84EB823149}"/>
              </a:ext>
            </a:extLst>
          </p:cNvPr>
          <p:cNvSpPr>
            <a:spLocks noGrp="1"/>
          </p:cNvSpPr>
          <p:nvPr>
            <p:ph type="body" orient="vert" idx="1"/>
          </p:nvPr>
        </p:nvSpPr>
        <p:spPr/>
        <p:txBody>
          <a:bodyPr/>
          <a:lstStyle/>
          <a:p>
            <a:endParaRPr lang="zh-TW" altLang="en-US"/>
          </a:p>
        </p:txBody>
      </p:sp>
      <p:sp>
        <p:nvSpPr>
          <p:cNvPr id="4" name="投影片編號版面配置區 3">
            <a:extLst>
              <a:ext uri="{FF2B5EF4-FFF2-40B4-BE49-F238E27FC236}">
                <a16:creationId xmlns:a16="http://schemas.microsoft.com/office/drawing/2014/main" id="{0669CB14-7E25-DB09-7AE3-72E8E2C741B7}"/>
              </a:ext>
            </a:extLst>
          </p:cNvPr>
          <p:cNvSpPr>
            <a:spLocks noGrp="1"/>
          </p:cNvSpPr>
          <p:nvPr>
            <p:ph type="sldNum" sz="quarter" idx="12"/>
          </p:nvPr>
        </p:nvSpPr>
        <p:spPr/>
        <p:txBody>
          <a:bodyPr/>
          <a:lstStyle/>
          <a:p>
            <a:fld id="{369E457D-EE12-4164-8E32-9DDD40A95892}" type="slidenum">
              <a:rPr lang="zh-TW" altLang="en-US" smtClean="0"/>
              <a:pPr/>
              <a:t>64</a:t>
            </a:fld>
            <a:endParaRPr lang="zh-TW" altLang="en-US"/>
          </a:p>
        </p:txBody>
      </p:sp>
      <p:graphicFrame>
        <p:nvGraphicFramePr>
          <p:cNvPr id="5" name="物件 4">
            <a:extLst>
              <a:ext uri="{FF2B5EF4-FFF2-40B4-BE49-F238E27FC236}">
                <a16:creationId xmlns:a16="http://schemas.microsoft.com/office/drawing/2014/main" id="{421B4981-F397-65E1-FE7E-9FBFDCAA9385}"/>
              </a:ext>
            </a:extLst>
          </p:cNvPr>
          <p:cNvGraphicFramePr>
            <a:graphicFrameLocks noChangeAspect="1"/>
          </p:cNvGraphicFramePr>
          <p:nvPr>
            <p:extLst>
              <p:ext uri="{D42A27DB-BD31-4B8C-83A1-F6EECF244321}">
                <p14:modId xmlns:p14="http://schemas.microsoft.com/office/powerpoint/2010/main" val="993963962"/>
              </p:ext>
            </p:extLst>
          </p:nvPr>
        </p:nvGraphicFramePr>
        <p:xfrm>
          <a:off x="4534807" y="4935443"/>
          <a:ext cx="4445000" cy="596900"/>
        </p:xfrm>
        <a:graphic>
          <a:graphicData uri="http://schemas.openxmlformats.org/presentationml/2006/ole">
            <mc:AlternateContent xmlns:mc="http://schemas.openxmlformats.org/markup-compatibility/2006">
              <mc:Choice xmlns:v="urn:schemas-microsoft-com:vml" Requires="v">
                <p:oleObj name="封裝程式殼層物件" showAsIcon="1" r:id="rId2" imgW="4444934" imgH="597003" progId="Package">
                  <p:embed/>
                </p:oleObj>
              </mc:Choice>
              <mc:Fallback>
                <p:oleObj name="封裝程式殼層物件" showAsIcon="1" r:id="rId2" imgW="4444934" imgH="597003" progId="Package">
                  <p:embed/>
                  <p:pic>
                    <p:nvPicPr>
                      <p:cNvPr id="0" name=""/>
                      <p:cNvPicPr/>
                      <p:nvPr/>
                    </p:nvPicPr>
                    <p:blipFill>
                      <a:blip r:embed="rId3"/>
                      <a:stretch>
                        <a:fillRect/>
                      </a:stretch>
                    </p:blipFill>
                    <p:spPr>
                      <a:xfrm>
                        <a:off x="4534807" y="4935443"/>
                        <a:ext cx="4445000" cy="596900"/>
                      </a:xfrm>
                      <a:prstGeom prst="rect">
                        <a:avLst/>
                      </a:prstGeom>
                    </p:spPr>
                  </p:pic>
                </p:oleObj>
              </mc:Fallback>
            </mc:AlternateContent>
          </a:graphicData>
        </a:graphic>
      </p:graphicFrame>
      <p:graphicFrame>
        <p:nvGraphicFramePr>
          <p:cNvPr id="6" name="物件 5">
            <a:extLst>
              <a:ext uri="{FF2B5EF4-FFF2-40B4-BE49-F238E27FC236}">
                <a16:creationId xmlns:a16="http://schemas.microsoft.com/office/drawing/2014/main" id="{8E49B115-DE59-AE53-FBA9-203AA5FAD97F}"/>
              </a:ext>
            </a:extLst>
          </p:cNvPr>
          <p:cNvGraphicFramePr>
            <a:graphicFrameLocks noChangeAspect="1"/>
          </p:cNvGraphicFramePr>
          <p:nvPr>
            <p:extLst>
              <p:ext uri="{D42A27DB-BD31-4B8C-83A1-F6EECF244321}">
                <p14:modId xmlns:p14="http://schemas.microsoft.com/office/powerpoint/2010/main" val="3764276805"/>
              </p:ext>
            </p:extLst>
          </p:nvPr>
        </p:nvGraphicFramePr>
        <p:xfrm>
          <a:off x="1951112" y="4158638"/>
          <a:ext cx="2584450" cy="596900"/>
        </p:xfrm>
        <a:graphic>
          <a:graphicData uri="http://schemas.openxmlformats.org/presentationml/2006/ole">
            <mc:AlternateContent xmlns:mc="http://schemas.openxmlformats.org/markup-compatibility/2006">
              <mc:Choice xmlns:v="urn:schemas-microsoft-com:vml" Requires="v">
                <p:oleObj name="封裝程式殼層物件" showAsIcon="1" r:id="rId4" imgW="2584466" imgH="597003" progId="Package">
                  <p:embed/>
                </p:oleObj>
              </mc:Choice>
              <mc:Fallback>
                <p:oleObj name="封裝程式殼層物件" showAsIcon="1" r:id="rId4" imgW="2584466" imgH="597003" progId="Package">
                  <p:embed/>
                  <p:pic>
                    <p:nvPicPr>
                      <p:cNvPr id="0" name=""/>
                      <p:cNvPicPr/>
                      <p:nvPr/>
                    </p:nvPicPr>
                    <p:blipFill>
                      <a:blip r:embed="rId5"/>
                      <a:stretch>
                        <a:fillRect/>
                      </a:stretch>
                    </p:blipFill>
                    <p:spPr>
                      <a:xfrm>
                        <a:off x="1951112" y="4158638"/>
                        <a:ext cx="2584450" cy="596900"/>
                      </a:xfrm>
                      <a:prstGeom prst="rect">
                        <a:avLst/>
                      </a:prstGeom>
                    </p:spPr>
                  </p:pic>
                </p:oleObj>
              </mc:Fallback>
            </mc:AlternateContent>
          </a:graphicData>
        </a:graphic>
      </p:graphicFrame>
      <p:graphicFrame>
        <p:nvGraphicFramePr>
          <p:cNvPr id="7" name="物件 6">
            <a:extLst>
              <a:ext uri="{FF2B5EF4-FFF2-40B4-BE49-F238E27FC236}">
                <a16:creationId xmlns:a16="http://schemas.microsoft.com/office/drawing/2014/main" id="{A966E8F2-360B-E062-2DA0-B9CED649E496}"/>
              </a:ext>
            </a:extLst>
          </p:cNvPr>
          <p:cNvGraphicFramePr>
            <a:graphicFrameLocks noChangeAspect="1"/>
          </p:cNvGraphicFramePr>
          <p:nvPr>
            <p:extLst>
              <p:ext uri="{D42A27DB-BD31-4B8C-83A1-F6EECF244321}">
                <p14:modId xmlns:p14="http://schemas.microsoft.com/office/powerpoint/2010/main" val="1598404369"/>
              </p:ext>
            </p:extLst>
          </p:nvPr>
        </p:nvGraphicFramePr>
        <p:xfrm>
          <a:off x="1979712" y="5075238"/>
          <a:ext cx="2698750" cy="596900"/>
        </p:xfrm>
        <a:graphic>
          <a:graphicData uri="http://schemas.openxmlformats.org/presentationml/2006/ole">
            <mc:AlternateContent xmlns:mc="http://schemas.openxmlformats.org/markup-compatibility/2006">
              <mc:Choice xmlns:v="urn:schemas-microsoft-com:vml" Requires="v">
                <p:oleObj name="封裝程式殼層物件" showAsIcon="1" r:id="rId6" imgW="2698865" imgH="597003" progId="Package">
                  <p:embed/>
                </p:oleObj>
              </mc:Choice>
              <mc:Fallback>
                <p:oleObj name="封裝程式殼層物件" showAsIcon="1" r:id="rId6" imgW="2698865" imgH="597003" progId="Package">
                  <p:embed/>
                  <p:pic>
                    <p:nvPicPr>
                      <p:cNvPr id="0" name=""/>
                      <p:cNvPicPr/>
                      <p:nvPr/>
                    </p:nvPicPr>
                    <p:blipFill>
                      <a:blip r:embed="rId7"/>
                      <a:stretch>
                        <a:fillRect/>
                      </a:stretch>
                    </p:blipFill>
                    <p:spPr>
                      <a:xfrm>
                        <a:off x="1979712" y="5075238"/>
                        <a:ext cx="2698750" cy="596900"/>
                      </a:xfrm>
                      <a:prstGeom prst="rect">
                        <a:avLst/>
                      </a:prstGeom>
                    </p:spPr>
                  </p:pic>
                </p:oleObj>
              </mc:Fallback>
            </mc:AlternateContent>
          </a:graphicData>
        </a:graphic>
      </p:graphicFrame>
    </p:spTree>
    <p:extLst>
      <p:ext uri="{BB962C8B-B14F-4D97-AF65-F5344CB8AC3E}">
        <p14:creationId xmlns:p14="http://schemas.microsoft.com/office/powerpoint/2010/main" val="9851162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0D4A236-26FB-637E-FD00-DDF1BEB14E3B}"/>
              </a:ext>
            </a:extLst>
          </p:cNvPr>
          <p:cNvSpPr>
            <a:spLocks noGrp="1"/>
          </p:cNvSpPr>
          <p:nvPr>
            <p:ph type="title"/>
          </p:nvPr>
        </p:nvSpPr>
        <p:spPr/>
        <p:txBody>
          <a:bodyPr>
            <a:normAutofit fontScale="90000"/>
          </a:bodyPr>
          <a:lstStyle/>
          <a:p>
            <a:r>
              <a:rPr lang="zh-TW" altLang="en-US" dirty="0"/>
              <a:t>習題解答</a:t>
            </a:r>
            <a:br>
              <a:rPr lang="en-US" altLang="zh-TW" dirty="0"/>
            </a:br>
            <a:r>
              <a:rPr lang="en-US" altLang="zh-TW" dirty="0"/>
              <a:t>student_list.html/student_grades.html</a:t>
            </a:r>
            <a:endParaRPr lang="zh-TW" altLang="en-US" dirty="0"/>
          </a:p>
        </p:txBody>
      </p:sp>
      <p:sp>
        <p:nvSpPr>
          <p:cNvPr id="3" name="投影片編號版面配置區 2">
            <a:extLst>
              <a:ext uri="{FF2B5EF4-FFF2-40B4-BE49-F238E27FC236}">
                <a16:creationId xmlns:a16="http://schemas.microsoft.com/office/drawing/2014/main" id="{0243ADE5-CA4B-317F-E265-CCDBB373A14D}"/>
              </a:ext>
            </a:extLst>
          </p:cNvPr>
          <p:cNvSpPr>
            <a:spLocks noGrp="1"/>
          </p:cNvSpPr>
          <p:nvPr>
            <p:ph type="sldNum" sz="quarter" idx="12"/>
          </p:nvPr>
        </p:nvSpPr>
        <p:spPr/>
        <p:txBody>
          <a:bodyPr/>
          <a:lstStyle/>
          <a:p>
            <a:fld id="{369E457D-EE12-4164-8E32-9DDD40A95892}" type="slidenum">
              <a:rPr lang="zh-TW" altLang="en-US" smtClean="0"/>
              <a:pPr/>
              <a:t>65</a:t>
            </a:fld>
            <a:endParaRPr lang="zh-TW" altLang="en-US"/>
          </a:p>
        </p:txBody>
      </p:sp>
      <p:pic>
        <p:nvPicPr>
          <p:cNvPr id="5" name="圖片 4">
            <a:extLst>
              <a:ext uri="{FF2B5EF4-FFF2-40B4-BE49-F238E27FC236}">
                <a16:creationId xmlns:a16="http://schemas.microsoft.com/office/drawing/2014/main" id="{E086FD14-C729-C45B-A4F4-7146D9AFDD7E}"/>
              </a:ext>
            </a:extLst>
          </p:cNvPr>
          <p:cNvPicPr>
            <a:picLocks noChangeAspect="1"/>
          </p:cNvPicPr>
          <p:nvPr/>
        </p:nvPicPr>
        <p:blipFill>
          <a:blip r:embed="rId2"/>
          <a:stretch>
            <a:fillRect/>
          </a:stretch>
        </p:blipFill>
        <p:spPr>
          <a:xfrm>
            <a:off x="4782296" y="2348880"/>
            <a:ext cx="4197751" cy="2794587"/>
          </a:xfrm>
          <a:prstGeom prst="rect">
            <a:avLst/>
          </a:prstGeom>
        </p:spPr>
      </p:pic>
      <p:pic>
        <p:nvPicPr>
          <p:cNvPr id="7" name="圖片 6">
            <a:extLst>
              <a:ext uri="{FF2B5EF4-FFF2-40B4-BE49-F238E27FC236}">
                <a16:creationId xmlns:a16="http://schemas.microsoft.com/office/drawing/2014/main" id="{F0614F61-E1A9-13EB-F9D6-762DDE540238}"/>
              </a:ext>
            </a:extLst>
          </p:cNvPr>
          <p:cNvPicPr>
            <a:picLocks noChangeAspect="1"/>
          </p:cNvPicPr>
          <p:nvPr/>
        </p:nvPicPr>
        <p:blipFill>
          <a:blip r:embed="rId3"/>
          <a:stretch>
            <a:fillRect/>
          </a:stretch>
        </p:blipFill>
        <p:spPr>
          <a:xfrm>
            <a:off x="396420" y="2425261"/>
            <a:ext cx="4172532" cy="2981741"/>
          </a:xfrm>
          <a:prstGeom prst="rect">
            <a:avLst/>
          </a:prstGeom>
        </p:spPr>
      </p:pic>
    </p:spTree>
    <p:extLst>
      <p:ext uri="{BB962C8B-B14F-4D97-AF65-F5344CB8AC3E}">
        <p14:creationId xmlns:p14="http://schemas.microsoft.com/office/powerpoint/2010/main" val="94863326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4C9E5541-B14B-6F1E-9E86-2D229ADB855A}"/>
              </a:ext>
            </a:extLst>
          </p:cNvPr>
          <p:cNvSpPr>
            <a:spLocks noGrp="1"/>
          </p:cNvSpPr>
          <p:nvPr>
            <p:ph type="sldNum" sz="quarter" idx="12"/>
          </p:nvPr>
        </p:nvSpPr>
        <p:spPr/>
        <p:txBody>
          <a:bodyPr/>
          <a:lstStyle/>
          <a:p>
            <a:fld id="{369E457D-EE12-4164-8E32-9DDD40A95892}" type="slidenum">
              <a:rPr lang="zh-TW" altLang="en-US" smtClean="0"/>
              <a:pPr/>
              <a:t>66</a:t>
            </a:fld>
            <a:endParaRPr lang="zh-TW" altLang="en-US"/>
          </a:p>
        </p:txBody>
      </p:sp>
      <p:pic>
        <p:nvPicPr>
          <p:cNvPr id="8" name="圖片 7">
            <a:extLst>
              <a:ext uri="{FF2B5EF4-FFF2-40B4-BE49-F238E27FC236}">
                <a16:creationId xmlns:a16="http://schemas.microsoft.com/office/drawing/2014/main" id="{BA914806-652F-59A7-2A46-CAD47C3824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Tree>
    <p:extLst>
      <p:ext uri="{BB962C8B-B14F-4D97-AF65-F5344CB8AC3E}">
        <p14:creationId xmlns:p14="http://schemas.microsoft.com/office/powerpoint/2010/main" val="57036082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77B50EDD-87E8-EDDA-1734-B5D701E311B6}"/>
              </a:ext>
            </a:extLst>
          </p:cNvPr>
          <p:cNvSpPr>
            <a:spLocks noGrp="1"/>
          </p:cNvSpPr>
          <p:nvPr>
            <p:ph type="sldNum" sz="quarter" idx="12"/>
          </p:nvPr>
        </p:nvSpPr>
        <p:spPr/>
        <p:txBody>
          <a:bodyPr/>
          <a:lstStyle/>
          <a:p>
            <a:fld id="{369E457D-EE12-4164-8E32-9DDD40A95892}" type="slidenum">
              <a:rPr lang="zh-TW" altLang="en-US" smtClean="0"/>
              <a:pPr/>
              <a:t>67</a:t>
            </a:fld>
            <a:endParaRPr lang="zh-TW" altLang="en-US"/>
          </a:p>
        </p:txBody>
      </p:sp>
      <p:pic>
        <p:nvPicPr>
          <p:cNvPr id="6" name="圖片 5">
            <a:extLst>
              <a:ext uri="{FF2B5EF4-FFF2-40B4-BE49-F238E27FC236}">
                <a16:creationId xmlns:a16="http://schemas.microsoft.com/office/drawing/2014/main" id="{EE68953A-837A-0041-F5DB-B3A1F89AB2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857250"/>
            <a:ext cx="9144000" cy="5143500"/>
          </a:xfrm>
          <a:prstGeom prst="rect">
            <a:avLst/>
          </a:prstGeom>
        </p:spPr>
      </p:pic>
    </p:spTree>
    <p:extLst>
      <p:ext uri="{BB962C8B-B14F-4D97-AF65-F5344CB8AC3E}">
        <p14:creationId xmlns:p14="http://schemas.microsoft.com/office/powerpoint/2010/main" val="4080646531"/>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市鎮">
  <a:themeElements>
    <a:clrScheme name="市鎮">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觀點">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minorFont>
    </a:fontScheme>
    <a:fmtScheme name="市鎮">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Civic</Template>
  <TotalTime>22401</TotalTime>
  <Words>6696</Words>
  <Application>Microsoft Office PowerPoint</Application>
  <PresentationFormat>如螢幕大小 (4:3)</PresentationFormat>
  <Paragraphs>747</Paragraphs>
  <Slides>67</Slides>
  <Notes>26</Notes>
  <HiddenSlides>1</HiddenSlides>
  <MMClips>0</MMClips>
  <ScaleCrop>false</ScaleCrop>
  <HeadingPairs>
    <vt:vector size="8" baseType="variant">
      <vt:variant>
        <vt:lpstr>使用字型</vt:lpstr>
      </vt:variant>
      <vt:variant>
        <vt:i4>7</vt:i4>
      </vt:variant>
      <vt:variant>
        <vt:lpstr>佈景主題</vt:lpstr>
      </vt:variant>
      <vt:variant>
        <vt:i4>1</vt:i4>
      </vt:variant>
      <vt:variant>
        <vt:lpstr>內嵌 OLE 伺服程式</vt:lpstr>
      </vt:variant>
      <vt:variant>
        <vt:i4>1</vt:i4>
      </vt:variant>
      <vt:variant>
        <vt:lpstr>投影片標題</vt:lpstr>
      </vt:variant>
      <vt:variant>
        <vt:i4>67</vt:i4>
      </vt:variant>
    </vt:vector>
  </HeadingPairs>
  <TitlesOfParts>
    <vt:vector size="76" baseType="lpstr">
      <vt:lpstr>微軟正黑體</vt:lpstr>
      <vt:lpstr>Calibri</vt:lpstr>
      <vt:lpstr>Consolas</vt:lpstr>
      <vt:lpstr>Courier New</vt:lpstr>
      <vt:lpstr>Verdana</vt:lpstr>
      <vt:lpstr>Wingdings</vt:lpstr>
      <vt:lpstr>Wingdings 2</vt:lpstr>
      <vt:lpstr>市鎮</vt:lpstr>
      <vt:lpstr>封裝程式殼層物件</vt:lpstr>
      <vt:lpstr>第四堂 深入瞭解Django的MVC架構</vt:lpstr>
      <vt:lpstr>學習目標</vt:lpstr>
      <vt:lpstr>MVC架構簡介</vt:lpstr>
      <vt:lpstr>MVC架構簡介</vt:lpstr>
      <vt:lpstr>Django的MTV架構</vt:lpstr>
      <vt:lpstr>Django的MTV架構</vt:lpstr>
      <vt:lpstr>MVC 與 MTV 對應關係</vt:lpstr>
      <vt:lpstr>PowerPoint 簡報</vt:lpstr>
      <vt:lpstr>PowerPoint 簡報</vt:lpstr>
      <vt:lpstr>Django MTV架構下的網站開發步驟</vt:lpstr>
      <vt:lpstr> 產生第一個網站框架 請在Anaconda Prompt之下執行以下指令</vt:lpstr>
      <vt:lpstr>Django MTV架構下的網站開發步驟</vt:lpstr>
      <vt:lpstr>Django MTV架構下的網站開發步驟</vt:lpstr>
      <vt:lpstr>Django MTV架構下的網站開發步驟</vt:lpstr>
      <vt:lpstr>Model簡介</vt:lpstr>
      <vt:lpstr>在models.py中建立資料表</vt:lpstr>
      <vt:lpstr>models.Model中常用的資料欄位格式</vt:lpstr>
      <vt:lpstr>models.Model中常用的資料欄位格式</vt:lpstr>
      <vt:lpstr>models.Model各欄位常用的屬性說明</vt:lpstr>
      <vt:lpstr>空字串（""）與 NULL 的區別</vt:lpstr>
      <vt:lpstr>設定NewTable資料表auto_now_add=True會有問題，可選1解決或不要設此屬性</vt:lpstr>
      <vt:lpstr>PowerPoint 簡報</vt:lpstr>
      <vt:lpstr>檢視實際的SQL程式碼</vt:lpstr>
      <vt:lpstr>admin.py中建立資料表管理介面</vt:lpstr>
      <vt:lpstr>欄位提供候選資料</vt:lpstr>
      <vt:lpstr>欄位提供候選資料- admin.py</vt:lpstr>
      <vt:lpstr>欄位提供候選資料</vt:lpstr>
      <vt:lpstr>欄位提供候選資料</vt:lpstr>
      <vt:lpstr>修正欄位名稱拼字錯誤</vt:lpstr>
      <vt:lpstr>修正欄位名稱之遷移檔內容</vt:lpstr>
      <vt:lpstr>在Python Shell中操作資料表</vt:lpstr>
      <vt:lpstr>在Python Shell中操作資料表</vt:lpstr>
      <vt:lpstr>在Python Shell中操作資料表</vt:lpstr>
      <vt:lpstr>在Python Shell中操作資料表</vt:lpstr>
      <vt:lpstr>PowerPoint 簡報</vt:lpstr>
      <vt:lpstr>在Python Shell中操作資料表</vt:lpstr>
      <vt:lpstr>資料的查詢與編輯</vt:lpstr>
      <vt:lpstr>資料的查詢與編輯</vt:lpstr>
      <vt:lpstr>資料的查詢與編輯</vt:lpstr>
      <vt:lpstr>查詢範例 記得先 from mysite.models import Product</vt:lpstr>
      <vt:lpstr>查詢練習</vt:lpstr>
      <vt:lpstr>查詢範例記得先 from django.db.models import Count,Sum</vt:lpstr>
      <vt:lpstr>查詢練習</vt:lpstr>
      <vt:lpstr>Migrate回退功能 (記得將db檔案備份，回退時data會不見model.py也要改成正確的，網站顯示的內容才是正確的)</vt:lpstr>
      <vt:lpstr>Migrate回退功能 (記得將db檔案備份，回退時data會不見)</vt:lpstr>
      <vt:lpstr>View簡介</vt:lpstr>
      <vt:lpstr>Django的MTV架構</vt:lpstr>
      <vt:lpstr>建立簡易的HttpResponse網頁 先建立一個about.html來copy</vt:lpstr>
      <vt:lpstr>使用HttpResponse執行的畫面</vt:lpstr>
      <vt:lpstr>使用HttpResponse執行的畫面</vt:lpstr>
      <vt:lpstr>Template簡介</vt:lpstr>
      <vt:lpstr>建立template資料夾與檔案 記得在view改成render，重新run server</vt:lpstr>
      <vt:lpstr>建立template資料夾與檔案</vt:lpstr>
      <vt:lpstr>建立template資料夾與檔案</vt:lpstr>
      <vt:lpstr>傳遞變數到template檔案中</vt:lpstr>
      <vt:lpstr>在views.py顯示查詢資料列表 by render()</vt:lpstr>
      <vt:lpstr>在template中處理串列變數</vt:lpstr>
      <vt:lpstr>在template中處理串列變數</vt:lpstr>
      <vt:lpstr>傳遞變數到template檔案中-view.py 注意要記得填id參數(改用id就好)</vt:lpstr>
      <vt:lpstr>傳遞變數到template檔案中</vt:lpstr>
      <vt:lpstr>在views.py顯示查詢資料列表</vt:lpstr>
      <vt:lpstr>找到資料時的畫面</vt:lpstr>
      <vt:lpstr>找不到資料時的畫面(說明get為何要加try exp)</vt:lpstr>
      <vt:lpstr>練習用模板語法顯示資料 解答在02mblog</vt:lpstr>
      <vt:lpstr>習題解答 student_list.html/student_grades.html</vt:lpstr>
      <vt:lpstr>PowerPoint 簡報</vt:lpstr>
      <vt:lpstr>PowerPoint 簡報</vt:lpstr>
    </vt:vector>
  </TitlesOfParts>
  <Company>SYNNEX</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第一堂 程式設計所需要的基礎知識</dc:title>
  <dc:creator>USER</dc:creator>
  <cp:lastModifiedBy>炳志 林</cp:lastModifiedBy>
  <cp:revision>145</cp:revision>
  <cp:lastPrinted>2025-08-14T08:15:14Z</cp:lastPrinted>
  <dcterms:created xsi:type="dcterms:W3CDTF">2017-10-09T22:32:02Z</dcterms:created>
  <dcterms:modified xsi:type="dcterms:W3CDTF">2026-10-20T08:39:23Z</dcterms:modified>
</cp:coreProperties>
</file>