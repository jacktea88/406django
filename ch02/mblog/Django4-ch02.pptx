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0"/>
  </p:notesMasterIdLst>
  <p:sldIdLst>
    <p:sldId id="256" r:id="rId2"/>
    <p:sldId id="257" r:id="rId3"/>
    <p:sldId id="259" r:id="rId4"/>
    <p:sldId id="260" r:id="rId5"/>
    <p:sldId id="261" r:id="rId6"/>
    <p:sldId id="262" r:id="rId7"/>
    <p:sldId id="263" r:id="rId8"/>
    <p:sldId id="264" r:id="rId9"/>
    <p:sldId id="265" r:id="rId10"/>
    <p:sldId id="398" r:id="rId11"/>
    <p:sldId id="267" r:id="rId12"/>
    <p:sldId id="268" r:id="rId13"/>
    <p:sldId id="269" r:id="rId14"/>
    <p:sldId id="270" r:id="rId15"/>
    <p:sldId id="326" r:id="rId16"/>
    <p:sldId id="322" r:id="rId17"/>
    <p:sldId id="271" r:id="rId18"/>
    <p:sldId id="272" r:id="rId19"/>
    <p:sldId id="273" r:id="rId20"/>
    <p:sldId id="399" r:id="rId21"/>
    <p:sldId id="323" r:id="rId22"/>
    <p:sldId id="274" r:id="rId23"/>
    <p:sldId id="275" r:id="rId24"/>
    <p:sldId id="276" r:id="rId25"/>
    <p:sldId id="277" r:id="rId26"/>
    <p:sldId id="278" r:id="rId27"/>
    <p:sldId id="279" r:id="rId28"/>
    <p:sldId id="280" r:id="rId29"/>
    <p:sldId id="324" r:id="rId30"/>
    <p:sldId id="400" r:id="rId31"/>
    <p:sldId id="327" r:id="rId32"/>
    <p:sldId id="328" r:id="rId33"/>
    <p:sldId id="329" r:id="rId34"/>
    <p:sldId id="330" r:id="rId35"/>
    <p:sldId id="331" r:id="rId36"/>
    <p:sldId id="332" r:id="rId37"/>
    <p:sldId id="333" r:id="rId38"/>
    <p:sldId id="334" r:id="rId39"/>
    <p:sldId id="335" r:id="rId40"/>
    <p:sldId id="336" r:id="rId41"/>
    <p:sldId id="337" r:id="rId42"/>
    <p:sldId id="338" r:id="rId43"/>
    <p:sldId id="394" r:id="rId44"/>
    <p:sldId id="339" r:id="rId45"/>
    <p:sldId id="340" r:id="rId46"/>
    <p:sldId id="401" r:id="rId47"/>
    <p:sldId id="403" r:id="rId48"/>
    <p:sldId id="404" r:id="rId49"/>
    <p:sldId id="341" r:id="rId50"/>
    <p:sldId id="342" r:id="rId51"/>
    <p:sldId id="343" r:id="rId52"/>
    <p:sldId id="344" r:id="rId53"/>
    <p:sldId id="345" r:id="rId54"/>
    <p:sldId id="346" r:id="rId55"/>
    <p:sldId id="353" r:id="rId56"/>
    <p:sldId id="347" r:id="rId57"/>
    <p:sldId id="348" r:id="rId58"/>
    <p:sldId id="349" r:id="rId59"/>
    <p:sldId id="350" r:id="rId60"/>
    <p:sldId id="351" r:id="rId61"/>
    <p:sldId id="352" r:id="rId62"/>
    <p:sldId id="354" r:id="rId63"/>
    <p:sldId id="355" r:id="rId64"/>
    <p:sldId id="356" r:id="rId65"/>
    <p:sldId id="357" r:id="rId66"/>
    <p:sldId id="358" r:id="rId67"/>
    <p:sldId id="359" r:id="rId68"/>
    <p:sldId id="360" r:id="rId69"/>
    <p:sldId id="395" r:id="rId70"/>
    <p:sldId id="396" r:id="rId71"/>
    <p:sldId id="362" r:id="rId72"/>
    <p:sldId id="366" r:id="rId73"/>
    <p:sldId id="367" r:id="rId74"/>
    <p:sldId id="369" r:id="rId75"/>
    <p:sldId id="370" r:id="rId76"/>
    <p:sldId id="392" r:id="rId77"/>
    <p:sldId id="371" r:id="rId78"/>
    <p:sldId id="364" r:id="rId79"/>
    <p:sldId id="365" r:id="rId80"/>
    <p:sldId id="375" r:id="rId81"/>
    <p:sldId id="376" r:id="rId82"/>
    <p:sldId id="397" r:id="rId83"/>
    <p:sldId id="377" r:id="rId84"/>
    <p:sldId id="378" r:id="rId85"/>
    <p:sldId id="379" r:id="rId86"/>
    <p:sldId id="380" r:id="rId87"/>
    <p:sldId id="381" r:id="rId88"/>
    <p:sldId id="382" r:id="rId89"/>
    <p:sldId id="383" r:id="rId90"/>
    <p:sldId id="384" r:id="rId91"/>
    <p:sldId id="385" r:id="rId92"/>
    <p:sldId id="386" r:id="rId93"/>
    <p:sldId id="393" r:id="rId94"/>
    <p:sldId id="388" r:id="rId95"/>
    <p:sldId id="389" r:id="rId96"/>
    <p:sldId id="390" r:id="rId97"/>
    <p:sldId id="391" r:id="rId98"/>
    <p:sldId id="402" r:id="rId99"/>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45C4F3-89F7-4E53-B53C-34105EC9470F}" v="401" dt="2023-05-19T08:15:49.721"/>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788" autoAdjust="0"/>
  </p:normalViewPr>
  <p:slideViewPr>
    <p:cSldViewPr>
      <p:cViewPr>
        <p:scale>
          <a:sx n="80" d="100"/>
          <a:sy n="80" d="100"/>
        </p:scale>
        <p:origin x="2514" y="11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2954"/>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notesMaster" Target="notesMasters/notesMaster1.xml"/><Relationship Id="rId105"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FE2433-649F-42E5-AECB-94990831C40A}" type="datetimeFigureOut">
              <a:rPr lang="zh-TW" altLang="en-US" smtClean="0"/>
              <a:pPr/>
              <a:t>2026/10/3</a:t>
            </a:fld>
            <a:endParaRPr lang="zh-TW" altLang="en-US"/>
          </a:p>
        </p:txBody>
      </p:sp>
      <p:sp>
        <p:nvSpPr>
          <p:cNvPr id="4" name="投影片圖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7FE99C-3BAC-4305-ABBB-3890AB1B4510}" type="slidenum">
              <a:rPr lang="zh-TW" altLang="en-US" smtClean="0"/>
              <a:pPr/>
              <a:t>‹#›</a:t>
            </a:fld>
            <a:endParaRPr lang="zh-TW" altLang="en-US"/>
          </a:p>
        </p:txBody>
      </p:sp>
    </p:spTree>
    <p:extLst>
      <p:ext uri="{BB962C8B-B14F-4D97-AF65-F5344CB8AC3E}">
        <p14:creationId xmlns:p14="http://schemas.microsoft.com/office/powerpoint/2010/main" val="2808196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Create env</a:t>
            </a:r>
            <a:r>
              <a:rPr lang="zh-TW" altLang="en-US" dirty="0"/>
              <a:t>要加 </a:t>
            </a:r>
            <a:r>
              <a:rPr lang="en-US" altLang="zh-TW" dirty="0"/>
              <a:t>python</a:t>
            </a:r>
            <a:r>
              <a:rPr lang="zh-TW" altLang="en-US" dirty="0"/>
              <a:t>不指定版本就是安裝最新版</a:t>
            </a:r>
            <a:endParaRPr lang="en-US" altLang="zh-TW" dirty="0"/>
          </a:p>
          <a:p>
            <a:r>
              <a:rPr lang="zh-TW" altLang="en-US" dirty="0"/>
              <a:t>移除</a:t>
            </a:r>
            <a:r>
              <a:rPr lang="en-US" altLang="zh-TW" dirty="0"/>
              <a:t>env</a:t>
            </a:r>
          </a:p>
          <a:p>
            <a:r>
              <a:rPr lang="en-US" altLang="zh-TW" dirty="0" err="1"/>
              <a:t>conda</a:t>
            </a:r>
            <a:r>
              <a:rPr lang="en-US" altLang="zh-TW" dirty="0"/>
              <a:t> env remove -name </a:t>
            </a:r>
            <a:r>
              <a:rPr lang="en-US" altLang="zh-TW" dirty="0" err="1"/>
              <a:t>myenv</a:t>
            </a:r>
            <a:r>
              <a:rPr lang="en-US" altLang="zh-TW" dirty="0"/>
              <a:t>--all</a:t>
            </a:r>
          </a:p>
          <a:p>
            <a:r>
              <a:rPr lang="zh-TW" altLang="en-US" dirty="0"/>
              <a:t>找不到</a:t>
            </a:r>
            <a:r>
              <a:rPr lang="en-US" altLang="zh-TW" dirty="0"/>
              <a:t>pip? (</a:t>
            </a:r>
            <a:r>
              <a:rPr lang="zh-TW" altLang="en-US"/>
              <a:t>可能還</a:t>
            </a:r>
            <a:r>
              <a:rPr lang="zh-TW" altLang="en-US" dirty="0"/>
              <a:t>沒有安裝</a:t>
            </a:r>
            <a:r>
              <a:rPr lang="en-US" altLang="zh-TW" dirty="0"/>
              <a:t>python)</a:t>
            </a:r>
            <a:r>
              <a:rPr lang="zh-TW" altLang="en-US" dirty="0"/>
              <a:t>用</a:t>
            </a:r>
            <a:r>
              <a:rPr lang="en-US" altLang="zh-TW" dirty="0"/>
              <a:t>pip --version </a:t>
            </a:r>
            <a:r>
              <a:rPr lang="zh-TW" altLang="en-US" dirty="0"/>
              <a:t>確認</a:t>
            </a:r>
            <a:r>
              <a:rPr lang="en-US" altLang="zh-TW" dirty="0"/>
              <a:t>(</a:t>
            </a:r>
            <a:r>
              <a:rPr lang="zh-TW" altLang="en-US" dirty="0"/>
              <a:t>注意</a:t>
            </a:r>
            <a:r>
              <a:rPr lang="en-US" altLang="zh-TW" dirty="0" err="1"/>
              <a:t>vscode</a:t>
            </a:r>
            <a:r>
              <a:rPr lang="zh-TW" altLang="en-US" dirty="0"/>
              <a:t>要用管理者啟動</a:t>
            </a:r>
            <a:r>
              <a:rPr lang="en-US" altLang="zh-TW" dirty="0"/>
              <a:t>)</a:t>
            </a:r>
          </a:p>
          <a:p>
            <a:r>
              <a:rPr lang="en-US" altLang="zh-TW" dirty="0" err="1"/>
              <a:t>ModuleNotFoundError</a:t>
            </a:r>
            <a:r>
              <a:rPr lang="en-US" altLang="zh-TW" dirty="0"/>
              <a:t>: No module named 'pip’</a:t>
            </a:r>
          </a:p>
          <a:p>
            <a:r>
              <a:rPr lang="zh-TW" altLang="en-US" dirty="0"/>
              <a:t>可以使用 </a:t>
            </a:r>
            <a:r>
              <a:rPr lang="en-US" altLang="zh-TW" dirty="0"/>
              <a:t>python -m </a:t>
            </a:r>
            <a:r>
              <a:rPr lang="en-US" altLang="zh-TW" dirty="0" err="1"/>
              <a:t>ensurepip</a:t>
            </a:r>
            <a:r>
              <a:rPr lang="en-US" altLang="zh-TW" dirty="0"/>
              <a:t> </a:t>
            </a:r>
            <a:r>
              <a:rPr lang="zh-TW" altLang="en-US" dirty="0"/>
              <a:t>命令來安裝。 </a:t>
            </a:r>
            <a:endParaRPr lang="en-US" altLang="zh-TW" dirty="0"/>
          </a:p>
          <a:p>
            <a:r>
              <a:rPr lang="zh-TW" altLang="en-US" dirty="0"/>
              <a:t>接著，執行 </a:t>
            </a:r>
            <a:r>
              <a:rPr lang="en-US" altLang="zh-TW" dirty="0"/>
              <a:t>python -m pip install --upgrade pip </a:t>
            </a:r>
            <a:r>
              <a:rPr lang="zh-TW" altLang="en-US" dirty="0"/>
              <a:t>來升級</a:t>
            </a:r>
            <a:r>
              <a:rPr lang="en-US" altLang="zh-TW" dirty="0"/>
              <a:t>pip</a:t>
            </a:r>
            <a:r>
              <a:rPr lang="zh-TW" altLang="en-US" dirty="0"/>
              <a:t>。</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5</a:t>
            </a:fld>
            <a:endParaRPr lang="zh-TW" altLang="en-US"/>
          </a:p>
        </p:txBody>
      </p:sp>
    </p:spTree>
    <p:extLst>
      <p:ext uri="{BB962C8B-B14F-4D97-AF65-F5344CB8AC3E}">
        <p14:creationId xmlns:p14="http://schemas.microsoft.com/office/powerpoint/2010/main" val="39962126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若要改</a:t>
            </a:r>
            <a:r>
              <a:rPr lang="en-US" altLang="zh-TW" dirty="0"/>
              <a:t>port</a:t>
            </a:r>
            <a:r>
              <a:rPr lang="zh-TW" altLang="en-US" dirty="0"/>
              <a:t>：</a:t>
            </a:r>
            <a:r>
              <a:rPr lang="en-US" altLang="zh-TW" dirty="0"/>
              <a:t>python manage.py </a:t>
            </a:r>
            <a:r>
              <a:rPr lang="en-US" altLang="zh-TW" dirty="0" err="1"/>
              <a:t>runserver</a:t>
            </a:r>
            <a:r>
              <a:rPr lang="en-US" altLang="zh-TW" dirty="0"/>
              <a:t> 8080</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8</a:t>
            </a:fld>
            <a:endParaRPr lang="zh-TW" altLang="en-US"/>
          </a:p>
        </p:txBody>
      </p:sp>
    </p:spTree>
    <p:extLst>
      <p:ext uri="{BB962C8B-B14F-4D97-AF65-F5344CB8AC3E}">
        <p14:creationId xmlns:p14="http://schemas.microsoft.com/office/powerpoint/2010/main" val="17080108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注意：如果沒做這步，</a:t>
            </a:r>
            <a:r>
              <a:rPr lang="en-US" altLang="zh-TW" dirty="0"/>
              <a:t>model</a:t>
            </a:r>
            <a:r>
              <a:rPr lang="zh-TW" altLang="en-US" dirty="0"/>
              <a:t>、</a:t>
            </a:r>
            <a:r>
              <a:rPr lang="en-US" altLang="zh-TW" dirty="0"/>
              <a:t>view</a:t>
            </a:r>
            <a:r>
              <a:rPr lang="zh-TW" altLang="en-US" dirty="0"/>
              <a:t>、修改都無法被知道，例如</a:t>
            </a:r>
            <a:r>
              <a:rPr lang="en-US" altLang="zh-TW" dirty="0"/>
              <a:t>model</a:t>
            </a:r>
            <a:r>
              <a:rPr lang="zh-TW" altLang="en-US" dirty="0"/>
              <a:t>就無法建立資料表</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12</a:t>
            </a:fld>
            <a:endParaRPr lang="zh-TW" altLang="en-US"/>
          </a:p>
        </p:txBody>
      </p:sp>
    </p:spTree>
    <p:extLst>
      <p:ext uri="{BB962C8B-B14F-4D97-AF65-F5344CB8AC3E}">
        <p14:creationId xmlns:p14="http://schemas.microsoft.com/office/powerpoint/2010/main" val="26484182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Snip:</a:t>
            </a:r>
            <a:r>
              <a:rPr lang="zh-TW" altLang="en-US" dirty="0"/>
              <a:t>打</a:t>
            </a:r>
            <a:r>
              <a:rPr lang="en-US" altLang="zh-TW" dirty="0"/>
              <a:t>m-model</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16</a:t>
            </a:fld>
            <a:endParaRPr lang="zh-TW" altLang="en-US"/>
          </a:p>
        </p:txBody>
      </p:sp>
    </p:spTree>
    <p:extLst>
      <p:ext uri="{BB962C8B-B14F-4D97-AF65-F5344CB8AC3E}">
        <p14:creationId xmlns:p14="http://schemas.microsoft.com/office/powerpoint/2010/main" val="483471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測試進入</a:t>
            </a:r>
            <a:r>
              <a:rPr lang="en-US" altLang="zh-TW" dirty="0"/>
              <a:t>admin</a:t>
            </a:r>
            <a:r>
              <a:rPr lang="zh-TW" altLang="en-US" dirty="0"/>
              <a:t>頁面</a:t>
            </a:r>
            <a:endParaRPr lang="en-US" altLang="zh-TW" dirty="0"/>
          </a:p>
          <a:p>
            <a:r>
              <a:rPr lang="en-US" altLang="zh-TW" dirty="0"/>
              <a:t>http://127.0.0.1:8000/admin/</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19</a:t>
            </a:fld>
            <a:endParaRPr lang="zh-TW" altLang="en-US"/>
          </a:p>
        </p:txBody>
      </p:sp>
    </p:spTree>
    <p:extLst>
      <p:ext uri="{BB962C8B-B14F-4D97-AF65-F5344CB8AC3E}">
        <p14:creationId xmlns:p14="http://schemas.microsoft.com/office/powerpoint/2010/main" val="36905805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a:t>要用</a:t>
            </a:r>
            <a:r>
              <a:rPr lang="en-US" altLang="zh-TW" dirty="0" err="1"/>
              <a:t>zh-hant</a:t>
            </a:r>
            <a:r>
              <a:rPr lang="zh-TW" altLang="en-US" dirty="0"/>
              <a:t>來設定</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20</a:t>
            </a:fld>
            <a:endParaRPr lang="zh-TW" altLang="en-US"/>
          </a:p>
        </p:txBody>
      </p:sp>
    </p:spTree>
    <p:extLst>
      <p:ext uri="{BB962C8B-B14F-4D97-AF65-F5344CB8AC3E}">
        <p14:creationId xmlns:p14="http://schemas.microsoft.com/office/powerpoint/2010/main" val="3016470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注意：如果還沒有內容，也不會顯示欄位出來，要真的至少有一筆資料才會顯示，容易被誤會</a:t>
            </a:r>
            <a:r>
              <a:rPr lang="en-US" altLang="zh-TW" dirty="0"/>
              <a:t>code</a:t>
            </a:r>
            <a:r>
              <a:rPr lang="zh-TW" altLang="en-US" dirty="0"/>
              <a:t>有問題</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24</a:t>
            </a:fld>
            <a:endParaRPr lang="zh-TW" altLang="en-US"/>
          </a:p>
        </p:txBody>
      </p:sp>
    </p:spTree>
    <p:extLst>
      <p:ext uri="{BB962C8B-B14F-4D97-AF65-F5344CB8AC3E}">
        <p14:creationId xmlns:p14="http://schemas.microsoft.com/office/powerpoint/2010/main" val="40042074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b="0" kern="1200" dirty="0">
                <a:solidFill>
                  <a:schemeClr val="tx1"/>
                </a:solidFill>
                <a:effectLst/>
                <a:latin typeface="+mn-lt"/>
                <a:ea typeface="+mn-ea"/>
                <a:cs typeface="+mn-cs"/>
              </a:rPr>
              <a:t>記得拿掉上面的註冊，否則會報錯</a:t>
            </a:r>
            <a:r>
              <a:rPr lang="en-US" altLang="zh-TW" sz="1200" b="0" kern="1200" dirty="0">
                <a:solidFill>
                  <a:schemeClr val="tx1"/>
                </a:solidFill>
                <a:effectLst/>
                <a:latin typeface="+mn-lt"/>
                <a:ea typeface="+mn-ea"/>
                <a:cs typeface="+mn-cs"/>
              </a:rPr>
              <a:t>(</a:t>
            </a:r>
            <a:r>
              <a:rPr lang="zh-TW" altLang="en-US" sz="1200" b="0" kern="1200" dirty="0">
                <a:solidFill>
                  <a:schemeClr val="tx1"/>
                </a:solidFill>
                <a:effectLst/>
                <a:latin typeface="+mn-lt"/>
                <a:ea typeface="+mn-ea"/>
                <a:cs typeface="+mn-cs"/>
              </a:rPr>
              <a:t>重覆註冊</a:t>
            </a:r>
            <a:r>
              <a:rPr lang="en-US" altLang="zh-TW" sz="1200" b="0" kern="1200" dirty="0">
                <a:solidFill>
                  <a:schemeClr val="tx1"/>
                </a:solidFill>
                <a:effectLst/>
                <a:latin typeface="+mn-lt"/>
                <a:ea typeface="+mn-ea"/>
                <a:cs typeface="+mn-cs"/>
              </a:rPr>
              <a:t>)</a:t>
            </a:r>
            <a:endParaRPr lang="zh-TW" altLang="en-U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err="1">
                <a:solidFill>
                  <a:schemeClr val="tx1"/>
                </a:solidFill>
                <a:effectLst/>
                <a:latin typeface="+mn-lt"/>
                <a:ea typeface="+mn-ea"/>
                <a:cs typeface="+mn-cs"/>
              </a:rPr>
              <a:t>admin.site.register</a:t>
            </a:r>
            <a:r>
              <a:rPr lang="en-US" altLang="zh-TW" sz="1200" b="0" kern="1200" dirty="0">
                <a:solidFill>
                  <a:schemeClr val="tx1"/>
                </a:solidFill>
                <a:effectLst/>
                <a:latin typeface="+mn-lt"/>
                <a:ea typeface="+mn-ea"/>
                <a:cs typeface="+mn-cs"/>
              </a:rPr>
              <a:t>(Post)</a:t>
            </a:r>
          </a:p>
          <a:p>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28</a:t>
            </a:fld>
            <a:endParaRPr lang="zh-TW" altLang="en-US"/>
          </a:p>
        </p:txBody>
      </p:sp>
    </p:spTree>
    <p:extLst>
      <p:ext uri="{BB962C8B-B14F-4D97-AF65-F5344CB8AC3E}">
        <p14:creationId xmlns:p14="http://schemas.microsoft.com/office/powerpoint/2010/main" val="30810844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30</a:t>
            </a:fld>
            <a:endParaRPr lang="zh-TW" altLang="en-US"/>
          </a:p>
        </p:txBody>
      </p:sp>
    </p:spTree>
    <p:extLst>
      <p:ext uri="{BB962C8B-B14F-4D97-AF65-F5344CB8AC3E}">
        <p14:creationId xmlns:p14="http://schemas.microsoft.com/office/powerpoint/2010/main" val="16454875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和</a:t>
            </a:r>
            <a:r>
              <a:rPr lang="en-US" altLang="zh-TW" dirty="0" err="1"/>
              <a:t>mvc</a:t>
            </a:r>
            <a:r>
              <a:rPr lang="zh-TW" altLang="en-US" dirty="0"/>
              <a:t>概念相同只是用的名稱略有不同</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31</a:t>
            </a:fld>
            <a:endParaRPr lang="zh-TW" altLang="en-US"/>
          </a:p>
        </p:txBody>
      </p:sp>
    </p:spTree>
    <p:extLst>
      <p:ext uri="{BB962C8B-B14F-4D97-AF65-F5344CB8AC3E}">
        <p14:creationId xmlns:p14="http://schemas.microsoft.com/office/powerpoint/2010/main" val="31834972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先顯示</a:t>
            </a:r>
            <a:r>
              <a:rPr lang="en-US" altLang="zh-TW" dirty="0"/>
              <a:t>post</a:t>
            </a:r>
            <a:r>
              <a:rPr lang="zh-TW" altLang="en-US" dirty="0"/>
              <a:t>，第二步再加</a:t>
            </a:r>
            <a:r>
              <a:rPr lang="en-US" altLang="zh-TW" dirty="0"/>
              <a:t>show </a:t>
            </a:r>
            <a:r>
              <a:rPr lang="en-US" altLang="zh-TW" dirty="0" err="1"/>
              <a:t>post.body</a:t>
            </a:r>
            <a:r>
              <a:rPr lang="en-US" altLang="zh-TW" dirty="0"/>
              <a:t>(</a:t>
            </a:r>
            <a:r>
              <a:rPr lang="zh-TW" altLang="en-US" dirty="0"/>
              <a:t>內容</a:t>
            </a:r>
            <a:r>
              <a:rPr lang="en-US" altLang="zh-TW" dirty="0"/>
              <a:t>)</a:t>
            </a:r>
          </a:p>
          <a:p>
            <a:r>
              <a:rPr lang="zh-TW" altLang="en-US" dirty="0"/>
              <a:t>說明：</a:t>
            </a:r>
            <a:r>
              <a:rPr lang="en-US" altLang="zh-TW" dirty="0"/>
              <a:t>enumerate</a:t>
            </a:r>
            <a:r>
              <a:rPr lang="zh-TW" altLang="en-US" dirty="0"/>
              <a:t>函數會返回一個迭代器（</a:t>
            </a:r>
            <a:r>
              <a:rPr lang="en-US" altLang="zh-TW" dirty="0"/>
              <a:t>iterator</a:t>
            </a:r>
            <a:r>
              <a:rPr lang="zh-TW" altLang="en-US" dirty="0"/>
              <a:t>），包含索引值和值。</a:t>
            </a:r>
            <a:endParaRPr lang="zh-TW" altLang="en-US" sz="1200" b="0" i="0" kern="1200" dirty="0">
              <a:solidFill>
                <a:schemeClr val="tx1"/>
              </a:solidFill>
              <a:effectLst/>
              <a:latin typeface="+mn-lt"/>
              <a:ea typeface="+mn-ea"/>
              <a:cs typeface="+mn-cs"/>
            </a:endParaRPr>
          </a:p>
          <a:p>
            <a:r>
              <a:rPr lang="en-US" altLang="zh-TW" dirty="0"/>
              <a:t>count</a:t>
            </a:r>
            <a:r>
              <a:rPr lang="zh-TW" altLang="en-US" dirty="0"/>
              <a:t>變數會取得索引值，從</a:t>
            </a:r>
            <a:r>
              <a:rPr lang="en-US" altLang="zh-TW" dirty="0"/>
              <a:t>0</a:t>
            </a:r>
            <a:r>
              <a:rPr lang="zh-TW" altLang="en-US" dirty="0"/>
              <a:t>開始；</a:t>
            </a:r>
            <a:r>
              <a:rPr lang="en-US" altLang="zh-TW" b="0" dirty="0">
                <a:effectLst/>
              </a:rPr>
              <a:t>post</a:t>
            </a:r>
            <a:r>
              <a:rPr lang="zh-TW" altLang="en-US" dirty="0"/>
              <a:t>變數會取得清單中的值</a:t>
            </a:r>
            <a:r>
              <a:rPr lang="en-US" altLang="zh-TW" dirty="0"/>
              <a:t>(POST</a:t>
            </a:r>
            <a:r>
              <a:rPr lang="zh-TW" altLang="en-US" dirty="0"/>
              <a:t>內容</a:t>
            </a:r>
            <a:r>
              <a:rPr lang="en-US" altLang="zh-TW" dirty="0"/>
              <a:t>)</a:t>
            </a:r>
            <a:r>
              <a:rPr lang="zh-TW" altLang="en-US" dirty="0"/>
              <a:t>。</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33</a:t>
            </a:fld>
            <a:endParaRPr lang="zh-TW" altLang="en-US"/>
          </a:p>
        </p:txBody>
      </p:sp>
    </p:spTree>
    <p:extLst>
      <p:ext uri="{BB962C8B-B14F-4D97-AF65-F5344CB8AC3E}">
        <p14:creationId xmlns:p14="http://schemas.microsoft.com/office/powerpoint/2010/main" val="8108425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nSpc>
                <a:spcPts val="1425"/>
              </a:lnSpc>
            </a:pPr>
            <a:r>
              <a:rPr lang="zh-TW" altLang="en-US" b="0" dirty="0">
                <a:solidFill>
                  <a:srgbClr val="CE9178"/>
                </a:solidFill>
                <a:effectLst/>
                <a:latin typeface="Consolas" panose="020B0609020204030204" pitchFamily="49" charset="0"/>
              </a:rPr>
              <a:t>注意：如果</a:t>
            </a:r>
            <a:r>
              <a:rPr lang="en-US" altLang="zh-TW" b="0" dirty="0" err="1">
                <a:solidFill>
                  <a:srgbClr val="CE9178"/>
                </a:solidFill>
                <a:effectLst/>
                <a:latin typeface="Consolas" panose="020B0609020204030204" pitchFamily="49" charset="0"/>
              </a:rPr>
              <a:t>app_dir</a:t>
            </a:r>
            <a:r>
              <a:rPr lang="en-US" altLang="zh-TW" b="0" dirty="0">
                <a:solidFill>
                  <a:srgbClr val="CE9178"/>
                </a:solidFill>
                <a:effectLst/>
                <a:latin typeface="Consolas" panose="020B0609020204030204" pitchFamily="49" charset="0"/>
              </a:rPr>
              <a:t> is true</a:t>
            </a:r>
            <a:r>
              <a:rPr lang="zh-TW" altLang="en-US" b="0" dirty="0">
                <a:solidFill>
                  <a:srgbClr val="CE9178"/>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template </a:t>
            </a:r>
            <a:r>
              <a:rPr lang="zh-TW" altLang="en-US" b="0" dirty="0">
                <a:solidFill>
                  <a:srgbClr val="CE9178"/>
                </a:solidFill>
                <a:effectLst/>
                <a:latin typeface="Consolas" panose="020B0609020204030204" pitchFamily="49" charset="0"/>
              </a:rPr>
              <a:t>資料夾</a:t>
            </a:r>
            <a:r>
              <a:rPr lang="en-US" altLang="zh-TW" b="0" dirty="0">
                <a:solidFill>
                  <a:srgbClr val="CE9178"/>
                </a:solidFill>
                <a:effectLst/>
                <a:latin typeface="Consolas" panose="020B0609020204030204" pitchFamily="49" charset="0"/>
              </a:rPr>
              <a:t>”””</a:t>
            </a:r>
            <a:r>
              <a:rPr lang="zh-TW" altLang="en-US" b="1" dirty="0">
                <a:solidFill>
                  <a:srgbClr val="CE9178"/>
                </a:solidFill>
                <a:effectLst/>
                <a:latin typeface="Consolas" panose="020B0609020204030204" pitchFamily="49" charset="0"/>
              </a:rPr>
              <a:t>應該放在</a:t>
            </a:r>
            <a:r>
              <a:rPr lang="en-US" altLang="zh-TW" b="1" dirty="0" err="1">
                <a:solidFill>
                  <a:srgbClr val="CE9178"/>
                </a:solidFill>
                <a:effectLst/>
                <a:latin typeface="Consolas" panose="020B0609020204030204" pitchFamily="49" charset="0"/>
              </a:rPr>
              <a:t>mysite</a:t>
            </a:r>
            <a:r>
              <a:rPr lang="zh-TW" altLang="en-US" b="1" dirty="0">
                <a:solidFill>
                  <a:srgbClr val="CE9178"/>
                </a:solidFill>
                <a:effectLst/>
                <a:latin typeface="Consolas" panose="020B0609020204030204" pitchFamily="49" charset="0"/>
              </a:rPr>
              <a:t>資料夾內</a:t>
            </a:r>
            <a:r>
              <a:rPr lang="en-US" altLang="zh-TW" b="0" dirty="0">
                <a:solidFill>
                  <a:srgbClr val="CE9178"/>
                </a:solidFill>
                <a:effectLst/>
                <a:latin typeface="Consolas" panose="020B0609020204030204" pitchFamily="49" charset="0"/>
              </a:rPr>
              <a:t>”””</a:t>
            </a:r>
            <a:endParaRPr lang="fr-FR" altLang="zh-TW" b="0" dirty="0">
              <a:solidFill>
                <a:srgbClr val="CE9178"/>
              </a:solidFill>
              <a:effectLst/>
              <a:latin typeface="Consolas" panose="020B0609020204030204" pitchFamily="49" charset="0"/>
            </a:endParaRPr>
          </a:p>
          <a:p>
            <a:pPr>
              <a:lnSpc>
                <a:spcPts val="1425"/>
              </a:lnSpc>
            </a:pPr>
            <a:r>
              <a:rPr lang="fr-FR" altLang="zh-TW" b="0" dirty="0">
                <a:solidFill>
                  <a:srgbClr val="CE9178"/>
                </a:solidFill>
                <a:effectLst/>
                <a:latin typeface="Consolas" panose="020B0609020204030204" pitchFamily="49" charset="0"/>
              </a:rPr>
              <a:t>"DIRS"</a:t>
            </a:r>
            <a:r>
              <a:rPr lang="fr-FR" altLang="zh-TW" b="0" dirty="0">
                <a:solidFill>
                  <a:srgbClr val="CCCCCC"/>
                </a:solidFill>
                <a:effectLst/>
                <a:latin typeface="Consolas" panose="020B0609020204030204" pitchFamily="49" charset="0"/>
              </a:rPr>
              <a:t>: [</a:t>
            </a:r>
            <a:r>
              <a:rPr lang="fr-FR" altLang="zh-TW" b="0" dirty="0">
                <a:solidFill>
                  <a:srgbClr val="4FC1FF"/>
                </a:solidFill>
                <a:effectLst/>
                <a:latin typeface="Consolas" panose="020B0609020204030204" pitchFamily="49" charset="0"/>
              </a:rPr>
              <a:t>BASE_DIR</a:t>
            </a:r>
            <a:r>
              <a:rPr lang="fr-FR" altLang="zh-TW" b="0" dirty="0">
                <a:solidFill>
                  <a:srgbClr val="CCCCCC"/>
                </a:solidFill>
                <a:effectLst/>
                <a:latin typeface="Consolas" panose="020B0609020204030204" pitchFamily="49" charset="0"/>
              </a:rPr>
              <a:t> </a:t>
            </a:r>
            <a:r>
              <a:rPr lang="fr-FR" altLang="zh-TW" b="0" dirty="0">
                <a:solidFill>
                  <a:srgbClr val="DCDCAA"/>
                </a:solidFill>
                <a:effectLst/>
                <a:latin typeface="Consolas" panose="020B0609020204030204" pitchFamily="49" charset="0"/>
              </a:rPr>
              <a:t>/</a:t>
            </a:r>
            <a:r>
              <a:rPr lang="fr-FR" altLang="zh-TW" b="0" dirty="0">
                <a:solidFill>
                  <a:srgbClr val="CCCCCC"/>
                </a:solidFill>
                <a:effectLst/>
                <a:latin typeface="Consolas" panose="020B0609020204030204" pitchFamily="49" charset="0"/>
              </a:rPr>
              <a:t> </a:t>
            </a:r>
            <a:r>
              <a:rPr lang="fr-FR" altLang="zh-TW" b="0" dirty="0">
                <a:solidFill>
                  <a:srgbClr val="CE9178"/>
                </a:solidFill>
                <a:effectLst/>
                <a:latin typeface="Consolas" panose="020B0609020204030204" pitchFamily="49" charset="0"/>
              </a:rPr>
              <a:t>"templates"</a:t>
            </a:r>
            <a:r>
              <a:rPr lang="fr-FR" altLang="zh-TW" b="0" dirty="0">
                <a:solidFill>
                  <a:srgbClr val="CCCCCC"/>
                </a:solidFill>
                <a:effectLst/>
                <a:latin typeface="Consolas" panose="020B0609020204030204" pitchFamily="49" charset="0"/>
              </a:rPr>
              <a:t>],</a:t>
            </a:r>
          </a:p>
          <a:p>
            <a:pPr>
              <a:lnSpc>
                <a:spcPts val="1425"/>
              </a:lnSpc>
            </a:pPr>
            <a:r>
              <a:rPr lang="fr-FR" altLang="zh-TW" b="0" dirty="0">
                <a:solidFill>
                  <a:srgbClr val="CCCCCC"/>
                </a:solidFill>
                <a:effectLst/>
                <a:latin typeface="Consolas" panose="020B0609020204030204" pitchFamily="49" charset="0"/>
              </a:rPr>
              <a:t>        </a:t>
            </a:r>
            <a:r>
              <a:rPr lang="fr-FR" altLang="zh-TW" b="0" dirty="0">
                <a:solidFill>
                  <a:srgbClr val="CE9178"/>
                </a:solidFill>
                <a:effectLst/>
                <a:latin typeface="Consolas" panose="020B0609020204030204" pitchFamily="49" charset="0"/>
              </a:rPr>
              <a:t>"APP_DIRS"</a:t>
            </a:r>
            <a:r>
              <a:rPr lang="fr-FR" altLang="zh-TW" b="0" dirty="0">
                <a:solidFill>
                  <a:srgbClr val="CCCCCC"/>
                </a:solidFill>
                <a:effectLst/>
                <a:latin typeface="Consolas" panose="020B0609020204030204" pitchFamily="49" charset="0"/>
              </a:rPr>
              <a:t>: </a:t>
            </a:r>
            <a:r>
              <a:rPr lang="fr-FR" altLang="zh-TW" b="0" dirty="0">
                <a:solidFill>
                  <a:srgbClr val="569CD6"/>
                </a:solidFill>
                <a:effectLst/>
                <a:latin typeface="Consolas" panose="020B0609020204030204" pitchFamily="49" charset="0"/>
              </a:rPr>
              <a:t>True</a:t>
            </a:r>
            <a:r>
              <a:rPr lang="fr-FR" altLang="zh-TW" b="0" dirty="0">
                <a:solidFill>
                  <a:srgbClr val="CCCCCC"/>
                </a:solidFill>
                <a:effectLst/>
                <a:latin typeface="Consolas" panose="020B0609020204030204" pitchFamily="49" charset="0"/>
              </a:rPr>
              <a:t>,</a:t>
            </a:r>
          </a:p>
          <a:p>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38</a:t>
            </a:fld>
            <a:endParaRPr lang="zh-TW" altLang="en-US"/>
          </a:p>
        </p:txBody>
      </p:sp>
    </p:spTree>
    <p:extLst>
      <p:ext uri="{BB962C8B-B14F-4D97-AF65-F5344CB8AC3E}">
        <p14:creationId xmlns:p14="http://schemas.microsoft.com/office/powerpoint/2010/main" val="6983088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Now </a:t>
            </a:r>
            <a:r>
              <a:rPr lang="zh-TW" altLang="en-US" dirty="0"/>
              <a:t>要記得在</a:t>
            </a:r>
            <a:r>
              <a:rPr lang="en-US" altLang="zh-TW" dirty="0"/>
              <a:t>views</a:t>
            </a:r>
            <a:r>
              <a:rPr lang="zh-TW" altLang="en-US" dirty="0"/>
              <a:t>先給，否則無法顯示出來</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b="0" dirty="0">
                <a:solidFill>
                  <a:srgbClr val="569CD6"/>
                </a:solidFill>
                <a:effectLst/>
                <a:latin typeface="Consolas" panose="020B0609020204030204" pitchFamily="49" charset="0"/>
              </a:rPr>
              <a:t>這個也可以</a:t>
            </a:r>
            <a:r>
              <a:rPr lang="en-US" altLang="zh-TW" b="0" dirty="0">
                <a:solidFill>
                  <a:srgbClr val="569CD6"/>
                </a:solidFill>
                <a:effectLst/>
                <a:latin typeface="Consolas" panose="020B0609020204030204" pitchFamily="49" charset="0"/>
              </a:rPr>
              <a:t>{% now </a:t>
            </a:r>
            <a:r>
              <a:rPr lang="en-US" altLang="zh-TW" b="0" dirty="0">
                <a:solidFill>
                  <a:srgbClr val="CE9178"/>
                </a:solidFill>
                <a:effectLst/>
                <a:latin typeface="Consolas" panose="020B0609020204030204" pitchFamily="49" charset="0"/>
              </a:rPr>
              <a:t>"DATETIME_FORMAT"</a:t>
            </a:r>
            <a:r>
              <a:rPr lang="en-US" altLang="zh-TW" b="0" dirty="0">
                <a:solidFill>
                  <a:srgbClr val="569CD6"/>
                </a:solidFill>
                <a:effectLst/>
                <a:latin typeface="Consolas" panose="020B0609020204030204" pitchFamily="49" charset="0"/>
              </a:rPr>
              <a:t> %}</a:t>
            </a:r>
            <a:endParaRPr lang="en-US" altLang="zh-TW" b="0" dirty="0">
              <a:solidFill>
                <a:srgbClr val="CCCCCC"/>
              </a:solidFill>
              <a:effectLst/>
              <a:latin typeface="Consolas" panose="020B0609020204030204" pitchFamily="49" charset="0"/>
            </a:endParaRPr>
          </a:p>
          <a:p>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41</a:t>
            </a:fld>
            <a:endParaRPr lang="zh-TW" altLang="en-US"/>
          </a:p>
        </p:txBody>
      </p:sp>
    </p:spTree>
    <p:extLst>
      <p:ext uri="{BB962C8B-B14F-4D97-AF65-F5344CB8AC3E}">
        <p14:creationId xmlns:p14="http://schemas.microsoft.com/office/powerpoint/2010/main" val="30790767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安裝套件可辨識模板語言</a:t>
            </a:r>
            <a:r>
              <a:rPr lang="en-US" altLang="zh-TW" dirty="0">
                <a:solidFill>
                  <a:srgbClr val="FF0000"/>
                </a:solidFill>
              </a:rPr>
              <a:t>{%  %}</a:t>
            </a:r>
            <a:r>
              <a:rPr lang="en-US" altLang="zh-TW" dirty="0"/>
              <a:t>"</a:t>
            </a:r>
          </a:p>
          <a:p>
            <a:r>
              <a:rPr lang="en-US" altLang="zh-TW" dirty="0"/>
              <a:t>https://marketplace.visualstudio.com/items?itemName=batisteo.vscode-django</a:t>
            </a:r>
            <a:endParaRPr lang="zh-TW"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水平分隔線元素</a:t>
            </a:r>
            <a:r>
              <a:rPr lang="en-US" altLang="zh-TW" dirty="0"/>
              <a:t>&lt;</a:t>
            </a:r>
            <a:r>
              <a:rPr lang="en-US" altLang="zh-TW" dirty="0" err="1"/>
              <a:t>hr</a:t>
            </a:r>
            <a:r>
              <a:rPr lang="en-US" altLang="zh-TW" dirty="0"/>
              <a:t>&gt;</a:t>
            </a:r>
          </a:p>
          <a:p>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45</a:t>
            </a:fld>
            <a:endParaRPr lang="zh-TW" altLang="en-US"/>
          </a:p>
        </p:txBody>
      </p:sp>
    </p:spTree>
    <p:extLst>
      <p:ext uri="{BB962C8B-B14F-4D97-AF65-F5344CB8AC3E}">
        <p14:creationId xmlns:p14="http://schemas.microsoft.com/office/powerpoint/2010/main" val="35380606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到設定：檔案</a:t>
            </a:r>
            <a:r>
              <a:rPr lang="en-US" altLang="zh-TW" dirty="0"/>
              <a:t>-&gt;</a:t>
            </a:r>
            <a:r>
              <a:rPr lang="zh-TW" altLang="en-US" dirty="0"/>
              <a:t>喜好設定</a:t>
            </a:r>
            <a:r>
              <a:rPr lang="en-US" altLang="zh-TW" dirty="0"/>
              <a:t>-&gt;</a:t>
            </a:r>
            <a:r>
              <a:rPr lang="zh-TW" altLang="en-US" dirty="0"/>
              <a:t>設定</a:t>
            </a:r>
            <a:endParaRPr lang="en-US" altLang="zh-TW" dirty="0"/>
          </a:p>
          <a:p>
            <a:r>
              <a:rPr lang="zh-TW" altLang="en-US" dirty="0"/>
              <a:t>搜尋：</a:t>
            </a:r>
            <a:r>
              <a:rPr lang="en-US" altLang="zh-TW" dirty="0"/>
              <a:t>Emmet: Include Languages -&gt; </a:t>
            </a:r>
            <a:r>
              <a:rPr lang="zh-TW" altLang="en-US" dirty="0"/>
              <a:t>新增項目</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46</a:t>
            </a:fld>
            <a:endParaRPr lang="zh-TW" altLang="en-US"/>
          </a:p>
        </p:txBody>
      </p:sp>
    </p:spTree>
    <p:extLst>
      <p:ext uri="{BB962C8B-B14F-4D97-AF65-F5344CB8AC3E}">
        <p14:creationId xmlns:p14="http://schemas.microsoft.com/office/powerpoint/2010/main" val="7813587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提示詞：使用</a:t>
            </a:r>
            <a:r>
              <a:rPr lang="en-US" altLang="zh-TW" dirty="0"/>
              <a:t>bs5</a:t>
            </a:r>
            <a:r>
              <a:rPr lang="zh-TW" altLang="en-US" dirty="0"/>
              <a:t>改寫</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50</a:t>
            </a:fld>
            <a:endParaRPr lang="zh-TW" altLang="en-US"/>
          </a:p>
        </p:txBody>
      </p:sp>
    </p:spTree>
    <p:extLst>
      <p:ext uri="{BB962C8B-B14F-4D97-AF65-F5344CB8AC3E}">
        <p14:creationId xmlns:p14="http://schemas.microsoft.com/office/powerpoint/2010/main" val="25170997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i="0" kern="1200" dirty="0">
                <a:solidFill>
                  <a:schemeClr val="tx1"/>
                </a:solidFill>
                <a:effectLst/>
                <a:latin typeface="+mn-lt"/>
                <a:ea typeface="+mn-ea"/>
                <a:cs typeface="+mn-cs"/>
              </a:rPr>
              <a:t>左邊的 </a:t>
            </a:r>
            <a:r>
              <a:rPr lang="en-US" altLang="zh-TW" dirty="0"/>
              <a:t>slug </a:t>
            </a:r>
            <a:r>
              <a:rPr lang="zh-TW" altLang="en-US" dirty="0"/>
              <a:t>是</a:t>
            </a:r>
            <a:r>
              <a:rPr lang="zh-TW" altLang="en-US" dirty="0">
                <a:solidFill>
                  <a:srgbClr val="FF0000"/>
                </a:solidFill>
              </a:rPr>
              <a:t>欄位名稱</a:t>
            </a:r>
            <a:r>
              <a:rPr lang="zh-TW" altLang="en-US" dirty="0"/>
              <a:t>，代表著 </a:t>
            </a:r>
            <a:r>
              <a:rPr lang="en-US" altLang="zh-TW" dirty="0"/>
              <a:t>Post </a:t>
            </a:r>
            <a:r>
              <a:rPr lang="zh-TW" altLang="en-US" dirty="0"/>
              <a:t>物件中的 </a:t>
            </a:r>
            <a:r>
              <a:rPr lang="en-US" altLang="zh-TW" dirty="0"/>
              <a:t>slug </a:t>
            </a:r>
            <a:r>
              <a:rPr lang="zh-TW" altLang="en-US" dirty="0"/>
              <a:t>欄位。</a:t>
            </a:r>
            <a:endParaRPr lang="en-US" altLang="zh-TW" dirty="0"/>
          </a:p>
          <a:p>
            <a:r>
              <a:rPr lang="zh-TW" altLang="en-US" sz="1200" b="0" i="0" kern="1200" dirty="0">
                <a:solidFill>
                  <a:schemeClr val="tx1"/>
                </a:solidFill>
                <a:effectLst/>
                <a:latin typeface="+mn-lt"/>
                <a:ea typeface="+mn-ea"/>
                <a:cs typeface="+mn-cs"/>
              </a:rPr>
              <a:t>右邊的</a:t>
            </a:r>
            <a:r>
              <a:rPr lang="en-US" altLang="zh-TW" dirty="0"/>
              <a:t>slug </a:t>
            </a:r>
            <a:r>
              <a:rPr lang="zh-TW" altLang="en-US" dirty="0"/>
              <a:t>是</a:t>
            </a:r>
            <a:r>
              <a:rPr lang="zh-TW" altLang="en-US" b="1" dirty="0"/>
              <a:t>變數名稱</a:t>
            </a:r>
            <a:r>
              <a:rPr lang="zh-TW" altLang="en-US" dirty="0"/>
              <a:t>，代表著要查詢的 </a:t>
            </a:r>
            <a:r>
              <a:rPr lang="en-US" altLang="zh-TW" dirty="0"/>
              <a:t>slug </a:t>
            </a:r>
            <a:r>
              <a:rPr lang="zh-TW" altLang="en-US" dirty="0"/>
              <a:t>值。</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57</a:t>
            </a:fld>
            <a:endParaRPr lang="zh-TW" altLang="en-US"/>
          </a:p>
        </p:txBody>
      </p:sp>
    </p:spTree>
    <p:extLst>
      <p:ext uri="{BB962C8B-B14F-4D97-AF65-F5344CB8AC3E}">
        <p14:creationId xmlns:p14="http://schemas.microsoft.com/office/powerpoint/2010/main" val="19718139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分類口訣：共用的、不變的東西就放</a:t>
            </a:r>
            <a:r>
              <a:rPr lang="en-US" altLang="zh-TW" dirty="0"/>
              <a:t>base(</a:t>
            </a:r>
            <a:r>
              <a:rPr lang="zh-TW" altLang="en-US" dirty="0"/>
              <a:t>包括外面的標籤：例</a:t>
            </a:r>
            <a:r>
              <a:rPr lang="en-US" altLang="zh-TW" dirty="0"/>
              <a:t>&lt;title&gt;&lt;/title&gt;</a:t>
            </a:r>
            <a:r>
              <a:rPr lang="zh-TW" altLang="en-US" dirty="0"/>
              <a:t>留在</a:t>
            </a:r>
            <a:r>
              <a:rPr lang="en-US" altLang="zh-TW" dirty="0"/>
              <a:t>base</a:t>
            </a:r>
            <a:r>
              <a:rPr lang="zh-TW" altLang="en-US" dirty="0"/>
              <a:t>以方便做全局設計，只有會變的內容拿出去外面的子樣板</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63</a:t>
            </a:fld>
            <a:endParaRPr lang="zh-TW" altLang="en-US"/>
          </a:p>
        </p:txBody>
      </p:sp>
    </p:spTree>
    <p:extLst>
      <p:ext uri="{BB962C8B-B14F-4D97-AF65-F5344CB8AC3E}">
        <p14:creationId xmlns:p14="http://schemas.microsoft.com/office/powerpoint/2010/main" val="42734545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COPY index.html</a:t>
            </a:r>
            <a:r>
              <a:rPr lang="zh-TW" altLang="en-US" dirty="0"/>
              <a:t>改名為</a:t>
            </a:r>
            <a:r>
              <a:rPr lang="en-US" altLang="zh-TW" dirty="0"/>
              <a:t>base.html</a:t>
            </a:r>
            <a:r>
              <a:rPr lang="zh-TW" altLang="en-US" dirty="0"/>
              <a:t>然後把</a:t>
            </a:r>
            <a:r>
              <a:rPr lang="en-US" altLang="zh-TW" dirty="0"/>
              <a:t>index.html</a:t>
            </a:r>
            <a:r>
              <a:rPr lang="zh-TW" altLang="en-US" dirty="0"/>
              <a:t>清空，第一次先改</a:t>
            </a:r>
            <a:r>
              <a:rPr lang="en-US" altLang="zh-TW" dirty="0"/>
              <a:t>body</a:t>
            </a:r>
            <a:r>
              <a:rPr lang="zh-TW" altLang="en-US" dirty="0"/>
              <a:t>的文章內容，不要改</a:t>
            </a:r>
            <a:r>
              <a:rPr lang="en-US" altLang="zh-TW" dirty="0"/>
              <a:t>header message</a:t>
            </a:r>
          </a:p>
          <a:p>
            <a:r>
              <a:rPr lang="zh-TW" altLang="en-US" dirty="0"/>
              <a:t>保留</a:t>
            </a:r>
            <a:r>
              <a:rPr lang="en-US" altLang="zh-TW" dirty="0"/>
              <a:t>html</a:t>
            </a:r>
            <a:r>
              <a:rPr lang="zh-TW" altLang="en-US" dirty="0"/>
              <a:t>標籤，其餘的內容用</a:t>
            </a:r>
            <a:r>
              <a:rPr lang="en-US" altLang="zh-TW" dirty="0"/>
              <a:t>block</a:t>
            </a:r>
            <a:r>
              <a:rPr lang="zh-TW" altLang="en-US" dirty="0"/>
              <a:t>取代</a:t>
            </a:r>
            <a:endParaRPr lang="en-US" altLang="zh-TW" dirty="0"/>
          </a:p>
          <a:p>
            <a:r>
              <a:rPr lang="zh-TW" altLang="en-US" dirty="0"/>
              <a:t>快速鍵：</a:t>
            </a:r>
            <a:r>
              <a:rPr lang="en-US" altLang="zh-TW" dirty="0"/>
              <a:t>{% </a:t>
            </a:r>
            <a:r>
              <a:rPr lang="en-US" altLang="zh-TW" dirty="0">
                <a:solidFill>
                  <a:srgbClr val="FF0000"/>
                </a:solidFill>
              </a:rPr>
              <a:t>include</a:t>
            </a:r>
            <a:r>
              <a:rPr lang="en-US" altLang="zh-TW" dirty="0"/>
              <a:t>%} </a:t>
            </a:r>
            <a:r>
              <a:rPr lang="zh-TW" altLang="en-US"/>
              <a:t>打字：</a:t>
            </a:r>
            <a:r>
              <a:rPr lang="en-US" altLang="zh-TW"/>
              <a:t>include</a:t>
            </a:r>
            <a:endParaRPr lang="en-US" altLang="zh-TW" dirty="0"/>
          </a:p>
          <a:p>
            <a:r>
              <a:rPr lang="en-US" altLang="zh-TW" dirty="0">
                <a:solidFill>
                  <a:srgbClr val="FF0000"/>
                </a:solidFill>
              </a:rPr>
              <a:t>{% block title %} {% </a:t>
            </a:r>
            <a:r>
              <a:rPr lang="en-US" altLang="zh-TW" dirty="0" err="1">
                <a:solidFill>
                  <a:srgbClr val="FF0000"/>
                </a:solidFill>
              </a:rPr>
              <a:t>endblock</a:t>
            </a:r>
            <a:r>
              <a:rPr lang="en-US" altLang="zh-TW" dirty="0">
                <a:solidFill>
                  <a:srgbClr val="FF0000"/>
                </a:solidFill>
              </a:rPr>
              <a:t> %} </a:t>
            </a:r>
            <a:r>
              <a:rPr lang="zh-TW" altLang="en-US" dirty="0">
                <a:solidFill>
                  <a:srgbClr val="FF0000"/>
                </a:solidFill>
              </a:rPr>
              <a:t>打字：</a:t>
            </a:r>
            <a:r>
              <a:rPr lang="en-US" altLang="zh-TW" dirty="0">
                <a:solidFill>
                  <a:srgbClr val="FF0000"/>
                </a:solidFill>
              </a:rPr>
              <a:t>block</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64</a:t>
            </a:fld>
            <a:endParaRPr lang="zh-TW" altLang="en-US"/>
          </a:p>
        </p:txBody>
      </p:sp>
    </p:spTree>
    <p:extLst>
      <p:ext uri="{BB962C8B-B14F-4D97-AF65-F5344CB8AC3E}">
        <p14:creationId xmlns:p14="http://schemas.microsoft.com/office/powerpoint/2010/main" val="8664096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給學生練習</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66</a:t>
            </a:fld>
            <a:endParaRPr lang="zh-TW" altLang="en-US"/>
          </a:p>
        </p:txBody>
      </p:sp>
    </p:spTree>
    <p:extLst>
      <p:ext uri="{BB962C8B-B14F-4D97-AF65-F5344CB8AC3E}">
        <p14:creationId xmlns:p14="http://schemas.microsoft.com/office/powerpoint/2010/main" val="13791124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從</a:t>
            </a:r>
            <a:r>
              <a:rPr lang="en-US" altLang="zh-TW" dirty="0"/>
              <a:t>base</a:t>
            </a:r>
            <a:r>
              <a:rPr lang="zh-TW" altLang="en-US" dirty="0"/>
              <a:t>搬過去即可，</a:t>
            </a:r>
            <a:endParaRPr lang="en-US" altLang="zh-TW" dirty="0"/>
          </a:p>
          <a:p>
            <a:r>
              <a:rPr lang="zh-TW" altLang="en-US" dirty="0"/>
              <a:t>只用</a:t>
            </a:r>
            <a:r>
              <a:rPr lang="en-US" altLang="zh-TW" dirty="0"/>
              <a:t>include header.html</a:t>
            </a:r>
            <a:r>
              <a:rPr lang="zh-TW" altLang="en-US" dirty="0"/>
              <a:t>不須用</a:t>
            </a:r>
            <a:r>
              <a:rPr lang="en-US" altLang="zh-TW" dirty="0"/>
              <a:t>block </a:t>
            </a:r>
            <a:r>
              <a:rPr lang="en-US" altLang="zh-TW" dirty="0" err="1"/>
              <a:t>headmessage</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67</a:t>
            </a:fld>
            <a:endParaRPr lang="zh-TW" altLang="en-US"/>
          </a:p>
        </p:txBody>
      </p:sp>
    </p:spTree>
    <p:extLst>
      <p:ext uri="{BB962C8B-B14F-4D97-AF65-F5344CB8AC3E}">
        <p14:creationId xmlns:p14="http://schemas.microsoft.com/office/powerpoint/2010/main" val="9247197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先不用</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68</a:t>
            </a:fld>
            <a:endParaRPr lang="zh-TW" altLang="en-US"/>
          </a:p>
        </p:txBody>
      </p:sp>
    </p:spTree>
    <p:extLst>
      <p:ext uri="{BB962C8B-B14F-4D97-AF65-F5344CB8AC3E}">
        <p14:creationId xmlns:p14="http://schemas.microsoft.com/office/powerpoint/2010/main" val="31840917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給學生練習改</a:t>
            </a:r>
            <a:endParaRPr lang="en-US" altLang="zh-TW" dirty="0"/>
          </a:p>
          <a:p>
            <a:r>
              <a:rPr lang="zh-TW" altLang="en-US" dirty="0"/>
              <a:t>搜尋</a:t>
            </a:r>
            <a:r>
              <a:rPr lang="en-US" altLang="zh-TW" dirty="0"/>
              <a:t>bootstrap 5 then </a:t>
            </a:r>
            <a:r>
              <a:rPr lang="zh-TW" altLang="en-US" dirty="0"/>
              <a:t>選最新版本</a:t>
            </a:r>
            <a:endParaRPr lang="en-US" altLang="zh-TW" dirty="0"/>
          </a:p>
          <a:p>
            <a:r>
              <a:rPr lang="en-US" altLang="zh-TW" dirty="0"/>
              <a:t>copy below </a:t>
            </a:r>
            <a:r>
              <a:rPr lang="zh-TW" altLang="en-US" dirty="0"/>
              <a:t>整個模板，有含</a:t>
            </a:r>
            <a:r>
              <a:rPr lang="en-US" altLang="zh-TW" dirty="0"/>
              <a:t>CSS link</a:t>
            </a:r>
          </a:p>
          <a:p>
            <a:r>
              <a:rPr lang="en-US" altLang="zh-TW" dirty="0"/>
              <a:t>&lt;!doctype html&gt; &lt;html lang="</a:t>
            </a:r>
            <a:r>
              <a:rPr lang="en-US" altLang="zh-TW" dirty="0" err="1"/>
              <a:t>en</a:t>
            </a:r>
            <a:r>
              <a:rPr lang="en-US" altLang="zh-TW" dirty="0"/>
              <a:t>"&gt; &lt;head&gt; &lt;meta charset="utf-8"&gt; &lt;meta name="viewport" content="width=device-width, initial-scale=1"&gt; &lt;title&gt;Bootstrap demo&lt;/title&gt; &lt;link </a:t>
            </a:r>
            <a:r>
              <a:rPr lang="en-US" altLang="zh-TW" dirty="0" err="1"/>
              <a:t>href</a:t>
            </a:r>
            <a:r>
              <a:rPr lang="en-US" altLang="zh-TW" dirty="0"/>
              <a:t>="https://cdn.jsdelivr.net/</a:t>
            </a:r>
            <a:r>
              <a:rPr lang="en-US" altLang="zh-TW" dirty="0" err="1"/>
              <a:t>npm</a:t>
            </a:r>
            <a:r>
              <a:rPr lang="en-US" altLang="zh-TW" dirty="0"/>
              <a:t>/bootstrap@5.2.3/</a:t>
            </a:r>
            <a:r>
              <a:rPr lang="en-US" altLang="zh-TW" dirty="0" err="1"/>
              <a:t>dist</a:t>
            </a:r>
            <a:r>
              <a:rPr lang="en-US" altLang="zh-TW" dirty="0"/>
              <a:t>/</a:t>
            </a:r>
            <a:r>
              <a:rPr lang="en-US" altLang="zh-TW" dirty="0" err="1"/>
              <a:t>css</a:t>
            </a:r>
            <a:r>
              <a:rPr lang="en-US" altLang="zh-TW" dirty="0"/>
              <a:t>/bootstrap.min.css" </a:t>
            </a:r>
            <a:r>
              <a:rPr lang="en-US" altLang="zh-TW" dirty="0" err="1"/>
              <a:t>rel</a:t>
            </a:r>
            <a:r>
              <a:rPr lang="en-US" altLang="zh-TW" dirty="0"/>
              <a:t>="stylesheet" integrity="sha384-rbsA2VBKQhggwzxH7pPCaAqO46MgnOM80zW1RWuH61DGLwZJEdK2Kadq2F9CUG65" </a:t>
            </a:r>
            <a:r>
              <a:rPr lang="en-US" altLang="zh-TW" dirty="0" err="1"/>
              <a:t>crossorigin</a:t>
            </a:r>
            <a:r>
              <a:rPr lang="en-US" altLang="zh-TW" dirty="0"/>
              <a:t>="anonymous"&gt; &lt;/head&gt; &lt;body&gt; &lt;h1&gt;Hello, world!&lt;/h1&gt; &lt;script </a:t>
            </a:r>
            <a:r>
              <a:rPr lang="en-US" altLang="zh-TW" dirty="0" err="1"/>
              <a:t>src</a:t>
            </a:r>
            <a:r>
              <a:rPr lang="en-US" altLang="zh-TW" dirty="0"/>
              <a:t>="https://cdn.jsdelivr.net/</a:t>
            </a:r>
            <a:r>
              <a:rPr lang="en-US" altLang="zh-TW" dirty="0" err="1"/>
              <a:t>npm</a:t>
            </a:r>
            <a:r>
              <a:rPr lang="en-US" altLang="zh-TW" dirty="0"/>
              <a:t>/bootstrap@5.2.3/</a:t>
            </a:r>
            <a:r>
              <a:rPr lang="en-US" altLang="zh-TW" dirty="0" err="1"/>
              <a:t>dist</a:t>
            </a:r>
            <a:r>
              <a:rPr lang="en-US" altLang="zh-TW" dirty="0"/>
              <a:t>/</a:t>
            </a:r>
            <a:r>
              <a:rPr lang="en-US" altLang="zh-TW" dirty="0" err="1"/>
              <a:t>js</a:t>
            </a:r>
            <a:r>
              <a:rPr lang="en-US" altLang="zh-TW" dirty="0"/>
              <a:t>/bootstrap.bundle.min.js" integrity="sha384-kenU1KFdBIe4zVF0s0G1M5b4hcpxyD9F7jL+jjXkk+Q2h455rYXK/7HAuoJl+0I4" </a:t>
            </a:r>
            <a:r>
              <a:rPr lang="en-US" altLang="zh-TW" dirty="0" err="1"/>
              <a:t>crossorigin</a:t>
            </a:r>
            <a:r>
              <a:rPr lang="en-US" altLang="zh-TW" dirty="0"/>
              <a:t>="anonymous"&gt;&lt;/script&gt; &lt;/body&gt; &lt;/html&gt; </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72</a:t>
            </a:fld>
            <a:endParaRPr lang="zh-TW" altLang="en-US"/>
          </a:p>
        </p:txBody>
      </p:sp>
    </p:spTree>
    <p:extLst>
      <p:ext uri="{BB962C8B-B14F-4D97-AF65-F5344CB8AC3E}">
        <p14:creationId xmlns:p14="http://schemas.microsoft.com/office/powerpoint/2010/main" val="32540768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注意是改</a:t>
            </a:r>
            <a:r>
              <a:rPr lang="en-US" altLang="zh-TW" dirty="0"/>
              <a:t>base html</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73</a:t>
            </a:fld>
            <a:endParaRPr lang="zh-TW" altLang="en-US"/>
          </a:p>
        </p:txBody>
      </p:sp>
    </p:spTree>
    <p:extLst>
      <p:ext uri="{BB962C8B-B14F-4D97-AF65-F5344CB8AC3E}">
        <p14:creationId xmlns:p14="http://schemas.microsoft.com/office/powerpoint/2010/main" val="10717733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放在</a:t>
            </a:r>
            <a:r>
              <a:rPr lang="en-US" altLang="zh-TW" sz="1200" dirty="0"/>
              <a:t>&lt;/head&gt;</a:t>
            </a:r>
            <a:r>
              <a:rPr lang="zh-TW" altLang="en-US" sz="1200" dirty="0"/>
              <a:t>之前</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74</a:t>
            </a:fld>
            <a:endParaRPr lang="zh-TW" altLang="en-US"/>
          </a:p>
        </p:txBody>
      </p:sp>
    </p:spTree>
    <p:extLst>
      <p:ext uri="{BB962C8B-B14F-4D97-AF65-F5344CB8AC3E}">
        <p14:creationId xmlns:p14="http://schemas.microsoft.com/office/powerpoint/2010/main" val="27265269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加一個</a:t>
            </a:r>
            <a:r>
              <a:rPr lang="en-US" altLang="zh-TW" dirty="0"/>
              <a:t>row</a:t>
            </a:r>
            <a:r>
              <a:rPr lang="zh-TW" altLang="en-US" dirty="0"/>
              <a:t>，左</a:t>
            </a:r>
            <a:r>
              <a:rPr lang="en-US" altLang="zh-TW" dirty="0"/>
              <a:t>3</a:t>
            </a:r>
            <a:r>
              <a:rPr lang="zh-TW" altLang="en-US" dirty="0"/>
              <a:t>右</a:t>
            </a:r>
            <a:r>
              <a:rPr lang="en-US" altLang="zh-TW" dirty="0"/>
              <a:t>9</a:t>
            </a:r>
            <a:r>
              <a:rPr lang="zh-TW" altLang="en-US" dirty="0"/>
              <a:t>的寬度</a:t>
            </a:r>
            <a:endParaRPr lang="en-US" altLang="zh-TW" dirty="0"/>
          </a:p>
          <a:p>
            <a:r>
              <a:rPr lang="en-US" altLang="zh-TW" dirty="0"/>
              <a:t>https://getbootstrap.com/docs/5.2/components/card/</a:t>
            </a:r>
          </a:p>
          <a:p>
            <a:r>
              <a:rPr lang="en-US" altLang="zh-TW" dirty="0"/>
              <a:t>https://getbootstrap.com/docs/5.2/components/list-group/</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75</a:t>
            </a:fld>
            <a:endParaRPr lang="zh-TW" altLang="en-US"/>
          </a:p>
        </p:txBody>
      </p:sp>
    </p:spTree>
    <p:extLst>
      <p:ext uri="{BB962C8B-B14F-4D97-AF65-F5344CB8AC3E}">
        <p14:creationId xmlns:p14="http://schemas.microsoft.com/office/powerpoint/2010/main" val="33132041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在最下面，放在</a:t>
            </a:r>
            <a:r>
              <a:rPr lang="en-US" altLang="zh-TW" dirty="0"/>
              <a:t>STATIC_URL </a:t>
            </a:r>
            <a:r>
              <a:rPr lang="zh-TW" altLang="en-US" dirty="0"/>
              <a:t>前面</a:t>
            </a:r>
            <a:endParaRPr lang="en-US" altLang="zh-TW" dirty="0"/>
          </a:p>
          <a:p>
            <a:r>
              <a:rPr lang="en-US" altLang="zh-TW" dirty="0"/>
              <a:t>STATIC_ROOT</a:t>
            </a:r>
            <a:r>
              <a:rPr lang="zh-TW" altLang="en-US" dirty="0"/>
              <a:t>只有在部署網站時才會需要用到。</a:t>
            </a:r>
            <a:endParaRPr lang="en-US" altLang="zh-TW" dirty="0"/>
          </a:p>
          <a:p>
            <a:r>
              <a:rPr lang="en-US" altLang="zh-TW" dirty="0"/>
              <a:t>https://ithelp.ithome.com.tw/articles/10243292</a:t>
            </a:r>
          </a:p>
          <a:p>
            <a:r>
              <a:rPr lang="en-US" altLang="zh-TW" dirty="0"/>
              <a:t>http://127.0.0.1:8000/static/images/logo.png</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79</a:t>
            </a:fld>
            <a:endParaRPr lang="zh-TW" altLang="en-US"/>
          </a:p>
        </p:txBody>
      </p:sp>
    </p:spTree>
    <p:extLst>
      <p:ext uri="{BB962C8B-B14F-4D97-AF65-F5344CB8AC3E}">
        <p14:creationId xmlns:p14="http://schemas.microsoft.com/office/powerpoint/2010/main" val="7772130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err="1"/>
              <a:t>Fk</a:t>
            </a:r>
            <a:r>
              <a:rPr lang="en-US" altLang="zh-TW" dirty="0"/>
              <a:t>: static (</a:t>
            </a:r>
            <a:r>
              <a:rPr lang="zh-TW" altLang="en-US" dirty="0"/>
              <a:t>不能在</a:t>
            </a:r>
            <a:r>
              <a:rPr lang="en-US" altLang="zh-TW" dirty="0"/>
              <a:t>&lt;</a:t>
            </a:r>
            <a:r>
              <a:rPr lang="en-US" altLang="zh-TW" dirty="0" err="1"/>
              <a:t>img</a:t>
            </a:r>
            <a:r>
              <a:rPr lang="en-US" altLang="zh-TW" dirty="0"/>
              <a:t> </a:t>
            </a:r>
            <a:r>
              <a:rPr lang="en-US" altLang="zh-TW" dirty="0" err="1"/>
              <a:t>src</a:t>
            </a:r>
            <a:r>
              <a:rPr lang="en-US" altLang="zh-TW" dirty="0"/>
              <a:t>=</a:t>
            </a:r>
            <a:r>
              <a:rPr lang="zh-TW" altLang="en-US" dirty="0"/>
              <a:t>裏面用，先在外面用好在移進來</a:t>
            </a:r>
            <a:r>
              <a:rPr lang="en-US" altLang="zh-TW" dirty="0"/>
              <a:t>)</a:t>
            </a:r>
          </a:p>
          <a:p>
            <a:r>
              <a:rPr lang="zh-TW" altLang="en-US" dirty="0"/>
              <a:t>安裝套件可辨識模板語言</a:t>
            </a:r>
            <a:r>
              <a:rPr lang="en-US" altLang="zh-TW" dirty="0">
                <a:solidFill>
                  <a:srgbClr val="FF0000"/>
                </a:solidFill>
              </a:rPr>
              <a:t>{% static "images/logo.png" %}</a:t>
            </a:r>
            <a:r>
              <a:rPr lang="en-US" altLang="zh-TW" dirty="0"/>
              <a:t>"&gt;</a:t>
            </a:r>
          </a:p>
          <a:p>
            <a:r>
              <a:rPr lang="en-US" altLang="zh-TW" dirty="0"/>
              <a:t>https://marketplace.visualstudio.com/items?itemName=batisteo.vscode-django</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80</a:t>
            </a:fld>
            <a:endParaRPr lang="zh-TW" altLang="en-US"/>
          </a:p>
        </p:txBody>
      </p:sp>
    </p:spTree>
    <p:extLst>
      <p:ext uri="{BB962C8B-B14F-4D97-AF65-F5344CB8AC3E}">
        <p14:creationId xmlns:p14="http://schemas.microsoft.com/office/powerpoint/2010/main" val="25451105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在</a:t>
            </a:r>
            <a:r>
              <a:rPr lang="en-US" altLang="zh-TW" dirty="0"/>
              <a:t>show post </a:t>
            </a:r>
            <a:r>
              <a:rPr lang="zh-TW" altLang="en-US" dirty="0"/>
              <a:t>文章內容的地方再加一個</a:t>
            </a:r>
            <a:r>
              <a:rPr lang="en-US" altLang="zh-TW" dirty="0"/>
              <a:t>card</a:t>
            </a:r>
            <a:r>
              <a:rPr lang="zh-TW" altLang="en-US" dirty="0"/>
              <a:t>來分別</a:t>
            </a:r>
            <a:r>
              <a:rPr lang="en-US" altLang="zh-TW" dirty="0"/>
              <a:t>show title</a:t>
            </a:r>
            <a:r>
              <a:rPr lang="zh-TW" altLang="en-US" dirty="0"/>
              <a:t>，內文，發佈時間，和</a:t>
            </a:r>
            <a:r>
              <a:rPr lang="en-US" altLang="zh-TW" dirty="0"/>
              <a:t>base html</a:t>
            </a:r>
            <a:r>
              <a:rPr lang="zh-TW" altLang="en-US" dirty="0"/>
              <a:t>的</a:t>
            </a:r>
            <a:r>
              <a:rPr lang="en-US" altLang="zh-TW" dirty="0"/>
              <a:t>card</a:t>
            </a:r>
            <a:r>
              <a:rPr lang="zh-TW" altLang="en-US" dirty="0"/>
              <a:t>是不同作用</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85</a:t>
            </a:fld>
            <a:endParaRPr lang="zh-TW" altLang="en-US"/>
          </a:p>
        </p:txBody>
      </p:sp>
    </p:spTree>
    <p:extLst>
      <p:ext uri="{BB962C8B-B14F-4D97-AF65-F5344CB8AC3E}">
        <p14:creationId xmlns:p14="http://schemas.microsoft.com/office/powerpoint/2010/main" val="33484772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86</a:t>
            </a:fld>
            <a:endParaRPr lang="zh-TW" altLang="en-US"/>
          </a:p>
        </p:txBody>
      </p:sp>
    </p:spTree>
    <p:extLst>
      <p:ext uri="{BB962C8B-B14F-4D97-AF65-F5344CB8AC3E}">
        <p14:creationId xmlns:p14="http://schemas.microsoft.com/office/powerpoint/2010/main" val="16318833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https://www.rthk.hk/chiculture/chipoem/images/draw2.png</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87</a:t>
            </a:fld>
            <a:endParaRPr lang="zh-TW" altLang="en-US"/>
          </a:p>
        </p:txBody>
      </p:sp>
    </p:spTree>
    <p:extLst>
      <p:ext uri="{BB962C8B-B14F-4D97-AF65-F5344CB8AC3E}">
        <p14:creationId xmlns:p14="http://schemas.microsoft.com/office/powerpoint/2010/main" val="5914543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https://www.rthk.hk/chiculture/chipoem/images/draw2.png</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88</a:t>
            </a:fld>
            <a:endParaRPr lang="zh-TW" altLang="en-US"/>
          </a:p>
        </p:txBody>
      </p:sp>
    </p:spTree>
    <p:extLst>
      <p:ext uri="{BB962C8B-B14F-4D97-AF65-F5344CB8AC3E}">
        <p14:creationId xmlns:p14="http://schemas.microsoft.com/office/powerpoint/2010/main" val="143652704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&lt;</a:t>
            </a:r>
            <a:r>
              <a:rPr lang="en-US" altLang="zh-TW" dirty="0" err="1"/>
              <a:t>img</a:t>
            </a:r>
            <a:r>
              <a:rPr lang="en-US" altLang="zh-TW" dirty="0"/>
              <a:t> </a:t>
            </a:r>
            <a:r>
              <a:rPr lang="en-US" altLang="zh-TW" dirty="0" err="1"/>
              <a:t>src</a:t>
            </a:r>
            <a:r>
              <a:rPr lang="en-US" altLang="zh-TW" dirty="0"/>
              <a:t>="https://www.rthk.hk/chiculture/chipoem/images/draw2.png" alt="</a:t>
            </a:r>
            <a:r>
              <a:rPr lang="zh-TW" altLang="en-US" dirty="0"/>
              <a:t>無法</a:t>
            </a:r>
            <a:r>
              <a:rPr lang="en-US" altLang="zh-TW" dirty="0"/>
              <a:t>show"&gt;</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89</a:t>
            </a:fld>
            <a:endParaRPr lang="zh-TW" altLang="en-US"/>
          </a:p>
        </p:txBody>
      </p:sp>
    </p:spTree>
    <p:extLst>
      <p:ext uri="{BB962C8B-B14F-4D97-AF65-F5344CB8AC3E}">
        <p14:creationId xmlns:p14="http://schemas.microsoft.com/office/powerpoint/2010/main" val="307520236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在</a:t>
            </a:r>
            <a:r>
              <a:rPr lang="en-US" altLang="zh-TW" dirty="0"/>
              <a:t>index.html</a:t>
            </a:r>
            <a:r>
              <a:rPr lang="zh-TW" altLang="en-US" dirty="0"/>
              <a:t>的</a:t>
            </a:r>
            <a:r>
              <a:rPr lang="en-US" altLang="zh-TW" dirty="0" err="1"/>
              <a:t>post.body</a:t>
            </a:r>
            <a:r>
              <a:rPr lang="zh-TW" altLang="en-US" dirty="0"/>
              <a:t>也可加 </a:t>
            </a:r>
            <a:r>
              <a:rPr lang="en-US" altLang="zh-TW" sz="1200" b="0" kern="1200" dirty="0">
                <a:solidFill>
                  <a:schemeClr val="tx1"/>
                </a:solidFill>
                <a:effectLst/>
                <a:latin typeface="+mn-lt"/>
                <a:ea typeface="+mn-ea"/>
                <a:cs typeface="+mn-cs"/>
              </a:rPr>
              <a:t>{{ </a:t>
            </a:r>
            <a:r>
              <a:rPr lang="en-US" altLang="zh-TW" sz="1200" b="0" kern="1200" dirty="0" err="1">
                <a:solidFill>
                  <a:schemeClr val="tx1"/>
                </a:solidFill>
                <a:effectLst/>
                <a:latin typeface="+mn-lt"/>
                <a:ea typeface="+mn-ea"/>
                <a:cs typeface="+mn-cs"/>
              </a:rPr>
              <a:t>post.body</a:t>
            </a:r>
            <a:r>
              <a:rPr lang="en-US" altLang="zh-TW" sz="1200" b="0" kern="1200" dirty="0">
                <a:solidFill>
                  <a:schemeClr val="tx1"/>
                </a:solidFill>
                <a:effectLst/>
                <a:latin typeface="+mn-lt"/>
                <a:ea typeface="+mn-ea"/>
                <a:cs typeface="+mn-cs"/>
              </a:rPr>
              <a:t> | safe }}</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b="0" kern="1200" dirty="0">
                <a:solidFill>
                  <a:schemeClr val="tx1"/>
                </a:solidFill>
                <a:effectLst/>
                <a:latin typeface="+mn-lt"/>
                <a:ea typeface="+mn-ea"/>
                <a:cs typeface="+mn-cs"/>
              </a:rPr>
              <a:t>就可</a:t>
            </a:r>
            <a:r>
              <a:rPr lang="en-US" altLang="zh-TW" sz="1200" b="0" kern="1200" dirty="0">
                <a:solidFill>
                  <a:schemeClr val="tx1"/>
                </a:solidFill>
                <a:effectLst/>
                <a:latin typeface="+mn-lt"/>
                <a:ea typeface="+mn-ea"/>
                <a:cs typeface="+mn-cs"/>
              </a:rPr>
              <a:t>show</a:t>
            </a:r>
            <a:r>
              <a:rPr lang="zh-TW" altLang="en-US" sz="1200" b="0" kern="1200" dirty="0">
                <a:solidFill>
                  <a:schemeClr val="tx1"/>
                </a:solidFill>
                <a:effectLst/>
                <a:latin typeface="+mn-lt"/>
                <a:ea typeface="+mn-ea"/>
                <a:cs typeface="+mn-cs"/>
              </a:rPr>
              <a:t>圖片</a:t>
            </a:r>
            <a:endParaRPr lang="en-US" altLang="zh-TW" sz="1200" b="0" kern="1200" dirty="0">
              <a:solidFill>
                <a:schemeClr val="tx1"/>
              </a:solidFill>
              <a:effectLst/>
              <a:latin typeface="+mn-lt"/>
              <a:ea typeface="+mn-ea"/>
              <a:cs typeface="+mn-cs"/>
            </a:endParaRPr>
          </a:p>
          <a:p>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90</a:t>
            </a:fld>
            <a:endParaRPr lang="zh-TW" altLang="en-US"/>
          </a:p>
        </p:txBody>
      </p:sp>
    </p:spTree>
    <p:extLst>
      <p:ext uri="{BB962C8B-B14F-4D97-AF65-F5344CB8AC3E}">
        <p14:creationId xmlns:p14="http://schemas.microsoft.com/office/powerpoint/2010/main" val="11278417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加此設定就可以</a:t>
            </a:r>
            <a:r>
              <a:rPr lang="en-US" altLang="zh-TW" dirty="0"/>
              <a:t>show</a:t>
            </a:r>
            <a:r>
              <a:rPr lang="zh-TW" altLang="en-US" dirty="0"/>
              <a:t>圖片</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91</a:t>
            </a:fld>
            <a:endParaRPr lang="zh-TW" altLang="en-US"/>
          </a:p>
        </p:txBody>
      </p:sp>
    </p:spTree>
    <p:extLst>
      <p:ext uri="{BB962C8B-B14F-4D97-AF65-F5344CB8AC3E}">
        <p14:creationId xmlns:p14="http://schemas.microsoft.com/office/powerpoint/2010/main" val="16453738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自行建立這兩個檔案及資料夾</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93</a:t>
            </a:fld>
            <a:endParaRPr lang="zh-TW" altLang="en-US"/>
          </a:p>
        </p:txBody>
      </p:sp>
    </p:spTree>
    <p:extLst>
      <p:ext uri="{BB962C8B-B14F-4D97-AF65-F5344CB8AC3E}">
        <p14:creationId xmlns:p14="http://schemas.microsoft.com/office/powerpoint/2010/main" val="251628280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a:p>
          <a:p>
            <a:r>
              <a:rPr lang="zh-TW" altLang="en-US" b="1" dirty="0"/>
              <a:t>注意</a:t>
            </a:r>
            <a:r>
              <a:rPr lang="en-US" altLang="zh-TW" b="1" dirty="0"/>
              <a:t>: | safe</a:t>
            </a:r>
            <a:r>
              <a:rPr lang="zh-TW" altLang="en-US" b="1" dirty="0"/>
              <a:t>的順序很重要，要放在最右邊，否則效果出不來</a:t>
            </a:r>
            <a:endParaRPr lang="en-US" altLang="zh-TW" b="1" dirty="0"/>
          </a:p>
          <a:p>
            <a:r>
              <a:rPr lang="en-US" altLang="zh-TW" dirty="0" err="1"/>
              <a:t>Fk</a:t>
            </a:r>
            <a:r>
              <a:rPr lang="en-US" altLang="zh-TW" dirty="0"/>
              <a:t>: load</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94</a:t>
            </a:fld>
            <a:endParaRPr lang="zh-TW" altLang="en-US"/>
          </a:p>
        </p:txBody>
      </p:sp>
    </p:spTree>
    <p:extLst>
      <p:ext uri="{BB962C8B-B14F-4D97-AF65-F5344CB8AC3E}">
        <p14:creationId xmlns:p14="http://schemas.microsoft.com/office/powerpoint/2010/main" val="39810378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練習：</a:t>
            </a:r>
            <a:endParaRPr lang="en-US" altLang="zh-TW" dirty="0"/>
          </a:p>
          <a:p>
            <a:r>
              <a:rPr lang="zh-TW" altLang="en-US" dirty="0"/>
              <a:t>首頁也改成可</a:t>
            </a:r>
            <a:r>
              <a:rPr lang="en-US" altLang="zh-TW" dirty="0"/>
              <a:t>markdown</a:t>
            </a:r>
          </a:p>
          <a:p>
            <a:r>
              <a:rPr lang="en-US" altLang="zh-TW" dirty="0"/>
              <a:t>model</a:t>
            </a:r>
            <a:r>
              <a:rPr lang="zh-TW" altLang="en-US" dirty="0"/>
              <a:t>增加作者欄位，在首頁可單獨顯示作者 </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97</a:t>
            </a:fld>
            <a:endParaRPr lang="zh-TW" altLang="en-US"/>
          </a:p>
        </p:txBody>
      </p:sp>
    </p:spTree>
    <p:extLst>
      <p:ext uri="{BB962C8B-B14F-4D97-AF65-F5344CB8AC3E}">
        <p14:creationId xmlns:p14="http://schemas.microsoft.com/office/powerpoint/2010/main" val="35484777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15" name="矩形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矩形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矩形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矩形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副標題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TW" altLang="en-US"/>
              <a:t>按一下以編輯母片副標題樣式</a:t>
            </a:r>
            <a:endParaRPr kumimoji="0" lang="en-US"/>
          </a:p>
        </p:txBody>
      </p:sp>
      <p:sp>
        <p:nvSpPr>
          <p:cNvPr id="28" name="日期版面配置區 27"/>
          <p:cNvSpPr>
            <a:spLocks noGrp="1"/>
          </p:cNvSpPr>
          <p:nvPr>
            <p:ph type="dt" sz="half" idx="10"/>
          </p:nvPr>
        </p:nvSpPr>
        <p:spPr/>
        <p:txBody>
          <a:bodyPr/>
          <a:lstStyle/>
          <a:p>
            <a:fld id="{DF19C816-D38B-498E-804E-00D02760FC7A}" type="datetime1">
              <a:rPr lang="zh-TW" altLang="en-US" smtClean="0"/>
              <a:pPr/>
              <a:t>2026/10/3</a:t>
            </a:fld>
            <a:endParaRPr lang="zh-TW" altLang="en-US"/>
          </a:p>
        </p:txBody>
      </p:sp>
      <p:sp>
        <p:nvSpPr>
          <p:cNvPr id="17" name="頁尾版面配置區 16"/>
          <p:cNvSpPr>
            <a:spLocks noGrp="1"/>
          </p:cNvSpPr>
          <p:nvPr>
            <p:ph type="ftr" sz="quarter" idx="11"/>
          </p:nvPr>
        </p:nvSpPr>
        <p:spPr/>
        <p:txBody>
          <a:bodyPr/>
          <a:lstStyle/>
          <a:p>
            <a:endParaRPr lang="zh-TW" altLang="en-US"/>
          </a:p>
        </p:txBody>
      </p:sp>
      <p:sp>
        <p:nvSpPr>
          <p:cNvPr id="7" name="直線接點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矩形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橢圓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橢圓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投影片編號版面配置區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369E457D-EE12-4164-8E32-9DDD40A95892}" type="slidenum">
              <a:rPr lang="zh-TW" altLang="en-US" smtClean="0"/>
              <a:pPr/>
              <a:t>‹#›</a:t>
            </a:fld>
            <a:endParaRPr lang="zh-TW" altLang="en-US"/>
          </a:p>
        </p:txBody>
      </p:sp>
      <p:sp>
        <p:nvSpPr>
          <p:cNvPr id="8" name="標題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zh-TW" altLang="en-US"/>
              <a:t>按一下以編輯母片標題樣式</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solidFill>
                  <a:schemeClr val="accent3">
                    <a:shade val="75000"/>
                  </a:schemeClr>
                </a:solidFill>
              </a:defRPr>
            </a:lvl1pPr>
          </a:lstStyle>
          <a:p>
            <a:r>
              <a:rPr kumimoji="0" lang="zh-TW" altLang="en-US"/>
              <a:t>按一下以編輯母片標題樣式</a:t>
            </a:r>
            <a:endParaRPr kumimoji="0" lang="en-US"/>
          </a:p>
        </p:txBody>
      </p:sp>
      <p:sp>
        <p:nvSpPr>
          <p:cNvPr id="4" name="日期版面配置區 3"/>
          <p:cNvSpPr>
            <a:spLocks noGrp="1"/>
          </p:cNvSpPr>
          <p:nvPr>
            <p:ph type="dt" sz="half" idx="10"/>
          </p:nvPr>
        </p:nvSpPr>
        <p:spPr/>
        <p:txBody>
          <a:bodyPr/>
          <a:lstStyle/>
          <a:p>
            <a:fld id="{E16BAABA-C288-41C0-9D8E-87773CE9488B}" type="datetime1">
              <a:rPr lang="zh-TW" altLang="en-US" smtClean="0"/>
              <a:pPr/>
              <a:t>2026/10/3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a:xfrm>
            <a:off x="4361688" y="1026372"/>
            <a:ext cx="457200" cy="441325"/>
          </a:xfrm>
        </p:spPr>
        <p:txBody>
          <a:bodyPr/>
          <a:lstStyle/>
          <a:p>
            <a:fld id="{369E457D-EE12-4164-8E32-9DDD40A95892}" type="slidenum">
              <a:rPr lang="zh-TW" altLang="en-US" smtClean="0"/>
              <a:pPr/>
              <a:t>‹#›</a:t>
            </a:fld>
            <a:endParaRPr lang="zh-TW" altLang="en-US"/>
          </a:p>
        </p:txBody>
      </p:sp>
      <p:sp>
        <p:nvSpPr>
          <p:cNvPr id="8" name="內容版面配置區 7"/>
          <p:cNvSpPr>
            <a:spLocks noGrp="1"/>
          </p:cNvSpPr>
          <p:nvPr>
            <p:ph sz="quarter" idx="1"/>
          </p:nvPr>
        </p:nvSpPr>
        <p:spPr>
          <a:xfrm>
            <a:off x="301752" y="1527048"/>
            <a:ext cx="8503920" cy="4572000"/>
          </a:xfrm>
        </p:spPr>
        <p:txBody>
          <a:body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區段標題">
    <p:spTree>
      <p:nvGrpSpPr>
        <p:cNvPr id="1" name=""/>
        <p:cNvGrpSpPr/>
        <p:nvPr/>
      </p:nvGrpSpPr>
      <p:grpSpPr>
        <a:xfrm>
          <a:off x="0" y="0"/>
          <a:ext cx="0" cy="0"/>
          <a:chOff x="0" y="0"/>
          <a:chExt cx="0" cy="0"/>
        </a:xfrm>
      </p:grpSpPr>
      <p:sp>
        <p:nvSpPr>
          <p:cNvPr id="17" name="矩形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矩形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矩形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矩形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矩形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文字版面配置區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TW" altLang="en-US"/>
              <a:t>按一下以編輯母片文字樣式</a:t>
            </a:r>
          </a:p>
        </p:txBody>
      </p:sp>
      <p:sp>
        <p:nvSpPr>
          <p:cNvPr id="13" name="矩形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矩形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頁尾版面配置區 4"/>
          <p:cNvSpPr>
            <a:spLocks noGrp="1"/>
          </p:cNvSpPr>
          <p:nvPr>
            <p:ph type="ftr" sz="quarter" idx="11"/>
          </p:nvPr>
        </p:nvSpPr>
        <p:spPr/>
        <p:txBody>
          <a:bodyPr/>
          <a:lstStyle/>
          <a:p>
            <a:endParaRPr lang="zh-TW" altLang="en-US"/>
          </a:p>
        </p:txBody>
      </p:sp>
      <p:sp>
        <p:nvSpPr>
          <p:cNvPr id="4" name="日期版面配置區 3"/>
          <p:cNvSpPr>
            <a:spLocks noGrp="1"/>
          </p:cNvSpPr>
          <p:nvPr>
            <p:ph type="dt" sz="half" idx="10"/>
          </p:nvPr>
        </p:nvSpPr>
        <p:spPr/>
        <p:txBody>
          <a:bodyPr/>
          <a:lstStyle/>
          <a:p>
            <a:fld id="{E6F79EFE-5102-4BAD-A377-702F02C2814E}" type="datetime1">
              <a:rPr lang="zh-TW" altLang="en-US" smtClean="0"/>
              <a:pPr/>
              <a:t>2026/10/3</a:t>
            </a:fld>
            <a:endParaRPr lang="zh-TW" altLang="en-US"/>
          </a:p>
        </p:txBody>
      </p:sp>
      <p:sp>
        <p:nvSpPr>
          <p:cNvPr id="8" name="直線接點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橢圓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橢圓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投影片編號版面配置區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369E457D-EE12-4164-8E32-9DDD40A95892}" type="slidenum">
              <a:rPr lang="zh-TW" altLang="en-US" smtClean="0"/>
              <a:pPr/>
              <a:t>‹#›</a:t>
            </a:fld>
            <a:endParaRPr lang="zh-TW" altLang="en-US"/>
          </a:p>
        </p:txBody>
      </p:sp>
      <p:sp>
        <p:nvSpPr>
          <p:cNvPr id="2" name="標題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zh-TW" altLang="en-US"/>
              <a:t>按一下以編輯母片標題樣式</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301752" y="228600"/>
            <a:ext cx="8534400" cy="758952"/>
          </a:xfrm>
        </p:spPr>
        <p:txBody>
          <a:bodyPr/>
          <a:lstStyle/>
          <a:p>
            <a:r>
              <a:rPr kumimoji="0" lang="zh-TW" altLang="en-US"/>
              <a:t>按一下以編輯母片標題樣式</a:t>
            </a:r>
            <a:endParaRPr kumimoji="0" lang="en-US"/>
          </a:p>
        </p:txBody>
      </p:sp>
      <p:sp>
        <p:nvSpPr>
          <p:cNvPr id="5" name="日期版面配置區 4"/>
          <p:cNvSpPr>
            <a:spLocks noGrp="1"/>
          </p:cNvSpPr>
          <p:nvPr>
            <p:ph type="dt" sz="half" idx="10"/>
          </p:nvPr>
        </p:nvSpPr>
        <p:spPr>
          <a:xfrm>
            <a:off x="5791200" y="6409944"/>
            <a:ext cx="3044952" cy="365760"/>
          </a:xfrm>
        </p:spPr>
        <p:txBody>
          <a:bodyPr/>
          <a:lstStyle/>
          <a:p>
            <a:fld id="{240F5BD8-68CC-49A6-B769-229D3FACB86C}" type="datetime1">
              <a:rPr lang="zh-TW" altLang="en-US" smtClean="0"/>
              <a:pPr/>
              <a:t>2026/10/3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69E457D-EE12-4164-8E32-9DDD40A95892}" type="slidenum">
              <a:rPr lang="zh-TW" altLang="en-US" smtClean="0"/>
              <a:pPr/>
              <a:t>‹#›</a:t>
            </a:fld>
            <a:endParaRPr lang="zh-TW" altLang="en-US"/>
          </a:p>
        </p:txBody>
      </p:sp>
      <p:sp>
        <p:nvSpPr>
          <p:cNvPr id="8" name="直線接點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內容版面配置區 9"/>
          <p:cNvSpPr>
            <a:spLocks noGrp="1"/>
          </p:cNvSpPr>
          <p:nvPr>
            <p:ph sz="half" idx="1"/>
          </p:nvPr>
        </p:nvSpPr>
        <p:spPr>
          <a:xfrm>
            <a:off x="301752" y="1371600"/>
            <a:ext cx="4038600" cy="4681728"/>
          </a:xfrm>
        </p:spPr>
        <p:txBody>
          <a:bodyPr/>
          <a:lstStyle>
            <a:lvl1pPr>
              <a:defRPr sz="2500"/>
            </a:lvl1p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12" name="內容版面配置區 11"/>
          <p:cNvSpPr>
            <a:spLocks noGrp="1"/>
          </p:cNvSpPr>
          <p:nvPr>
            <p:ph sz="half" idx="2"/>
          </p:nvPr>
        </p:nvSpPr>
        <p:spPr>
          <a:xfrm>
            <a:off x="4800600" y="1371600"/>
            <a:ext cx="4038600" cy="4681728"/>
          </a:xfrm>
        </p:spPr>
        <p:txBody>
          <a:bodyPr/>
          <a:lstStyle>
            <a:lvl1pPr>
              <a:defRPr sz="2500"/>
            </a:lvl1p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對">
    <p:spTree>
      <p:nvGrpSpPr>
        <p:cNvPr id="1" name=""/>
        <p:cNvGrpSpPr/>
        <p:nvPr/>
      </p:nvGrpSpPr>
      <p:grpSpPr>
        <a:xfrm>
          <a:off x="0" y="0"/>
          <a:ext cx="0" cy="0"/>
          <a:chOff x="0" y="0"/>
          <a:chExt cx="0" cy="0"/>
        </a:xfrm>
      </p:grpSpPr>
      <p:sp>
        <p:nvSpPr>
          <p:cNvPr id="10" name="直線接點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矩形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矩形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矩形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矩形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矩形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矩形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文字版面配置區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TW" altLang="en-US"/>
              <a:t>按一下以編輯母片文字樣式</a:t>
            </a:r>
          </a:p>
        </p:txBody>
      </p:sp>
      <p:sp>
        <p:nvSpPr>
          <p:cNvPr id="4" name="文字版面配置區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zh-TW" altLang="en-US"/>
              <a:t>按一下以編輯母片文字樣式</a:t>
            </a:r>
          </a:p>
        </p:txBody>
      </p:sp>
      <p:sp>
        <p:nvSpPr>
          <p:cNvPr id="7" name="日期版面配置區 6"/>
          <p:cNvSpPr>
            <a:spLocks noGrp="1"/>
          </p:cNvSpPr>
          <p:nvPr>
            <p:ph type="dt" sz="half" idx="10"/>
          </p:nvPr>
        </p:nvSpPr>
        <p:spPr/>
        <p:txBody>
          <a:bodyPr/>
          <a:lstStyle/>
          <a:p>
            <a:fld id="{C95C3C99-9A5D-4B12-8519-BF3493FEA3BD}" type="datetime1">
              <a:rPr lang="zh-TW" altLang="en-US" smtClean="0"/>
              <a:pPr/>
              <a:t>2026/10/3</a:t>
            </a:fld>
            <a:endParaRPr lang="zh-TW" altLang="en-US"/>
          </a:p>
        </p:txBody>
      </p:sp>
      <p:sp>
        <p:nvSpPr>
          <p:cNvPr id="8" name="頁尾版面配置區 7"/>
          <p:cNvSpPr>
            <a:spLocks noGrp="1"/>
          </p:cNvSpPr>
          <p:nvPr>
            <p:ph type="ftr" sz="quarter" idx="11"/>
          </p:nvPr>
        </p:nvSpPr>
        <p:spPr>
          <a:xfrm>
            <a:off x="304800" y="6409944"/>
            <a:ext cx="3581400" cy="365760"/>
          </a:xfrm>
        </p:spPr>
        <p:txBody>
          <a:bodyPr/>
          <a:lstStyle/>
          <a:p>
            <a:endParaRPr lang="zh-TW" altLang="en-US"/>
          </a:p>
        </p:txBody>
      </p:sp>
      <p:sp>
        <p:nvSpPr>
          <p:cNvPr id="15" name="直線接點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內容版面配置區 23"/>
          <p:cNvSpPr>
            <a:spLocks noGrp="1"/>
          </p:cNvSpPr>
          <p:nvPr>
            <p:ph sz="quarter" idx="2"/>
          </p:nvPr>
        </p:nvSpPr>
        <p:spPr>
          <a:xfrm>
            <a:off x="301752" y="2471383"/>
            <a:ext cx="4041648" cy="3818404"/>
          </a:xfrm>
        </p:spPr>
        <p:txBody>
          <a:body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26" name="內容版面配置區 25"/>
          <p:cNvSpPr>
            <a:spLocks noGrp="1"/>
          </p:cNvSpPr>
          <p:nvPr>
            <p:ph sz="quarter" idx="4"/>
          </p:nvPr>
        </p:nvSpPr>
        <p:spPr>
          <a:xfrm>
            <a:off x="4800600" y="2471383"/>
            <a:ext cx="4038600" cy="3822192"/>
          </a:xfrm>
        </p:spPr>
        <p:txBody>
          <a:body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25" name="橢圓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橢圓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投影片編號版面配置區 8"/>
          <p:cNvSpPr>
            <a:spLocks noGrp="1"/>
          </p:cNvSpPr>
          <p:nvPr>
            <p:ph type="sldNum" sz="quarter" idx="12"/>
          </p:nvPr>
        </p:nvSpPr>
        <p:spPr>
          <a:xfrm>
            <a:off x="4343400" y="1042416"/>
            <a:ext cx="457200" cy="441325"/>
          </a:xfrm>
        </p:spPr>
        <p:txBody>
          <a:bodyPr/>
          <a:lstStyle>
            <a:lvl1pPr algn="ctr">
              <a:defRPr/>
            </a:lvl1pPr>
          </a:lstStyle>
          <a:p>
            <a:fld id="{369E457D-EE12-4164-8E32-9DDD40A95892}" type="slidenum">
              <a:rPr lang="zh-TW" altLang="en-US" smtClean="0"/>
              <a:pPr/>
              <a:t>‹#›</a:t>
            </a:fld>
            <a:endParaRPr lang="zh-TW" altLang="en-US"/>
          </a:p>
        </p:txBody>
      </p:sp>
      <p:sp>
        <p:nvSpPr>
          <p:cNvPr id="23" name="標題 22"/>
          <p:cNvSpPr>
            <a:spLocks noGrp="1"/>
          </p:cNvSpPr>
          <p:nvPr>
            <p:ph type="title"/>
          </p:nvPr>
        </p:nvSpPr>
        <p:spPr/>
        <p:txBody>
          <a:bodyPr rtlCol="0" anchor="b" anchorCtr="0"/>
          <a:lstStyle/>
          <a:p>
            <a:r>
              <a:rPr kumimoji="0" lang="zh-TW" altLang="en-US"/>
              <a:t>按一下以編輯母片標題樣式</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a:t>按一下以編輯母片標題樣式</a:t>
            </a:r>
            <a:endParaRPr kumimoji="0" lang="en-US"/>
          </a:p>
        </p:txBody>
      </p:sp>
      <p:sp>
        <p:nvSpPr>
          <p:cNvPr id="3" name="日期版面配置區 2"/>
          <p:cNvSpPr>
            <a:spLocks noGrp="1"/>
          </p:cNvSpPr>
          <p:nvPr>
            <p:ph type="dt" sz="half" idx="10"/>
          </p:nvPr>
        </p:nvSpPr>
        <p:spPr/>
        <p:txBody>
          <a:bodyPr/>
          <a:lstStyle/>
          <a:p>
            <a:fld id="{C0C1B973-9C4C-43B9-BBC9-7D038B5E66BB}" type="datetime1">
              <a:rPr lang="zh-TW" altLang="en-US" smtClean="0"/>
              <a:pPr/>
              <a:t>2026/10/3</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a:xfrm>
            <a:off x="4343400" y="1036020"/>
            <a:ext cx="457200" cy="441325"/>
          </a:xfrm>
        </p:spPr>
        <p:txBody>
          <a:bodyPr/>
          <a:lstStyle/>
          <a:p>
            <a:fld id="{369E457D-EE12-4164-8E32-9DDD40A95892}"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7" name="矩形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矩形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矩形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矩形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矩形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矩形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日期版面配置區 1"/>
          <p:cNvSpPr>
            <a:spLocks noGrp="1"/>
          </p:cNvSpPr>
          <p:nvPr>
            <p:ph type="dt" sz="half" idx="10"/>
          </p:nvPr>
        </p:nvSpPr>
        <p:spPr/>
        <p:txBody>
          <a:bodyPr/>
          <a:lstStyle/>
          <a:p>
            <a:fld id="{E3A2E384-56FB-46D9-B267-C20E836A8212}" type="datetime1">
              <a:rPr lang="zh-TW" altLang="en-US" smtClean="0"/>
              <a:pPr/>
              <a:t>2026/10/3</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a:xfrm>
            <a:off x="4267200" y="6324600"/>
            <a:ext cx="609600" cy="441324"/>
          </a:xfrm>
        </p:spPr>
        <p:txBody>
          <a:bodyPr/>
          <a:lstStyle>
            <a:lvl1pPr>
              <a:defRPr>
                <a:solidFill>
                  <a:srgbClr val="FFFFFF"/>
                </a:solidFill>
              </a:defRPr>
            </a:lvl1pPr>
          </a:lstStyle>
          <a:p>
            <a:fld id="{369E457D-EE12-4164-8E32-9DDD40A95892}"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19" name="矩形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矩形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矩形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矩形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矩形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標題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zh-TW" altLang="en-US"/>
              <a:t>按一下以編輯母片標題樣式</a:t>
            </a:r>
            <a:endParaRPr kumimoji="0" lang="en-US"/>
          </a:p>
        </p:txBody>
      </p:sp>
      <p:sp>
        <p:nvSpPr>
          <p:cNvPr id="3" name="文字版面配置區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zh-TW" altLang="en-US"/>
              <a:t>按一下以編輯母片文字樣式</a:t>
            </a:r>
          </a:p>
        </p:txBody>
      </p:sp>
      <p:sp>
        <p:nvSpPr>
          <p:cNvPr id="8" name="矩形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直線接點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內容版面配置區 19"/>
          <p:cNvSpPr>
            <a:spLocks noGrp="1"/>
          </p:cNvSpPr>
          <p:nvPr>
            <p:ph sz="quarter" idx="1"/>
          </p:nvPr>
        </p:nvSpPr>
        <p:spPr>
          <a:xfrm>
            <a:off x="3124200" y="685800"/>
            <a:ext cx="5638800" cy="5410200"/>
          </a:xfrm>
        </p:spPr>
        <p:txBody>
          <a:body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10" name="橢圓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橢圓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投影片編號版面配置區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369E457D-EE12-4164-8E32-9DDD40A95892}" type="slidenum">
              <a:rPr lang="zh-TW" altLang="en-US" smtClean="0"/>
              <a:pPr/>
              <a:t>‹#›</a:t>
            </a:fld>
            <a:endParaRPr lang="zh-TW" altLang="en-US"/>
          </a:p>
        </p:txBody>
      </p:sp>
      <p:sp>
        <p:nvSpPr>
          <p:cNvPr id="21" name="矩形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日期版面配置區 4"/>
          <p:cNvSpPr>
            <a:spLocks noGrp="1"/>
          </p:cNvSpPr>
          <p:nvPr>
            <p:ph type="dt" sz="half" idx="10"/>
          </p:nvPr>
        </p:nvSpPr>
        <p:spPr/>
        <p:txBody>
          <a:bodyPr/>
          <a:lstStyle/>
          <a:p>
            <a:fld id="{33A25C06-3635-48B4-9326-561BB1229EEB}" type="datetime1">
              <a:rPr lang="zh-TW" altLang="en-US" smtClean="0"/>
              <a:pPr/>
              <a:t>2026/10/3</a:t>
            </a:fld>
            <a:endParaRPr lang="zh-TW" altLang="en-US"/>
          </a:p>
        </p:txBody>
      </p:sp>
      <p:sp>
        <p:nvSpPr>
          <p:cNvPr id="6" name="頁尾版面配置區 5"/>
          <p:cNvSpPr>
            <a:spLocks noGrp="1"/>
          </p:cNvSpPr>
          <p:nvPr>
            <p:ph type="ftr" sz="quarter" idx="11"/>
          </p:nvPr>
        </p:nvSpPr>
        <p:spPr>
          <a:xfrm>
            <a:off x="301752" y="6410848"/>
            <a:ext cx="3383280" cy="365760"/>
          </a:xfrm>
        </p:spPr>
        <p:txBody>
          <a:bodyPr/>
          <a:lstStyle/>
          <a:p>
            <a:endParaRPr lang="zh-TW"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21" name="直線接點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矩形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矩形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矩形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矩形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矩形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矩形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橢圓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橢圓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投影片編號版面配置區 6"/>
          <p:cNvSpPr>
            <a:spLocks noGrp="1"/>
          </p:cNvSpPr>
          <p:nvPr>
            <p:ph type="sldNum" sz="quarter" idx="12"/>
          </p:nvPr>
        </p:nvSpPr>
        <p:spPr>
          <a:xfrm>
            <a:off x="1371600" y="312738"/>
            <a:ext cx="457200" cy="441325"/>
          </a:xfrm>
        </p:spPr>
        <p:txBody>
          <a:bodyPr/>
          <a:lstStyle/>
          <a:p>
            <a:fld id="{369E457D-EE12-4164-8E32-9DDD40A95892}" type="slidenum">
              <a:rPr lang="zh-TW" altLang="en-US" smtClean="0"/>
              <a:pPr/>
              <a:t>‹#›</a:t>
            </a:fld>
            <a:endParaRPr lang="zh-TW" altLang="en-US"/>
          </a:p>
        </p:txBody>
      </p:sp>
      <p:sp>
        <p:nvSpPr>
          <p:cNvPr id="2" name="標題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zh-TW" altLang="en-US"/>
              <a:t>按一下以編輯母片標題樣式</a:t>
            </a:r>
            <a:endParaRPr kumimoji="0" lang="en-US"/>
          </a:p>
        </p:txBody>
      </p:sp>
      <p:sp>
        <p:nvSpPr>
          <p:cNvPr id="3" name="圖片版面配置區 2"/>
          <p:cNvSpPr>
            <a:spLocks noGrp="1"/>
          </p:cNvSpPr>
          <p:nvPr>
            <p:ph type="pic" idx="1"/>
          </p:nvPr>
        </p:nvSpPr>
        <p:spPr>
          <a:xfrm>
            <a:off x="3000375" y="609600"/>
            <a:ext cx="5867400" cy="4267200"/>
          </a:xfrm>
        </p:spPr>
        <p:txBody>
          <a:bodyPr/>
          <a:lstStyle>
            <a:lvl1pPr marL="0" indent="0">
              <a:buNone/>
              <a:defRPr sz="3200"/>
            </a:lvl1pPr>
          </a:lstStyle>
          <a:p>
            <a:r>
              <a:rPr kumimoji="0" lang="zh-TW" altLang="en-US"/>
              <a:t>按一下圖示以新增圖片</a:t>
            </a:r>
            <a:endParaRPr kumimoji="0" lang="en-US" dirty="0"/>
          </a:p>
        </p:txBody>
      </p:sp>
      <p:sp>
        <p:nvSpPr>
          <p:cNvPr id="4" name="文字版面配置區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zh-TW" altLang="en-US"/>
              <a:t>按一下以編輯母片文字樣式</a:t>
            </a:r>
          </a:p>
        </p:txBody>
      </p:sp>
      <p:sp>
        <p:nvSpPr>
          <p:cNvPr id="22" name="矩形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日期版面配置區 4"/>
          <p:cNvSpPr>
            <a:spLocks noGrp="1"/>
          </p:cNvSpPr>
          <p:nvPr>
            <p:ph type="dt" sz="half" idx="10"/>
          </p:nvPr>
        </p:nvSpPr>
        <p:spPr>
          <a:xfrm>
            <a:off x="5788152" y="6404984"/>
            <a:ext cx="3044952" cy="365760"/>
          </a:xfrm>
        </p:spPr>
        <p:txBody>
          <a:bodyPr/>
          <a:lstStyle/>
          <a:p>
            <a:fld id="{BA9F43BE-0941-4E88-B57D-D38DECBCB997}" type="datetime1">
              <a:rPr lang="zh-TW" altLang="en-US" smtClean="0"/>
              <a:pPr/>
              <a:t>2026/10/3</a:t>
            </a:fld>
            <a:endParaRPr lang="zh-TW" altLang="en-US"/>
          </a:p>
        </p:txBody>
      </p:sp>
      <p:sp>
        <p:nvSpPr>
          <p:cNvPr id="6" name="頁尾版面配置區 5"/>
          <p:cNvSpPr>
            <a:spLocks noGrp="1"/>
          </p:cNvSpPr>
          <p:nvPr>
            <p:ph type="ftr" sz="quarter" idx="11"/>
          </p:nvPr>
        </p:nvSpPr>
        <p:spPr>
          <a:xfrm>
            <a:off x="301752" y="6410848"/>
            <a:ext cx="3584448" cy="365760"/>
          </a:xfrm>
        </p:spPr>
        <p:txBody>
          <a:bodyPr/>
          <a:lstStyle/>
          <a:p>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a:t>按一下以編輯母片標題樣式</a:t>
            </a:r>
            <a:endParaRPr kumimoji="0" lang="en-US"/>
          </a:p>
        </p:txBody>
      </p:sp>
      <p:sp>
        <p:nvSpPr>
          <p:cNvPr id="3" name="直排文字版面配置區 2"/>
          <p:cNvSpPr>
            <a:spLocks noGrp="1"/>
          </p:cNvSpPr>
          <p:nvPr>
            <p:ph type="body" orient="vert" idx="1"/>
          </p:nvPr>
        </p:nvSpPr>
        <p:spPr/>
        <p:txBody>
          <a:bodyPr vert="eaVer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4" name="日期版面配置區 3"/>
          <p:cNvSpPr>
            <a:spLocks noGrp="1"/>
          </p:cNvSpPr>
          <p:nvPr>
            <p:ph type="dt" sz="half" idx="10"/>
          </p:nvPr>
        </p:nvSpPr>
        <p:spPr/>
        <p:txBody>
          <a:bodyPr/>
          <a:lstStyle/>
          <a:p>
            <a:fld id="{BFF116A9-7278-4674-BCA0-66C5F066EB15}" type="datetime1">
              <a:rPr lang="zh-TW" altLang="en-US" smtClean="0"/>
              <a:pPr/>
              <a:t>2026/10/3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69E457D-EE12-4164-8E32-9DDD40A95892}" type="slidenum">
              <a:rPr lang="zh-TW" altLang="en-US" smtClean="0"/>
              <a:pPr/>
              <a:t>‹#›</a:t>
            </a:fld>
            <a:endParaRPr lang="zh-TW"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7" name="矩形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矩形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矩形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矩形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矩形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矩形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直線接點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橢圓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橢圓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投影片編號版面配置區 5"/>
          <p:cNvSpPr>
            <a:spLocks noGrp="1"/>
          </p:cNvSpPr>
          <p:nvPr>
            <p:ph type="sldNum" sz="quarter" idx="12"/>
          </p:nvPr>
        </p:nvSpPr>
        <p:spPr>
          <a:xfrm>
            <a:off x="6915912" y="3009901"/>
            <a:ext cx="457200" cy="441325"/>
          </a:xfrm>
        </p:spPr>
        <p:txBody>
          <a:bodyPr/>
          <a:lstStyle/>
          <a:p>
            <a:fld id="{369E457D-EE12-4164-8E32-9DDD40A95892}" type="slidenum">
              <a:rPr lang="zh-TW" altLang="en-US" smtClean="0"/>
              <a:pPr/>
              <a:t>‹#›</a:t>
            </a:fld>
            <a:endParaRPr lang="zh-TW" altLang="en-US"/>
          </a:p>
        </p:txBody>
      </p:sp>
      <p:sp>
        <p:nvSpPr>
          <p:cNvPr id="3" name="直排文字版面配置區 2"/>
          <p:cNvSpPr>
            <a:spLocks noGrp="1"/>
          </p:cNvSpPr>
          <p:nvPr>
            <p:ph type="body" orient="vert" idx="1"/>
          </p:nvPr>
        </p:nvSpPr>
        <p:spPr>
          <a:xfrm>
            <a:off x="304800" y="304800"/>
            <a:ext cx="6553200" cy="5821366"/>
          </a:xfrm>
        </p:spPr>
        <p:txBody>
          <a:bodyPr vert="eaVer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4" name="日期版面配置區 3"/>
          <p:cNvSpPr>
            <a:spLocks noGrp="1"/>
          </p:cNvSpPr>
          <p:nvPr>
            <p:ph type="dt" sz="half" idx="10"/>
          </p:nvPr>
        </p:nvSpPr>
        <p:spPr/>
        <p:txBody>
          <a:bodyPr/>
          <a:lstStyle/>
          <a:p>
            <a:fld id="{97D0AF00-ACBD-4185-8358-D82955DAF0D3}" type="datetime1">
              <a:rPr lang="zh-TW" altLang="en-US" smtClean="0"/>
              <a:pPr/>
              <a:t>2026/10/3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2" name="直排標題 1"/>
          <p:cNvSpPr>
            <a:spLocks noGrp="1"/>
          </p:cNvSpPr>
          <p:nvPr>
            <p:ph type="title" orient="vert"/>
          </p:nvPr>
        </p:nvSpPr>
        <p:spPr>
          <a:xfrm>
            <a:off x="7391400" y="304801"/>
            <a:ext cx="1447800" cy="5851525"/>
          </a:xfrm>
        </p:spPr>
        <p:txBody>
          <a:bodyPr vert="eaVert"/>
          <a:lstStyle/>
          <a:p>
            <a:r>
              <a:rPr kumimoji="0" lang="zh-TW" altLang="en-US"/>
              <a:t>按一下以編輯母片標題樣式</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矩形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矩形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矩形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矩形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日期版面配置區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73E7C058-3467-44CD-AC53-31F205DF3CA0}" type="datetime1">
              <a:rPr lang="zh-TW" altLang="en-US" smtClean="0"/>
              <a:pPr/>
              <a:t>2026/10/3</a:t>
            </a:fld>
            <a:endParaRPr lang="zh-TW" altLang="en-US"/>
          </a:p>
        </p:txBody>
      </p:sp>
      <p:sp>
        <p:nvSpPr>
          <p:cNvPr id="3" name="頁尾版面配置區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zh-TW" altLang="en-US"/>
          </a:p>
        </p:txBody>
      </p:sp>
      <p:sp>
        <p:nvSpPr>
          <p:cNvPr id="8" name="矩形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直線接點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橢圓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橢圓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投影片編號版面配置區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369E457D-EE12-4164-8E32-9DDD40A95892}" type="slidenum">
              <a:rPr lang="zh-TW" altLang="en-US" smtClean="0"/>
              <a:pPr/>
              <a:t>‹#›</a:t>
            </a:fld>
            <a:endParaRPr lang="zh-TW" altLang="en-US"/>
          </a:p>
        </p:txBody>
      </p:sp>
      <p:sp>
        <p:nvSpPr>
          <p:cNvPr id="22" name="標題版面配置區 21"/>
          <p:cNvSpPr>
            <a:spLocks noGrp="1"/>
          </p:cNvSpPr>
          <p:nvPr>
            <p:ph type="title"/>
          </p:nvPr>
        </p:nvSpPr>
        <p:spPr>
          <a:xfrm>
            <a:off x="301752" y="228600"/>
            <a:ext cx="8534400" cy="758952"/>
          </a:xfrm>
          <a:prstGeom prst="rect">
            <a:avLst/>
          </a:prstGeom>
        </p:spPr>
        <p:txBody>
          <a:bodyPr vert="horz" anchor="b">
            <a:normAutofit/>
          </a:bodyPr>
          <a:lstStyle/>
          <a:p>
            <a:r>
              <a:rPr kumimoji="0" lang="zh-TW" altLang="en-US"/>
              <a:t>按一下以編輯母片標題樣式</a:t>
            </a:r>
            <a:endParaRPr kumimoji="0" lang="en-US"/>
          </a:p>
        </p:txBody>
      </p:sp>
      <p:sp>
        <p:nvSpPr>
          <p:cNvPr id="13" name="文字版面配置區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zh-TW" altLang="en-US"/>
              <a:t>按一下以編輯母片文字樣式</a:t>
            </a:r>
          </a:p>
          <a:p>
            <a:pPr lvl="1" eaLnBrk="1" latinLnBrk="0" hangingPunct="1"/>
            <a:r>
              <a:rPr kumimoji="0" lang="zh-TW" altLang="en-US"/>
              <a:t>第二層</a:t>
            </a:r>
          </a:p>
          <a:p>
            <a:pPr lvl="2" eaLnBrk="1" latinLnBrk="0" hangingPunct="1"/>
            <a:r>
              <a:rPr kumimoji="0" lang="zh-TW" altLang="en-US"/>
              <a:t>第三層</a:t>
            </a:r>
          </a:p>
          <a:p>
            <a:pPr lvl="3" eaLnBrk="1" latinLnBrk="0" hangingPunct="1"/>
            <a:r>
              <a:rPr kumimoji="0" lang="zh-TW" altLang="en-US"/>
              <a:t>第四層</a:t>
            </a:r>
          </a:p>
          <a:p>
            <a:pPr lvl="4" eaLnBrk="1" latinLnBrk="0" hangingPunct="1"/>
            <a:r>
              <a:rPr kumimoji="0" lang="zh-TW" altLang="en-US"/>
              <a:t>第五層</a:t>
            </a:r>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192.168.161.131:8000/"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localhost:8000/"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localhost:8000/admin"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17.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0.xml"/><Relationship Id="rId5" Type="http://schemas.openxmlformats.org/officeDocument/2006/relationships/image" Target="../media/image24.png"/><Relationship Id="rId4" Type="http://schemas.openxmlformats.org/officeDocument/2006/relationships/image" Target="../media/image23.png"/></Relationships>
</file>

<file path=ppt/slides/_rels/slide4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hyperlink" Target="http://192.168.161.131:8000/post/baigui01"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hyperlink" Target="https://getbootstrap.com/docs/5.2/getting-started/introduction/"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73.xml.rels><?xml version="1.0" encoding="UTF-8" standalone="yes"?>
<Relationships xmlns="http://schemas.openxmlformats.org/package/2006/relationships"><Relationship Id="rId3" Type="http://schemas.openxmlformats.org/officeDocument/2006/relationships/hyperlink" Target="https://getbootstrap.com/docs/5.2/getting-started/introduction/"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92.xml.rels><?xml version="1.0" encoding="UTF-8" standalone="yes"?>
<Relationships xmlns="http://schemas.openxmlformats.org/package/2006/relationships"><Relationship Id="rId2" Type="http://schemas.openxmlformats.org/officeDocument/2006/relationships/hyperlink" Target="http://markdown.tw/" TargetMode="Externa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0.xml"/><Relationship Id="rId4"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副標題 2"/>
          <p:cNvSpPr>
            <a:spLocks noGrp="1"/>
          </p:cNvSpPr>
          <p:nvPr>
            <p:ph type="subTitle" idx="1"/>
          </p:nvPr>
        </p:nvSpPr>
        <p:spPr>
          <a:xfrm>
            <a:off x="1203902" y="4077072"/>
            <a:ext cx="6736196" cy="576064"/>
          </a:xfrm>
        </p:spPr>
        <p:txBody>
          <a:bodyPr>
            <a:normAutofit/>
          </a:bodyPr>
          <a:lstStyle/>
          <a:p>
            <a:r>
              <a:rPr lang="zh-TW" altLang="en-US" sz="2400">
                <a:latin typeface="+mj-ea"/>
                <a:ea typeface="+mj-ea"/>
              </a:rPr>
              <a:t>活用</a:t>
            </a:r>
            <a:r>
              <a:rPr lang="en-US" altLang="zh-TW" sz="2400">
                <a:latin typeface="+mj-ea"/>
                <a:ea typeface="+mj-ea"/>
              </a:rPr>
              <a:t>Django4</a:t>
            </a:r>
            <a:r>
              <a:rPr lang="zh-TW" altLang="en-US" sz="2400">
                <a:latin typeface="+mj-ea"/>
                <a:ea typeface="+mj-ea"/>
              </a:rPr>
              <a:t>建構動態網站的</a:t>
            </a:r>
            <a:r>
              <a:rPr lang="en-US" altLang="zh-TW" sz="2400" dirty="0">
                <a:latin typeface="+mj-ea"/>
                <a:ea typeface="+mj-ea"/>
              </a:rPr>
              <a:t>16</a:t>
            </a:r>
            <a:r>
              <a:rPr lang="zh-TW" altLang="en-US" sz="2400" dirty="0">
                <a:latin typeface="+mj-ea"/>
                <a:ea typeface="+mj-ea"/>
              </a:rPr>
              <a:t>堂課 </a:t>
            </a:r>
          </a:p>
        </p:txBody>
      </p:sp>
      <p:sp>
        <p:nvSpPr>
          <p:cNvPr id="2" name="標題 1"/>
          <p:cNvSpPr>
            <a:spLocks noGrp="1"/>
          </p:cNvSpPr>
          <p:nvPr>
            <p:ph type="ctrTitle"/>
          </p:nvPr>
        </p:nvSpPr>
        <p:spPr/>
        <p:txBody>
          <a:bodyPr>
            <a:normAutofit/>
          </a:bodyPr>
          <a:lstStyle/>
          <a:p>
            <a:r>
              <a:rPr lang="zh-TW" altLang="en-US" dirty="0"/>
              <a:t>第二堂</a:t>
            </a:r>
            <a:br>
              <a:rPr lang="en-US" altLang="zh-TW" dirty="0"/>
            </a:br>
            <a:r>
              <a:rPr lang="en-US" altLang="zh-TW" dirty="0"/>
              <a:t>Django</a:t>
            </a:r>
            <a:r>
              <a:rPr lang="zh-TW" altLang="zh-TW" dirty="0"/>
              <a:t>網站快速入門</a:t>
            </a:r>
            <a:endParaRPr lang="zh-TW" altLang="en-US" dirty="0"/>
          </a:p>
        </p:txBody>
      </p:sp>
      <p:sp>
        <p:nvSpPr>
          <p:cNvPr id="4" name="投影片編號版面配置區 3"/>
          <p:cNvSpPr>
            <a:spLocks noGrp="1"/>
          </p:cNvSpPr>
          <p:nvPr>
            <p:ph type="sldNum" sz="quarter" idx="12"/>
          </p:nvPr>
        </p:nvSpPr>
        <p:spPr/>
        <p:txBody>
          <a:bodyPr/>
          <a:lstStyle/>
          <a:p>
            <a:fld id="{369E457D-EE12-4164-8E32-9DDD40A95892}" type="slidenum">
              <a:rPr lang="zh-TW" altLang="en-US" smtClean="0"/>
              <a:pPr/>
              <a:t>1</a:t>
            </a:fld>
            <a:endParaRPr lang="zh-TW"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學習目標</a:t>
            </a:r>
          </a:p>
        </p:txBody>
      </p:sp>
      <p:sp>
        <p:nvSpPr>
          <p:cNvPr id="3" name="內容版面配置區 2"/>
          <p:cNvSpPr>
            <a:spLocks noGrp="1"/>
          </p:cNvSpPr>
          <p:nvPr>
            <p:ph sz="quarter" idx="1"/>
          </p:nvPr>
        </p:nvSpPr>
        <p:spPr/>
        <p:txBody>
          <a:bodyPr>
            <a:normAutofit/>
          </a:bodyPr>
          <a:lstStyle/>
          <a:p>
            <a:pPr lvl="0"/>
            <a:r>
              <a:rPr lang="zh-TW" altLang="zh-TW" dirty="0"/>
              <a:t>個人部落格網站規劃</a:t>
            </a:r>
            <a:endParaRPr lang="en-US" altLang="zh-TW" dirty="0"/>
          </a:p>
          <a:p>
            <a:pPr lvl="1"/>
            <a:r>
              <a:rPr lang="zh-TW" altLang="zh-TW" dirty="0"/>
              <a:t>需求規劃</a:t>
            </a:r>
            <a:r>
              <a:rPr lang="zh-TW" altLang="en-US" dirty="0"/>
              <a:t>、</a:t>
            </a:r>
            <a:r>
              <a:rPr lang="zh-TW" altLang="zh-TW" dirty="0"/>
              <a:t>產生網站框架</a:t>
            </a:r>
            <a:r>
              <a:rPr lang="zh-TW" altLang="en-US" dirty="0"/>
              <a:t>、</a:t>
            </a:r>
            <a:r>
              <a:rPr lang="en-US" altLang="zh-TW" dirty="0"/>
              <a:t>Django</a:t>
            </a:r>
            <a:r>
              <a:rPr lang="zh-TW" altLang="zh-TW" dirty="0"/>
              <a:t>資料夾與檔案解析</a:t>
            </a:r>
          </a:p>
          <a:p>
            <a:pPr lvl="0"/>
            <a:r>
              <a:rPr lang="zh-TW" altLang="zh-TW" dirty="0"/>
              <a:t>建立部落格資料表</a:t>
            </a:r>
            <a:endParaRPr lang="en-US" altLang="zh-TW" dirty="0"/>
          </a:p>
          <a:p>
            <a:pPr lvl="1"/>
            <a:r>
              <a:rPr lang="zh-TW" altLang="zh-TW" dirty="0"/>
              <a:t>資料庫與</a:t>
            </a:r>
            <a:r>
              <a:rPr lang="en-US" altLang="zh-TW" dirty="0"/>
              <a:t>Django</a:t>
            </a:r>
            <a:r>
              <a:rPr lang="zh-TW" altLang="zh-TW" dirty="0"/>
              <a:t>的關係</a:t>
            </a:r>
            <a:r>
              <a:rPr lang="zh-TW" altLang="en-US" dirty="0"/>
              <a:t>、</a:t>
            </a:r>
            <a:r>
              <a:rPr lang="zh-TW" altLang="zh-TW" dirty="0"/>
              <a:t>定義資料模型</a:t>
            </a:r>
            <a:r>
              <a:rPr lang="zh-TW" altLang="en-US" dirty="0"/>
              <a:t>、</a:t>
            </a:r>
            <a:r>
              <a:rPr lang="zh-TW" altLang="zh-TW" dirty="0"/>
              <a:t>啟用</a:t>
            </a:r>
            <a:r>
              <a:rPr lang="en-US" altLang="zh-TW" dirty="0"/>
              <a:t>admin</a:t>
            </a:r>
            <a:r>
              <a:rPr lang="zh-TW" altLang="zh-TW" dirty="0"/>
              <a:t>管理介面</a:t>
            </a:r>
          </a:p>
          <a:p>
            <a:pPr lvl="1"/>
            <a:r>
              <a:rPr lang="zh-TW" altLang="zh-TW" dirty="0"/>
              <a:t>讀取資料庫中的內容</a:t>
            </a:r>
          </a:p>
          <a:p>
            <a:r>
              <a:rPr lang="zh-TW" altLang="zh-TW" dirty="0"/>
              <a:t>網址與頁面輸出</a:t>
            </a:r>
            <a:endParaRPr lang="en-US" altLang="zh-TW" dirty="0"/>
          </a:p>
          <a:p>
            <a:pPr lvl="1"/>
            <a:r>
              <a:rPr lang="zh-TW" altLang="zh-TW" dirty="0"/>
              <a:t>建立模版</a:t>
            </a:r>
            <a:r>
              <a:rPr lang="en-US" altLang="zh-TW" dirty="0"/>
              <a:t>template</a:t>
            </a:r>
            <a:r>
              <a:rPr lang="zh-TW" altLang="en-US" dirty="0"/>
              <a:t>、</a:t>
            </a:r>
            <a:r>
              <a:rPr lang="zh-TW" altLang="zh-TW" dirty="0"/>
              <a:t>網址對應</a:t>
            </a:r>
            <a:r>
              <a:rPr lang="zh-TW" altLang="en-US" dirty="0"/>
              <a:t>、</a:t>
            </a:r>
            <a:r>
              <a:rPr lang="zh-TW" altLang="zh-TW" dirty="0"/>
              <a:t>共用模版的使用</a:t>
            </a:r>
          </a:p>
          <a:p>
            <a:r>
              <a:rPr lang="zh-TW" altLang="zh-TW" dirty="0"/>
              <a:t>進階網站功能運用</a:t>
            </a:r>
            <a:endParaRPr lang="en-US" altLang="zh-TW" dirty="0"/>
          </a:p>
          <a:p>
            <a:pPr lvl="1"/>
            <a:r>
              <a:rPr lang="zh-TW" altLang="en-US" dirty="0"/>
              <a:t>靜態檔案的引用</a:t>
            </a:r>
            <a:r>
              <a:rPr lang="en-US" altLang="zh-TW" dirty="0"/>
              <a:t>(JS</a:t>
            </a:r>
            <a:r>
              <a:rPr lang="zh-TW" altLang="en-US" dirty="0"/>
              <a:t>、</a:t>
            </a:r>
            <a:r>
              <a:rPr lang="en-US" altLang="zh-TW" dirty="0"/>
              <a:t>CSS</a:t>
            </a:r>
            <a:r>
              <a:rPr lang="zh-TW" altLang="en-US" dirty="0"/>
              <a:t>、圖形檔</a:t>
            </a:r>
            <a:r>
              <a:rPr lang="en-US" altLang="zh-TW" dirty="0"/>
              <a:t>)</a:t>
            </a:r>
            <a:r>
              <a:rPr lang="zh-TW" altLang="en-US" dirty="0"/>
              <a:t>、</a:t>
            </a:r>
            <a:r>
              <a:rPr lang="en-US" altLang="zh-TW" dirty="0"/>
              <a:t>HTML</a:t>
            </a:r>
            <a:r>
              <a:rPr lang="zh-TW" altLang="zh-TW" dirty="0"/>
              <a:t>內容處理</a:t>
            </a:r>
            <a:endParaRPr lang="en-US" altLang="zh-TW" dirty="0"/>
          </a:p>
          <a:p>
            <a:pPr lvl="1"/>
            <a:r>
              <a:rPr lang="en-US" altLang="zh-TW" dirty="0"/>
              <a:t>Markdown</a:t>
            </a:r>
            <a:r>
              <a:rPr lang="zh-TW" altLang="zh-TW" dirty="0"/>
              <a:t>語法解析與應用</a:t>
            </a:r>
          </a:p>
        </p:txBody>
      </p:sp>
      <p:sp>
        <p:nvSpPr>
          <p:cNvPr id="4" name="投影片編號版面配置區 3"/>
          <p:cNvSpPr>
            <a:spLocks noGrp="1"/>
          </p:cNvSpPr>
          <p:nvPr>
            <p:ph type="sldNum" sz="quarter" idx="12"/>
          </p:nvPr>
        </p:nvSpPr>
        <p:spPr/>
        <p:txBody>
          <a:bodyPr/>
          <a:lstStyle/>
          <a:p>
            <a:fld id="{369E457D-EE12-4164-8E32-9DDD40A95892}" type="slidenum">
              <a:rPr lang="zh-TW" altLang="en-US" smtClean="0"/>
              <a:pPr/>
              <a:t>2</a:t>
            </a:fld>
            <a:endParaRPr lang="zh-TW"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部落格網站的需求與規劃</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a:t>
            </a:fld>
            <a:endParaRPr lang="zh-TW" altLang="en-US"/>
          </a:p>
        </p:txBody>
      </p:sp>
      <p:sp>
        <p:nvSpPr>
          <p:cNvPr id="5" name="內容版面配置區 4"/>
          <p:cNvSpPr>
            <a:spLocks noGrp="1"/>
          </p:cNvSpPr>
          <p:nvPr>
            <p:ph sz="quarter" idx="1"/>
          </p:nvPr>
        </p:nvSpPr>
        <p:spPr>
          <a:xfrm>
            <a:off x="301752" y="1527048"/>
            <a:ext cx="8534400" cy="4782272"/>
          </a:xfrm>
        </p:spPr>
        <p:txBody>
          <a:bodyPr>
            <a:normAutofit/>
          </a:bodyPr>
          <a:lstStyle/>
          <a:p>
            <a:r>
              <a:rPr lang="zh-TW" altLang="zh-TW" dirty="0"/>
              <a:t>本堂課中要完成的個人部落格網站之需求與功能做一簡單的描述，並在後續的章節中逐步完成之。首先在功能的部份：</a:t>
            </a:r>
            <a:endParaRPr lang="en-US" altLang="zh-TW" dirty="0"/>
          </a:p>
          <a:p>
            <a:pPr lvl="1"/>
            <a:r>
              <a:rPr lang="zh-TW" altLang="en-US" dirty="0"/>
              <a:t>專案名稱</a:t>
            </a:r>
            <a:r>
              <a:rPr lang="en-US" altLang="zh-TW" dirty="0" err="1"/>
              <a:t>mblog</a:t>
            </a:r>
            <a:endParaRPr lang="en-US" altLang="zh-TW" dirty="0"/>
          </a:p>
          <a:p>
            <a:pPr lvl="1"/>
            <a:r>
              <a:rPr lang="zh-TW" altLang="en-US" dirty="0"/>
              <a:t>透過</a:t>
            </a:r>
            <a:r>
              <a:rPr lang="en-US" altLang="zh-TW" dirty="0"/>
              <a:t>admin</a:t>
            </a:r>
            <a:r>
              <a:rPr lang="zh-TW" altLang="en-US" dirty="0"/>
              <a:t>管理介面張貼、編輯以及刪除貼文，且此介面支援</a:t>
            </a:r>
            <a:r>
              <a:rPr lang="en-US" altLang="zh-TW" dirty="0"/>
              <a:t>Markdown</a:t>
            </a:r>
            <a:r>
              <a:rPr lang="zh-TW" altLang="en-US" dirty="0"/>
              <a:t>語法。</a:t>
            </a:r>
          </a:p>
          <a:p>
            <a:pPr lvl="1"/>
            <a:r>
              <a:rPr lang="zh-TW" altLang="en-US" dirty="0"/>
              <a:t>使用</a:t>
            </a:r>
            <a:r>
              <a:rPr lang="en-US" altLang="zh-TW" dirty="0"/>
              <a:t>Bootstrap</a:t>
            </a:r>
            <a:r>
              <a:rPr lang="zh-TW" altLang="en-US" dirty="0"/>
              <a:t>網頁框架</a:t>
            </a:r>
          </a:p>
          <a:p>
            <a:pPr lvl="1"/>
            <a:r>
              <a:rPr lang="zh-TW" altLang="en-US" dirty="0"/>
              <a:t>在主頁中可以顯示每一篇文章的標題、簡短摘要以及張貼日期</a:t>
            </a:r>
          </a:p>
          <a:p>
            <a:pPr lvl="1"/>
            <a:r>
              <a:rPr lang="zh-TW" altLang="en-US" dirty="0"/>
              <a:t>在主頁中加入側邊欄，可以加入自訂的</a:t>
            </a:r>
            <a:r>
              <a:rPr lang="en-US" altLang="zh-TW" dirty="0"/>
              <a:t>HTML</a:t>
            </a:r>
            <a:r>
              <a:rPr lang="zh-TW" altLang="en-US" dirty="0"/>
              <a:t>以及</a:t>
            </a:r>
            <a:r>
              <a:rPr lang="en-US" altLang="zh-TW" dirty="0" err="1"/>
              <a:t>Javascript</a:t>
            </a:r>
            <a:r>
              <a:rPr lang="zh-TW" altLang="en-US" dirty="0"/>
              <a:t>網頁碼</a:t>
            </a:r>
          </a:p>
          <a:p>
            <a:pPr lvl="1"/>
            <a:r>
              <a:rPr lang="zh-TW" altLang="en-US" dirty="0"/>
              <a:t>在輸出文章時，可以解析</a:t>
            </a:r>
            <a:r>
              <a:rPr lang="en-US" altLang="zh-TW" dirty="0"/>
              <a:t>Markdown</a:t>
            </a:r>
            <a:r>
              <a:rPr lang="zh-TW" altLang="en-US" dirty="0"/>
              <a:t>語法並正確顯示出排版後的樣子</a:t>
            </a:r>
          </a:p>
          <a:p>
            <a:pPr lvl="1"/>
            <a:endParaRPr lang="zh-TW" altLang="en-US" dirty="0"/>
          </a:p>
        </p:txBody>
      </p:sp>
    </p:spTree>
    <p:extLst>
      <p:ext uri="{BB962C8B-B14F-4D97-AF65-F5344CB8AC3E}">
        <p14:creationId xmlns:p14="http://schemas.microsoft.com/office/powerpoint/2010/main" val="1952585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產生第一個網站框架</a:t>
            </a:r>
            <a:endParaRPr lang="zh-TW" altLang="en-US" dirty="0"/>
          </a:p>
        </p:txBody>
      </p:sp>
      <p:sp>
        <p:nvSpPr>
          <p:cNvPr id="3" name="內容版面配置區 2"/>
          <p:cNvSpPr>
            <a:spLocks noGrp="1"/>
          </p:cNvSpPr>
          <p:nvPr>
            <p:ph sz="quarter" idx="1"/>
          </p:nvPr>
        </p:nvSpPr>
        <p:spPr/>
        <p:txBody>
          <a:bodyPr/>
          <a:lstStyle/>
          <a:p>
            <a:r>
              <a:rPr lang="zh-TW" altLang="zh-TW" dirty="0"/>
              <a:t>建立的個人部落格名稱為</a:t>
            </a:r>
            <a:r>
              <a:rPr lang="en-US" altLang="zh-TW" dirty="0" err="1"/>
              <a:t>mblog</a:t>
            </a:r>
            <a:endParaRPr lang="en-US" altLang="zh-TW" dirty="0"/>
          </a:p>
          <a:p>
            <a:r>
              <a:rPr lang="zh-TW" altLang="zh-TW" dirty="0"/>
              <a:t>依照在上一堂課學習到的內容，</a:t>
            </a:r>
            <a:r>
              <a:rPr lang="zh-TW" altLang="zh-TW"/>
              <a:t>先在</a:t>
            </a:r>
            <a:r>
              <a:rPr lang="en-US" altLang="zh-TW"/>
              <a:t>GitHub</a:t>
            </a:r>
            <a:r>
              <a:rPr lang="zh-TW" altLang="zh-TW"/>
              <a:t>中</a:t>
            </a:r>
            <a:r>
              <a:rPr lang="zh-TW" altLang="zh-TW" dirty="0"/>
              <a:t>建立一個</a:t>
            </a:r>
            <a:r>
              <a:rPr lang="zh-TW" altLang="zh-TW"/>
              <a:t>同名的</a:t>
            </a:r>
            <a:r>
              <a:rPr lang="en-US" altLang="zh-TW"/>
              <a:t>Repo</a:t>
            </a:r>
          </a:p>
          <a:p>
            <a:r>
              <a:rPr lang="zh-TW" altLang="en-US"/>
              <a:t>建議在自己的電腦中建立一個專屬的目錄</a:t>
            </a:r>
            <a:endParaRPr lang="en-US" altLang="zh-TW" dirty="0"/>
          </a:p>
          <a:p>
            <a:r>
              <a:rPr lang="zh-TW" altLang="zh-TW"/>
              <a:t>請</a:t>
            </a:r>
            <a:r>
              <a:rPr lang="zh-TW" altLang="zh-TW" dirty="0"/>
              <a:t>依照下列步驟，建立第一個網站框架</a:t>
            </a:r>
            <a:endParaRPr lang="en-US" altLang="zh-TW" dirty="0"/>
          </a:p>
        </p:txBody>
      </p:sp>
      <p:sp>
        <p:nvSpPr>
          <p:cNvPr id="4" name="投影片編號版面配置區 3"/>
          <p:cNvSpPr>
            <a:spLocks noGrp="1"/>
          </p:cNvSpPr>
          <p:nvPr>
            <p:ph type="sldNum" sz="quarter" idx="12"/>
          </p:nvPr>
        </p:nvSpPr>
        <p:spPr/>
        <p:txBody>
          <a:bodyPr/>
          <a:lstStyle/>
          <a:p>
            <a:fld id="{369E457D-EE12-4164-8E32-9DDD40A95892}" type="slidenum">
              <a:rPr lang="zh-TW" altLang="en-US" smtClean="0"/>
              <a:pPr/>
              <a:t>4</a:t>
            </a:fld>
            <a:endParaRPr lang="zh-TW" altLang="en-US"/>
          </a:p>
        </p:txBody>
      </p:sp>
    </p:spTree>
    <p:extLst>
      <p:ext uri="{BB962C8B-B14F-4D97-AF65-F5344CB8AC3E}">
        <p14:creationId xmlns:p14="http://schemas.microsoft.com/office/powerpoint/2010/main" val="9700428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a:xfrm>
            <a:off x="271398" y="404664"/>
            <a:ext cx="8534400" cy="758952"/>
          </a:xfrm>
        </p:spPr>
        <p:txBody>
          <a:bodyPr>
            <a:normAutofit fontScale="90000"/>
          </a:bodyPr>
          <a:lstStyle/>
          <a:p>
            <a:br>
              <a:rPr lang="en-US" altLang="zh-TW"/>
            </a:br>
            <a:r>
              <a:rPr lang="zh-TW" altLang="zh-TW"/>
              <a:t>產生</a:t>
            </a:r>
            <a:r>
              <a:rPr lang="zh-TW" altLang="zh-TW" dirty="0"/>
              <a:t>第一個</a:t>
            </a:r>
            <a:r>
              <a:rPr lang="zh-TW" altLang="zh-TW"/>
              <a:t>網站框架</a:t>
            </a:r>
            <a:br>
              <a:rPr lang="en-US" altLang="zh-TW"/>
            </a:br>
            <a:r>
              <a:rPr lang="zh-TW" altLang="en-US"/>
              <a:t>請在</a:t>
            </a:r>
            <a:r>
              <a:rPr lang="en-US" altLang="zh-TW"/>
              <a:t>Anaconda Prompt</a:t>
            </a:r>
            <a:r>
              <a:rPr lang="zh-TW" altLang="en-US"/>
              <a:t>之下執行以下指令</a:t>
            </a:r>
            <a:endParaRPr lang="zh-TW" altLang="en-US" dirty="0"/>
          </a:p>
        </p:txBody>
      </p:sp>
      <p:sp>
        <p:nvSpPr>
          <p:cNvPr id="3" name="內容版面配置區 2"/>
          <p:cNvSpPr>
            <a:spLocks noGrp="1"/>
          </p:cNvSpPr>
          <p:nvPr>
            <p:ph sz="quarter" idx="1"/>
          </p:nvPr>
        </p:nvSpPr>
        <p:spPr>
          <a:xfrm>
            <a:off x="301752" y="1467697"/>
            <a:ext cx="8534400" cy="4913631"/>
          </a:xfrm>
        </p:spPr>
        <p:txBody>
          <a:bodyPr>
            <a:noAutofit/>
          </a:bodyPr>
          <a:lstStyle/>
          <a:p>
            <a:pPr marL="0" indent="0">
              <a:buNone/>
            </a:pPr>
            <a:r>
              <a:rPr lang="en-US" altLang="zh-TW" sz="2400" dirty="0" err="1"/>
              <a:t>conda</a:t>
            </a:r>
            <a:r>
              <a:rPr lang="en-US" altLang="zh-TW" sz="2400" dirty="0"/>
              <a:t> create --name dj4ch02 </a:t>
            </a:r>
            <a:r>
              <a:rPr lang="en-US" altLang="zh-TW" sz="2400" dirty="0">
                <a:solidFill>
                  <a:srgbClr val="FF0000"/>
                </a:solidFill>
              </a:rPr>
              <a:t>python</a:t>
            </a:r>
            <a:r>
              <a:rPr lang="en-US" altLang="zh-TW" sz="2400" dirty="0"/>
              <a:t>=3.10</a:t>
            </a:r>
          </a:p>
          <a:p>
            <a:pPr marL="0" indent="0">
              <a:buNone/>
            </a:pPr>
            <a:r>
              <a:rPr lang="en-US" altLang="zh-TW" sz="2400" dirty="0" err="1"/>
              <a:t>conda</a:t>
            </a:r>
            <a:r>
              <a:rPr lang="en-US" altLang="zh-TW" sz="2400" dirty="0"/>
              <a:t> activate dj4ch02</a:t>
            </a:r>
          </a:p>
          <a:p>
            <a:pPr marL="0" indent="0">
              <a:buNone/>
            </a:pPr>
            <a:r>
              <a:rPr lang="en-US" altLang="zh-TW" sz="2400" dirty="0"/>
              <a:t>md dj4ch02 </a:t>
            </a:r>
          </a:p>
          <a:p>
            <a:pPr marL="0" indent="0">
              <a:buNone/>
            </a:pPr>
            <a:r>
              <a:rPr lang="en-US" altLang="zh-TW" sz="2400" dirty="0"/>
              <a:t>cd dj4ch02</a:t>
            </a:r>
          </a:p>
          <a:p>
            <a:pPr marL="0" indent="0">
              <a:buNone/>
            </a:pPr>
            <a:r>
              <a:rPr lang="en-US" altLang="zh-TW" sz="2400" dirty="0"/>
              <a:t>pip install </a:t>
            </a:r>
            <a:r>
              <a:rPr lang="en-US" altLang="zh-TW" sz="2400" dirty="0" err="1"/>
              <a:t>django</a:t>
            </a:r>
            <a:endParaRPr lang="en-US" altLang="zh-TW" sz="2400" dirty="0"/>
          </a:p>
          <a:p>
            <a:pPr marL="0" indent="0">
              <a:buNone/>
            </a:pPr>
            <a:r>
              <a:rPr lang="en-US" altLang="zh-TW" sz="2400" dirty="0" err="1"/>
              <a:t>django</a:t>
            </a:r>
            <a:r>
              <a:rPr lang="en-US" altLang="zh-TW" sz="2400" dirty="0"/>
              <a:t>-admin </a:t>
            </a:r>
            <a:r>
              <a:rPr lang="en-US" altLang="zh-TW" sz="2400" dirty="0" err="1"/>
              <a:t>startproject</a:t>
            </a:r>
            <a:r>
              <a:rPr lang="en-US" altLang="zh-TW" sz="2400" dirty="0"/>
              <a:t> </a:t>
            </a:r>
            <a:r>
              <a:rPr lang="en-US" altLang="zh-TW" sz="2400" dirty="0" err="1"/>
              <a:t>mblog</a:t>
            </a:r>
            <a:endParaRPr lang="en-US" altLang="zh-TW" sz="2400" dirty="0"/>
          </a:p>
          <a:p>
            <a:pPr marL="0" indent="0">
              <a:buNone/>
            </a:pPr>
            <a:r>
              <a:rPr lang="en-US" altLang="zh-TW" sz="2400" dirty="0"/>
              <a:t>cd </a:t>
            </a:r>
            <a:r>
              <a:rPr lang="en-US" altLang="zh-TW" sz="2400" dirty="0" err="1"/>
              <a:t>mblog</a:t>
            </a:r>
            <a:endParaRPr lang="en-US" altLang="zh-TW" sz="2400" dirty="0"/>
          </a:p>
          <a:p>
            <a:pPr marL="0" indent="0">
              <a:buNone/>
            </a:pPr>
            <a:r>
              <a:rPr lang="en-US" altLang="zh-TW" sz="2400" dirty="0"/>
              <a:t>python manage.py </a:t>
            </a:r>
            <a:r>
              <a:rPr lang="en-US" altLang="zh-TW" sz="2400" dirty="0" err="1"/>
              <a:t>startapp</a:t>
            </a:r>
            <a:r>
              <a:rPr lang="en-US" altLang="zh-TW" sz="2400" dirty="0"/>
              <a:t> </a:t>
            </a:r>
            <a:r>
              <a:rPr lang="en-US" altLang="zh-TW" sz="2400" dirty="0" err="1"/>
              <a:t>mysite</a:t>
            </a:r>
            <a:endParaRPr lang="en-US" altLang="zh-TW" sz="2400" dirty="0"/>
          </a:p>
          <a:p>
            <a:pPr marL="0" indent="0">
              <a:buNone/>
            </a:pPr>
            <a:endParaRPr lang="en-US" altLang="zh-TW" sz="2400" dirty="0"/>
          </a:p>
          <a:p>
            <a:pPr marL="0" indent="0">
              <a:buNone/>
            </a:pPr>
            <a:r>
              <a:rPr lang="en-US" altLang="zh-TW" sz="2400" dirty="0"/>
              <a:t>**</a:t>
            </a:r>
            <a:r>
              <a:rPr lang="zh-TW" altLang="en-US" sz="2400" dirty="0"/>
              <a:t>如果是在</a:t>
            </a:r>
            <a:r>
              <a:rPr lang="en-US" altLang="zh-TW" sz="2400" dirty="0"/>
              <a:t>Linux</a:t>
            </a:r>
            <a:r>
              <a:rPr lang="zh-TW" altLang="en-US" sz="2400" dirty="0"/>
              <a:t>或</a:t>
            </a:r>
            <a:r>
              <a:rPr lang="en-US" altLang="zh-TW" sz="2400" dirty="0"/>
              <a:t>Mac</a:t>
            </a:r>
            <a:r>
              <a:rPr lang="zh-TW" altLang="en-US" sz="2400" dirty="0"/>
              <a:t>的終端機，</a:t>
            </a:r>
            <a:r>
              <a:rPr lang="en-US" altLang="zh-TW" sz="2400" dirty="0"/>
              <a:t>md</a:t>
            </a:r>
            <a:r>
              <a:rPr lang="zh-TW" altLang="en-US" sz="2400" dirty="0"/>
              <a:t>指令請改為</a:t>
            </a:r>
            <a:r>
              <a:rPr lang="en-US" altLang="zh-TW" sz="2400" dirty="0" err="1"/>
              <a:t>mkdir</a:t>
            </a:r>
            <a:endParaRPr lang="zh-TW" altLang="en-US" sz="2400" dirty="0"/>
          </a:p>
        </p:txBody>
      </p:sp>
      <p:sp>
        <p:nvSpPr>
          <p:cNvPr id="4" name="投影片編號版面配置區 3"/>
          <p:cNvSpPr>
            <a:spLocks noGrp="1"/>
          </p:cNvSpPr>
          <p:nvPr>
            <p:ph type="sldNum" sz="quarter" idx="12"/>
          </p:nvPr>
        </p:nvSpPr>
        <p:spPr/>
        <p:txBody>
          <a:bodyPr/>
          <a:lstStyle/>
          <a:p>
            <a:fld id="{369E457D-EE12-4164-8E32-9DDD40A95892}" type="slidenum">
              <a:rPr lang="zh-TW" altLang="en-US" smtClean="0"/>
              <a:pPr/>
              <a:t>5</a:t>
            </a:fld>
            <a:endParaRPr lang="zh-TW" altLang="en-US"/>
          </a:p>
        </p:txBody>
      </p:sp>
    </p:spTree>
    <p:extLst>
      <p:ext uri="{BB962C8B-B14F-4D97-AF65-F5344CB8AC3E}">
        <p14:creationId xmlns:p14="http://schemas.microsoft.com/office/powerpoint/2010/main" val="2503850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zh-TW" dirty="0"/>
              <a:t>產生第一個網站框架</a:t>
            </a:r>
            <a:endParaRPr lang="zh-TW" altLang="en-US" dirty="0"/>
          </a:p>
        </p:txBody>
      </p:sp>
      <p:sp>
        <p:nvSpPr>
          <p:cNvPr id="3" name="內容版面配置區 2"/>
          <p:cNvSpPr>
            <a:spLocks noGrp="1"/>
          </p:cNvSpPr>
          <p:nvPr>
            <p:ph sz="quarter" idx="1"/>
          </p:nvPr>
        </p:nvSpPr>
        <p:spPr>
          <a:xfrm>
            <a:off x="301752" y="1425830"/>
            <a:ext cx="8534400" cy="5862392"/>
          </a:xfrm>
        </p:spPr>
        <p:txBody>
          <a:bodyPr>
            <a:noAutofit/>
          </a:bodyPr>
          <a:lstStyle/>
          <a:p>
            <a:r>
              <a:rPr lang="en-US" altLang="zh-TW" sz="1600" dirty="0" err="1"/>
              <a:t>mblog</a:t>
            </a:r>
            <a:endParaRPr lang="zh-TW" altLang="zh-TW" sz="1600" dirty="0"/>
          </a:p>
          <a:p>
            <a:r>
              <a:rPr lang="en-US" altLang="zh-TW" sz="1600"/>
              <a:t>├── mysite</a:t>
            </a:r>
            <a:endParaRPr lang="zh-TW" altLang="zh-TW" sz="1600" dirty="0"/>
          </a:p>
          <a:p>
            <a:r>
              <a:rPr lang="en-US" altLang="zh-TW" sz="1600" dirty="0"/>
              <a:t>│   ├── admin.py</a:t>
            </a:r>
            <a:endParaRPr lang="zh-TW" altLang="zh-TW" sz="1600" dirty="0"/>
          </a:p>
          <a:p>
            <a:r>
              <a:rPr lang="en-US" altLang="zh-TW" sz="1600" dirty="0"/>
              <a:t>│   ├── apps.py</a:t>
            </a:r>
            <a:endParaRPr lang="zh-TW" altLang="zh-TW" sz="1600" dirty="0"/>
          </a:p>
          <a:p>
            <a:r>
              <a:rPr lang="en-US" altLang="zh-TW" sz="1600" dirty="0"/>
              <a:t>│   ├── __init__.py</a:t>
            </a:r>
            <a:endParaRPr lang="zh-TW" altLang="zh-TW" sz="1600" dirty="0"/>
          </a:p>
          <a:p>
            <a:r>
              <a:rPr lang="en-US" altLang="zh-TW" sz="1600" dirty="0"/>
              <a:t>│   ├── migrations</a:t>
            </a:r>
            <a:endParaRPr lang="zh-TW" altLang="zh-TW" sz="1600" dirty="0"/>
          </a:p>
          <a:p>
            <a:r>
              <a:rPr lang="en-US" altLang="zh-TW" sz="1600" dirty="0"/>
              <a:t>│   │   └── __init__.py</a:t>
            </a:r>
            <a:endParaRPr lang="zh-TW" altLang="zh-TW" sz="1600" dirty="0"/>
          </a:p>
          <a:p>
            <a:r>
              <a:rPr lang="en-US" altLang="zh-TW" sz="1600" dirty="0"/>
              <a:t>│   ├── models.py</a:t>
            </a:r>
            <a:endParaRPr lang="zh-TW" altLang="zh-TW" sz="1600" dirty="0"/>
          </a:p>
          <a:p>
            <a:r>
              <a:rPr lang="en-US" altLang="zh-TW" sz="1600" dirty="0"/>
              <a:t>│   ├── tests.py</a:t>
            </a:r>
            <a:endParaRPr lang="zh-TW" altLang="zh-TW" sz="1600" dirty="0"/>
          </a:p>
          <a:p>
            <a:r>
              <a:rPr lang="en-US" altLang="zh-TW" sz="1600" dirty="0"/>
              <a:t>│   └── views.py</a:t>
            </a:r>
            <a:endParaRPr lang="zh-TW" altLang="zh-TW" sz="1600" dirty="0"/>
          </a:p>
          <a:p>
            <a:r>
              <a:rPr lang="en-US" altLang="zh-TW" sz="1600" dirty="0"/>
              <a:t>├── manage.py</a:t>
            </a:r>
            <a:endParaRPr lang="zh-TW" altLang="zh-TW" sz="1600" dirty="0"/>
          </a:p>
          <a:p>
            <a:r>
              <a:rPr lang="en-US" altLang="zh-TW" sz="1600" dirty="0"/>
              <a:t>└── </a:t>
            </a:r>
            <a:r>
              <a:rPr lang="en-US" altLang="zh-TW" sz="1600" dirty="0" err="1"/>
              <a:t>mblog</a:t>
            </a:r>
            <a:endParaRPr lang="zh-TW" altLang="zh-TW" sz="1600" dirty="0"/>
          </a:p>
          <a:p>
            <a:r>
              <a:rPr lang="en-US" altLang="zh-TW" sz="1600" dirty="0"/>
              <a:t>    ├── __init__.py</a:t>
            </a:r>
            <a:endParaRPr lang="zh-TW" altLang="zh-TW" sz="1600" dirty="0"/>
          </a:p>
          <a:p>
            <a:r>
              <a:rPr lang="en-US" altLang="zh-TW" sz="1600"/>
              <a:t>    ├── settings.py</a:t>
            </a:r>
            <a:endParaRPr lang="zh-TW" altLang="zh-TW" sz="1600"/>
          </a:p>
          <a:p>
            <a:r>
              <a:rPr lang="en-US" altLang="zh-TW" sz="1600"/>
              <a:t>    ├── </a:t>
            </a:r>
            <a:r>
              <a:rPr lang="en-US" altLang="zh-TW" sz="1600" dirty="0"/>
              <a:t>urls.py</a:t>
            </a:r>
            <a:endParaRPr lang="zh-TW" altLang="zh-TW" sz="1600" dirty="0"/>
          </a:p>
          <a:p>
            <a:r>
              <a:rPr lang="en-US" altLang="zh-TW" sz="1600" dirty="0"/>
              <a:t>    └── wsgi.py</a:t>
            </a:r>
            <a:endParaRPr lang="zh-TW" altLang="zh-TW" sz="1600" dirty="0"/>
          </a:p>
        </p:txBody>
      </p:sp>
      <p:sp>
        <p:nvSpPr>
          <p:cNvPr id="4" name="投影片編號版面配置區 3"/>
          <p:cNvSpPr>
            <a:spLocks noGrp="1"/>
          </p:cNvSpPr>
          <p:nvPr>
            <p:ph type="sldNum" sz="quarter" idx="12"/>
          </p:nvPr>
        </p:nvSpPr>
        <p:spPr/>
        <p:txBody>
          <a:bodyPr/>
          <a:lstStyle/>
          <a:p>
            <a:fld id="{369E457D-EE12-4164-8E32-9DDD40A95892}" type="slidenum">
              <a:rPr lang="zh-TW" altLang="en-US" smtClean="0"/>
              <a:pPr/>
              <a:t>6</a:t>
            </a:fld>
            <a:endParaRPr lang="zh-TW" altLang="en-US"/>
          </a:p>
        </p:txBody>
      </p:sp>
    </p:spTree>
    <p:extLst>
      <p:ext uri="{BB962C8B-B14F-4D97-AF65-F5344CB8AC3E}">
        <p14:creationId xmlns:p14="http://schemas.microsoft.com/office/powerpoint/2010/main" val="3246337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產生第一個網站框架</a:t>
            </a:r>
          </a:p>
        </p:txBody>
      </p:sp>
      <p:sp>
        <p:nvSpPr>
          <p:cNvPr id="3" name="內容版面配置區 2"/>
          <p:cNvSpPr>
            <a:spLocks noGrp="1"/>
          </p:cNvSpPr>
          <p:nvPr>
            <p:ph sz="quarter" idx="1"/>
          </p:nvPr>
        </p:nvSpPr>
        <p:spPr>
          <a:xfrm>
            <a:off x="301752" y="1527048"/>
            <a:ext cx="8534400" cy="5214320"/>
          </a:xfrm>
        </p:spPr>
        <p:txBody>
          <a:bodyPr>
            <a:normAutofit/>
          </a:bodyPr>
          <a:lstStyle/>
          <a:p>
            <a:r>
              <a:rPr lang="zh-TW" altLang="zh-TW" sz="1800" dirty="0"/>
              <a:t>執行以下</a:t>
            </a:r>
            <a:r>
              <a:rPr lang="zh-TW" altLang="zh-TW" sz="1800"/>
              <a:t>指令測試</a:t>
            </a:r>
            <a:r>
              <a:rPr lang="zh-TW" altLang="en-US" sz="1800"/>
              <a:t>網站</a:t>
            </a:r>
            <a:r>
              <a:rPr lang="zh-TW" altLang="zh-TW" sz="1800"/>
              <a:t>（</a:t>
            </a:r>
            <a:r>
              <a:rPr lang="zh-TW" altLang="en-US" sz="1800"/>
              <a:t>可以先</a:t>
            </a:r>
            <a:r>
              <a:rPr lang="zh-TW" altLang="zh-TW" sz="1800"/>
              <a:t>在</a:t>
            </a:r>
            <a:r>
              <a:rPr lang="en-US" altLang="zh-TW" sz="1800" dirty="0" err="1"/>
              <a:t>mblog</a:t>
            </a:r>
            <a:r>
              <a:rPr lang="zh-TW" altLang="zh-TW" sz="1800" dirty="0"/>
              <a:t>資料夾內的</a:t>
            </a:r>
            <a:r>
              <a:rPr lang="en-US" altLang="zh-TW" sz="1800" dirty="0" err="1"/>
              <a:t>mblog</a:t>
            </a:r>
            <a:r>
              <a:rPr lang="zh-TW" altLang="zh-TW" sz="1800" dirty="0"/>
              <a:t>資料夾裡，</a:t>
            </a:r>
            <a:r>
              <a:rPr lang="zh-TW" altLang="zh-TW" sz="1800"/>
              <a:t>開啟</a:t>
            </a:r>
            <a:r>
              <a:rPr lang="en-US" altLang="zh-TW" sz="1800"/>
              <a:t>settings.py</a:t>
            </a:r>
            <a:r>
              <a:rPr lang="zh-TW" altLang="zh-TW" sz="1800"/>
              <a:t>設定</a:t>
            </a:r>
            <a:r>
              <a:rPr lang="en-US" altLang="zh-TW" sz="1800"/>
              <a:t>ALLOWED</a:t>
            </a:r>
            <a:r>
              <a:rPr lang="en-US" altLang="zh-TW" sz="1800" dirty="0"/>
              <a:t>_HOSTS </a:t>
            </a:r>
            <a:r>
              <a:rPr lang="en-US" altLang="zh-TW" sz="1800"/>
              <a:t>= ['*']</a:t>
            </a:r>
            <a:r>
              <a:rPr lang="zh-TW" altLang="zh-TW" sz="1800" dirty="0"/>
              <a:t>）：</a:t>
            </a:r>
            <a:endParaRPr lang="en-US" altLang="zh-TW" sz="1800" dirty="0"/>
          </a:p>
          <a:p>
            <a:pPr marL="274320" lvl="1" indent="0">
              <a:buNone/>
            </a:pPr>
            <a:r>
              <a:rPr lang="en-US" altLang="zh-TW" sz="1500"/>
              <a:t>cd </a:t>
            </a:r>
            <a:r>
              <a:rPr lang="en-US" altLang="zh-TW" sz="1500" dirty="0" err="1"/>
              <a:t>mblog</a:t>
            </a:r>
            <a:endParaRPr lang="en-US" altLang="zh-TW" sz="1500" dirty="0"/>
          </a:p>
          <a:p>
            <a:pPr marL="274320" lvl="1" indent="0">
              <a:buNone/>
            </a:pPr>
            <a:r>
              <a:rPr lang="en-US" altLang="zh-TW" sz="1500"/>
              <a:t>python </a:t>
            </a:r>
            <a:r>
              <a:rPr lang="en-US" altLang="zh-TW" sz="1500" dirty="0"/>
              <a:t>manage.</a:t>
            </a:r>
            <a:r>
              <a:rPr lang="en-US" altLang="zh-TW" sz="1500"/>
              <a:t>py runserver</a:t>
            </a:r>
          </a:p>
          <a:p>
            <a:r>
              <a:rPr lang="zh-TW" altLang="en-US" sz="2000"/>
              <a:t>將會看到以下訊息：</a:t>
            </a:r>
            <a:endParaRPr lang="en-US" altLang="zh-TW" sz="2000"/>
          </a:p>
          <a:p>
            <a:pPr marL="274320" lvl="1" indent="0">
              <a:buNone/>
            </a:pPr>
            <a:r>
              <a:rPr lang="en-US" altLang="zh-TW" sz="1500"/>
              <a:t>Performing system checks...</a:t>
            </a:r>
          </a:p>
          <a:p>
            <a:pPr marL="274320" lvl="1" indent="0">
              <a:buNone/>
            </a:pPr>
            <a:r>
              <a:rPr lang="en-US" altLang="zh-TW" sz="1500"/>
              <a:t>System </a:t>
            </a:r>
            <a:r>
              <a:rPr lang="en-US" altLang="zh-TW" sz="1500" dirty="0"/>
              <a:t>check identified no issues (0 silenced).</a:t>
            </a:r>
          </a:p>
          <a:p>
            <a:pPr marL="274320" lvl="1" indent="0">
              <a:buNone/>
            </a:pPr>
            <a:r>
              <a:rPr lang="en-US" altLang="zh-TW" sz="1500"/>
              <a:t>You </a:t>
            </a:r>
            <a:r>
              <a:rPr lang="en-US" altLang="zh-TW" sz="1500" dirty="0"/>
              <a:t>have unapplied migrations; your app may not work properly until they are applied.</a:t>
            </a:r>
          </a:p>
          <a:p>
            <a:pPr marL="274320" lvl="1" indent="0">
              <a:buNone/>
            </a:pPr>
            <a:r>
              <a:rPr lang="en-US" altLang="zh-TW" sz="1500" dirty="0"/>
              <a:t>Run 'python manage.py migrate' to apply them.</a:t>
            </a:r>
          </a:p>
          <a:p>
            <a:pPr marL="274320" lvl="1" indent="0">
              <a:buNone/>
            </a:pPr>
            <a:endParaRPr lang="en-US" altLang="zh-TW" sz="1500" dirty="0"/>
          </a:p>
          <a:p>
            <a:pPr marL="274320" lvl="1" indent="0">
              <a:buNone/>
            </a:pPr>
            <a:r>
              <a:rPr lang="en-US" altLang="zh-TW" sz="1500" dirty="0"/>
              <a:t>December 11</a:t>
            </a:r>
            <a:r>
              <a:rPr lang="en-US" altLang="zh-TW" sz="1500"/>
              <a:t>, 2022 </a:t>
            </a:r>
            <a:r>
              <a:rPr lang="en-US" altLang="zh-TW" sz="1500" dirty="0"/>
              <a:t>- 02:43:34 </a:t>
            </a:r>
          </a:p>
          <a:p>
            <a:pPr marL="274320" lvl="1" indent="0">
              <a:buNone/>
            </a:pPr>
            <a:r>
              <a:rPr lang="en-US" altLang="zh-TW" sz="1500" dirty="0"/>
              <a:t>Django version 2.0, using settings '</a:t>
            </a:r>
            <a:r>
              <a:rPr lang="en-US" altLang="zh-TW" sz="1500" dirty="0" err="1"/>
              <a:t>mblog.settings</a:t>
            </a:r>
            <a:r>
              <a:rPr lang="en-US" altLang="zh-TW" sz="1500" dirty="0"/>
              <a:t>' </a:t>
            </a:r>
          </a:p>
          <a:p>
            <a:pPr marL="274320" lvl="1" indent="0">
              <a:buNone/>
            </a:pPr>
            <a:r>
              <a:rPr lang="en-US" altLang="zh-TW" sz="1500" dirty="0"/>
              <a:t>Starting development server at http</a:t>
            </a:r>
            <a:r>
              <a:rPr lang="en-US" altLang="zh-TW" sz="1500"/>
              <a:t>://127.0.0.1:8000</a:t>
            </a:r>
            <a:r>
              <a:rPr lang="en-US" altLang="zh-TW" sz="1500" dirty="0"/>
              <a:t>/</a:t>
            </a:r>
          </a:p>
          <a:p>
            <a:pPr marL="274320" lvl="1" indent="0">
              <a:buNone/>
            </a:pPr>
            <a:r>
              <a:rPr lang="en-US" altLang="zh-TW" sz="1500" dirty="0"/>
              <a:t>Quit the server with CONTROL-C.</a:t>
            </a:r>
          </a:p>
        </p:txBody>
      </p:sp>
      <p:sp>
        <p:nvSpPr>
          <p:cNvPr id="5" name="投影片編號版面配置區 4"/>
          <p:cNvSpPr>
            <a:spLocks noGrp="1"/>
          </p:cNvSpPr>
          <p:nvPr>
            <p:ph type="sldNum" sz="quarter" idx="12"/>
          </p:nvPr>
        </p:nvSpPr>
        <p:spPr/>
        <p:txBody>
          <a:bodyPr/>
          <a:lstStyle/>
          <a:p>
            <a:fld id="{369E457D-EE12-4164-8E32-9DDD40A95892}" type="slidenum">
              <a:rPr lang="zh-TW" altLang="en-US" smtClean="0"/>
              <a:pPr/>
              <a:t>7</a:t>
            </a:fld>
            <a:endParaRPr lang="zh-TW" altLang="en-US"/>
          </a:p>
        </p:txBody>
      </p:sp>
    </p:spTree>
    <p:extLst>
      <p:ext uri="{BB962C8B-B14F-4D97-AF65-F5344CB8AC3E}">
        <p14:creationId xmlns:p14="http://schemas.microsoft.com/office/powerpoint/2010/main" val="1392043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產生第一個網站框架</a:t>
            </a:r>
            <a:endParaRPr lang="zh-TW" altLang="en-US" dirty="0"/>
          </a:p>
        </p:txBody>
      </p:sp>
      <p:sp>
        <p:nvSpPr>
          <p:cNvPr id="3" name="內容版面配置區 2"/>
          <p:cNvSpPr>
            <a:spLocks noGrp="1"/>
          </p:cNvSpPr>
          <p:nvPr>
            <p:ph sz="quarter" idx="1"/>
          </p:nvPr>
        </p:nvSpPr>
        <p:spPr>
          <a:xfrm>
            <a:off x="395536" y="1052736"/>
            <a:ext cx="8398304" cy="4406251"/>
          </a:xfrm>
        </p:spPr>
        <p:txBody>
          <a:bodyPr>
            <a:noAutofit/>
          </a:bodyPr>
          <a:lstStyle/>
          <a:p>
            <a:r>
              <a:rPr lang="zh-TW" altLang="zh-TW" sz="2000" dirty="0"/>
              <a:t>使用</a:t>
            </a:r>
            <a:r>
              <a:rPr lang="en-US" altLang="zh-TW" sz="2000" dirty="0"/>
              <a:t>python manage.py </a:t>
            </a:r>
            <a:r>
              <a:rPr lang="en-US" altLang="zh-TW" sz="2000" dirty="0" err="1"/>
              <a:t>runserver</a:t>
            </a:r>
            <a:r>
              <a:rPr lang="zh-TW" altLang="zh-TW" sz="2000" dirty="0"/>
              <a:t>開啟測試網站的功能而沒有在後面指定</a:t>
            </a:r>
            <a:r>
              <a:rPr lang="en-US" altLang="zh-TW" sz="2000" dirty="0"/>
              <a:t>IP</a:t>
            </a:r>
            <a:r>
              <a:rPr lang="zh-TW" altLang="zh-TW" sz="2000" dirty="0"/>
              <a:t>位址和連線埠號，預設的情況下是連接到</a:t>
            </a:r>
            <a:r>
              <a:rPr lang="en-US" altLang="zh-TW" sz="2000" dirty="0"/>
              <a:t>http://127.0.0.1:8000</a:t>
            </a:r>
          </a:p>
          <a:p>
            <a:r>
              <a:rPr lang="zh-TW" altLang="zh-TW" sz="2000" dirty="0"/>
              <a:t>輸入網址</a:t>
            </a:r>
            <a:r>
              <a:rPr lang="en-US" altLang="zh-TW" sz="2000" u="sng" dirty="0">
                <a:hlinkClick r:id="rId3"/>
              </a:rPr>
              <a:t>http://127.0.0.1:8000</a:t>
            </a:r>
            <a:r>
              <a:rPr lang="zh-TW" altLang="en-US" sz="2000" dirty="0"/>
              <a:t>，查看</a:t>
            </a:r>
            <a:r>
              <a:rPr lang="en-US" altLang="zh-TW" sz="2000" dirty="0"/>
              <a:t>Django</a:t>
            </a:r>
            <a:r>
              <a:rPr lang="zh-TW" altLang="zh-TW" sz="2000" dirty="0"/>
              <a:t>網站的第一個畫面</a:t>
            </a:r>
            <a:r>
              <a:rPr lang="zh-TW" altLang="en-US" sz="2000" dirty="0"/>
              <a:t>，也可以使用</a:t>
            </a:r>
            <a:r>
              <a:rPr lang="en-US" altLang="zh-TW" sz="2000" dirty="0">
                <a:hlinkClick r:id="rId4"/>
              </a:rPr>
              <a:t>http://localhost:8000</a:t>
            </a:r>
            <a:endParaRPr lang="en-US" altLang="zh-TW" sz="2000" dirty="0"/>
          </a:p>
          <a:p>
            <a:r>
              <a:rPr lang="zh-TW" altLang="en-US" sz="2400" dirty="0">
                <a:solidFill>
                  <a:srgbClr val="FF0000"/>
                </a:solidFill>
              </a:rPr>
              <a:t>若要改</a:t>
            </a:r>
            <a:r>
              <a:rPr lang="en-US" altLang="zh-TW" sz="2400" dirty="0">
                <a:solidFill>
                  <a:srgbClr val="FF0000"/>
                </a:solidFill>
              </a:rPr>
              <a:t>port</a:t>
            </a:r>
            <a:r>
              <a:rPr lang="zh-TW" altLang="en-US" sz="2400" dirty="0">
                <a:solidFill>
                  <a:srgbClr val="FF0000"/>
                </a:solidFill>
              </a:rPr>
              <a:t>：</a:t>
            </a:r>
            <a:r>
              <a:rPr lang="en-US" altLang="zh-TW" sz="2400" dirty="0"/>
              <a:t>python manage.py </a:t>
            </a:r>
            <a:r>
              <a:rPr lang="en-US" altLang="zh-TW" sz="2400" dirty="0" err="1">
                <a:solidFill>
                  <a:srgbClr val="FF0000"/>
                </a:solidFill>
              </a:rPr>
              <a:t>runserver</a:t>
            </a:r>
            <a:r>
              <a:rPr lang="en-US" altLang="zh-TW" sz="2400" dirty="0">
                <a:solidFill>
                  <a:srgbClr val="FF0000"/>
                </a:solidFill>
              </a:rPr>
              <a:t> 8080</a:t>
            </a:r>
            <a:endParaRPr lang="zh-TW" altLang="en-US" sz="2400" dirty="0">
              <a:solidFill>
                <a:srgbClr val="FF0000"/>
              </a:solidFill>
            </a:endParaRPr>
          </a:p>
          <a:p>
            <a:endParaRPr lang="en-US" altLang="zh-TW" sz="2000" dirty="0"/>
          </a:p>
        </p:txBody>
      </p:sp>
      <p:sp>
        <p:nvSpPr>
          <p:cNvPr id="4" name="投影片編號版面配置區 3"/>
          <p:cNvSpPr>
            <a:spLocks noGrp="1"/>
          </p:cNvSpPr>
          <p:nvPr>
            <p:ph type="sldNum" sz="quarter" idx="12"/>
          </p:nvPr>
        </p:nvSpPr>
        <p:spPr/>
        <p:txBody>
          <a:bodyPr/>
          <a:lstStyle/>
          <a:p>
            <a:fld id="{369E457D-EE12-4164-8E32-9DDD40A95892}" type="slidenum">
              <a:rPr lang="zh-TW" altLang="en-US" smtClean="0"/>
              <a:pPr/>
              <a:t>8</a:t>
            </a:fld>
            <a:endParaRPr lang="zh-TW" altLang="en-US"/>
          </a:p>
        </p:txBody>
      </p:sp>
      <p:pic>
        <p:nvPicPr>
          <p:cNvPr id="6" name="圖片 5" descr="一張含有 文字, 螢幕擷取畫面, 軟體, 網頁 的圖片&#10;&#10;自動產生的描述">
            <a:extLst>
              <a:ext uri="{FF2B5EF4-FFF2-40B4-BE49-F238E27FC236}">
                <a16:creationId xmlns:a16="http://schemas.microsoft.com/office/drawing/2014/main" id="{939AEDE3-B0A6-11A7-BA18-81E4072409E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80571" y="3522611"/>
            <a:ext cx="5382858" cy="3290765"/>
          </a:xfrm>
          <a:prstGeom prst="rect">
            <a:avLst/>
          </a:prstGeom>
        </p:spPr>
      </p:pic>
    </p:spTree>
    <p:extLst>
      <p:ext uri="{BB962C8B-B14F-4D97-AF65-F5344CB8AC3E}">
        <p14:creationId xmlns:p14="http://schemas.microsoft.com/office/powerpoint/2010/main" val="2643343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產生第一個網站框架</a:t>
            </a:r>
            <a:endParaRPr lang="zh-TW" altLang="en-US" dirty="0"/>
          </a:p>
        </p:txBody>
      </p:sp>
      <p:sp>
        <p:nvSpPr>
          <p:cNvPr id="3" name="內容版面配置區 2"/>
          <p:cNvSpPr>
            <a:spLocks noGrp="1"/>
          </p:cNvSpPr>
          <p:nvPr>
            <p:ph sz="quarter" idx="1"/>
          </p:nvPr>
        </p:nvSpPr>
        <p:spPr/>
        <p:txBody>
          <a:bodyPr>
            <a:normAutofit fontScale="92500" lnSpcReduction="10000"/>
          </a:bodyPr>
          <a:lstStyle/>
          <a:p>
            <a:pPr lvl="0"/>
            <a:r>
              <a:rPr lang="zh-TW" altLang="zh-TW" sz="2400" dirty="0"/>
              <a:t>然後，別忘了</a:t>
            </a:r>
            <a:r>
              <a:rPr lang="zh-TW" altLang="zh-TW" sz="2400"/>
              <a:t>建立</a:t>
            </a:r>
            <a:r>
              <a:rPr lang="en-US" altLang="zh-TW" sz="2400"/>
              <a:t>Git</a:t>
            </a:r>
            <a:r>
              <a:rPr lang="zh-TW" altLang="en-US" sz="2400"/>
              <a:t>儲存</a:t>
            </a:r>
            <a:r>
              <a:rPr lang="zh-TW" altLang="zh-TW" sz="2400"/>
              <a:t>庫</a:t>
            </a:r>
            <a:r>
              <a:rPr lang="zh-TW" altLang="zh-TW" sz="2400" dirty="0"/>
              <a:t>，如下：</a:t>
            </a:r>
            <a:endParaRPr lang="en-US" altLang="zh-TW" sz="3600" dirty="0"/>
          </a:p>
          <a:p>
            <a:pPr lvl="1"/>
            <a:r>
              <a:rPr lang="en-US" altLang="zh-TW" sz="2800"/>
              <a:t>git init</a:t>
            </a:r>
          </a:p>
          <a:p>
            <a:pPr lvl="1"/>
            <a:r>
              <a:rPr lang="en-US" altLang="zh-TW" sz="2800"/>
              <a:t>git add . </a:t>
            </a:r>
          </a:p>
          <a:p>
            <a:pPr lvl="1"/>
            <a:r>
              <a:rPr lang="en-US" altLang="zh-TW" sz="2800"/>
              <a:t>git commit -m "first commit"</a:t>
            </a:r>
          </a:p>
          <a:p>
            <a:r>
              <a:rPr lang="zh-TW" altLang="en-US" sz="2400"/>
              <a:t>然後依照新建立的</a:t>
            </a:r>
            <a:r>
              <a:rPr lang="en-US" altLang="zh-TW" sz="2400"/>
              <a:t>GitHub</a:t>
            </a:r>
            <a:r>
              <a:rPr lang="zh-TW" altLang="en-US" sz="2400"/>
              <a:t>儲存庫上的說明，設定本地電腦和</a:t>
            </a:r>
            <a:r>
              <a:rPr lang="en-US" altLang="zh-TW" sz="2400"/>
              <a:t>GitHub Repo.</a:t>
            </a:r>
            <a:r>
              <a:rPr lang="zh-TW" altLang="en-US" sz="2400"/>
              <a:t>間的連結，並把檔案上傳到遠端的</a:t>
            </a:r>
            <a:r>
              <a:rPr lang="en-US" altLang="zh-TW" sz="2400"/>
              <a:t>Repo</a:t>
            </a:r>
            <a:r>
              <a:rPr lang="zh-TW" altLang="en-US" sz="2400"/>
              <a:t>中。</a:t>
            </a:r>
            <a:endParaRPr lang="en-US" altLang="zh-TW" sz="2400"/>
          </a:p>
          <a:p>
            <a:r>
              <a:rPr lang="zh-TW" altLang="en-US" sz="2400"/>
              <a:t>請留意，只有第一次建立儲存庫時需要</a:t>
            </a:r>
            <a:r>
              <a:rPr lang="en-US" altLang="zh-TW" sz="2400"/>
              <a:t>git init</a:t>
            </a:r>
            <a:r>
              <a:rPr lang="zh-TW" altLang="en-US" sz="2400"/>
              <a:t>，之後都從</a:t>
            </a:r>
            <a:r>
              <a:rPr lang="en-US" altLang="zh-TW" sz="2400"/>
              <a:t>git add . </a:t>
            </a:r>
            <a:r>
              <a:rPr lang="zh-TW" altLang="en-US" sz="2400"/>
              <a:t>開始即可。</a:t>
            </a:r>
            <a:endParaRPr lang="en-US" altLang="zh-TW" sz="2400"/>
          </a:p>
          <a:p>
            <a:r>
              <a:rPr lang="zh-TW" altLang="en-US" sz="2400"/>
              <a:t>如果是第一次使用</a:t>
            </a:r>
            <a:r>
              <a:rPr lang="en-US" altLang="zh-TW" sz="2400"/>
              <a:t>git</a:t>
            </a:r>
            <a:r>
              <a:rPr lang="zh-TW" altLang="en-US" sz="2400"/>
              <a:t>，還需要利用以下兩個指令輸入你的個人資料，才有辦法進行</a:t>
            </a:r>
            <a:r>
              <a:rPr lang="en-US" altLang="zh-TW" sz="2400"/>
              <a:t>commit</a:t>
            </a:r>
            <a:r>
              <a:rPr lang="zh-TW" altLang="en-US" sz="2400"/>
              <a:t>的操作：</a:t>
            </a:r>
            <a:endParaRPr lang="en-US" altLang="zh-TW" sz="2400"/>
          </a:p>
          <a:p>
            <a:pPr marL="274320" lvl="1" indent="0">
              <a:buNone/>
            </a:pPr>
            <a:r>
              <a:rPr lang="en-US" altLang="zh-TW" sz="1900"/>
              <a:t>git config --global user.name "your github id"</a:t>
            </a:r>
          </a:p>
          <a:p>
            <a:pPr marL="274320" lvl="1" indent="0">
              <a:buNone/>
            </a:pPr>
            <a:r>
              <a:rPr lang="en-US" altLang="zh-TW" sz="1900"/>
              <a:t>git config --global user.email "your email"</a:t>
            </a:r>
            <a:endParaRPr lang="zh-TW" altLang="zh-TW" sz="1900" dirty="0"/>
          </a:p>
        </p:txBody>
      </p:sp>
      <p:sp>
        <p:nvSpPr>
          <p:cNvPr id="5" name="投影片編號版面配置區 4"/>
          <p:cNvSpPr>
            <a:spLocks noGrp="1"/>
          </p:cNvSpPr>
          <p:nvPr>
            <p:ph type="sldNum" sz="quarter" idx="12"/>
          </p:nvPr>
        </p:nvSpPr>
        <p:spPr/>
        <p:txBody>
          <a:bodyPr/>
          <a:lstStyle/>
          <a:p>
            <a:fld id="{369E457D-EE12-4164-8E32-9DDD40A95892}" type="slidenum">
              <a:rPr lang="zh-TW" altLang="en-US" smtClean="0"/>
              <a:pPr/>
              <a:t>9</a:t>
            </a:fld>
            <a:endParaRPr lang="zh-TW" altLang="en-US"/>
          </a:p>
        </p:txBody>
      </p:sp>
    </p:spTree>
    <p:extLst>
      <p:ext uri="{BB962C8B-B14F-4D97-AF65-F5344CB8AC3E}">
        <p14:creationId xmlns:p14="http://schemas.microsoft.com/office/powerpoint/2010/main" val="3175665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F9938766-BFAB-88C6-C87E-6549A771DDDD}"/>
              </a:ext>
            </a:extLst>
          </p:cNvPr>
          <p:cNvSpPr>
            <a:spLocks noGrp="1"/>
          </p:cNvSpPr>
          <p:nvPr>
            <p:ph type="sldNum" sz="quarter" idx="12"/>
          </p:nvPr>
        </p:nvSpPr>
        <p:spPr/>
        <p:txBody>
          <a:bodyPr/>
          <a:lstStyle/>
          <a:p>
            <a:fld id="{369E457D-EE12-4164-8E32-9DDD40A95892}" type="slidenum">
              <a:rPr lang="zh-TW" altLang="en-US" smtClean="0"/>
              <a:pPr/>
              <a:t>10</a:t>
            </a:fld>
            <a:endParaRPr lang="zh-TW" altLang="en-US"/>
          </a:p>
        </p:txBody>
      </p:sp>
      <p:pic>
        <p:nvPicPr>
          <p:cNvPr id="6" name="圖片 5">
            <a:extLst>
              <a:ext uri="{FF2B5EF4-FFF2-40B4-BE49-F238E27FC236}">
                <a16:creationId xmlns:a16="http://schemas.microsoft.com/office/drawing/2014/main" id="{3DC3CCA4-E56C-D57F-0D4A-B9B2694F5BFA}"/>
              </a:ext>
            </a:extLst>
          </p:cNvPr>
          <p:cNvPicPr>
            <a:picLocks noChangeAspect="1"/>
          </p:cNvPicPr>
          <p:nvPr/>
        </p:nvPicPr>
        <p:blipFill>
          <a:blip r:embed="rId2"/>
          <a:stretch>
            <a:fillRect/>
          </a:stretch>
        </p:blipFill>
        <p:spPr>
          <a:xfrm>
            <a:off x="31645" y="476672"/>
            <a:ext cx="4324954" cy="5334744"/>
          </a:xfrm>
          <a:prstGeom prst="rect">
            <a:avLst/>
          </a:prstGeom>
        </p:spPr>
      </p:pic>
    </p:spTree>
    <p:extLst>
      <p:ext uri="{BB962C8B-B14F-4D97-AF65-F5344CB8AC3E}">
        <p14:creationId xmlns:p14="http://schemas.microsoft.com/office/powerpoint/2010/main" val="1046378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a:xfrm>
            <a:off x="301752" y="228599"/>
            <a:ext cx="8503920" cy="797773"/>
          </a:xfrm>
        </p:spPr>
        <p:txBody>
          <a:bodyPr>
            <a:normAutofit/>
          </a:bodyPr>
          <a:lstStyle/>
          <a:p>
            <a:r>
              <a:rPr lang="en-US" altLang="zh-TW" dirty="0"/>
              <a:t>Django</a:t>
            </a:r>
            <a:r>
              <a:rPr lang="zh-TW" altLang="zh-TW" dirty="0"/>
              <a:t>資料夾與檔案解析</a:t>
            </a:r>
            <a:endParaRPr lang="zh-TW" altLang="en-US" dirty="0"/>
          </a:p>
        </p:txBody>
      </p:sp>
      <p:sp>
        <p:nvSpPr>
          <p:cNvPr id="4" name="投影片編號版面配置區 3"/>
          <p:cNvSpPr>
            <a:spLocks noGrp="1"/>
          </p:cNvSpPr>
          <p:nvPr>
            <p:ph type="sldNum" sz="quarter" idx="12"/>
          </p:nvPr>
        </p:nvSpPr>
        <p:spPr/>
        <p:txBody>
          <a:bodyPr/>
          <a:lstStyle/>
          <a:p>
            <a:fld id="{369E457D-EE12-4164-8E32-9DDD40A95892}" type="slidenum">
              <a:rPr lang="zh-TW" altLang="en-US" smtClean="0"/>
              <a:pPr/>
              <a:t>11</a:t>
            </a:fld>
            <a:endParaRPr lang="zh-TW" altLang="en-US"/>
          </a:p>
        </p:txBody>
      </p:sp>
      <p:sp>
        <p:nvSpPr>
          <p:cNvPr id="8" name="內容版面配置區 7">
            <a:extLst>
              <a:ext uri="{FF2B5EF4-FFF2-40B4-BE49-F238E27FC236}">
                <a16:creationId xmlns:a16="http://schemas.microsoft.com/office/drawing/2014/main" id="{EEF5FA51-5182-625F-CD48-AC7208FDBCFE}"/>
              </a:ext>
            </a:extLst>
          </p:cNvPr>
          <p:cNvSpPr>
            <a:spLocks noGrp="1"/>
          </p:cNvSpPr>
          <p:nvPr>
            <p:ph sz="quarter" idx="1"/>
          </p:nvPr>
        </p:nvSpPr>
        <p:spPr/>
        <p:txBody>
          <a:bodyPr/>
          <a:lstStyle/>
          <a:p>
            <a:endParaRPr lang="zh-TW" altLang="en-US"/>
          </a:p>
        </p:txBody>
      </p:sp>
      <p:pic>
        <p:nvPicPr>
          <p:cNvPr id="10" name="圖片 9">
            <a:extLst>
              <a:ext uri="{FF2B5EF4-FFF2-40B4-BE49-F238E27FC236}">
                <a16:creationId xmlns:a16="http://schemas.microsoft.com/office/drawing/2014/main" id="{79160209-7B8B-2431-E5A8-FDB5F6CC2F27}"/>
              </a:ext>
            </a:extLst>
          </p:cNvPr>
          <p:cNvPicPr>
            <a:picLocks noChangeAspect="1"/>
          </p:cNvPicPr>
          <p:nvPr/>
        </p:nvPicPr>
        <p:blipFill>
          <a:blip r:embed="rId2"/>
          <a:stretch>
            <a:fillRect/>
          </a:stretch>
        </p:blipFill>
        <p:spPr>
          <a:xfrm>
            <a:off x="233772" y="1628800"/>
            <a:ext cx="8676456" cy="4807676"/>
          </a:xfrm>
          <a:prstGeom prst="rect">
            <a:avLst/>
          </a:prstGeom>
        </p:spPr>
      </p:pic>
    </p:spTree>
    <p:extLst>
      <p:ext uri="{BB962C8B-B14F-4D97-AF65-F5344CB8AC3E}">
        <p14:creationId xmlns:p14="http://schemas.microsoft.com/office/powerpoint/2010/main" val="4157582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編輯</a:t>
            </a:r>
            <a:r>
              <a:rPr lang="en-US" altLang="zh-TW" dirty="0"/>
              <a:t>settings.py</a:t>
            </a:r>
            <a:r>
              <a:rPr lang="en-US" altLang="zh-TW" sz="4000" dirty="0">
                <a:solidFill>
                  <a:srgbClr val="FF0000"/>
                </a:solidFill>
              </a:rPr>
              <a:t>(</a:t>
            </a:r>
            <a:r>
              <a:rPr lang="zh-TW" altLang="en-US" sz="4000" dirty="0">
                <a:solidFill>
                  <a:srgbClr val="FF0000"/>
                </a:solidFill>
              </a:rPr>
              <a:t>提醒學生這容易漏掉</a:t>
            </a:r>
            <a:r>
              <a:rPr lang="en-US" altLang="zh-TW" sz="4000" dirty="0">
                <a:solidFill>
                  <a:srgbClr val="FF0000"/>
                </a:solidFill>
              </a:rPr>
              <a:t>)</a:t>
            </a:r>
            <a:endParaRPr lang="zh-TW" altLang="en-US" dirty="0">
              <a:solidFill>
                <a:srgbClr val="FF0000"/>
              </a:solidFill>
            </a:endParaRPr>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12</a:t>
            </a:fld>
            <a:endParaRPr lang="zh-TW" altLang="en-US"/>
          </a:p>
        </p:txBody>
      </p:sp>
      <p:sp>
        <p:nvSpPr>
          <p:cNvPr id="5" name="內容版面配置區 4"/>
          <p:cNvSpPr>
            <a:spLocks noGrp="1"/>
          </p:cNvSpPr>
          <p:nvPr>
            <p:ph sz="quarter" idx="1"/>
          </p:nvPr>
        </p:nvSpPr>
        <p:spPr/>
        <p:txBody>
          <a:bodyPr>
            <a:normAutofit fontScale="85000" lnSpcReduction="20000"/>
          </a:bodyPr>
          <a:lstStyle/>
          <a:p>
            <a:r>
              <a:rPr lang="zh-TW" altLang="en-US" sz="2400" dirty="0"/>
              <a:t>允許所有的電腦來訪：</a:t>
            </a:r>
            <a:endParaRPr lang="en-US" altLang="zh-TW" sz="2400" dirty="0"/>
          </a:p>
          <a:p>
            <a:pPr marL="274320" lvl="1" indent="0">
              <a:buNone/>
            </a:pPr>
            <a:r>
              <a:rPr lang="en-US" altLang="zh-TW" sz="1900" dirty="0"/>
              <a:t>ALLOWED_HOSTS = [</a:t>
            </a:r>
            <a:r>
              <a:rPr lang="en-US" altLang="zh-TW" sz="1900" dirty="0">
                <a:solidFill>
                  <a:srgbClr val="FF0000"/>
                </a:solidFill>
              </a:rPr>
              <a:t>'*'</a:t>
            </a:r>
            <a:r>
              <a:rPr lang="en-US" altLang="zh-TW" sz="1900" dirty="0"/>
              <a:t>]</a:t>
            </a:r>
          </a:p>
          <a:p>
            <a:r>
              <a:rPr lang="zh-TW" altLang="zh-TW" sz="2400" dirty="0"/>
              <a:t>把我們建立的</a:t>
            </a:r>
            <a:r>
              <a:rPr lang="en-US" altLang="zh-TW" sz="2400" dirty="0"/>
              <a:t>APP</a:t>
            </a:r>
            <a:r>
              <a:rPr lang="zh-TW" altLang="zh-TW" sz="2400" dirty="0"/>
              <a:t>模組</a:t>
            </a:r>
            <a:r>
              <a:rPr lang="en-US" altLang="zh-TW" sz="2400" dirty="0" err="1"/>
              <a:t>mysite</a:t>
            </a:r>
            <a:r>
              <a:rPr lang="zh-TW" altLang="zh-TW" sz="2400" dirty="0"/>
              <a:t>加進去：（在</a:t>
            </a:r>
            <a:r>
              <a:rPr lang="en-US" altLang="zh-TW" sz="2400" dirty="0"/>
              <a:t>settings.py</a:t>
            </a:r>
            <a:r>
              <a:rPr lang="zh-TW" altLang="zh-TW" sz="2400" dirty="0"/>
              <a:t>的</a:t>
            </a:r>
            <a:r>
              <a:rPr lang="en-US" altLang="zh-TW" sz="2400" dirty="0"/>
              <a:t>INSTALLED_APPS</a:t>
            </a:r>
            <a:r>
              <a:rPr lang="zh-TW" altLang="zh-TW" sz="2400" dirty="0"/>
              <a:t>串列中）</a:t>
            </a:r>
            <a:endParaRPr lang="en-US" altLang="zh-TW" sz="2400" dirty="0"/>
          </a:p>
          <a:p>
            <a:pPr marL="274320" lvl="1" indent="0">
              <a:buNone/>
            </a:pPr>
            <a:r>
              <a:rPr lang="en-US" altLang="zh-TW" sz="2000" dirty="0"/>
              <a:t>INSTALLED_APPS = [</a:t>
            </a:r>
          </a:p>
          <a:p>
            <a:pPr marL="274320" lvl="1" indent="0">
              <a:buNone/>
            </a:pPr>
            <a:r>
              <a:rPr lang="en-US" altLang="zh-TW" sz="2000" dirty="0"/>
              <a:t>    '</a:t>
            </a:r>
            <a:r>
              <a:rPr lang="en-US" altLang="zh-TW" sz="2000" dirty="0" err="1"/>
              <a:t>django.contrib.admin</a:t>
            </a:r>
            <a:r>
              <a:rPr lang="en-US" altLang="zh-TW" sz="2000" dirty="0"/>
              <a:t>',</a:t>
            </a:r>
          </a:p>
          <a:p>
            <a:pPr marL="274320" lvl="1" indent="0">
              <a:buNone/>
            </a:pPr>
            <a:r>
              <a:rPr lang="en-US" altLang="zh-TW" sz="2000" dirty="0"/>
              <a:t>    '</a:t>
            </a:r>
            <a:r>
              <a:rPr lang="en-US" altLang="zh-TW" sz="2000" dirty="0" err="1"/>
              <a:t>django.contrib.auth</a:t>
            </a:r>
            <a:r>
              <a:rPr lang="en-US" altLang="zh-TW" sz="2000" dirty="0"/>
              <a:t>',</a:t>
            </a:r>
          </a:p>
          <a:p>
            <a:pPr marL="274320" lvl="1" indent="0">
              <a:buNone/>
            </a:pPr>
            <a:r>
              <a:rPr lang="en-US" altLang="zh-TW" sz="2000" dirty="0"/>
              <a:t>    '</a:t>
            </a:r>
            <a:r>
              <a:rPr lang="en-US" altLang="zh-TW" sz="2000" dirty="0" err="1"/>
              <a:t>django.contrib.contenttypes</a:t>
            </a:r>
            <a:r>
              <a:rPr lang="en-US" altLang="zh-TW" sz="2000" dirty="0"/>
              <a:t>',</a:t>
            </a:r>
          </a:p>
          <a:p>
            <a:pPr marL="274320" lvl="1" indent="0">
              <a:buNone/>
            </a:pPr>
            <a:r>
              <a:rPr lang="en-US" altLang="zh-TW" sz="2000" dirty="0"/>
              <a:t>    '</a:t>
            </a:r>
            <a:r>
              <a:rPr lang="en-US" altLang="zh-TW" sz="2000" dirty="0" err="1"/>
              <a:t>django.contrib.sessions</a:t>
            </a:r>
            <a:r>
              <a:rPr lang="en-US" altLang="zh-TW" sz="2000" dirty="0"/>
              <a:t>',</a:t>
            </a:r>
          </a:p>
          <a:p>
            <a:pPr marL="274320" lvl="1" indent="0">
              <a:buNone/>
            </a:pPr>
            <a:r>
              <a:rPr lang="en-US" altLang="zh-TW" sz="2000" dirty="0"/>
              <a:t>    '</a:t>
            </a:r>
            <a:r>
              <a:rPr lang="en-US" altLang="zh-TW" sz="2000" dirty="0" err="1"/>
              <a:t>django.contrib.messages</a:t>
            </a:r>
            <a:r>
              <a:rPr lang="en-US" altLang="zh-TW" sz="2000" dirty="0"/>
              <a:t>',</a:t>
            </a:r>
          </a:p>
          <a:p>
            <a:pPr marL="274320" lvl="1" indent="0">
              <a:buNone/>
            </a:pPr>
            <a:r>
              <a:rPr lang="en-US" altLang="zh-TW" sz="2000" dirty="0"/>
              <a:t>    '</a:t>
            </a:r>
            <a:r>
              <a:rPr lang="en-US" altLang="zh-TW" sz="2000" dirty="0" err="1"/>
              <a:t>django.contrib.staticfiles</a:t>
            </a:r>
            <a:r>
              <a:rPr lang="en-US" altLang="zh-TW" sz="2000" dirty="0"/>
              <a:t>',</a:t>
            </a:r>
          </a:p>
          <a:p>
            <a:pPr marL="274320" lvl="1" indent="0">
              <a:buNone/>
            </a:pPr>
            <a:r>
              <a:rPr lang="en-US" altLang="zh-TW" sz="2000" dirty="0"/>
              <a:t>    </a:t>
            </a:r>
            <a:r>
              <a:rPr lang="en-US" altLang="zh-TW" sz="2000" dirty="0">
                <a:solidFill>
                  <a:srgbClr val="FF0000"/>
                </a:solidFill>
              </a:rPr>
              <a:t>‘</a:t>
            </a:r>
            <a:r>
              <a:rPr lang="en-US" altLang="zh-TW" sz="2000" dirty="0" err="1">
                <a:solidFill>
                  <a:srgbClr val="FF0000"/>
                </a:solidFill>
              </a:rPr>
              <a:t>mysite</a:t>
            </a:r>
            <a:r>
              <a:rPr lang="en-US" altLang="zh-TW" sz="2000" dirty="0">
                <a:solidFill>
                  <a:srgbClr val="FF0000"/>
                </a:solidFill>
              </a:rPr>
              <a:t>’</a:t>
            </a:r>
            <a:r>
              <a:rPr lang="en-US" altLang="zh-TW" sz="2000" dirty="0"/>
              <a:t>,     </a:t>
            </a:r>
          </a:p>
          <a:p>
            <a:pPr marL="274320" lvl="1" indent="0">
              <a:buNone/>
            </a:pPr>
            <a:r>
              <a:rPr lang="en-US" altLang="zh-TW" sz="2000" dirty="0"/>
              <a:t>]</a:t>
            </a:r>
            <a:r>
              <a:rPr lang="en-US" altLang="zh-TW" sz="2800" dirty="0"/>
              <a:t> </a:t>
            </a:r>
          </a:p>
          <a:p>
            <a:pPr marL="274320" lvl="1" indent="0">
              <a:buNone/>
            </a:pPr>
            <a:r>
              <a:rPr lang="en-US" altLang="zh-TW" sz="2800" dirty="0"/>
              <a:t>(</a:t>
            </a:r>
            <a:r>
              <a:rPr lang="zh-TW" altLang="en-US" sz="2800" dirty="0">
                <a:solidFill>
                  <a:srgbClr val="FF0000"/>
                </a:solidFill>
              </a:rPr>
              <a:t>若沒加</a:t>
            </a:r>
            <a:r>
              <a:rPr lang="en-US" altLang="zh-TW" sz="2800" dirty="0">
                <a:solidFill>
                  <a:srgbClr val="FF0000"/>
                </a:solidFill>
              </a:rPr>
              <a:t>‘</a:t>
            </a:r>
            <a:r>
              <a:rPr lang="en-US" altLang="zh-TW" sz="2800" dirty="0" err="1">
                <a:solidFill>
                  <a:srgbClr val="FF0000"/>
                </a:solidFill>
              </a:rPr>
              <a:t>mysite</a:t>
            </a:r>
            <a:r>
              <a:rPr lang="en-US" altLang="zh-TW" sz="2800" dirty="0">
                <a:solidFill>
                  <a:srgbClr val="FF0000"/>
                </a:solidFill>
              </a:rPr>
              <a:t>’</a:t>
            </a:r>
            <a:r>
              <a:rPr lang="en-US" altLang="zh-TW" sz="2800" dirty="0"/>
              <a:t>,</a:t>
            </a:r>
            <a:r>
              <a:rPr lang="zh-TW" altLang="en-US" sz="2800" dirty="0">
                <a:solidFill>
                  <a:srgbClr val="FF0000"/>
                </a:solidFill>
              </a:rPr>
              <a:t>會出現的問題：</a:t>
            </a:r>
            <a:endParaRPr lang="en-US" altLang="zh-TW" sz="2800" dirty="0">
              <a:solidFill>
                <a:srgbClr val="FF0000"/>
              </a:solidFill>
            </a:endParaRPr>
          </a:p>
          <a:p>
            <a:pPr marL="274320" lvl="1" indent="0">
              <a:buNone/>
            </a:pPr>
            <a:r>
              <a:rPr lang="zh-TW" altLang="en-US" sz="2000" dirty="0"/>
              <a:t>加了</a:t>
            </a:r>
            <a:r>
              <a:rPr lang="en-US" altLang="zh-TW" sz="2000" dirty="0"/>
              <a:t>model</a:t>
            </a:r>
            <a:r>
              <a:rPr lang="zh-TW" altLang="en-US" sz="2000" dirty="0"/>
              <a:t>後，</a:t>
            </a:r>
            <a:r>
              <a:rPr lang="zh-TW" altLang="en-US" sz="2000" dirty="0">
                <a:solidFill>
                  <a:srgbClr val="FF0000"/>
                </a:solidFill>
              </a:rPr>
              <a:t>使用</a:t>
            </a:r>
            <a:r>
              <a:rPr lang="en-US" altLang="zh-TW" sz="2000" dirty="0">
                <a:solidFill>
                  <a:srgbClr val="FF0000"/>
                </a:solidFill>
              </a:rPr>
              <a:t>migrations</a:t>
            </a:r>
            <a:r>
              <a:rPr lang="zh-TW" altLang="en-US" sz="2000" dirty="0">
                <a:solidFill>
                  <a:srgbClr val="FF0000"/>
                </a:solidFill>
              </a:rPr>
              <a:t>會沒反應</a:t>
            </a:r>
            <a:r>
              <a:rPr lang="zh-TW" altLang="en-US" sz="2000" dirty="0"/>
              <a:t>，因不知有此</a:t>
            </a:r>
            <a:r>
              <a:rPr lang="en-US" altLang="zh-TW" sz="2000" dirty="0"/>
              <a:t>app</a:t>
            </a:r>
            <a:r>
              <a:rPr lang="zh-TW" altLang="en-US" sz="2000" dirty="0"/>
              <a:t>的</a:t>
            </a:r>
            <a:r>
              <a:rPr lang="en-US" altLang="zh-TW" sz="2000" dirty="0"/>
              <a:t>mysite.model.py)</a:t>
            </a:r>
          </a:p>
          <a:p>
            <a:pPr marL="274320" lvl="1" indent="0">
              <a:buNone/>
            </a:pPr>
            <a:endParaRPr lang="en-US" altLang="zh-TW" sz="2000" dirty="0"/>
          </a:p>
          <a:p>
            <a:pPr lvl="1"/>
            <a:endParaRPr lang="zh-TW" altLang="en-US" sz="1500" dirty="0"/>
          </a:p>
        </p:txBody>
      </p:sp>
    </p:spTree>
    <p:extLst>
      <p:ext uri="{BB962C8B-B14F-4D97-AF65-F5344CB8AC3E}">
        <p14:creationId xmlns:p14="http://schemas.microsoft.com/office/powerpoint/2010/main" val="11991369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編輯</a:t>
            </a:r>
            <a:r>
              <a:rPr lang="en-US" altLang="zh-TW" dirty="0"/>
              <a:t>settings.py</a:t>
            </a:r>
            <a:endParaRPr lang="zh-TW" altLang="en-US" dirty="0"/>
          </a:p>
        </p:txBody>
      </p:sp>
      <p:sp>
        <p:nvSpPr>
          <p:cNvPr id="4" name="投影片編號版面配置區 3"/>
          <p:cNvSpPr>
            <a:spLocks noGrp="1"/>
          </p:cNvSpPr>
          <p:nvPr>
            <p:ph type="sldNum" sz="quarter" idx="12"/>
          </p:nvPr>
        </p:nvSpPr>
        <p:spPr/>
        <p:txBody>
          <a:bodyPr/>
          <a:lstStyle/>
          <a:p>
            <a:fld id="{369E457D-EE12-4164-8E32-9DDD40A95892}" type="slidenum">
              <a:rPr lang="zh-TW" altLang="en-US" smtClean="0"/>
              <a:pPr/>
              <a:t>13</a:t>
            </a:fld>
            <a:endParaRPr lang="zh-TW" altLang="en-US"/>
          </a:p>
        </p:txBody>
      </p:sp>
      <p:sp>
        <p:nvSpPr>
          <p:cNvPr id="3" name="內容版面配置區 2"/>
          <p:cNvSpPr>
            <a:spLocks noGrp="1"/>
          </p:cNvSpPr>
          <p:nvPr>
            <p:ph sz="quarter" idx="1"/>
          </p:nvPr>
        </p:nvSpPr>
        <p:spPr/>
        <p:txBody>
          <a:bodyPr>
            <a:normAutofit/>
          </a:bodyPr>
          <a:lstStyle/>
          <a:p>
            <a:r>
              <a:rPr lang="zh-TW" altLang="en-US" sz="2400" dirty="0"/>
              <a:t>修改時區設定</a:t>
            </a:r>
            <a:r>
              <a:rPr lang="zh-TW" altLang="zh-TW" sz="2400" dirty="0"/>
              <a:t>，如下所示：</a:t>
            </a:r>
            <a:endParaRPr lang="en-US" altLang="zh-TW" sz="2400" dirty="0"/>
          </a:p>
          <a:p>
            <a:pPr lvl="1"/>
            <a:r>
              <a:rPr lang="en-US" altLang="zh-TW" sz="1900" dirty="0"/>
              <a:t>LANGUAGE_CODE = </a:t>
            </a:r>
            <a:r>
              <a:rPr lang="en-US" altLang="zh-TW" sz="1900" dirty="0">
                <a:solidFill>
                  <a:srgbClr val="FF0000"/>
                </a:solidFill>
              </a:rPr>
              <a:t>'</a:t>
            </a:r>
            <a:r>
              <a:rPr lang="en-US" altLang="zh-TW" sz="1900" dirty="0" err="1">
                <a:solidFill>
                  <a:srgbClr val="FF0000"/>
                </a:solidFill>
              </a:rPr>
              <a:t>zh-hant</a:t>
            </a:r>
            <a:r>
              <a:rPr lang="en-US" altLang="zh-TW" sz="1900" dirty="0">
                <a:solidFill>
                  <a:srgbClr val="FF0000"/>
                </a:solidFill>
              </a:rPr>
              <a:t>'</a:t>
            </a:r>
          </a:p>
          <a:p>
            <a:pPr lvl="1"/>
            <a:r>
              <a:rPr lang="en-US" altLang="zh-TW" sz="1900" dirty="0"/>
              <a:t>TIME_ZONE = </a:t>
            </a:r>
            <a:r>
              <a:rPr lang="en-US" altLang="zh-TW" sz="1900" dirty="0">
                <a:solidFill>
                  <a:srgbClr val="FF0000"/>
                </a:solidFill>
              </a:rPr>
              <a:t>'Asia/Taipei'</a:t>
            </a:r>
          </a:p>
          <a:p>
            <a:r>
              <a:rPr lang="zh-TW" altLang="en-US" sz="2400" dirty="0"/>
              <a:t>儲存</a:t>
            </a:r>
            <a:r>
              <a:rPr lang="en-US" altLang="zh-TW" sz="2400" dirty="0"/>
              <a:t>settings.py</a:t>
            </a:r>
            <a:r>
              <a:rPr lang="zh-TW" altLang="en-US" sz="2400" dirty="0"/>
              <a:t>，然後執行以下兩行指令：</a:t>
            </a:r>
            <a:endParaRPr lang="en-US" altLang="zh-TW" sz="2400" dirty="0"/>
          </a:p>
          <a:p>
            <a:pPr lvl="1"/>
            <a:r>
              <a:rPr lang="en-US" altLang="zh-TW" sz="2400" dirty="0">
                <a:solidFill>
                  <a:srgbClr val="FF0000"/>
                </a:solidFill>
              </a:rPr>
              <a:t>python manage.py </a:t>
            </a:r>
            <a:r>
              <a:rPr lang="en-US" altLang="zh-TW" sz="2400" dirty="0" err="1">
                <a:solidFill>
                  <a:srgbClr val="FF0000"/>
                </a:solidFill>
              </a:rPr>
              <a:t>makemigrations</a:t>
            </a:r>
            <a:endParaRPr lang="en-US" altLang="zh-TW" sz="2400" dirty="0">
              <a:solidFill>
                <a:srgbClr val="FF0000"/>
              </a:solidFill>
            </a:endParaRPr>
          </a:p>
          <a:p>
            <a:pPr lvl="1"/>
            <a:r>
              <a:rPr lang="en-US" altLang="zh-TW" sz="2400" dirty="0">
                <a:solidFill>
                  <a:srgbClr val="FF0000"/>
                </a:solidFill>
              </a:rPr>
              <a:t>python manage.py migrate</a:t>
            </a:r>
          </a:p>
          <a:p>
            <a:r>
              <a:rPr lang="zh-TW" altLang="zh-TW" sz="2400" dirty="0"/>
              <a:t>預設的情形下，</a:t>
            </a:r>
            <a:r>
              <a:rPr lang="en-US" altLang="zh-TW" sz="2400" dirty="0"/>
              <a:t>Django</a:t>
            </a:r>
            <a:r>
              <a:rPr lang="zh-TW" altLang="zh-TW" sz="2400" dirty="0"/>
              <a:t>會使用</a:t>
            </a:r>
            <a:r>
              <a:rPr lang="en-US" altLang="zh-TW" sz="2400" dirty="0"/>
              <a:t>SQLite</a:t>
            </a:r>
            <a:r>
              <a:rPr lang="zh-TW" altLang="zh-TW" sz="2400" dirty="0"/>
              <a:t>來儲存資料庫的內容，在我們使用以</a:t>
            </a:r>
            <a:r>
              <a:rPr lang="zh-TW" altLang="en-US" sz="2400" dirty="0"/>
              <a:t>上兩個</a:t>
            </a:r>
            <a:r>
              <a:rPr lang="zh-TW" altLang="zh-TW" sz="2400" dirty="0"/>
              <a:t>命令的時候，即會產生一個叫做</a:t>
            </a:r>
            <a:r>
              <a:rPr lang="en-US" altLang="zh-TW" sz="2400" dirty="0"/>
              <a:t>db.sqlite3</a:t>
            </a:r>
            <a:r>
              <a:rPr lang="zh-TW" altLang="zh-TW" sz="2400" dirty="0"/>
              <a:t>的檔案</a:t>
            </a:r>
            <a:r>
              <a:rPr lang="zh-TW" altLang="en-US" sz="2400" dirty="0"/>
              <a:t>。</a:t>
            </a:r>
            <a:endParaRPr lang="en-US" altLang="zh-TW" sz="2400" dirty="0"/>
          </a:p>
          <a:p>
            <a:pPr lvl="1"/>
            <a:endParaRPr lang="zh-TW" altLang="zh-TW" sz="2800" dirty="0"/>
          </a:p>
          <a:p>
            <a:pPr marL="0" indent="0">
              <a:buNone/>
            </a:pPr>
            <a:endParaRPr lang="zh-TW" altLang="en-US" dirty="0"/>
          </a:p>
        </p:txBody>
      </p:sp>
      <p:pic>
        <p:nvPicPr>
          <p:cNvPr id="5" name="圖片 4"/>
          <p:cNvPicPr>
            <a:picLocks noChangeAspect="1"/>
          </p:cNvPicPr>
          <p:nvPr/>
        </p:nvPicPr>
        <p:blipFill>
          <a:blip r:embed="rId2"/>
          <a:stretch>
            <a:fillRect/>
          </a:stretch>
        </p:blipFill>
        <p:spPr>
          <a:xfrm>
            <a:off x="5004048" y="4869160"/>
            <a:ext cx="2998775" cy="1924153"/>
          </a:xfrm>
          <a:prstGeom prst="rect">
            <a:avLst/>
          </a:prstGeom>
        </p:spPr>
      </p:pic>
    </p:spTree>
    <p:extLst>
      <p:ext uri="{BB962C8B-B14F-4D97-AF65-F5344CB8AC3E}">
        <p14:creationId xmlns:p14="http://schemas.microsoft.com/office/powerpoint/2010/main" val="35312544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資料庫與</a:t>
            </a:r>
            <a:r>
              <a:rPr lang="en-US" altLang="zh-TW" dirty="0"/>
              <a:t>Django</a:t>
            </a:r>
            <a:r>
              <a:rPr lang="zh-TW" altLang="zh-TW" dirty="0"/>
              <a:t>的關係</a:t>
            </a:r>
            <a:endParaRPr lang="zh-TW" altLang="en-US" dirty="0"/>
          </a:p>
        </p:txBody>
      </p:sp>
      <p:sp>
        <p:nvSpPr>
          <p:cNvPr id="3" name="內容版面配置區 2"/>
          <p:cNvSpPr>
            <a:spLocks noGrp="1"/>
          </p:cNvSpPr>
          <p:nvPr>
            <p:ph sz="quarter" idx="1"/>
          </p:nvPr>
        </p:nvSpPr>
        <p:spPr>
          <a:xfrm>
            <a:off x="301752" y="1026372"/>
            <a:ext cx="8534400" cy="5603028"/>
          </a:xfrm>
        </p:spPr>
        <p:txBody>
          <a:bodyPr>
            <a:normAutofit lnSpcReduction="10000"/>
          </a:bodyPr>
          <a:lstStyle/>
          <a:p>
            <a:r>
              <a:rPr lang="zh-TW" altLang="zh-TW" dirty="0"/>
              <a:t>預設的情況下，</a:t>
            </a:r>
            <a:r>
              <a:rPr lang="en-US" altLang="zh-TW" dirty="0"/>
              <a:t>Django</a:t>
            </a:r>
            <a:r>
              <a:rPr lang="zh-TW" altLang="zh-TW" dirty="0"/>
              <a:t>的資料庫是以</a:t>
            </a:r>
            <a:r>
              <a:rPr lang="en-US" altLang="zh-TW" dirty="0"/>
              <a:t>Model</a:t>
            </a:r>
            <a:r>
              <a:rPr lang="zh-TW" altLang="zh-TW" dirty="0"/>
              <a:t>的方式來操作</a:t>
            </a:r>
            <a:endParaRPr lang="en-US" altLang="zh-TW" dirty="0"/>
          </a:p>
          <a:p>
            <a:r>
              <a:rPr lang="zh-TW" altLang="zh-TW" dirty="0">
                <a:solidFill>
                  <a:srgbClr val="FF0000"/>
                </a:solidFill>
              </a:rPr>
              <a:t>程式中不直接面對資料庫以及資料表</a:t>
            </a:r>
            <a:endParaRPr lang="en-US" altLang="zh-TW" dirty="0">
              <a:solidFill>
                <a:srgbClr val="FF0000"/>
              </a:solidFill>
            </a:endParaRPr>
          </a:p>
          <a:p>
            <a:r>
              <a:rPr lang="zh-TW" altLang="zh-TW" dirty="0"/>
              <a:t>以</a:t>
            </a:r>
            <a:r>
              <a:rPr lang="en-US" altLang="zh-TW" dirty="0"/>
              <a:t>class</a:t>
            </a:r>
            <a:r>
              <a:rPr lang="zh-TW" altLang="zh-TW" dirty="0"/>
              <a:t>類別的方式先建立出</a:t>
            </a:r>
            <a:r>
              <a:rPr lang="en-US" altLang="zh-TW" dirty="0"/>
              <a:t>Model</a:t>
            </a:r>
            <a:r>
              <a:rPr lang="zh-TW" altLang="zh-TW" dirty="0"/>
              <a:t>，然後再透過對</a:t>
            </a:r>
            <a:r>
              <a:rPr lang="en-US" altLang="zh-TW" dirty="0"/>
              <a:t>Model</a:t>
            </a:r>
            <a:r>
              <a:rPr lang="zh-TW" altLang="zh-TW" dirty="0"/>
              <a:t>的操作，達到操作資料庫的目的</a:t>
            </a:r>
            <a:endParaRPr lang="en-US" altLang="zh-TW" dirty="0"/>
          </a:p>
          <a:p>
            <a:r>
              <a:rPr lang="zh-TW" altLang="zh-TW" dirty="0"/>
              <a:t>好處是把程式和資料庫之間的關係以一層</a:t>
            </a:r>
            <a:r>
              <a:rPr lang="zh-TW" altLang="zh-TW" dirty="0">
                <a:solidFill>
                  <a:srgbClr val="FF0000"/>
                </a:solidFill>
              </a:rPr>
              <a:t>中介層</a:t>
            </a:r>
            <a:r>
              <a:rPr lang="zh-TW" altLang="zh-TW" dirty="0"/>
              <a:t>來做為連接的介面</a:t>
            </a:r>
            <a:endParaRPr lang="en-US" altLang="zh-TW" dirty="0"/>
          </a:p>
          <a:p>
            <a:endParaRPr lang="en-US" altLang="zh-TW" dirty="0"/>
          </a:p>
          <a:p>
            <a:r>
              <a:rPr lang="zh-TW" altLang="en-US" sz="3600" b="1" dirty="0">
                <a:solidFill>
                  <a:srgbClr val="FF0000"/>
                </a:solidFill>
              </a:rPr>
              <a:t>說明優點：架構面來看：</a:t>
            </a:r>
            <a:endParaRPr lang="en-US" altLang="zh-TW" sz="3600" b="1" dirty="0">
              <a:solidFill>
                <a:srgbClr val="FF0000"/>
              </a:solidFill>
            </a:endParaRPr>
          </a:p>
          <a:p>
            <a:r>
              <a:rPr lang="zh-TW" altLang="zh-TW" dirty="0"/>
              <a:t>日後如需要</a:t>
            </a:r>
            <a:r>
              <a:rPr lang="zh-TW" altLang="zh-TW" dirty="0">
                <a:solidFill>
                  <a:srgbClr val="FF0000"/>
                </a:solidFill>
              </a:rPr>
              <a:t>更換資料庫系統</a:t>
            </a:r>
            <a:r>
              <a:rPr lang="zh-TW" altLang="zh-TW" dirty="0"/>
              <a:t>，就可以</a:t>
            </a:r>
            <a:r>
              <a:rPr lang="zh-TW" altLang="zh-TW" dirty="0">
                <a:solidFill>
                  <a:srgbClr val="FF0000"/>
                </a:solidFill>
              </a:rPr>
              <a:t>不需要更動到程式的內容</a:t>
            </a:r>
            <a:r>
              <a:rPr lang="zh-TW" altLang="en-US" dirty="0"/>
              <a:t>，只要</a:t>
            </a:r>
            <a:r>
              <a:rPr lang="zh-TW" altLang="en-US" dirty="0">
                <a:solidFill>
                  <a:srgbClr val="FF0000"/>
                </a:solidFill>
              </a:rPr>
              <a:t>修改</a:t>
            </a:r>
            <a:r>
              <a:rPr lang="en-US" altLang="zh-TW" dirty="0">
                <a:solidFill>
                  <a:srgbClr val="FF0000"/>
                </a:solidFill>
              </a:rPr>
              <a:t>settings.py</a:t>
            </a:r>
            <a:r>
              <a:rPr lang="zh-TW" altLang="en-US" dirty="0"/>
              <a:t>中關於資料庫的設定即可</a:t>
            </a:r>
          </a:p>
        </p:txBody>
      </p:sp>
      <p:sp>
        <p:nvSpPr>
          <p:cNvPr id="4" name="投影片編號版面配置區 3"/>
          <p:cNvSpPr>
            <a:spLocks noGrp="1"/>
          </p:cNvSpPr>
          <p:nvPr>
            <p:ph type="sldNum" sz="quarter" idx="12"/>
          </p:nvPr>
        </p:nvSpPr>
        <p:spPr/>
        <p:txBody>
          <a:bodyPr/>
          <a:lstStyle/>
          <a:p>
            <a:fld id="{369E457D-EE12-4164-8E32-9DDD40A95892}" type="slidenum">
              <a:rPr lang="zh-TW" altLang="en-US" smtClean="0"/>
              <a:pPr/>
              <a:t>14</a:t>
            </a:fld>
            <a:endParaRPr lang="zh-TW" altLang="en-US"/>
          </a:p>
        </p:txBody>
      </p:sp>
    </p:spTree>
    <p:extLst>
      <p:ext uri="{BB962C8B-B14F-4D97-AF65-F5344CB8AC3E}">
        <p14:creationId xmlns:p14="http://schemas.microsoft.com/office/powerpoint/2010/main" val="13032654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資料庫與</a:t>
            </a:r>
            <a:r>
              <a:rPr lang="en-US" altLang="zh-TW" dirty="0"/>
              <a:t>Django</a:t>
            </a:r>
            <a:r>
              <a:rPr lang="zh-TW" altLang="zh-TW" dirty="0"/>
              <a:t>的關係</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15</a:t>
            </a:fld>
            <a:endParaRPr lang="zh-TW" altLang="en-US"/>
          </a:p>
        </p:txBody>
      </p:sp>
      <p:sp>
        <p:nvSpPr>
          <p:cNvPr id="4" name="內容版面配置區 3"/>
          <p:cNvSpPr>
            <a:spLocks noGrp="1"/>
          </p:cNvSpPr>
          <p:nvPr>
            <p:ph sz="quarter" idx="1"/>
          </p:nvPr>
        </p:nvSpPr>
        <p:spPr/>
        <p:txBody>
          <a:bodyPr/>
          <a:lstStyle/>
          <a:p>
            <a:r>
              <a:rPr lang="zh-TW" altLang="zh-TW" dirty="0"/>
              <a:t>在</a:t>
            </a:r>
            <a:r>
              <a:rPr lang="en-US" altLang="zh-TW" dirty="0"/>
              <a:t>Django</a:t>
            </a:r>
            <a:r>
              <a:rPr lang="zh-TW" altLang="zh-TW" dirty="0"/>
              <a:t>要使用資料庫，有以下的幾個步驟：</a:t>
            </a:r>
          </a:p>
          <a:p>
            <a:pPr lvl="1"/>
            <a:r>
              <a:rPr lang="zh-TW" altLang="zh-TW" sz="2400" dirty="0"/>
              <a:t>在</a:t>
            </a:r>
            <a:r>
              <a:rPr lang="en-US" altLang="zh-TW" sz="2400" dirty="0"/>
              <a:t>models.py</a:t>
            </a:r>
            <a:r>
              <a:rPr lang="zh-TW" altLang="zh-TW" sz="2400" dirty="0"/>
              <a:t>中定義所需要使用的類別（繼承自</a:t>
            </a:r>
            <a:r>
              <a:rPr lang="en-US" altLang="zh-TW" sz="2400" dirty="0" err="1"/>
              <a:t>models.Model</a:t>
            </a:r>
            <a:r>
              <a:rPr lang="zh-TW" altLang="zh-TW" sz="2400" dirty="0"/>
              <a:t>）</a:t>
            </a:r>
          </a:p>
          <a:p>
            <a:pPr lvl="1"/>
            <a:r>
              <a:rPr lang="zh-TW" altLang="zh-TW" sz="2400" dirty="0"/>
              <a:t>詳細地設定每一個在類別中的變數，亦即資料表中的每一個欄位</a:t>
            </a:r>
            <a:r>
              <a:rPr lang="zh-TW" altLang="en-US" sz="2400" dirty="0"/>
              <a:t>的名稱以及其資料型態</a:t>
            </a:r>
            <a:endParaRPr lang="zh-TW" altLang="zh-TW" sz="2400" dirty="0"/>
          </a:p>
          <a:p>
            <a:pPr lvl="1"/>
            <a:r>
              <a:rPr lang="zh-TW" altLang="zh-TW" sz="2400" dirty="0"/>
              <a:t>使用</a:t>
            </a:r>
            <a:r>
              <a:rPr lang="en-US" altLang="zh-TW" sz="2400" dirty="0"/>
              <a:t>python manage.py </a:t>
            </a:r>
            <a:r>
              <a:rPr lang="en-US" altLang="zh-TW" sz="2400" dirty="0" err="1"/>
              <a:t>makemigrations</a:t>
            </a:r>
            <a:r>
              <a:rPr lang="zh-TW" altLang="zh-TW" sz="2400" dirty="0"/>
              <a:t>建立資料庫和</a:t>
            </a:r>
            <a:r>
              <a:rPr lang="en-US" altLang="zh-TW" sz="2400" dirty="0"/>
              <a:t>Django</a:t>
            </a:r>
            <a:r>
              <a:rPr lang="zh-TW" altLang="zh-TW" sz="2400" dirty="0"/>
              <a:t>間的</a:t>
            </a:r>
            <a:r>
              <a:rPr lang="zh-TW" altLang="zh-TW" sz="2400" dirty="0">
                <a:solidFill>
                  <a:srgbClr val="FF0000"/>
                </a:solidFill>
              </a:rPr>
              <a:t>中介檔案</a:t>
            </a:r>
            <a:r>
              <a:rPr lang="zh-TW" altLang="en-US" sz="2400" dirty="0"/>
              <a:t>（放在</a:t>
            </a:r>
            <a:r>
              <a:rPr lang="en-US" altLang="zh-TW" sz="2400" dirty="0"/>
              <a:t>migrations</a:t>
            </a:r>
            <a:r>
              <a:rPr lang="zh-TW" altLang="en-US" sz="2400" dirty="0"/>
              <a:t>資料夾中）</a:t>
            </a:r>
            <a:endParaRPr lang="zh-TW" altLang="zh-TW" sz="2400" dirty="0"/>
          </a:p>
          <a:p>
            <a:pPr lvl="1"/>
            <a:r>
              <a:rPr lang="zh-TW" altLang="zh-TW" sz="2400" dirty="0"/>
              <a:t>使用</a:t>
            </a:r>
            <a:r>
              <a:rPr lang="en-US" altLang="zh-TW" sz="2400" dirty="0"/>
              <a:t>python manage.py migrate</a:t>
            </a:r>
            <a:r>
              <a:rPr lang="zh-TW" altLang="zh-TW" sz="2400" dirty="0"/>
              <a:t>同步</a:t>
            </a:r>
            <a:r>
              <a:rPr lang="zh-TW" altLang="zh-TW" sz="2400" dirty="0">
                <a:solidFill>
                  <a:srgbClr val="FF0000"/>
                </a:solidFill>
              </a:rPr>
              <a:t>更新資料庫的內容</a:t>
            </a:r>
          </a:p>
          <a:p>
            <a:pPr lvl="1"/>
            <a:r>
              <a:rPr lang="zh-TW" altLang="zh-TW" sz="2400" dirty="0"/>
              <a:t>在程式中使用</a:t>
            </a:r>
            <a:r>
              <a:rPr lang="en-US" altLang="zh-TW" sz="2400" dirty="0"/>
              <a:t>Python</a:t>
            </a:r>
            <a:r>
              <a:rPr lang="zh-TW" altLang="zh-TW" sz="2400" dirty="0"/>
              <a:t>的方法操作所定義的資料類別，等於是在操作資料庫中的資料表</a:t>
            </a:r>
          </a:p>
          <a:p>
            <a:endParaRPr lang="zh-TW" altLang="en-US" dirty="0"/>
          </a:p>
        </p:txBody>
      </p:sp>
    </p:spTree>
    <p:extLst>
      <p:ext uri="{BB962C8B-B14F-4D97-AF65-F5344CB8AC3E}">
        <p14:creationId xmlns:p14="http://schemas.microsoft.com/office/powerpoint/2010/main" val="34298016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r>
              <a:rPr lang="zh-TW" altLang="zh-TW" dirty="0"/>
              <a:t>定義資料模型</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16</a:t>
            </a:fld>
            <a:endParaRPr lang="zh-TW" altLang="en-US"/>
          </a:p>
        </p:txBody>
      </p:sp>
      <p:sp>
        <p:nvSpPr>
          <p:cNvPr id="7" name="內容版面配置區 6"/>
          <p:cNvSpPr>
            <a:spLocks noGrp="1"/>
          </p:cNvSpPr>
          <p:nvPr>
            <p:ph sz="quarter" idx="1"/>
          </p:nvPr>
        </p:nvSpPr>
        <p:spPr>
          <a:xfrm>
            <a:off x="301752" y="1527048"/>
            <a:ext cx="8534400" cy="4782272"/>
          </a:xfrm>
        </p:spPr>
        <p:txBody>
          <a:bodyPr>
            <a:normAutofit fontScale="92500" lnSpcReduction="20000"/>
          </a:bodyPr>
          <a:lstStyle/>
          <a:p>
            <a:r>
              <a:rPr lang="zh-TW" altLang="zh-TW" dirty="0"/>
              <a:t>在本堂課中的</a:t>
            </a:r>
            <a:r>
              <a:rPr lang="en-US" altLang="zh-TW" dirty="0" err="1"/>
              <a:t>mblog</a:t>
            </a:r>
            <a:r>
              <a:rPr lang="zh-TW" altLang="zh-TW" dirty="0"/>
              <a:t>需要一個用來儲存文章的資料表，所以，就需要修改</a:t>
            </a:r>
            <a:r>
              <a:rPr lang="en-US" altLang="zh-TW" dirty="0"/>
              <a:t>mysite/models.py</a:t>
            </a:r>
            <a:r>
              <a:rPr lang="zh-TW" altLang="zh-TW" dirty="0"/>
              <a:t>的內容</a:t>
            </a:r>
            <a:endParaRPr lang="en-US" altLang="zh-TW" dirty="0"/>
          </a:p>
          <a:p>
            <a:endParaRPr lang="en-US" altLang="zh-TW" dirty="0"/>
          </a:p>
          <a:p>
            <a:pPr marL="274320" lvl="1" indent="0">
              <a:buNone/>
            </a:pPr>
            <a:r>
              <a:rPr lang="en-US" altLang="zh-TW" dirty="0"/>
              <a:t>from </a:t>
            </a:r>
            <a:r>
              <a:rPr lang="en-US" altLang="zh-TW" dirty="0" err="1"/>
              <a:t>django.db</a:t>
            </a:r>
            <a:r>
              <a:rPr lang="en-US" altLang="zh-TW" dirty="0"/>
              <a:t> import models</a:t>
            </a:r>
          </a:p>
          <a:p>
            <a:pPr marL="274320" lvl="1" indent="0">
              <a:buNone/>
            </a:pPr>
            <a:r>
              <a:rPr lang="en-US" altLang="zh-TW" dirty="0"/>
              <a:t>class Post(</a:t>
            </a:r>
            <a:r>
              <a:rPr lang="en-US" altLang="zh-TW" dirty="0" err="1"/>
              <a:t>models.Model</a:t>
            </a:r>
            <a:r>
              <a:rPr lang="en-US" altLang="zh-TW" dirty="0"/>
              <a:t>):</a:t>
            </a:r>
          </a:p>
          <a:p>
            <a:pPr marL="274320" lvl="1" indent="0">
              <a:buNone/>
            </a:pPr>
            <a:r>
              <a:rPr lang="en-US" altLang="zh-TW" dirty="0"/>
              <a:t>    </a:t>
            </a:r>
            <a:r>
              <a:rPr lang="en-US" altLang="zh-TW" dirty="0">
                <a:solidFill>
                  <a:srgbClr val="FF0000"/>
                </a:solidFill>
              </a:rPr>
              <a:t>title</a:t>
            </a:r>
            <a:r>
              <a:rPr lang="en-US" altLang="zh-TW" dirty="0"/>
              <a:t> = </a:t>
            </a:r>
            <a:r>
              <a:rPr lang="en-US" altLang="zh-TW" dirty="0" err="1"/>
              <a:t>models.CharField</a:t>
            </a:r>
            <a:r>
              <a:rPr lang="en-US" altLang="zh-TW" dirty="0"/>
              <a:t>(</a:t>
            </a:r>
            <a:r>
              <a:rPr lang="en-US" altLang="zh-TW" dirty="0" err="1"/>
              <a:t>max_length</a:t>
            </a:r>
            <a:r>
              <a:rPr lang="en-US" altLang="zh-TW" dirty="0"/>
              <a:t>=200)</a:t>
            </a:r>
          </a:p>
          <a:p>
            <a:pPr marL="274320" lvl="1" indent="0">
              <a:buNone/>
            </a:pPr>
            <a:r>
              <a:rPr lang="en-US" altLang="zh-TW" dirty="0"/>
              <a:t>    </a:t>
            </a:r>
            <a:r>
              <a:rPr lang="en-US" altLang="zh-TW" dirty="0">
                <a:solidFill>
                  <a:srgbClr val="FF0000"/>
                </a:solidFill>
              </a:rPr>
              <a:t>slug</a:t>
            </a:r>
            <a:r>
              <a:rPr lang="en-US" altLang="zh-TW" dirty="0"/>
              <a:t> = </a:t>
            </a:r>
            <a:r>
              <a:rPr lang="en-US" altLang="zh-TW" dirty="0" err="1"/>
              <a:t>models.</a:t>
            </a:r>
            <a:r>
              <a:rPr lang="en-US" altLang="zh-TW" dirty="0" err="1">
                <a:solidFill>
                  <a:srgbClr val="FF0000"/>
                </a:solidFill>
              </a:rPr>
              <a:t>CharField</a:t>
            </a:r>
            <a:r>
              <a:rPr lang="en-US" altLang="zh-TW" dirty="0"/>
              <a:t>(</a:t>
            </a:r>
            <a:r>
              <a:rPr lang="en-US" altLang="zh-TW" dirty="0" err="1"/>
              <a:t>max_length</a:t>
            </a:r>
            <a:r>
              <a:rPr lang="en-US" altLang="zh-TW" dirty="0"/>
              <a:t>=200)</a:t>
            </a:r>
          </a:p>
          <a:p>
            <a:pPr marL="274320" lvl="1" indent="0">
              <a:buNone/>
            </a:pPr>
            <a:r>
              <a:rPr lang="en-US" altLang="zh-TW" dirty="0"/>
              <a:t>    </a:t>
            </a:r>
            <a:r>
              <a:rPr lang="en-US" altLang="zh-TW" dirty="0">
                <a:solidFill>
                  <a:srgbClr val="FF0000"/>
                </a:solidFill>
              </a:rPr>
              <a:t>body</a:t>
            </a:r>
            <a:r>
              <a:rPr lang="en-US" altLang="zh-TW" dirty="0"/>
              <a:t> = </a:t>
            </a:r>
            <a:r>
              <a:rPr lang="en-US" altLang="zh-TW" dirty="0" err="1"/>
              <a:t>models.TextField</a:t>
            </a:r>
            <a:r>
              <a:rPr lang="en-US" altLang="zh-TW" dirty="0"/>
              <a:t>()</a:t>
            </a:r>
          </a:p>
          <a:p>
            <a:pPr marL="274320" lvl="1" indent="0">
              <a:buNone/>
            </a:pPr>
            <a:r>
              <a:rPr lang="en-US" altLang="zh-TW" dirty="0"/>
              <a:t>    </a:t>
            </a:r>
            <a:r>
              <a:rPr lang="en-US" altLang="zh-TW" dirty="0" err="1">
                <a:solidFill>
                  <a:srgbClr val="FF0000"/>
                </a:solidFill>
              </a:rPr>
              <a:t>pub_date</a:t>
            </a:r>
            <a:r>
              <a:rPr lang="en-US" altLang="zh-TW" dirty="0">
                <a:solidFill>
                  <a:srgbClr val="FF0000"/>
                </a:solidFill>
              </a:rPr>
              <a:t> </a:t>
            </a:r>
            <a:r>
              <a:rPr lang="en-US" altLang="zh-TW" dirty="0"/>
              <a:t>= </a:t>
            </a:r>
            <a:r>
              <a:rPr lang="en-US" altLang="zh-TW" dirty="0" err="1"/>
              <a:t>models.DateTimeField</a:t>
            </a:r>
            <a:r>
              <a:rPr lang="en-US" altLang="zh-TW" dirty="0"/>
              <a:t>(</a:t>
            </a:r>
            <a:r>
              <a:rPr lang="en-US" altLang="zh-TW" dirty="0" err="1">
                <a:solidFill>
                  <a:srgbClr val="FF0000"/>
                </a:solidFill>
              </a:rPr>
              <a:t>auto_now_add</a:t>
            </a:r>
            <a:r>
              <a:rPr lang="en-US" altLang="zh-TW" dirty="0">
                <a:solidFill>
                  <a:srgbClr val="FF0000"/>
                </a:solidFill>
              </a:rPr>
              <a:t>=True</a:t>
            </a:r>
            <a:r>
              <a:rPr lang="en-US" altLang="zh-TW" dirty="0"/>
              <a:t>)</a:t>
            </a:r>
          </a:p>
          <a:p>
            <a:pPr marL="274320" lvl="1" indent="0">
              <a:buNone/>
            </a:pPr>
            <a:endParaRPr lang="en-US" altLang="zh-TW" dirty="0"/>
          </a:p>
          <a:p>
            <a:pPr marL="274320" lvl="1" indent="0">
              <a:buNone/>
            </a:pPr>
            <a:r>
              <a:rPr lang="en-US" altLang="zh-TW" dirty="0"/>
              <a:t>    class Meta:</a:t>
            </a:r>
          </a:p>
          <a:p>
            <a:pPr marL="274320" lvl="1" indent="0">
              <a:buNone/>
            </a:pPr>
            <a:r>
              <a:rPr lang="en-US" altLang="zh-TW" dirty="0"/>
              <a:t>        ordering = ('-</a:t>
            </a:r>
            <a:r>
              <a:rPr lang="en-US" altLang="zh-TW" dirty="0" err="1"/>
              <a:t>pub_date</a:t>
            </a:r>
            <a:r>
              <a:rPr lang="en-US" altLang="zh-TW" dirty="0"/>
              <a:t>',)</a:t>
            </a:r>
          </a:p>
          <a:p>
            <a:pPr marL="274320" lvl="1" indent="0">
              <a:buNone/>
            </a:pPr>
            <a:endParaRPr lang="en-US" altLang="zh-TW" dirty="0"/>
          </a:p>
          <a:p>
            <a:pPr marL="274320" lvl="1" indent="0">
              <a:buNone/>
            </a:pPr>
            <a:r>
              <a:rPr lang="en-US" altLang="zh-TW" dirty="0"/>
              <a:t>    </a:t>
            </a:r>
            <a:r>
              <a:rPr lang="en-US" altLang="zh-TW" dirty="0" err="1"/>
              <a:t>def</a:t>
            </a:r>
            <a:r>
              <a:rPr lang="en-US" altLang="zh-TW" dirty="0"/>
              <a:t> __</a:t>
            </a:r>
            <a:r>
              <a:rPr lang="en-US" altLang="zh-TW" dirty="0" err="1"/>
              <a:t>str</a:t>
            </a:r>
            <a:r>
              <a:rPr lang="en-US" altLang="zh-TW" dirty="0"/>
              <a:t>__(self):</a:t>
            </a:r>
          </a:p>
          <a:p>
            <a:pPr marL="274320" lvl="1" indent="0">
              <a:buNone/>
            </a:pPr>
            <a:r>
              <a:rPr lang="en-US" altLang="zh-TW" dirty="0"/>
              <a:t>        return </a:t>
            </a:r>
            <a:r>
              <a:rPr lang="en-US" altLang="zh-TW" dirty="0" err="1"/>
              <a:t>self.title</a:t>
            </a:r>
            <a:endParaRPr lang="en-US" altLang="zh-TW"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a:xfrm>
            <a:off x="301752" y="332656"/>
            <a:ext cx="8534400" cy="758952"/>
          </a:xfrm>
        </p:spPr>
        <p:txBody>
          <a:bodyPr>
            <a:normAutofit fontScale="90000"/>
          </a:bodyPr>
          <a:lstStyle/>
          <a:p>
            <a:r>
              <a:rPr lang="zh-TW" altLang="zh-TW" dirty="0"/>
              <a:t>定義資料模型</a:t>
            </a:r>
            <a:r>
              <a:rPr lang="en-US" altLang="zh-TW" dirty="0"/>
              <a:t>(migrate</a:t>
            </a:r>
            <a:r>
              <a:rPr lang="zh-TW" altLang="en-US" dirty="0"/>
              <a:t>後，</a:t>
            </a:r>
            <a:r>
              <a:rPr lang="zh-TW" altLang="en-US" sz="4400" b="1" dirty="0">
                <a:solidFill>
                  <a:srgbClr val="FF0000"/>
                </a:solidFill>
              </a:rPr>
              <a:t>提醒學生：</a:t>
            </a:r>
            <a:r>
              <a:rPr lang="zh-TW" altLang="en-US" dirty="0">
                <a:solidFill>
                  <a:srgbClr val="FF0000"/>
                </a:solidFill>
              </a:rPr>
              <a:t>要</a:t>
            </a:r>
            <a:r>
              <a:rPr lang="en-US" altLang="zh-TW" dirty="0">
                <a:solidFill>
                  <a:srgbClr val="FF0000"/>
                </a:solidFill>
              </a:rPr>
              <a:t>reflash </a:t>
            </a:r>
            <a:r>
              <a:rPr lang="en-US" altLang="zh-TW" dirty="0" err="1"/>
              <a:t>sqlite</a:t>
            </a:r>
            <a:r>
              <a:rPr lang="zh-TW" altLang="en-US" dirty="0"/>
              <a:t>檔案才會看到</a:t>
            </a:r>
            <a:r>
              <a:rPr lang="en-US" altLang="zh-TW" dirty="0"/>
              <a:t>post</a:t>
            </a:r>
            <a:r>
              <a:rPr lang="zh-TW" altLang="en-US" dirty="0"/>
              <a:t>資料表出現</a:t>
            </a:r>
            <a:r>
              <a:rPr lang="en-US" altLang="zh-TW" dirty="0"/>
              <a:t>)</a:t>
            </a:r>
            <a:endParaRPr lang="zh-TW" altLang="en-US" dirty="0"/>
          </a:p>
        </p:txBody>
      </p:sp>
      <p:sp>
        <p:nvSpPr>
          <p:cNvPr id="3" name="內容版面配置區 2"/>
          <p:cNvSpPr>
            <a:spLocks noGrp="1"/>
          </p:cNvSpPr>
          <p:nvPr>
            <p:ph sz="quarter" idx="1"/>
          </p:nvPr>
        </p:nvSpPr>
        <p:spPr>
          <a:xfrm>
            <a:off x="301752" y="1527048"/>
            <a:ext cx="8534400" cy="4926288"/>
          </a:xfrm>
        </p:spPr>
        <p:txBody>
          <a:bodyPr>
            <a:noAutofit/>
          </a:bodyPr>
          <a:lstStyle/>
          <a:p>
            <a:r>
              <a:rPr lang="zh-TW" altLang="zh-TW" sz="2400" dirty="0"/>
              <a:t>讓此模型生效，需執行以下指令：</a:t>
            </a:r>
            <a:endParaRPr lang="en-US" altLang="zh-TW" sz="2400" dirty="0"/>
          </a:p>
          <a:p>
            <a:pPr marL="274320" lvl="1" indent="0">
              <a:buNone/>
            </a:pPr>
            <a:r>
              <a:rPr lang="en-US" altLang="zh-TW" sz="2000" dirty="0">
                <a:solidFill>
                  <a:srgbClr val="FF0000"/>
                </a:solidFill>
              </a:rPr>
              <a:t>python manage.py </a:t>
            </a:r>
            <a:r>
              <a:rPr lang="en-US" altLang="zh-TW" sz="2000" dirty="0" err="1">
                <a:solidFill>
                  <a:srgbClr val="FF0000"/>
                </a:solidFill>
              </a:rPr>
              <a:t>makemigrations</a:t>
            </a:r>
            <a:endParaRPr lang="en-US" altLang="zh-TW" sz="2000" dirty="0">
              <a:solidFill>
                <a:srgbClr val="FF0000"/>
              </a:solidFill>
            </a:endParaRPr>
          </a:p>
          <a:p>
            <a:pPr lvl="1"/>
            <a:r>
              <a:rPr lang="en-US" altLang="zh-TW" sz="2000" dirty="0"/>
              <a:t>Migrations for '</a:t>
            </a:r>
            <a:r>
              <a:rPr lang="en-US" altLang="zh-TW" sz="2000" dirty="0" err="1"/>
              <a:t>mysite</a:t>
            </a:r>
            <a:r>
              <a:rPr lang="en-US" altLang="zh-TW" sz="2000" dirty="0"/>
              <a:t>':</a:t>
            </a:r>
          </a:p>
          <a:p>
            <a:pPr lvl="1"/>
            <a:r>
              <a:rPr lang="en-US" altLang="zh-TW" sz="2000" dirty="0"/>
              <a:t>  0001_initial.py:</a:t>
            </a:r>
          </a:p>
          <a:p>
            <a:pPr lvl="1"/>
            <a:r>
              <a:rPr lang="en-US" altLang="zh-TW" sz="2000" dirty="0"/>
              <a:t>    - Create model Post</a:t>
            </a:r>
          </a:p>
          <a:p>
            <a:pPr marL="274320" lvl="1" indent="0">
              <a:buNone/>
            </a:pPr>
            <a:r>
              <a:rPr lang="en-US" altLang="zh-TW" sz="2000" dirty="0">
                <a:solidFill>
                  <a:srgbClr val="FF0000"/>
                </a:solidFill>
              </a:rPr>
              <a:t>python manage.py migrate</a:t>
            </a:r>
          </a:p>
          <a:p>
            <a:pPr lvl="1"/>
            <a:r>
              <a:rPr lang="en-US" altLang="zh-TW" sz="2000" dirty="0"/>
              <a:t>Operations to perform:</a:t>
            </a:r>
          </a:p>
          <a:p>
            <a:pPr lvl="1"/>
            <a:r>
              <a:rPr lang="en-US" altLang="zh-TW" sz="2000" dirty="0"/>
              <a:t>  Synchronize </a:t>
            </a:r>
            <a:r>
              <a:rPr lang="en-US" altLang="zh-TW" sz="2000" dirty="0" err="1"/>
              <a:t>unmigrated</a:t>
            </a:r>
            <a:r>
              <a:rPr lang="en-US" altLang="zh-TW" sz="2000" dirty="0"/>
              <a:t> apps: </a:t>
            </a:r>
            <a:r>
              <a:rPr lang="en-US" altLang="zh-TW" sz="2000" dirty="0" err="1"/>
              <a:t>staticfiles</a:t>
            </a:r>
            <a:r>
              <a:rPr lang="en-US" altLang="zh-TW" sz="2000" dirty="0"/>
              <a:t>, messages</a:t>
            </a:r>
          </a:p>
          <a:p>
            <a:pPr lvl="1"/>
            <a:r>
              <a:rPr lang="en-US" altLang="zh-TW" sz="2000" dirty="0"/>
              <a:t>  Apply all migrations: admin, </a:t>
            </a:r>
            <a:r>
              <a:rPr lang="en-US" altLang="zh-TW" sz="2000" dirty="0" err="1"/>
              <a:t>contenttypes</a:t>
            </a:r>
            <a:r>
              <a:rPr lang="en-US" altLang="zh-TW" sz="2000" dirty="0"/>
              <a:t>, </a:t>
            </a:r>
            <a:r>
              <a:rPr lang="en-US" altLang="zh-TW" sz="2000" dirty="0" err="1"/>
              <a:t>mysite</a:t>
            </a:r>
            <a:r>
              <a:rPr lang="en-US" altLang="zh-TW" sz="2000" dirty="0"/>
              <a:t>, auth, sessions</a:t>
            </a:r>
          </a:p>
          <a:p>
            <a:pPr lvl="1"/>
            <a:r>
              <a:rPr lang="en-US" altLang="zh-TW" sz="2000" dirty="0"/>
              <a:t>………………………….</a:t>
            </a:r>
            <a:endParaRPr lang="zh-TW" altLang="en-US" sz="2000" dirty="0"/>
          </a:p>
        </p:txBody>
      </p:sp>
      <p:sp>
        <p:nvSpPr>
          <p:cNvPr id="4" name="投影片編號版面配置區 3"/>
          <p:cNvSpPr>
            <a:spLocks noGrp="1"/>
          </p:cNvSpPr>
          <p:nvPr>
            <p:ph type="sldNum" sz="quarter" idx="12"/>
          </p:nvPr>
        </p:nvSpPr>
        <p:spPr/>
        <p:txBody>
          <a:bodyPr/>
          <a:lstStyle/>
          <a:p>
            <a:fld id="{369E457D-EE12-4164-8E32-9DDD40A95892}" type="slidenum">
              <a:rPr lang="zh-TW" altLang="en-US" smtClean="0"/>
              <a:pPr/>
              <a:t>17</a:t>
            </a:fld>
            <a:endParaRPr lang="zh-TW" altLang="en-US"/>
          </a:p>
        </p:txBody>
      </p:sp>
    </p:spTree>
    <p:extLst>
      <p:ext uri="{BB962C8B-B14F-4D97-AF65-F5344CB8AC3E}">
        <p14:creationId xmlns:p14="http://schemas.microsoft.com/office/powerpoint/2010/main" val="27577727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 啟用</a:t>
            </a:r>
            <a:r>
              <a:rPr lang="en-US" altLang="zh-TW" dirty="0"/>
              <a:t>admin</a:t>
            </a:r>
            <a:r>
              <a:rPr lang="zh-TW" altLang="zh-TW" dirty="0"/>
              <a:t>管理介面</a:t>
            </a:r>
            <a:endParaRPr lang="zh-TW" altLang="en-US" dirty="0"/>
          </a:p>
        </p:txBody>
      </p:sp>
      <p:sp>
        <p:nvSpPr>
          <p:cNvPr id="4" name="投影片編號版面配置區 3"/>
          <p:cNvSpPr>
            <a:spLocks noGrp="1"/>
          </p:cNvSpPr>
          <p:nvPr>
            <p:ph type="sldNum" sz="quarter" idx="12"/>
          </p:nvPr>
        </p:nvSpPr>
        <p:spPr/>
        <p:txBody>
          <a:bodyPr/>
          <a:lstStyle/>
          <a:p>
            <a:fld id="{369E457D-EE12-4164-8E32-9DDD40A95892}" type="slidenum">
              <a:rPr lang="zh-TW" altLang="en-US" smtClean="0"/>
              <a:pPr/>
              <a:t>18</a:t>
            </a:fld>
            <a:endParaRPr lang="zh-TW" altLang="en-US"/>
          </a:p>
        </p:txBody>
      </p:sp>
      <p:sp>
        <p:nvSpPr>
          <p:cNvPr id="5" name="內容版面配置區 4"/>
          <p:cNvSpPr>
            <a:spLocks noGrp="1"/>
          </p:cNvSpPr>
          <p:nvPr>
            <p:ph sz="quarter" idx="1"/>
          </p:nvPr>
        </p:nvSpPr>
        <p:spPr/>
        <p:txBody>
          <a:bodyPr/>
          <a:lstStyle/>
          <a:p>
            <a:r>
              <a:rPr lang="en-US" altLang="zh-TW" dirty="0"/>
              <a:t>admin</a:t>
            </a:r>
            <a:r>
              <a:rPr lang="zh-TW" altLang="zh-TW" dirty="0"/>
              <a:t>是</a:t>
            </a:r>
            <a:r>
              <a:rPr lang="en-US" altLang="zh-TW" dirty="0"/>
              <a:t>Django</a:t>
            </a:r>
            <a:r>
              <a:rPr lang="zh-TW" altLang="zh-TW" dirty="0"/>
              <a:t>預設的資料庫內容管理介面，在使用之前，有幾個要設定的步驟</a:t>
            </a:r>
            <a:endParaRPr lang="en-US" altLang="zh-TW" dirty="0"/>
          </a:p>
          <a:p>
            <a:pPr lvl="1"/>
            <a:r>
              <a:rPr lang="zh-TW" altLang="zh-TW" sz="2800" dirty="0"/>
              <a:t>建立一個管理者的帳號以及密碼</a:t>
            </a:r>
            <a:endParaRPr lang="en-US" altLang="zh-TW" sz="2800" dirty="0"/>
          </a:p>
          <a:p>
            <a:pPr lvl="1"/>
            <a:r>
              <a:rPr lang="zh-TW" altLang="zh-TW" sz="2800" dirty="0"/>
              <a:t>定義的</a:t>
            </a:r>
            <a:r>
              <a:rPr lang="en-US" altLang="zh-TW" sz="2800" dirty="0"/>
              <a:t>Post</a:t>
            </a:r>
            <a:r>
              <a:rPr lang="zh-TW" altLang="zh-TW" sz="2800" dirty="0"/>
              <a:t>納入管理</a:t>
            </a:r>
            <a:endParaRPr lang="en-US" altLang="zh-TW" sz="2800" dirty="0"/>
          </a:p>
          <a:p>
            <a:pPr lvl="1"/>
            <a:r>
              <a:rPr lang="zh-TW" altLang="zh-TW" sz="2800" dirty="0"/>
              <a:t>透過</a:t>
            </a:r>
            <a:r>
              <a:rPr lang="en-US" altLang="zh-TW" sz="2800" dirty="0" err="1"/>
              <a:t>admin.site.register</a:t>
            </a:r>
            <a:r>
              <a:rPr lang="zh-TW" altLang="zh-TW" sz="2800" dirty="0"/>
              <a:t>註冊</a:t>
            </a:r>
            <a:endParaRPr lang="zh-TW" altLang="en-US" sz="2800" dirty="0"/>
          </a:p>
        </p:txBody>
      </p:sp>
    </p:spTree>
    <p:extLst>
      <p:ext uri="{BB962C8B-B14F-4D97-AF65-F5344CB8AC3E}">
        <p14:creationId xmlns:p14="http://schemas.microsoft.com/office/powerpoint/2010/main" val="42827442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建立一個管理者的帳號以及密碼</a:t>
            </a:r>
            <a:endParaRPr lang="zh-TW" altLang="en-US" dirty="0"/>
          </a:p>
        </p:txBody>
      </p:sp>
      <p:sp>
        <p:nvSpPr>
          <p:cNvPr id="4" name="投影片編號版面配置區 3"/>
          <p:cNvSpPr>
            <a:spLocks noGrp="1"/>
          </p:cNvSpPr>
          <p:nvPr>
            <p:ph type="sldNum" sz="quarter" idx="12"/>
          </p:nvPr>
        </p:nvSpPr>
        <p:spPr/>
        <p:txBody>
          <a:bodyPr/>
          <a:lstStyle/>
          <a:p>
            <a:fld id="{369E457D-EE12-4164-8E32-9DDD40A95892}" type="slidenum">
              <a:rPr lang="zh-TW" altLang="en-US" smtClean="0"/>
              <a:pPr/>
              <a:t>19</a:t>
            </a:fld>
            <a:endParaRPr lang="zh-TW" altLang="en-US"/>
          </a:p>
        </p:txBody>
      </p:sp>
      <p:sp>
        <p:nvSpPr>
          <p:cNvPr id="3" name="內容版面配置區 2"/>
          <p:cNvSpPr>
            <a:spLocks noGrp="1"/>
          </p:cNvSpPr>
          <p:nvPr>
            <p:ph sz="quarter" idx="1"/>
          </p:nvPr>
        </p:nvSpPr>
        <p:spPr/>
        <p:txBody>
          <a:bodyPr/>
          <a:lstStyle/>
          <a:p>
            <a:r>
              <a:rPr lang="zh-TW" altLang="zh-TW" dirty="0"/>
              <a:t>建立一個管理者的帳號以及密碼，如下所示：</a:t>
            </a:r>
            <a:endParaRPr lang="en-US" altLang="zh-TW" dirty="0"/>
          </a:p>
          <a:p>
            <a:pPr marL="274320" lvl="1" indent="0">
              <a:buNone/>
            </a:pPr>
            <a:r>
              <a:rPr lang="en-US" altLang="zh-TW">
                <a:solidFill>
                  <a:srgbClr val="FF0000"/>
                </a:solidFill>
              </a:rPr>
              <a:t>python </a:t>
            </a:r>
            <a:r>
              <a:rPr lang="en-US" altLang="zh-TW" dirty="0">
                <a:solidFill>
                  <a:srgbClr val="FF0000"/>
                </a:solidFill>
              </a:rPr>
              <a:t>manage.py </a:t>
            </a:r>
            <a:r>
              <a:rPr lang="en-US" altLang="zh-TW" dirty="0" err="1">
                <a:solidFill>
                  <a:srgbClr val="FF0000"/>
                </a:solidFill>
              </a:rPr>
              <a:t>createsuperuser</a:t>
            </a:r>
            <a:endParaRPr lang="en-US" altLang="zh-TW" dirty="0">
              <a:solidFill>
                <a:srgbClr val="FF0000"/>
              </a:solidFill>
            </a:endParaRPr>
          </a:p>
          <a:p>
            <a:pPr lvl="1"/>
            <a:r>
              <a:rPr lang="en-US" altLang="zh-TW" dirty="0"/>
              <a:t>Username (leave blank to use '</a:t>
            </a:r>
            <a:r>
              <a:rPr lang="en-US" altLang="zh-TW" dirty="0" err="1"/>
              <a:t>minhuang</a:t>
            </a:r>
            <a:r>
              <a:rPr lang="en-US" altLang="zh-TW" dirty="0"/>
              <a:t>'): admin</a:t>
            </a:r>
          </a:p>
          <a:p>
            <a:pPr lvl="1"/>
            <a:r>
              <a:rPr lang="en-US" altLang="zh-TW" dirty="0"/>
              <a:t>Email address</a:t>
            </a:r>
            <a:r>
              <a:rPr lang="en-US" altLang="zh-TW"/>
              <a:t>: minhuang@nkust.edu.tw</a:t>
            </a:r>
            <a:endParaRPr lang="en-US" altLang="zh-TW" dirty="0"/>
          </a:p>
          <a:p>
            <a:pPr lvl="1"/>
            <a:r>
              <a:rPr lang="en-US" altLang="zh-TW" dirty="0"/>
              <a:t>Password: </a:t>
            </a:r>
          </a:p>
          <a:p>
            <a:pPr lvl="1"/>
            <a:r>
              <a:rPr lang="en-US" altLang="zh-TW" dirty="0"/>
              <a:t>Password (again): </a:t>
            </a:r>
          </a:p>
          <a:p>
            <a:pPr lvl="1"/>
            <a:r>
              <a:rPr lang="en-US" altLang="zh-TW" dirty="0" err="1"/>
              <a:t>Superuser</a:t>
            </a:r>
            <a:r>
              <a:rPr lang="en-US" altLang="zh-TW" dirty="0"/>
              <a:t> </a:t>
            </a:r>
            <a:r>
              <a:rPr lang="en-US" altLang="zh-TW"/>
              <a:t>created successfully</a:t>
            </a:r>
          </a:p>
          <a:p>
            <a:r>
              <a:rPr lang="zh-TW" altLang="en-US"/>
              <a:t>在輸入密碼時游標都不會有任何的動靜，這是正常的現象，請默記自己輸入的字元</a:t>
            </a:r>
            <a:endParaRPr lang="en-US" altLang="zh-TW" dirty="0"/>
          </a:p>
          <a:p>
            <a:pPr lvl="1"/>
            <a:endParaRPr lang="zh-TW" altLang="en-US" dirty="0"/>
          </a:p>
        </p:txBody>
      </p:sp>
    </p:spTree>
    <p:extLst>
      <p:ext uri="{BB962C8B-B14F-4D97-AF65-F5344CB8AC3E}">
        <p14:creationId xmlns:p14="http://schemas.microsoft.com/office/powerpoint/2010/main" val="37046960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3E400B9-73EF-BE48-2BDD-0A586E984D3C}"/>
              </a:ext>
            </a:extLst>
          </p:cNvPr>
          <p:cNvSpPr>
            <a:spLocks noGrp="1"/>
          </p:cNvSpPr>
          <p:nvPr>
            <p:ph type="title"/>
          </p:nvPr>
        </p:nvSpPr>
        <p:spPr/>
        <p:txBody>
          <a:bodyPr/>
          <a:lstStyle/>
          <a:p>
            <a:endParaRPr lang="zh-TW" altLang="en-US"/>
          </a:p>
        </p:txBody>
      </p:sp>
      <p:sp>
        <p:nvSpPr>
          <p:cNvPr id="3" name="投影片編號版面配置區 2">
            <a:extLst>
              <a:ext uri="{FF2B5EF4-FFF2-40B4-BE49-F238E27FC236}">
                <a16:creationId xmlns:a16="http://schemas.microsoft.com/office/drawing/2014/main" id="{432EECAA-AD6E-B09E-8B91-A112D23861B8}"/>
              </a:ext>
            </a:extLst>
          </p:cNvPr>
          <p:cNvSpPr>
            <a:spLocks noGrp="1"/>
          </p:cNvSpPr>
          <p:nvPr>
            <p:ph type="sldNum" sz="quarter" idx="12"/>
          </p:nvPr>
        </p:nvSpPr>
        <p:spPr/>
        <p:txBody>
          <a:bodyPr/>
          <a:lstStyle/>
          <a:p>
            <a:fld id="{369E457D-EE12-4164-8E32-9DDD40A95892}" type="slidenum">
              <a:rPr lang="zh-TW" altLang="en-US" smtClean="0"/>
              <a:pPr/>
              <a:t>20</a:t>
            </a:fld>
            <a:endParaRPr lang="zh-TW" altLang="en-US"/>
          </a:p>
        </p:txBody>
      </p:sp>
      <p:sp>
        <p:nvSpPr>
          <p:cNvPr id="4" name="內容版面配置區 3">
            <a:extLst>
              <a:ext uri="{FF2B5EF4-FFF2-40B4-BE49-F238E27FC236}">
                <a16:creationId xmlns:a16="http://schemas.microsoft.com/office/drawing/2014/main" id="{BE972ED8-7B94-46E2-215D-A3351336607D}"/>
              </a:ext>
            </a:extLst>
          </p:cNvPr>
          <p:cNvSpPr>
            <a:spLocks noGrp="1"/>
          </p:cNvSpPr>
          <p:nvPr>
            <p:ph sz="quarter" idx="1"/>
          </p:nvPr>
        </p:nvSpPr>
        <p:spPr/>
        <p:txBody>
          <a:bodyPr/>
          <a:lstStyle/>
          <a:p>
            <a:endParaRPr lang="zh-TW" altLang="en-US"/>
          </a:p>
        </p:txBody>
      </p:sp>
      <p:pic>
        <p:nvPicPr>
          <p:cNvPr id="6" name="圖片 5">
            <a:extLst>
              <a:ext uri="{FF2B5EF4-FFF2-40B4-BE49-F238E27FC236}">
                <a16:creationId xmlns:a16="http://schemas.microsoft.com/office/drawing/2014/main" id="{1C87EF15-9F54-B78C-2F27-0282AA6091F3}"/>
              </a:ext>
            </a:extLst>
          </p:cNvPr>
          <p:cNvPicPr>
            <a:picLocks noChangeAspect="1"/>
          </p:cNvPicPr>
          <p:nvPr/>
        </p:nvPicPr>
        <p:blipFill>
          <a:blip r:embed="rId3"/>
          <a:stretch>
            <a:fillRect/>
          </a:stretch>
        </p:blipFill>
        <p:spPr>
          <a:xfrm>
            <a:off x="1575236" y="14702"/>
            <a:ext cx="5572903" cy="3743847"/>
          </a:xfrm>
          <a:prstGeom prst="rect">
            <a:avLst/>
          </a:prstGeom>
        </p:spPr>
      </p:pic>
      <p:pic>
        <p:nvPicPr>
          <p:cNvPr id="8" name="圖片 7">
            <a:extLst>
              <a:ext uri="{FF2B5EF4-FFF2-40B4-BE49-F238E27FC236}">
                <a16:creationId xmlns:a16="http://schemas.microsoft.com/office/drawing/2014/main" id="{AF38CC6E-6444-7614-7D1E-9400F997BFE4}"/>
              </a:ext>
            </a:extLst>
          </p:cNvPr>
          <p:cNvPicPr>
            <a:picLocks noChangeAspect="1"/>
          </p:cNvPicPr>
          <p:nvPr/>
        </p:nvPicPr>
        <p:blipFill>
          <a:blip r:embed="rId4"/>
          <a:stretch>
            <a:fillRect/>
          </a:stretch>
        </p:blipFill>
        <p:spPr>
          <a:xfrm>
            <a:off x="31425" y="2779000"/>
            <a:ext cx="9144000" cy="4051722"/>
          </a:xfrm>
          <a:prstGeom prst="rect">
            <a:avLst/>
          </a:prstGeom>
        </p:spPr>
      </p:pic>
    </p:spTree>
    <p:extLst>
      <p:ext uri="{BB962C8B-B14F-4D97-AF65-F5344CB8AC3E}">
        <p14:creationId xmlns:p14="http://schemas.microsoft.com/office/powerpoint/2010/main" val="22427768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a:xfrm>
            <a:off x="301752" y="228600"/>
            <a:ext cx="8734744" cy="1040160"/>
          </a:xfrm>
        </p:spPr>
        <p:txBody>
          <a:bodyPr>
            <a:normAutofit fontScale="90000"/>
          </a:bodyPr>
          <a:lstStyle/>
          <a:p>
            <a:r>
              <a:rPr lang="zh-TW" altLang="zh-TW" dirty="0"/>
              <a:t>定義的</a:t>
            </a:r>
            <a:r>
              <a:rPr lang="en-US" altLang="zh-TW" dirty="0"/>
              <a:t>Post</a:t>
            </a:r>
            <a:r>
              <a:rPr lang="zh-TW" altLang="zh-TW"/>
              <a:t>納入管理</a:t>
            </a:r>
            <a:br>
              <a:rPr lang="en-US" altLang="zh-TW"/>
            </a:br>
            <a:r>
              <a:rPr lang="zh-TW" altLang="zh-TW"/>
              <a:t>透過</a:t>
            </a:r>
            <a:r>
              <a:rPr lang="en-US" altLang="zh-TW" dirty="0" err="1"/>
              <a:t>admin.site.register</a:t>
            </a:r>
            <a:r>
              <a:rPr lang="zh-TW" altLang="zh-TW" dirty="0"/>
              <a:t>註冊</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21</a:t>
            </a:fld>
            <a:endParaRPr lang="zh-TW" altLang="en-US"/>
          </a:p>
        </p:txBody>
      </p:sp>
      <p:sp>
        <p:nvSpPr>
          <p:cNvPr id="4" name="內容版面配置區 3"/>
          <p:cNvSpPr>
            <a:spLocks noGrp="1"/>
          </p:cNvSpPr>
          <p:nvPr>
            <p:ph sz="quarter" idx="1"/>
          </p:nvPr>
        </p:nvSpPr>
        <p:spPr/>
        <p:txBody>
          <a:bodyPr/>
          <a:lstStyle/>
          <a:p>
            <a:r>
              <a:rPr lang="zh-TW" altLang="zh-TW" dirty="0"/>
              <a:t>要把上一小節定義的</a:t>
            </a:r>
            <a:r>
              <a:rPr lang="en-US" altLang="zh-TW" dirty="0"/>
              <a:t>Post</a:t>
            </a:r>
            <a:r>
              <a:rPr lang="zh-TW" altLang="zh-TW" dirty="0"/>
              <a:t>納入管理，請修改</a:t>
            </a:r>
            <a:r>
              <a:rPr lang="en-US" altLang="zh-TW" dirty="0"/>
              <a:t>mysite/</a:t>
            </a:r>
            <a:r>
              <a:rPr lang="en-US" altLang="zh-TW" dirty="0">
                <a:solidFill>
                  <a:srgbClr val="FF0000"/>
                </a:solidFill>
              </a:rPr>
              <a:t>admin.py</a:t>
            </a:r>
          </a:p>
          <a:p>
            <a:endParaRPr lang="en-US" altLang="zh-TW" dirty="0"/>
          </a:p>
          <a:p>
            <a:r>
              <a:rPr lang="zh-TW" altLang="zh-TW" dirty="0"/>
              <a:t>先引入我們的</a:t>
            </a:r>
            <a:r>
              <a:rPr lang="en-US" altLang="zh-TW" dirty="0"/>
              <a:t>Post</a:t>
            </a:r>
            <a:r>
              <a:rPr lang="zh-TW" altLang="zh-TW" dirty="0"/>
              <a:t>類別，然後再透過</a:t>
            </a:r>
            <a:r>
              <a:rPr lang="en-US" altLang="zh-TW" dirty="0" err="1"/>
              <a:t>admin.site.register</a:t>
            </a:r>
            <a:r>
              <a:rPr lang="zh-TW" altLang="zh-TW" dirty="0"/>
              <a:t>註冊即可</a:t>
            </a:r>
            <a:endParaRPr lang="en-US" altLang="zh-TW" dirty="0"/>
          </a:p>
          <a:p>
            <a:pPr marL="274320" lvl="1" indent="0">
              <a:buNone/>
            </a:pPr>
            <a:endParaRPr lang="en-US" altLang="zh-TW" dirty="0"/>
          </a:p>
          <a:p>
            <a:pPr marL="274320" lvl="1" indent="0">
              <a:buNone/>
            </a:pPr>
            <a:r>
              <a:rPr lang="en-US" altLang="zh-TW" dirty="0"/>
              <a:t>from </a:t>
            </a:r>
            <a:r>
              <a:rPr lang="en-US" altLang="zh-TW" dirty="0" err="1"/>
              <a:t>django.contrib</a:t>
            </a:r>
            <a:r>
              <a:rPr lang="en-US" altLang="zh-TW" dirty="0"/>
              <a:t> import admin</a:t>
            </a:r>
          </a:p>
          <a:p>
            <a:pPr marL="274320" lvl="1" indent="0">
              <a:buNone/>
            </a:pPr>
            <a:r>
              <a:rPr lang="en-US" altLang="zh-TW" dirty="0">
                <a:solidFill>
                  <a:srgbClr val="FF0000"/>
                </a:solidFill>
              </a:rPr>
              <a:t>from </a:t>
            </a:r>
            <a:r>
              <a:rPr lang="en-US" altLang="zh-TW" dirty="0" err="1">
                <a:solidFill>
                  <a:srgbClr val="FF0000"/>
                </a:solidFill>
              </a:rPr>
              <a:t>mysite.models</a:t>
            </a:r>
            <a:r>
              <a:rPr lang="en-US" altLang="zh-TW" dirty="0">
                <a:solidFill>
                  <a:srgbClr val="FF0000"/>
                </a:solidFill>
              </a:rPr>
              <a:t> import Post</a:t>
            </a:r>
          </a:p>
          <a:p>
            <a:pPr marL="274320" lvl="1" indent="0">
              <a:buNone/>
            </a:pPr>
            <a:endParaRPr lang="en-US" altLang="zh-TW" dirty="0">
              <a:solidFill>
                <a:srgbClr val="FF0000"/>
              </a:solidFill>
            </a:endParaRPr>
          </a:p>
          <a:p>
            <a:pPr marL="274320" lvl="1" indent="0">
              <a:buNone/>
            </a:pPr>
            <a:r>
              <a:rPr lang="en-US" altLang="zh-TW" dirty="0" err="1">
                <a:solidFill>
                  <a:srgbClr val="FF0000"/>
                </a:solidFill>
              </a:rPr>
              <a:t>admin.site.register</a:t>
            </a:r>
            <a:r>
              <a:rPr lang="en-US" altLang="zh-TW" dirty="0">
                <a:solidFill>
                  <a:srgbClr val="FF0000"/>
                </a:solidFill>
              </a:rPr>
              <a:t>(Post)</a:t>
            </a:r>
          </a:p>
          <a:p>
            <a:pPr lvl="1"/>
            <a:endParaRPr lang="zh-TW"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啟用</a:t>
            </a:r>
            <a:r>
              <a:rPr lang="en-US" altLang="zh-TW" dirty="0"/>
              <a:t>admin</a:t>
            </a:r>
            <a:r>
              <a:rPr lang="zh-TW" altLang="zh-TW" dirty="0"/>
              <a:t>管理介面</a:t>
            </a:r>
            <a:endParaRPr lang="zh-TW" altLang="en-US" dirty="0"/>
          </a:p>
        </p:txBody>
      </p:sp>
      <p:sp>
        <p:nvSpPr>
          <p:cNvPr id="4" name="投影片編號版面配置區 3"/>
          <p:cNvSpPr>
            <a:spLocks noGrp="1"/>
          </p:cNvSpPr>
          <p:nvPr>
            <p:ph type="sldNum" sz="quarter" idx="12"/>
          </p:nvPr>
        </p:nvSpPr>
        <p:spPr/>
        <p:txBody>
          <a:bodyPr/>
          <a:lstStyle/>
          <a:p>
            <a:fld id="{369E457D-EE12-4164-8E32-9DDD40A95892}" type="slidenum">
              <a:rPr lang="zh-TW" altLang="en-US" smtClean="0"/>
              <a:pPr/>
              <a:t>22</a:t>
            </a:fld>
            <a:endParaRPr lang="zh-TW" altLang="en-US"/>
          </a:p>
        </p:txBody>
      </p:sp>
      <p:sp>
        <p:nvSpPr>
          <p:cNvPr id="3" name="內容版面配置區 2"/>
          <p:cNvSpPr>
            <a:spLocks noGrp="1"/>
          </p:cNvSpPr>
          <p:nvPr>
            <p:ph sz="quarter" idx="1"/>
          </p:nvPr>
        </p:nvSpPr>
        <p:spPr/>
        <p:txBody>
          <a:bodyPr/>
          <a:lstStyle/>
          <a:p>
            <a:r>
              <a:rPr lang="zh-TW" altLang="zh-TW" dirty="0"/>
              <a:t>透過瀏覽器連結到</a:t>
            </a:r>
            <a:r>
              <a:rPr lang="en-US" altLang="zh-TW" u="sng" dirty="0">
                <a:hlinkClick r:id="rId2"/>
              </a:rPr>
              <a:t>http://localhost:8000/admin</a:t>
            </a:r>
            <a:endParaRPr lang="zh-TW" altLang="en-US" dirty="0"/>
          </a:p>
        </p:txBody>
      </p:sp>
      <p:pic>
        <p:nvPicPr>
          <p:cNvPr id="6" name="圖片 5"/>
          <p:cNvPicPr/>
          <p:nvPr/>
        </p:nvPicPr>
        <p:blipFill>
          <a:blip r:embed="rId3">
            <a:extLst>
              <a:ext uri="{28A0092B-C50C-407E-A947-70E740481C1C}">
                <a14:useLocalDpi xmlns:a14="http://schemas.microsoft.com/office/drawing/2010/main" val="0"/>
              </a:ext>
            </a:extLst>
          </a:blip>
          <a:stretch>
            <a:fillRect/>
          </a:stretch>
        </p:blipFill>
        <p:spPr>
          <a:xfrm>
            <a:off x="2015716" y="2204864"/>
            <a:ext cx="5112568" cy="4004333"/>
          </a:xfrm>
          <a:prstGeom prst="rect">
            <a:avLst/>
          </a:prstGeom>
        </p:spPr>
      </p:pic>
    </p:spTree>
    <p:extLst>
      <p:ext uri="{BB962C8B-B14F-4D97-AF65-F5344CB8AC3E}">
        <p14:creationId xmlns:p14="http://schemas.microsoft.com/office/powerpoint/2010/main" val="1670232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啟用</a:t>
            </a:r>
            <a:r>
              <a:rPr lang="en-US" altLang="zh-TW" dirty="0"/>
              <a:t>admin</a:t>
            </a:r>
            <a:r>
              <a:rPr lang="zh-TW" altLang="zh-TW" dirty="0"/>
              <a:t>管理介面</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23</a:t>
            </a:fld>
            <a:endParaRPr lang="zh-TW" altLang="en-US"/>
          </a:p>
        </p:txBody>
      </p:sp>
      <p:sp>
        <p:nvSpPr>
          <p:cNvPr id="6" name="內容版面配置區 5"/>
          <p:cNvSpPr>
            <a:spLocks noGrp="1"/>
          </p:cNvSpPr>
          <p:nvPr>
            <p:ph sz="quarter" idx="1"/>
          </p:nvPr>
        </p:nvSpPr>
        <p:spPr/>
        <p:txBody>
          <a:bodyPr/>
          <a:lstStyle/>
          <a:p>
            <a:r>
              <a:rPr lang="zh-TW" altLang="zh-TW" dirty="0"/>
              <a:t>輸入之前設定過的</a:t>
            </a:r>
            <a:r>
              <a:rPr lang="en-US" altLang="zh-TW" dirty="0" err="1"/>
              <a:t>superuser</a:t>
            </a:r>
            <a:r>
              <a:rPr lang="zh-TW" altLang="zh-TW" dirty="0"/>
              <a:t>帳號以及密碼之後，即可以看到一個美觀的資料庫（資料表）管理介面</a:t>
            </a:r>
            <a:endParaRPr lang="zh-TW" altLang="en-US" dirty="0"/>
          </a:p>
        </p:txBody>
      </p:sp>
      <p:pic>
        <p:nvPicPr>
          <p:cNvPr id="7" name="圖片 6"/>
          <p:cNvPicPr/>
          <p:nvPr/>
        </p:nvPicPr>
        <p:blipFill>
          <a:blip r:embed="rId2">
            <a:extLst>
              <a:ext uri="{28A0092B-C50C-407E-A947-70E740481C1C}">
                <a14:useLocalDpi xmlns:a14="http://schemas.microsoft.com/office/drawing/2010/main" val="0"/>
              </a:ext>
            </a:extLst>
          </a:blip>
          <a:stretch>
            <a:fillRect/>
          </a:stretch>
        </p:blipFill>
        <p:spPr>
          <a:xfrm>
            <a:off x="2015716" y="2420888"/>
            <a:ext cx="5112568" cy="4104456"/>
          </a:xfrm>
          <a:prstGeom prst="rect">
            <a:avLst/>
          </a:prstGeom>
        </p:spPr>
      </p:pic>
    </p:spTree>
    <p:extLst>
      <p:ext uri="{BB962C8B-B14F-4D97-AF65-F5344CB8AC3E}">
        <p14:creationId xmlns:p14="http://schemas.microsoft.com/office/powerpoint/2010/main" val="8842532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啟用</a:t>
            </a:r>
            <a:r>
              <a:rPr lang="en-US" altLang="zh-TW" dirty="0"/>
              <a:t>admin</a:t>
            </a:r>
            <a:r>
              <a:rPr lang="zh-TW" altLang="zh-TW" dirty="0"/>
              <a:t>管理介面</a:t>
            </a:r>
            <a:endParaRPr lang="zh-TW" altLang="en-US" dirty="0"/>
          </a:p>
        </p:txBody>
      </p:sp>
      <p:sp>
        <p:nvSpPr>
          <p:cNvPr id="3" name="內容版面配置區 2"/>
          <p:cNvSpPr>
            <a:spLocks noGrp="1"/>
          </p:cNvSpPr>
          <p:nvPr>
            <p:ph sz="quarter" idx="1"/>
          </p:nvPr>
        </p:nvSpPr>
        <p:spPr>
          <a:xfrm>
            <a:off x="301752" y="1527048"/>
            <a:ext cx="8662736" cy="4854280"/>
          </a:xfrm>
        </p:spPr>
        <p:txBody>
          <a:bodyPr>
            <a:normAutofit/>
          </a:bodyPr>
          <a:lstStyle/>
          <a:p>
            <a:r>
              <a:rPr lang="zh-TW" altLang="zh-TW" dirty="0"/>
              <a:t>第一次點擊到</a:t>
            </a:r>
            <a:r>
              <a:rPr lang="en-US" altLang="zh-TW" dirty="0"/>
              <a:t>Posts</a:t>
            </a:r>
            <a:r>
              <a:rPr lang="zh-TW" altLang="zh-TW" dirty="0"/>
              <a:t>中時，還沒有任何內容</a:t>
            </a:r>
          </a:p>
        </p:txBody>
      </p:sp>
      <p:sp>
        <p:nvSpPr>
          <p:cNvPr id="4" name="投影片編號版面配置區 3"/>
          <p:cNvSpPr>
            <a:spLocks noGrp="1"/>
          </p:cNvSpPr>
          <p:nvPr>
            <p:ph type="sldNum" sz="quarter" idx="12"/>
          </p:nvPr>
        </p:nvSpPr>
        <p:spPr/>
        <p:txBody>
          <a:bodyPr/>
          <a:lstStyle/>
          <a:p>
            <a:fld id="{369E457D-EE12-4164-8E32-9DDD40A95892}" type="slidenum">
              <a:rPr lang="zh-TW" altLang="en-US" smtClean="0"/>
              <a:pPr/>
              <a:t>24</a:t>
            </a:fld>
            <a:endParaRPr lang="zh-TW" altLang="en-US"/>
          </a:p>
        </p:txBody>
      </p:sp>
      <p:pic>
        <p:nvPicPr>
          <p:cNvPr id="6" name="圖片 5"/>
          <p:cNvPicPr/>
          <p:nvPr/>
        </p:nvPicPr>
        <p:blipFill>
          <a:blip r:embed="rId3">
            <a:extLst>
              <a:ext uri="{28A0092B-C50C-407E-A947-70E740481C1C}">
                <a14:useLocalDpi xmlns:a14="http://schemas.microsoft.com/office/drawing/2010/main" val="0"/>
              </a:ext>
            </a:extLst>
          </a:blip>
          <a:stretch>
            <a:fillRect/>
          </a:stretch>
        </p:blipFill>
        <p:spPr>
          <a:xfrm>
            <a:off x="1835696" y="2007193"/>
            <a:ext cx="5472608" cy="4433486"/>
          </a:xfrm>
          <a:prstGeom prst="rect">
            <a:avLst/>
          </a:prstGeom>
        </p:spPr>
      </p:pic>
    </p:spTree>
    <p:extLst>
      <p:ext uri="{BB962C8B-B14F-4D97-AF65-F5344CB8AC3E}">
        <p14:creationId xmlns:p14="http://schemas.microsoft.com/office/powerpoint/2010/main" val="24091254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啟用</a:t>
            </a:r>
            <a:r>
              <a:rPr lang="en-US" altLang="zh-TW" dirty="0"/>
              <a:t>admin</a:t>
            </a:r>
            <a:r>
              <a:rPr lang="zh-TW" altLang="zh-TW" dirty="0"/>
              <a:t>管理介面</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25</a:t>
            </a:fld>
            <a:endParaRPr lang="zh-TW" altLang="en-US"/>
          </a:p>
        </p:txBody>
      </p:sp>
      <p:sp>
        <p:nvSpPr>
          <p:cNvPr id="5" name="內容版面配置區 4"/>
          <p:cNvSpPr>
            <a:spLocks noGrp="1"/>
          </p:cNvSpPr>
          <p:nvPr>
            <p:ph sz="quarter" idx="1"/>
          </p:nvPr>
        </p:nvSpPr>
        <p:spPr>
          <a:xfrm>
            <a:off x="301752" y="1527048"/>
            <a:ext cx="8534400" cy="1829944"/>
          </a:xfrm>
        </p:spPr>
        <p:txBody>
          <a:bodyPr/>
          <a:lstStyle/>
          <a:p>
            <a:r>
              <a:rPr lang="zh-TW" altLang="zh-TW" dirty="0"/>
              <a:t>右上角箭頭所指的地方點擊新增文章</a:t>
            </a:r>
            <a:endParaRPr lang="zh-TW" altLang="en-US" dirty="0"/>
          </a:p>
        </p:txBody>
      </p:sp>
      <p:pic>
        <p:nvPicPr>
          <p:cNvPr id="7" name="圖片 6"/>
          <p:cNvPicPr/>
          <p:nvPr/>
        </p:nvPicPr>
        <p:blipFill>
          <a:blip r:embed="rId2">
            <a:extLst>
              <a:ext uri="{28A0092B-C50C-407E-A947-70E740481C1C}">
                <a14:useLocalDpi xmlns:a14="http://schemas.microsoft.com/office/drawing/2010/main" val="0"/>
              </a:ext>
            </a:extLst>
          </a:blip>
          <a:stretch>
            <a:fillRect/>
          </a:stretch>
        </p:blipFill>
        <p:spPr>
          <a:xfrm>
            <a:off x="1691680" y="2031944"/>
            <a:ext cx="5760640" cy="4493399"/>
          </a:xfrm>
          <a:prstGeom prst="rect">
            <a:avLst/>
          </a:prstGeom>
        </p:spPr>
      </p:pic>
    </p:spTree>
    <p:extLst>
      <p:ext uri="{BB962C8B-B14F-4D97-AF65-F5344CB8AC3E}">
        <p14:creationId xmlns:p14="http://schemas.microsoft.com/office/powerpoint/2010/main" val="17916922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啟用</a:t>
            </a:r>
            <a:r>
              <a:rPr lang="en-US" altLang="zh-TW" dirty="0"/>
              <a:t>admin</a:t>
            </a:r>
            <a:r>
              <a:rPr lang="zh-TW" altLang="zh-TW" dirty="0"/>
              <a:t>管理介面</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26</a:t>
            </a:fld>
            <a:endParaRPr lang="zh-TW" altLang="en-US"/>
          </a:p>
        </p:txBody>
      </p:sp>
      <p:sp>
        <p:nvSpPr>
          <p:cNvPr id="5" name="內容版面配置區 4"/>
          <p:cNvSpPr>
            <a:spLocks noGrp="1"/>
          </p:cNvSpPr>
          <p:nvPr>
            <p:ph sz="quarter" idx="1"/>
          </p:nvPr>
        </p:nvSpPr>
        <p:spPr/>
        <p:txBody>
          <a:bodyPr/>
          <a:lstStyle/>
          <a:p>
            <a:r>
              <a:rPr lang="zh-TW" altLang="zh-TW" dirty="0"/>
              <a:t>按下「儲存」按鈕，該文章已被順利新增到資料庫中了</a:t>
            </a:r>
            <a:endParaRPr lang="zh-TW" altLang="en-US" dirty="0"/>
          </a:p>
        </p:txBody>
      </p:sp>
      <p:pic>
        <p:nvPicPr>
          <p:cNvPr id="7" name="圖片 6"/>
          <p:cNvPicPr/>
          <p:nvPr/>
        </p:nvPicPr>
        <p:blipFill>
          <a:blip r:embed="rId2">
            <a:extLst>
              <a:ext uri="{28A0092B-C50C-407E-A947-70E740481C1C}">
                <a14:useLocalDpi xmlns:a14="http://schemas.microsoft.com/office/drawing/2010/main" val="0"/>
              </a:ext>
            </a:extLst>
          </a:blip>
          <a:stretch>
            <a:fillRect/>
          </a:stretch>
        </p:blipFill>
        <p:spPr>
          <a:xfrm>
            <a:off x="1763688" y="2132856"/>
            <a:ext cx="5616624" cy="4248472"/>
          </a:xfrm>
          <a:prstGeom prst="rect">
            <a:avLst/>
          </a:prstGeom>
        </p:spPr>
      </p:pic>
    </p:spTree>
    <p:extLst>
      <p:ext uri="{BB962C8B-B14F-4D97-AF65-F5344CB8AC3E}">
        <p14:creationId xmlns:p14="http://schemas.microsoft.com/office/powerpoint/2010/main" val="14664623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啟用</a:t>
            </a:r>
            <a:r>
              <a:rPr lang="en-US" altLang="zh-TW" dirty="0"/>
              <a:t>admin</a:t>
            </a:r>
            <a:r>
              <a:rPr lang="zh-TW" altLang="zh-TW" dirty="0"/>
              <a:t>管理介面</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27</a:t>
            </a:fld>
            <a:endParaRPr lang="zh-TW" altLang="en-US"/>
          </a:p>
        </p:txBody>
      </p:sp>
      <p:sp>
        <p:nvSpPr>
          <p:cNvPr id="6" name="內容版面配置區 5"/>
          <p:cNvSpPr>
            <a:spLocks noGrp="1"/>
          </p:cNvSpPr>
          <p:nvPr>
            <p:ph sz="quarter" idx="1"/>
          </p:nvPr>
        </p:nvSpPr>
        <p:spPr>
          <a:xfrm>
            <a:off x="301752" y="1527048"/>
            <a:ext cx="8534400" cy="3126088"/>
          </a:xfrm>
        </p:spPr>
        <p:txBody>
          <a:bodyPr>
            <a:normAutofit/>
          </a:bodyPr>
          <a:lstStyle/>
          <a:p>
            <a:r>
              <a:rPr lang="zh-TW" altLang="zh-TW" dirty="0"/>
              <a:t>為了後續測試方便，請至少輸入</a:t>
            </a:r>
            <a:r>
              <a:rPr lang="en-US" altLang="zh-TW" dirty="0"/>
              <a:t>5</a:t>
            </a:r>
            <a:r>
              <a:rPr lang="zh-TW" altLang="zh-TW" dirty="0"/>
              <a:t>篇文章內容，中英文皆可，但是</a:t>
            </a:r>
            <a:r>
              <a:rPr lang="en-US" altLang="zh-TW" dirty="0">
                <a:solidFill>
                  <a:srgbClr val="FF0000"/>
                </a:solidFill>
              </a:rPr>
              <a:t>slug</a:t>
            </a:r>
            <a:r>
              <a:rPr lang="zh-TW" altLang="zh-TW" dirty="0">
                <a:solidFill>
                  <a:srgbClr val="FF0000"/>
                </a:solidFill>
              </a:rPr>
              <a:t>請使用英文或數字即可</a:t>
            </a:r>
            <a:r>
              <a:rPr lang="zh-TW" altLang="zh-TW" dirty="0"/>
              <a:t>，而且中間不要使用任何符號以及空白字元</a:t>
            </a:r>
            <a:endParaRPr lang="zh-TW" altLang="en-US" dirty="0"/>
          </a:p>
        </p:txBody>
      </p:sp>
      <p:pic>
        <p:nvPicPr>
          <p:cNvPr id="8" name="圖片 7"/>
          <p:cNvPicPr/>
          <p:nvPr/>
        </p:nvPicPr>
        <p:blipFill>
          <a:blip r:embed="rId2">
            <a:extLst>
              <a:ext uri="{28A0092B-C50C-407E-A947-70E740481C1C}">
                <a14:useLocalDpi xmlns:a14="http://schemas.microsoft.com/office/drawing/2010/main" val="0"/>
              </a:ext>
            </a:extLst>
          </a:blip>
          <a:stretch>
            <a:fillRect/>
          </a:stretch>
        </p:blipFill>
        <p:spPr>
          <a:xfrm>
            <a:off x="1763688" y="2780928"/>
            <a:ext cx="5616624" cy="3744416"/>
          </a:xfrm>
          <a:prstGeom prst="rect">
            <a:avLst/>
          </a:prstGeom>
        </p:spPr>
      </p:pic>
    </p:spTree>
    <p:extLst>
      <p:ext uri="{BB962C8B-B14F-4D97-AF65-F5344CB8AC3E}">
        <p14:creationId xmlns:p14="http://schemas.microsoft.com/office/powerpoint/2010/main" val="12927879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啟用</a:t>
            </a:r>
            <a:r>
              <a:rPr lang="en-US" altLang="zh-TW" dirty="0"/>
              <a:t>admin</a:t>
            </a:r>
            <a:r>
              <a:rPr lang="zh-TW" altLang="zh-TW" dirty="0"/>
              <a:t>管理介面</a:t>
            </a:r>
            <a:endParaRPr lang="zh-TW" altLang="en-US" dirty="0"/>
          </a:p>
        </p:txBody>
      </p:sp>
      <p:sp>
        <p:nvSpPr>
          <p:cNvPr id="3" name="內容版面配置區 2"/>
          <p:cNvSpPr>
            <a:spLocks noGrp="1"/>
          </p:cNvSpPr>
          <p:nvPr>
            <p:ph sz="quarter" idx="1"/>
          </p:nvPr>
        </p:nvSpPr>
        <p:spPr/>
        <p:txBody>
          <a:bodyPr>
            <a:normAutofit/>
          </a:bodyPr>
          <a:lstStyle/>
          <a:p>
            <a:r>
              <a:rPr lang="en-US" altLang="zh-TW" sz="2400" dirty="0"/>
              <a:t>Post</a:t>
            </a:r>
            <a:r>
              <a:rPr lang="zh-TW" altLang="zh-TW" sz="2400" dirty="0"/>
              <a:t>顯示的方式之類別，繼承自</a:t>
            </a:r>
            <a:r>
              <a:rPr lang="en-US" altLang="zh-TW" sz="2400" dirty="0" err="1"/>
              <a:t>admin.ModelAdmin</a:t>
            </a:r>
            <a:endParaRPr lang="en-US" altLang="zh-TW" sz="2400" dirty="0"/>
          </a:p>
          <a:p>
            <a:r>
              <a:rPr lang="en-US" altLang="zh-TW" sz="2400" dirty="0">
                <a:solidFill>
                  <a:srgbClr val="FF0000"/>
                </a:solidFill>
              </a:rPr>
              <a:t>admin.py</a:t>
            </a:r>
            <a:r>
              <a:rPr lang="zh-TW" altLang="en-US" sz="2400" dirty="0"/>
              <a:t>用以下的方式可以自訂後台</a:t>
            </a:r>
            <a:r>
              <a:rPr lang="en-US" altLang="zh-TW" sz="2400" dirty="0"/>
              <a:t>Post</a:t>
            </a:r>
            <a:r>
              <a:rPr lang="zh-TW" altLang="en-US" sz="2400" dirty="0"/>
              <a:t>資料表的顯示欄位及介面</a:t>
            </a:r>
            <a:endParaRPr lang="en-US" altLang="zh-TW" sz="2400" dirty="0"/>
          </a:p>
          <a:p>
            <a:pPr marL="274320" lvl="1" indent="0">
              <a:buNone/>
            </a:pPr>
            <a:endParaRPr lang="en-US" altLang="zh-TW" dirty="0"/>
          </a:p>
          <a:p>
            <a:pPr marL="274320" lvl="1" indent="0">
              <a:buNone/>
            </a:pPr>
            <a:r>
              <a:rPr lang="en-US" altLang="zh-TW" dirty="0"/>
              <a:t>from </a:t>
            </a:r>
            <a:r>
              <a:rPr lang="en-US" altLang="zh-TW" dirty="0" err="1"/>
              <a:t>django.contrib</a:t>
            </a:r>
            <a:r>
              <a:rPr lang="en-US" altLang="zh-TW" dirty="0"/>
              <a:t> import admin</a:t>
            </a:r>
          </a:p>
          <a:p>
            <a:pPr marL="274320" lvl="1" indent="0">
              <a:buNone/>
            </a:pPr>
            <a:r>
              <a:rPr lang="en-US" altLang="zh-TW" dirty="0"/>
              <a:t>from </a:t>
            </a:r>
            <a:r>
              <a:rPr lang="en-US" altLang="zh-TW" dirty="0" err="1"/>
              <a:t>mysite.models</a:t>
            </a:r>
            <a:r>
              <a:rPr lang="en-US" altLang="zh-TW" dirty="0"/>
              <a:t> import Post</a:t>
            </a:r>
          </a:p>
          <a:p>
            <a:pPr marL="274320" lvl="1" indent="0">
              <a:buNone/>
            </a:pPr>
            <a:endParaRPr lang="en-US" altLang="zh-TW" dirty="0"/>
          </a:p>
          <a:p>
            <a:pPr marL="274320" lvl="1" indent="0">
              <a:buNone/>
            </a:pPr>
            <a:r>
              <a:rPr lang="en-US" altLang="zh-TW" dirty="0">
                <a:solidFill>
                  <a:srgbClr val="FF0000"/>
                </a:solidFill>
              </a:rPr>
              <a:t>class</a:t>
            </a:r>
            <a:r>
              <a:rPr lang="en-US" altLang="zh-TW" dirty="0"/>
              <a:t> </a:t>
            </a:r>
            <a:r>
              <a:rPr lang="en-US" altLang="zh-TW" dirty="0" err="1"/>
              <a:t>PostAdmin</a:t>
            </a:r>
            <a:r>
              <a:rPr lang="en-US" altLang="zh-TW" dirty="0"/>
              <a:t>(</a:t>
            </a:r>
            <a:r>
              <a:rPr lang="en-US" altLang="zh-TW" dirty="0" err="1"/>
              <a:t>admin.ModelAdmin</a:t>
            </a:r>
            <a:r>
              <a:rPr lang="en-US" altLang="zh-TW" dirty="0"/>
              <a:t>):</a:t>
            </a:r>
          </a:p>
          <a:p>
            <a:pPr marL="274320" lvl="1" indent="0">
              <a:buNone/>
            </a:pPr>
            <a:r>
              <a:rPr lang="en-US" altLang="zh-TW" dirty="0"/>
              <a:t>    </a:t>
            </a:r>
            <a:r>
              <a:rPr lang="en-US" altLang="zh-TW" dirty="0" err="1"/>
              <a:t>list_display</a:t>
            </a:r>
            <a:r>
              <a:rPr lang="en-US" altLang="zh-TW" dirty="0"/>
              <a:t> = (</a:t>
            </a:r>
            <a:r>
              <a:rPr lang="en-US" altLang="zh-TW" dirty="0">
                <a:solidFill>
                  <a:srgbClr val="FF0000"/>
                </a:solidFill>
              </a:rPr>
              <a:t>'title', ‘body', 'slug', '</a:t>
            </a:r>
            <a:r>
              <a:rPr lang="en-US" altLang="zh-TW" dirty="0" err="1">
                <a:solidFill>
                  <a:srgbClr val="FF0000"/>
                </a:solidFill>
              </a:rPr>
              <a:t>pub_date</a:t>
            </a:r>
            <a:r>
              <a:rPr lang="en-US" altLang="zh-TW" dirty="0">
                <a:solidFill>
                  <a:srgbClr val="FF0000"/>
                </a:solidFill>
              </a:rPr>
              <a:t>')</a:t>
            </a:r>
          </a:p>
          <a:p>
            <a:pPr marL="274320" lvl="1" indent="0">
              <a:buNone/>
            </a:pPr>
            <a:endParaRPr lang="en-US" altLang="zh-TW" dirty="0"/>
          </a:p>
          <a:p>
            <a:pPr marL="274320" lvl="1" indent="0">
              <a:buNone/>
            </a:pPr>
            <a:r>
              <a:rPr lang="en-US" altLang="zh-TW" dirty="0" err="1">
                <a:solidFill>
                  <a:srgbClr val="FF0000"/>
                </a:solidFill>
              </a:rPr>
              <a:t>admin.site.register</a:t>
            </a:r>
            <a:r>
              <a:rPr lang="en-US" altLang="zh-TW" dirty="0">
                <a:solidFill>
                  <a:srgbClr val="FF0000"/>
                </a:solidFill>
              </a:rPr>
              <a:t>(Post, </a:t>
            </a:r>
            <a:r>
              <a:rPr lang="en-US" altLang="zh-TW" dirty="0" err="1">
                <a:solidFill>
                  <a:srgbClr val="FF0000"/>
                </a:solidFill>
              </a:rPr>
              <a:t>PostAdmin</a:t>
            </a:r>
            <a:r>
              <a:rPr lang="en-US" altLang="zh-TW" dirty="0">
                <a:solidFill>
                  <a:srgbClr val="FF0000"/>
                </a:solidFill>
              </a:rPr>
              <a:t>)</a:t>
            </a:r>
          </a:p>
          <a:p>
            <a:pPr lvl="1"/>
            <a:endParaRPr lang="zh-TW" altLang="en-US" dirty="0"/>
          </a:p>
        </p:txBody>
      </p:sp>
      <p:sp>
        <p:nvSpPr>
          <p:cNvPr id="5" name="投影片編號版面配置區 4"/>
          <p:cNvSpPr>
            <a:spLocks noGrp="1"/>
          </p:cNvSpPr>
          <p:nvPr>
            <p:ph type="sldNum" sz="quarter" idx="12"/>
          </p:nvPr>
        </p:nvSpPr>
        <p:spPr/>
        <p:txBody>
          <a:bodyPr/>
          <a:lstStyle/>
          <a:p>
            <a:fld id="{369E457D-EE12-4164-8E32-9DDD40A95892}" type="slidenum">
              <a:rPr lang="zh-TW" altLang="en-US" smtClean="0"/>
              <a:pPr/>
              <a:t>28</a:t>
            </a:fld>
            <a:endParaRPr lang="zh-TW" altLang="en-US"/>
          </a:p>
        </p:txBody>
      </p:sp>
    </p:spTree>
    <p:extLst>
      <p:ext uri="{BB962C8B-B14F-4D97-AF65-F5344CB8AC3E}">
        <p14:creationId xmlns:p14="http://schemas.microsoft.com/office/powerpoint/2010/main" val="29910757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啟用</a:t>
            </a:r>
            <a:r>
              <a:rPr lang="en-US" altLang="zh-TW" dirty="0"/>
              <a:t>admin</a:t>
            </a:r>
            <a:r>
              <a:rPr lang="zh-TW" altLang="zh-TW" dirty="0"/>
              <a:t>管理介面</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29</a:t>
            </a:fld>
            <a:endParaRPr lang="zh-TW" altLang="en-US"/>
          </a:p>
        </p:txBody>
      </p:sp>
      <p:sp>
        <p:nvSpPr>
          <p:cNvPr id="4" name="內容版面配置區 3"/>
          <p:cNvSpPr>
            <a:spLocks noGrp="1"/>
          </p:cNvSpPr>
          <p:nvPr>
            <p:ph sz="quarter" idx="1"/>
          </p:nvPr>
        </p:nvSpPr>
        <p:spPr/>
        <p:txBody>
          <a:bodyPr/>
          <a:lstStyle/>
          <a:p>
            <a:r>
              <a:rPr lang="zh-TW" altLang="en-US" dirty="0"/>
              <a:t>上述的設定</a:t>
            </a:r>
            <a:r>
              <a:rPr lang="zh-TW" altLang="zh-TW" dirty="0"/>
              <a:t>讓文章在顯示的時候，除了</a:t>
            </a:r>
            <a:r>
              <a:rPr lang="en-US" altLang="zh-TW" dirty="0"/>
              <a:t>title</a:t>
            </a:r>
            <a:r>
              <a:rPr lang="zh-TW" altLang="zh-TW" dirty="0"/>
              <a:t>之外，還可以再加上張貼的日期和時間等內容</a:t>
            </a:r>
            <a:endParaRPr lang="zh-TW" altLang="en-US" dirty="0"/>
          </a:p>
        </p:txBody>
      </p:sp>
      <p:pic>
        <p:nvPicPr>
          <p:cNvPr id="7" name="圖片 6"/>
          <p:cNvPicPr/>
          <p:nvPr/>
        </p:nvPicPr>
        <p:blipFill>
          <a:blip r:embed="rId2">
            <a:extLst>
              <a:ext uri="{28A0092B-C50C-407E-A947-70E740481C1C}">
                <a14:useLocalDpi xmlns:a14="http://schemas.microsoft.com/office/drawing/2010/main" val="0"/>
              </a:ext>
            </a:extLst>
          </a:blip>
          <a:stretch>
            <a:fillRect/>
          </a:stretch>
        </p:blipFill>
        <p:spPr>
          <a:xfrm>
            <a:off x="1583668" y="2507805"/>
            <a:ext cx="5976664" cy="3873523"/>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409741-590F-A09C-727A-C5C04DE483BD}"/>
              </a:ext>
            </a:extLst>
          </p:cNvPr>
          <p:cNvSpPr>
            <a:spLocks noGrp="1"/>
          </p:cNvSpPr>
          <p:nvPr>
            <p:ph type="title"/>
          </p:nvPr>
        </p:nvSpPr>
        <p:spPr/>
        <p:txBody>
          <a:bodyPr/>
          <a:lstStyle/>
          <a:p>
            <a:r>
              <a:rPr lang="zh-TW" altLang="en-US" dirty="0"/>
              <a:t>比較設定前後欄位顯示</a:t>
            </a:r>
          </a:p>
        </p:txBody>
      </p:sp>
      <p:sp>
        <p:nvSpPr>
          <p:cNvPr id="4" name="投影片編號版面配置區 3">
            <a:extLst>
              <a:ext uri="{FF2B5EF4-FFF2-40B4-BE49-F238E27FC236}">
                <a16:creationId xmlns:a16="http://schemas.microsoft.com/office/drawing/2014/main" id="{409798A5-B5EC-603F-E45E-219A501ED2AF}"/>
              </a:ext>
            </a:extLst>
          </p:cNvPr>
          <p:cNvSpPr>
            <a:spLocks noGrp="1"/>
          </p:cNvSpPr>
          <p:nvPr>
            <p:ph type="sldNum" sz="quarter" idx="12"/>
          </p:nvPr>
        </p:nvSpPr>
        <p:spPr/>
        <p:txBody>
          <a:bodyPr/>
          <a:lstStyle/>
          <a:p>
            <a:fld id="{369E457D-EE12-4164-8E32-9DDD40A95892}" type="slidenum">
              <a:rPr lang="zh-TW" altLang="en-US" smtClean="0"/>
              <a:pPr/>
              <a:t>30</a:t>
            </a:fld>
            <a:endParaRPr lang="zh-TW" altLang="en-US"/>
          </a:p>
        </p:txBody>
      </p:sp>
      <p:pic>
        <p:nvPicPr>
          <p:cNvPr id="6" name="圖片 5">
            <a:extLst>
              <a:ext uri="{FF2B5EF4-FFF2-40B4-BE49-F238E27FC236}">
                <a16:creationId xmlns:a16="http://schemas.microsoft.com/office/drawing/2014/main" id="{7BF01E38-5C0A-A279-8F99-A8F11717457B}"/>
              </a:ext>
            </a:extLst>
          </p:cNvPr>
          <p:cNvPicPr>
            <a:picLocks noChangeAspect="1"/>
          </p:cNvPicPr>
          <p:nvPr/>
        </p:nvPicPr>
        <p:blipFill>
          <a:blip r:embed="rId3"/>
          <a:stretch>
            <a:fillRect/>
          </a:stretch>
        </p:blipFill>
        <p:spPr>
          <a:xfrm>
            <a:off x="0" y="4160376"/>
            <a:ext cx="9144000" cy="1657450"/>
          </a:xfrm>
          <a:prstGeom prst="rect">
            <a:avLst/>
          </a:prstGeom>
        </p:spPr>
      </p:pic>
      <p:pic>
        <p:nvPicPr>
          <p:cNvPr id="8" name="圖片 7">
            <a:extLst>
              <a:ext uri="{FF2B5EF4-FFF2-40B4-BE49-F238E27FC236}">
                <a16:creationId xmlns:a16="http://schemas.microsoft.com/office/drawing/2014/main" id="{81FA364C-E437-792A-1DFD-F4F449D208B3}"/>
              </a:ext>
            </a:extLst>
          </p:cNvPr>
          <p:cNvPicPr>
            <a:picLocks noChangeAspect="1"/>
          </p:cNvPicPr>
          <p:nvPr/>
        </p:nvPicPr>
        <p:blipFill>
          <a:blip r:embed="rId4"/>
          <a:stretch>
            <a:fillRect/>
          </a:stretch>
        </p:blipFill>
        <p:spPr>
          <a:xfrm>
            <a:off x="107504" y="1739699"/>
            <a:ext cx="6982799" cy="2162477"/>
          </a:xfrm>
          <a:prstGeom prst="rect">
            <a:avLst/>
          </a:prstGeom>
        </p:spPr>
      </p:pic>
    </p:spTree>
    <p:extLst>
      <p:ext uri="{BB962C8B-B14F-4D97-AF65-F5344CB8AC3E}">
        <p14:creationId xmlns:p14="http://schemas.microsoft.com/office/powerpoint/2010/main" val="39634272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讀取資料庫中的內容</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31</a:t>
            </a:fld>
            <a:endParaRPr lang="zh-TW" altLang="en-US"/>
          </a:p>
        </p:txBody>
      </p:sp>
      <p:sp>
        <p:nvSpPr>
          <p:cNvPr id="4" name="內容版面配置區 3"/>
          <p:cNvSpPr>
            <a:spLocks noGrp="1"/>
          </p:cNvSpPr>
          <p:nvPr>
            <p:ph sz="quarter" idx="1"/>
          </p:nvPr>
        </p:nvSpPr>
        <p:spPr>
          <a:xfrm>
            <a:off x="301752" y="1527048"/>
            <a:ext cx="8534400" cy="4998296"/>
          </a:xfrm>
        </p:spPr>
        <p:txBody>
          <a:bodyPr/>
          <a:lstStyle/>
          <a:p>
            <a:r>
              <a:rPr lang="zh-TW" altLang="zh-TW" dirty="0"/>
              <a:t>為了把資料抽象化，</a:t>
            </a:r>
            <a:r>
              <a:rPr lang="en-US" altLang="zh-TW" dirty="0"/>
              <a:t>Django</a:t>
            </a:r>
            <a:r>
              <a:rPr lang="zh-TW" altLang="zh-TW" dirty="0"/>
              <a:t>把資料的存取和顯示區分為</a:t>
            </a:r>
            <a:r>
              <a:rPr lang="en-US" altLang="zh-TW" dirty="0"/>
              <a:t>Model</a:t>
            </a:r>
            <a:r>
              <a:rPr lang="zh-TW" altLang="zh-TW" dirty="0"/>
              <a:t>、</a:t>
            </a:r>
            <a:r>
              <a:rPr lang="en-US" altLang="zh-TW" dirty="0"/>
              <a:t>Template</a:t>
            </a:r>
            <a:r>
              <a:rPr lang="zh-TW" altLang="zh-TW" dirty="0"/>
              <a:t>、以及</a:t>
            </a:r>
            <a:r>
              <a:rPr lang="en-US" altLang="zh-TW" dirty="0"/>
              <a:t>View</a:t>
            </a:r>
            <a:r>
              <a:rPr lang="zh-TW" altLang="zh-TW" dirty="0"/>
              <a:t>，分別對應到</a:t>
            </a:r>
            <a:r>
              <a:rPr lang="en-US" altLang="zh-TW" dirty="0"/>
              <a:t>models.py</a:t>
            </a:r>
            <a:r>
              <a:rPr lang="zh-TW" altLang="zh-TW" dirty="0"/>
              <a:t>、</a:t>
            </a:r>
            <a:r>
              <a:rPr lang="en-US" altLang="zh-TW" dirty="0"/>
              <a:t>template</a:t>
            </a:r>
            <a:r>
              <a:rPr lang="zh-TW" altLang="zh-TW" dirty="0"/>
              <a:t>資料夾、以及</a:t>
            </a:r>
            <a:r>
              <a:rPr lang="en-US" altLang="zh-TW" dirty="0"/>
              <a:t>views.py</a:t>
            </a:r>
            <a:r>
              <a:rPr lang="zh-TW" altLang="zh-TW" dirty="0"/>
              <a:t>這些檔案</a:t>
            </a:r>
            <a:endParaRPr lang="en-US" altLang="zh-TW" dirty="0"/>
          </a:p>
          <a:p>
            <a:r>
              <a:rPr lang="en-US" altLang="zh-TW" dirty="0"/>
              <a:t>model.py</a:t>
            </a:r>
          </a:p>
          <a:p>
            <a:pPr lvl="1"/>
            <a:r>
              <a:rPr lang="zh-TW" altLang="zh-TW" dirty="0"/>
              <a:t>負責定義要存取的資料模型，以</a:t>
            </a:r>
            <a:r>
              <a:rPr lang="en-US" altLang="zh-TW" dirty="0"/>
              <a:t>Python</a:t>
            </a:r>
            <a:r>
              <a:rPr lang="zh-TW" altLang="zh-TW" dirty="0"/>
              <a:t>的</a:t>
            </a:r>
            <a:r>
              <a:rPr lang="en-US" altLang="zh-TW" dirty="0">
                <a:solidFill>
                  <a:srgbClr val="FF0000"/>
                </a:solidFill>
              </a:rPr>
              <a:t>class</a:t>
            </a:r>
            <a:r>
              <a:rPr lang="zh-TW" altLang="zh-TW" dirty="0">
                <a:solidFill>
                  <a:srgbClr val="FF0000"/>
                </a:solidFill>
              </a:rPr>
              <a:t>類別方式來定義</a:t>
            </a:r>
            <a:endParaRPr lang="en-US" altLang="zh-TW" dirty="0">
              <a:solidFill>
                <a:srgbClr val="FF0000"/>
              </a:solidFill>
            </a:endParaRPr>
          </a:p>
          <a:p>
            <a:r>
              <a:rPr lang="en-US" altLang="zh-TW" dirty="0"/>
              <a:t>views.py</a:t>
            </a:r>
          </a:p>
          <a:p>
            <a:pPr lvl="1"/>
            <a:r>
              <a:rPr lang="zh-TW" altLang="en-US" dirty="0"/>
              <a:t>負責處理</a:t>
            </a:r>
            <a:r>
              <a:rPr lang="zh-TW" altLang="en-US" dirty="0">
                <a:solidFill>
                  <a:srgbClr val="FF0000"/>
                </a:solidFill>
              </a:rPr>
              <a:t>資料的存取以及程式邏輯處理</a:t>
            </a:r>
            <a:endParaRPr lang="en-US" altLang="zh-TW" dirty="0">
              <a:solidFill>
                <a:srgbClr val="FF0000"/>
              </a:solidFill>
            </a:endParaRPr>
          </a:p>
          <a:p>
            <a:r>
              <a:rPr lang="en-US" altLang="zh-TW" dirty="0"/>
              <a:t>template</a:t>
            </a:r>
            <a:r>
              <a:rPr lang="zh-TW" altLang="zh-TW" dirty="0"/>
              <a:t>資料夾</a:t>
            </a:r>
            <a:endParaRPr lang="en-US" altLang="zh-TW" dirty="0"/>
          </a:p>
          <a:p>
            <a:pPr lvl="1"/>
            <a:r>
              <a:rPr lang="zh-TW" altLang="en-US" dirty="0"/>
              <a:t>存放網站所要呈現給使用者觀看的</a:t>
            </a:r>
            <a:r>
              <a:rPr lang="zh-TW" altLang="en-US" dirty="0">
                <a:solidFill>
                  <a:srgbClr val="FF0000"/>
                </a:solidFill>
              </a:rPr>
              <a:t>模板</a:t>
            </a:r>
            <a:r>
              <a:rPr lang="en-US" altLang="zh-TW" dirty="0">
                <a:solidFill>
                  <a:srgbClr val="FF0000"/>
                </a:solidFill>
              </a:rPr>
              <a:t>(.html</a:t>
            </a:r>
            <a:r>
              <a:rPr lang="zh-TW" altLang="en-US" dirty="0">
                <a:solidFill>
                  <a:srgbClr val="FF0000"/>
                </a:solidFill>
              </a:rPr>
              <a:t>檔案</a:t>
            </a:r>
            <a:r>
              <a:rPr lang="en-US" altLang="zh-TW" dirty="0">
                <a:solidFill>
                  <a:srgbClr val="FF0000"/>
                </a:solidFill>
              </a:rPr>
              <a:t>)</a:t>
            </a:r>
          </a:p>
        </p:txBody>
      </p:sp>
    </p:spTree>
    <p:extLst>
      <p:ext uri="{BB962C8B-B14F-4D97-AF65-F5344CB8AC3E}">
        <p14:creationId xmlns:p14="http://schemas.microsoft.com/office/powerpoint/2010/main" val="2654197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讀取資料庫中的內容</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32</a:t>
            </a:fld>
            <a:endParaRPr lang="zh-TW" altLang="en-US"/>
          </a:p>
        </p:txBody>
      </p:sp>
      <p:sp>
        <p:nvSpPr>
          <p:cNvPr id="4" name="內容版面配置區 3"/>
          <p:cNvSpPr>
            <a:spLocks noGrp="1"/>
          </p:cNvSpPr>
          <p:nvPr>
            <p:ph sz="quarter" idx="1"/>
          </p:nvPr>
        </p:nvSpPr>
        <p:spPr/>
        <p:txBody>
          <a:bodyPr/>
          <a:lstStyle/>
          <a:p>
            <a:r>
              <a:rPr lang="zh-TW" altLang="zh-TW" dirty="0"/>
              <a:t>建立了一個叫做</a:t>
            </a:r>
            <a:r>
              <a:rPr lang="en-US" altLang="zh-TW" dirty="0"/>
              <a:t>homepage</a:t>
            </a:r>
            <a:r>
              <a:rPr lang="zh-TW" altLang="zh-TW" dirty="0"/>
              <a:t>的函數用來取得所有文章，並透過迴圈把它們搜集到一個變數</a:t>
            </a:r>
            <a:r>
              <a:rPr lang="en-US" altLang="zh-TW" dirty="0" err="1"/>
              <a:t>post_lists</a:t>
            </a:r>
            <a:r>
              <a:rPr lang="zh-TW" altLang="zh-TW" dirty="0"/>
              <a:t>中，最後再使用</a:t>
            </a:r>
            <a:r>
              <a:rPr lang="en-US" altLang="zh-TW" dirty="0"/>
              <a:t>return </a:t>
            </a:r>
            <a:r>
              <a:rPr lang="en-US" altLang="zh-TW" dirty="0" err="1"/>
              <a:t>HttpResponse</a:t>
            </a:r>
            <a:r>
              <a:rPr lang="en-US" altLang="zh-TW" dirty="0"/>
              <a:t>(</a:t>
            </a:r>
            <a:r>
              <a:rPr lang="en-US" altLang="zh-TW" dirty="0" err="1"/>
              <a:t>post_lists</a:t>
            </a:r>
            <a:r>
              <a:rPr lang="en-US" altLang="zh-TW" dirty="0"/>
              <a:t>)</a:t>
            </a:r>
            <a:r>
              <a:rPr lang="zh-TW" altLang="zh-TW" dirty="0"/>
              <a:t>把這個變數的內容，輸出到使用者端的瀏覽器畫面中</a:t>
            </a:r>
            <a:r>
              <a:rPr lang="zh-TW" altLang="en-US" dirty="0"/>
              <a:t>，步驟如下：</a:t>
            </a:r>
            <a:endParaRPr lang="en-US" altLang="zh-TW" dirty="0"/>
          </a:p>
          <a:p>
            <a:pPr lvl="1"/>
            <a:r>
              <a:rPr lang="zh-TW" altLang="zh-TW" dirty="0"/>
              <a:t>開啟</a:t>
            </a:r>
            <a:r>
              <a:rPr lang="en-US" altLang="zh-TW" dirty="0"/>
              <a:t>mysite/</a:t>
            </a:r>
            <a:r>
              <a:rPr lang="en-US" altLang="zh-TW" sz="3200" dirty="0">
                <a:solidFill>
                  <a:srgbClr val="FF0000"/>
                </a:solidFill>
              </a:rPr>
              <a:t>views.py</a:t>
            </a:r>
          </a:p>
          <a:p>
            <a:pPr lvl="1"/>
            <a:r>
              <a:rPr lang="zh-TW" altLang="zh-TW" dirty="0"/>
              <a:t>把在</a:t>
            </a:r>
            <a:r>
              <a:rPr lang="en-US" altLang="zh-TW" dirty="0"/>
              <a:t>models.py</a:t>
            </a:r>
            <a:r>
              <a:rPr lang="zh-TW" altLang="zh-TW" dirty="0"/>
              <a:t>中自定義的</a:t>
            </a:r>
            <a:r>
              <a:rPr lang="en-US" altLang="zh-TW" dirty="0"/>
              <a:t>class</a:t>
            </a:r>
            <a:r>
              <a:rPr lang="zh-TW" altLang="zh-TW" dirty="0"/>
              <a:t>引入</a:t>
            </a:r>
            <a:endParaRPr lang="en-US" altLang="zh-TW" dirty="0"/>
          </a:p>
          <a:p>
            <a:pPr lvl="1"/>
            <a:r>
              <a:rPr lang="zh-TW" altLang="zh-TW" dirty="0"/>
              <a:t>使用</a:t>
            </a:r>
            <a:r>
              <a:rPr lang="en-US" altLang="zh-TW" dirty="0" err="1"/>
              <a:t>Post.objects.all</a:t>
            </a:r>
            <a:r>
              <a:rPr lang="en-US" altLang="zh-TW" dirty="0"/>
              <a:t>()</a:t>
            </a:r>
            <a:r>
              <a:rPr lang="zh-TW" altLang="zh-TW" dirty="0"/>
              <a:t>取得所有的資料項目</a:t>
            </a:r>
            <a:endParaRPr lang="en-US" altLang="zh-TW" dirty="0"/>
          </a:p>
          <a:p>
            <a:pPr lvl="1"/>
            <a:r>
              <a:rPr lang="zh-TW" altLang="zh-TW" dirty="0"/>
              <a:t>利用</a:t>
            </a:r>
            <a:r>
              <a:rPr lang="en-US" altLang="zh-TW" dirty="0"/>
              <a:t>for</a:t>
            </a:r>
            <a:r>
              <a:rPr lang="zh-TW" altLang="zh-TW" dirty="0"/>
              <a:t>迴圈取出所有的內容</a:t>
            </a:r>
            <a:endParaRPr lang="en-US" altLang="zh-TW" dirty="0"/>
          </a:p>
          <a:p>
            <a:pPr lvl="1"/>
            <a:r>
              <a:rPr lang="zh-TW" altLang="zh-TW" dirty="0"/>
              <a:t>透過</a:t>
            </a:r>
            <a:r>
              <a:rPr lang="en-US" altLang="zh-TW" dirty="0" err="1">
                <a:solidFill>
                  <a:srgbClr val="FF0000"/>
                </a:solidFill>
              </a:rPr>
              <a:t>HttpResposne</a:t>
            </a:r>
            <a:r>
              <a:rPr lang="zh-TW" altLang="zh-TW" dirty="0"/>
              <a:t>輸出到網頁中，如下所示：</a:t>
            </a:r>
            <a:endParaRPr lang="zh-TW" altLang="en-US" dirty="0"/>
          </a:p>
        </p:txBody>
      </p:sp>
    </p:spTree>
    <p:extLst>
      <p:ext uri="{BB962C8B-B14F-4D97-AF65-F5344CB8AC3E}">
        <p14:creationId xmlns:p14="http://schemas.microsoft.com/office/powerpoint/2010/main" val="27595410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zh-TW" dirty="0"/>
              <a:t>讀取資料庫中的內容</a:t>
            </a:r>
            <a:r>
              <a:rPr lang="en-US" altLang="zh-TW" dirty="0"/>
              <a:t>(</a:t>
            </a:r>
            <a:r>
              <a:rPr lang="zh-TW" altLang="en-US" dirty="0"/>
              <a:t>簡化只</a:t>
            </a:r>
            <a:r>
              <a:rPr lang="en-US" altLang="zh-TW" dirty="0"/>
              <a:t>show posts</a:t>
            </a:r>
            <a:r>
              <a:rPr lang="zh-TW" altLang="en-US" dirty="0"/>
              <a:t>就好</a:t>
            </a:r>
            <a:r>
              <a:rPr lang="en-US" altLang="zh-TW" dirty="0"/>
              <a:t>)</a:t>
            </a:r>
            <a:br>
              <a:rPr lang="en-US" altLang="zh-TW" dirty="0"/>
            </a:br>
            <a:r>
              <a:rPr lang="en-US" altLang="zh-TW" dirty="0"/>
              <a:t>02mblog</a:t>
            </a:r>
            <a:r>
              <a:rPr lang="zh-TW" altLang="en-US" dirty="0"/>
              <a:t>資料夾</a:t>
            </a:r>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33</a:t>
            </a:fld>
            <a:endParaRPr lang="zh-TW" altLang="en-US"/>
          </a:p>
        </p:txBody>
      </p:sp>
      <p:sp>
        <p:nvSpPr>
          <p:cNvPr id="4" name="內容版面配置區 3"/>
          <p:cNvSpPr>
            <a:spLocks noGrp="1"/>
          </p:cNvSpPr>
          <p:nvPr>
            <p:ph sz="quarter" idx="1"/>
          </p:nvPr>
        </p:nvSpPr>
        <p:spPr>
          <a:xfrm>
            <a:off x="340745" y="1340768"/>
            <a:ext cx="8534400" cy="5517232"/>
          </a:xfrm>
        </p:spPr>
        <p:txBody>
          <a:bodyPr>
            <a:normAutofit fontScale="85000" lnSpcReduction="20000"/>
          </a:bodyPr>
          <a:lstStyle/>
          <a:p>
            <a:pPr marL="0" indent="0">
              <a:buNone/>
            </a:pPr>
            <a:r>
              <a:rPr lang="en-US" altLang="zh-TW" sz="2600" dirty="0"/>
              <a:t>from </a:t>
            </a:r>
            <a:r>
              <a:rPr lang="en-US" altLang="zh-TW" sz="2600" dirty="0" err="1"/>
              <a:t>django.shortcuts</a:t>
            </a:r>
            <a:r>
              <a:rPr lang="en-US" altLang="zh-TW" sz="2600" dirty="0"/>
              <a:t> import render</a:t>
            </a:r>
          </a:p>
          <a:p>
            <a:pPr marL="0" indent="0">
              <a:buNone/>
            </a:pPr>
            <a:r>
              <a:rPr lang="en-US" altLang="zh-TW" sz="2600" dirty="0">
                <a:solidFill>
                  <a:srgbClr val="FF0000"/>
                </a:solidFill>
              </a:rPr>
              <a:t>from </a:t>
            </a:r>
            <a:r>
              <a:rPr lang="en-US" altLang="zh-TW" sz="2600" dirty="0" err="1">
                <a:solidFill>
                  <a:srgbClr val="FF0000"/>
                </a:solidFill>
              </a:rPr>
              <a:t>django.http</a:t>
            </a:r>
            <a:r>
              <a:rPr lang="en-US" altLang="zh-TW" sz="2600" dirty="0">
                <a:solidFill>
                  <a:srgbClr val="FF0000"/>
                </a:solidFill>
              </a:rPr>
              <a:t> import </a:t>
            </a:r>
            <a:r>
              <a:rPr lang="en-US" altLang="zh-TW" sz="2600" dirty="0" err="1">
                <a:solidFill>
                  <a:srgbClr val="FF0000"/>
                </a:solidFill>
              </a:rPr>
              <a:t>HttpResponse</a:t>
            </a:r>
            <a:endParaRPr lang="en-US" altLang="zh-TW" sz="2600" dirty="0">
              <a:solidFill>
                <a:srgbClr val="FF0000"/>
              </a:solidFill>
            </a:endParaRPr>
          </a:p>
          <a:p>
            <a:pPr marL="0" indent="0">
              <a:buNone/>
            </a:pPr>
            <a:r>
              <a:rPr lang="en-US" altLang="zh-TW" sz="2600" dirty="0">
                <a:solidFill>
                  <a:srgbClr val="FF0000"/>
                </a:solidFill>
              </a:rPr>
              <a:t>from </a:t>
            </a:r>
            <a:r>
              <a:rPr lang="en-US" altLang="zh-TW" sz="2600" dirty="0" err="1">
                <a:solidFill>
                  <a:srgbClr val="FF0000"/>
                </a:solidFill>
              </a:rPr>
              <a:t>mysite.models</a:t>
            </a:r>
            <a:r>
              <a:rPr lang="en-US" altLang="zh-TW" sz="2600" dirty="0">
                <a:solidFill>
                  <a:srgbClr val="FF0000"/>
                </a:solidFill>
              </a:rPr>
              <a:t> import Post</a:t>
            </a:r>
          </a:p>
          <a:p>
            <a:pPr marL="0" indent="0">
              <a:buNone/>
            </a:pPr>
            <a:endParaRPr lang="en-US" altLang="zh-TW" sz="2600" dirty="0"/>
          </a:p>
          <a:p>
            <a:pPr marL="0" indent="0">
              <a:buNone/>
            </a:pPr>
            <a:r>
              <a:rPr lang="en-US" altLang="zh-TW" sz="2600" dirty="0">
                <a:solidFill>
                  <a:srgbClr val="FF0000"/>
                </a:solidFill>
              </a:rPr>
              <a:t>def homepage(request):</a:t>
            </a:r>
          </a:p>
          <a:p>
            <a:pPr marL="0" indent="0">
              <a:buNone/>
            </a:pPr>
            <a:r>
              <a:rPr lang="en-US" altLang="zh-TW" sz="2600" dirty="0"/>
              <a:t>    </a:t>
            </a:r>
            <a:r>
              <a:rPr lang="en-US" altLang="zh-TW" sz="3300" dirty="0">
                <a:solidFill>
                  <a:srgbClr val="FF0000"/>
                </a:solidFill>
              </a:rPr>
              <a:t>posts = </a:t>
            </a:r>
            <a:r>
              <a:rPr lang="en-US" altLang="zh-TW" sz="3300" dirty="0" err="1">
                <a:solidFill>
                  <a:srgbClr val="FF0000"/>
                </a:solidFill>
              </a:rPr>
              <a:t>Post.objects.all</a:t>
            </a:r>
            <a:r>
              <a:rPr lang="en-US" altLang="zh-TW" sz="3300" dirty="0">
                <a:solidFill>
                  <a:srgbClr val="FF0000"/>
                </a:solidFill>
              </a:rPr>
              <a:t>()</a:t>
            </a:r>
            <a:endParaRPr lang="en-US" altLang="zh-TW" sz="2600" dirty="0">
              <a:solidFill>
                <a:srgbClr val="FF0000"/>
              </a:solidFill>
            </a:endParaRPr>
          </a:p>
          <a:p>
            <a:pPr marL="0" indent="0">
              <a:buNone/>
            </a:pPr>
            <a:r>
              <a:rPr lang="en-US" altLang="zh-TW" sz="2600" dirty="0"/>
              <a:t>    </a:t>
            </a:r>
            <a:r>
              <a:rPr lang="en-US" altLang="zh-TW" sz="2600" dirty="0" err="1"/>
              <a:t>post_list</a:t>
            </a:r>
            <a:r>
              <a:rPr lang="en-US" altLang="zh-TW" sz="2600" dirty="0"/>
              <a:t> = list()</a:t>
            </a:r>
          </a:p>
          <a:p>
            <a:pPr marL="0" indent="0">
              <a:buNone/>
            </a:pPr>
            <a:r>
              <a:rPr lang="en-US" altLang="zh-TW" sz="2600" dirty="0"/>
              <a:t>    for count, post in </a:t>
            </a:r>
            <a:r>
              <a:rPr lang="en-US" altLang="zh-TW" sz="2600" dirty="0">
                <a:solidFill>
                  <a:srgbClr val="FF0000"/>
                </a:solidFill>
              </a:rPr>
              <a:t>enumerate</a:t>
            </a:r>
            <a:r>
              <a:rPr lang="en-US" altLang="zh-TW" sz="2600" dirty="0"/>
              <a:t>(posts):</a:t>
            </a:r>
          </a:p>
          <a:p>
            <a:pPr marL="0" indent="0">
              <a:buNone/>
            </a:pPr>
            <a:r>
              <a:rPr lang="en-US" altLang="zh-TW" sz="2600" dirty="0"/>
              <a:t>        </a:t>
            </a:r>
            <a:r>
              <a:rPr lang="en-US" altLang="zh-TW" dirty="0" err="1"/>
              <a:t>post_list.append</a:t>
            </a:r>
            <a:r>
              <a:rPr lang="en-US" altLang="zh-TW" dirty="0"/>
              <a:t>(</a:t>
            </a:r>
            <a:r>
              <a:rPr lang="en-US" altLang="zh-TW" dirty="0" err="1"/>
              <a:t>f"Post</a:t>
            </a:r>
            <a:r>
              <a:rPr lang="en-US" altLang="zh-TW" dirty="0"/>
              <a:t> {count}: {post} &lt;</a:t>
            </a:r>
            <a:r>
              <a:rPr lang="en-US" altLang="zh-TW" dirty="0" err="1"/>
              <a:t>br</a:t>
            </a:r>
            <a:r>
              <a:rPr lang="en-US" altLang="zh-TW" dirty="0"/>
              <a:t>&gt; </a:t>
            </a:r>
            <a:r>
              <a:rPr lang="en-US" altLang="zh-TW" dirty="0">
                <a:solidFill>
                  <a:srgbClr val="FF0000"/>
                </a:solidFill>
              </a:rPr>
              <a:t>{</a:t>
            </a:r>
            <a:r>
              <a:rPr lang="en-US" altLang="zh-TW" dirty="0" err="1">
                <a:solidFill>
                  <a:srgbClr val="FF0000"/>
                </a:solidFill>
              </a:rPr>
              <a:t>post.body</a:t>
            </a:r>
            <a:r>
              <a:rPr lang="en-US" altLang="zh-TW" dirty="0">
                <a:solidFill>
                  <a:srgbClr val="FF0000"/>
                </a:solidFill>
              </a:rPr>
              <a:t>} &lt;</a:t>
            </a:r>
            <a:r>
              <a:rPr lang="en-US" altLang="zh-TW" dirty="0" err="1">
                <a:solidFill>
                  <a:srgbClr val="FF0000"/>
                </a:solidFill>
              </a:rPr>
              <a:t>br</a:t>
            </a:r>
            <a:r>
              <a:rPr lang="en-US" altLang="zh-TW" dirty="0">
                <a:solidFill>
                  <a:srgbClr val="FF0000"/>
                </a:solidFill>
              </a:rPr>
              <a:t>&gt;</a:t>
            </a:r>
          </a:p>
          <a:p>
            <a:pPr marL="0" indent="0">
              <a:buNone/>
            </a:pPr>
            <a:r>
              <a:rPr lang="en-US" altLang="zh-TW" dirty="0"/>
              <a:t>")</a:t>
            </a:r>
          </a:p>
          <a:p>
            <a:pPr marL="0" indent="0">
              <a:buNone/>
            </a:pPr>
            <a:r>
              <a:rPr lang="en-US" altLang="zh-TW" dirty="0"/>
              <a:t>	# return </a:t>
            </a:r>
            <a:r>
              <a:rPr lang="en-US" altLang="zh-TW" dirty="0" err="1"/>
              <a:t>HttpResponse</a:t>
            </a:r>
            <a:r>
              <a:rPr lang="en-US" altLang="zh-TW" dirty="0"/>
              <a:t>("Hello World!")</a:t>
            </a:r>
          </a:p>
          <a:p>
            <a:pPr marL="0" indent="0">
              <a:buNone/>
            </a:pPr>
            <a:endParaRPr lang="en-US" altLang="zh-TW" sz="2600" dirty="0"/>
          </a:p>
          <a:p>
            <a:pPr marL="0" indent="0">
              <a:buNone/>
            </a:pPr>
            <a:r>
              <a:rPr lang="zh-TW" altLang="zh-TW" dirty="0"/>
              <a:t># </a:t>
            </a:r>
            <a:r>
              <a:rPr lang="zh-TW" altLang="zh-TW" dirty="0">
                <a:solidFill>
                  <a:srgbClr val="FF0000"/>
                </a:solidFill>
              </a:rPr>
              <a:t>return HttpResponse(posts)</a:t>
            </a:r>
          </a:p>
          <a:p>
            <a:pPr marL="0" indent="0">
              <a:buNone/>
            </a:pPr>
            <a:r>
              <a:rPr lang="en-US" altLang="zh-TW" sz="2600" dirty="0"/>
              <a:t>    </a:t>
            </a:r>
          </a:p>
          <a:p>
            <a:pPr marL="0" indent="0">
              <a:buNone/>
            </a:pPr>
            <a:r>
              <a:rPr lang="en-US" altLang="zh-TW" sz="2600" dirty="0"/>
              <a:t>return </a:t>
            </a:r>
            <a:r>
              <a:rPr lang="en-US" altLang="zh-TW" sz="2600" dirty="0" err="1"/>
              <a:t>HttpResponse</a:t>
            </a:r>
            <a:r>
              <a:rPr lang="en-US" altLang="zh-TW" sz="2600" dirty="0"/>
              <a:t>(</a:t>
            </a:r>
            <a:r>
              <a:rPr lang="en-US" altLang="zh-TW" sz="2600" dirty="0" err="1"/>
              <a:t>post_lists</a:t>
            </a:r>
            <a:r>
              <a:rPr lang="en-US" altLang="zh-TW" sz="2600" dirty="0"/>
              <a:t>)</a:t>
            </a:r>
          </a:p>
          <a:p>
            <a:pPr marL="0" indent="0">
              <a:buNone/>
            </a:pPr>
            <a:endParaRPr lang="en-US" altLang="zh-TW" sz="2600" dirty="0"/>
          </a:p>
          <a:p>
            <a:endParaRPr lang="zh-TW" altLang="en-US" dirty="0"/>
          </a:p>
        </p:txBody>
      </p:sp>
    </p:spTree>
    <p:extLst>
      <p:ext uri="{BB962C8B-B14F-4D97-AF65-F5344CB8AC3E}">
        <p14:creationId xmlns:p14="http://schemas.microsoft.com/office/powerpoint/2010/main" val="40953020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讀取資料庫中的內容</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34</a:t>
            </a:fld>
            <a:endParaRPr lang="zh-TW" altLang="en-US"/>
          </a:p>
        </p:txBody>
      </p:sp>
      <p:sp>
        <p:nvSpPr>
          <p:cNvPr id="4" name="內容版面配置區 3"/>
          <p:cNvSpPr>
            <a:spLocks noGrp="1"/>
          </p:cNvSpPr>
          <p:nvPr>
            <p:ph sz="quarter" idx="1"/>
          </p:nvPr>
        </p:nvSpPr>
        <p:spPr>
          <a:xfrm>
            <a:off x="301752" y="1527048"/>
            <a:ext cx="8534400" cy="4854280"/>
          </a:xfrm>
        </p:spPr>
        <p:txBody>
          <a:bodyPr/>
          <a:lstStyle/>
          <a:p>
            <a:r>
              <a:rPr lang="zh-TW" altLang="zh-TW" dirty="0"/>
              <a:t>透過</a:t>
            </a:r>
            <a:r>
              <a:rPr lang="en-US" altLang="zh-TW" dirty="0"/>
              <a:t>urls.py</a:t>
            </a:r>
            <a:r>
              <a:rPr lang="zh-TW" altLang="zh-TW" dirty="0"/>
              <a:t>來負責網址和程序間的對應工作</a:t>
            </a:r>
            <a:r>
              <a:rPr lang="zh-TW" altLang="en-US" dirty="0"/>
              <a:t>，</a:t>
            </a:r>
            <a:r>
              <a:rPr lang="zh-TW" altLang="zh-TW" dirty="0"/>
              <a:t>請開啟</a:t>
            </a:r>
            <a:r>
              <a:rPr lang="en-US" altLang="zh-TW" dirty="0"/>
              <a:t>urls.py</a:t>
            </a:r>
            <a:r>
              <a:rPr lang="zh-TW" altLang="zh-TW" dirty="0"/>
              <a:t>，分別引入來自於</a:t>
            </a:r>
            <a:r>
              <a:rPr lang="en-US" altLang="zh-TW" dirty="0"/>
              <a:t>views.py</a:t>
            </a:r>
            <a:r>
              <a:rPr lang="zh-TW" altLang="zh-TW" dirty="0"/>
              <a:t>的</a:t>
            </a:r>
            <a:r>
              <a:rPr lang="en-US" altLang="zh-TW" dirty="0"/>
              <a:t>homepage</a:t>
            </a:r>
            <a:r>
              <a:rPr lang="zh-TW" altLang="zh-TW" dirty="0"/>
              <a:t>函數並以</a:t>
            </a:r>
            <a:r>
              <a:rPr lang="en-US" altLang="zh-TW" dirty="0" err="1"/>
              <a:t>url</a:t>
            </a:r>
            <a:r>
              <a:rPr lang="zh-TW" altLang="zh-TW" dirty="0"/>
              <a:t>對應之，如下所示：</a:t>
            </a:r>
            <a:endParaRPr lang="en-US" altLang="zh-TW" dirty="0"/>
          </a:p>
          <a:p>
            <a:pPr marL="274320" lvl="1" indent="0">
              <a:buNone/>
            </a:pPr>
            <a:r>
              <a:rPr lang="en-US" altLang="zh-TW" dirty="0"/>
              <a:t>from </a:t>
            </a:r>
            <a:r>
              <a:rPr lang="en-US" altLang="zh-TW" dirty="0" err="1"/>
              <a:t>django.urls</a:t>
            </a:r>
            <a:r>
              <a:rPr lang="en-US" altLang="zh-TW" dirty="0"/>
              <a:t> import </a:t>
            </a:r>
            <a:r>
              <a:rPr lang="en-US" altLang="zh-TW" dirty="0">
                <a:solidFill>
                  <a:srgbClr val="FF0000"/>
                </a:solidFill>
              </a:rPr>
              <a:t>include</a:t>
            </a:r>
            <a:r>
              <a:rPr lang="en-US" altLang="zh-TW" dirty="0"/>
              <a:t>, path (</a:t>
            </a:r>
            <a:r>
              <a:rPr lang="zh-TW" altLang="en-US" dirty="0"/>
              <a:t>還不須</a:t>
            </a:r>
            <a:r>
              <a:rPr lang="en-US" altLang="zh-TW" dirty="0"/>
              <a:t>include)</a:t>
            </a:r>
          </a:p>
          <a:p>
            <a:pPr marL="274320" lvl="1" indent="0">
              <a:buNone/>
            </a:pPr>
            <a:r>
              <a:rPr lang="en-US" altLang="zh-TW" dirty="0"/>
              <a:t>from </a:t>
            </a:r>
            <a:r>
              <a:rPr lang="en-US" altLang="zh-TW" dirty="0" err="1"/>
              <a:t>django.contrib</a:t>
            </a:r>
            <a:r>
              <a:rPr lang="en-US" altLang="zh-TW" dirty="0"/>
              <a:t> import admin</a:t>
            </a:r>
          </a:p>
          <a:p>
            <a:pPr marL="274320" lvl="1" indent="0">
              <a:buNone/>
            </a:pPr>
            <a:r>
              <a:rPr lang="en-US" altLang="zh-TW" dirty="0">
                <a:solidFill>
                  <a:srgbClr val="FF0000"/>
                </a:solidFill>
              </a:rPr>
              <a:t>from </a:t>
            </a:r>
            <a:r>
              <a:rPr lang="en-US" altLang="zh-TW" dirty="0" err="1">
                <a:solidFill>
                  <a:srgbClr val="FF0000"/>
                </a:solidFill>
              </a:rPr>
              <a:t>mysite.views</a:t>
            </a:r>
            <a:r>
              <a:rPr lang="en-US" altLang="zh-TW" dirty="0">
                <a:solidFill>
                  <a:srgbClr val="FF0000"/>
                </a:solidFill>
              </a:rPr>
              <a:t> import homepage</a:t>
            </a:r>
          </a:p>
          <a:p>
            <a:pPr marL="274320" lvl="1" indent="0">
              <a:buNone/>
            </a:pPr>
            <a:endParaRPr lang="en-US" altLang="zh-TW" dirty="0"/>
          </a:p>
          <a:p>
            <a:pPr marL="274320" lvl="1" indent="0">
              <a:buNone/>
            </a:pPr>
            <a:r>
              <a:rPr lang="en-US" altLang="zh-TW" dirty="0" err="1"/>
              <a:t>urlpatterns</a:t>
            </a:r>
            <a:r>
              <a:rPr lang="en-US" altLang="zh-TW" dirty="0"/>
              <a:t> = [</a:t>
            </a:r>
          </a:p>
          <a:p>
            <a:pPr marL="274320" lvl="1" indent="0">
              <a:buNone/>
            </a:pPr>
            <a:r>
              <a:rPr lang="en-US" altLang="zh-TW" dirty="0"/>
              <a:t>    path('admin/', </a:t>
            </a:r>
            <a:r>
              <a:rPr lang="en-US" altLang="zh-TW" dirty="0" err="1"/>
              <a:t>admin.site.urls</a:t>
            </a:r>
            <a:r>
              <a:rPr lang="en-US" altLang="zh-TW" dirty="0"/>
              <a:t>),</a:t>
            </a:r>
          </a:p>
          <a:p>
            <a:pPr marL="274320" lvl="1" indent="0">
              <a:buNone/>
            </a:pPr>
            <a:r>
              <a:rPr lang="en-US" altLang="zh-TW" dirty="0"/>
              <a:t>    </a:t>
            </a:r>
            <a:r>
              <a:rPr lang="en-US" altLang="zh-TW" dirty="0">
                <a:solidFill>
                  <a:srgbClr val="FF0000"/>
                </a:solidFill>
              </a:rPr>
              <a:t>path('', homepage),</a:t>
            </a:r>
          </a:p>
          <a:p>
            <a:pPr marL="274320" lvl="1" indent="0">
              <a:buNone/>
            </a:pPr>
            <a:r>
              <a:rPr lang="en-US" altLang="zh-TW" dirty="0"/>
              <a:t>]</a:t>
            </a:r>
          </a:p>
          <a:p>
            <a:pPr lvl="1"/>
            <a:endParaRPr lang="en-US" altLang="zh-TW" dirty="0"/>
          </a:p>
          <a:p>
            <a:endParaRPr lang="zh-TW" altLang="en-US" dirty="0"/>
          </a:p>
        </p:txBody>
      </p:sp>
    </p:spTree>
    <p:extLst>
      <p:ext uri="{BB962C8B-B14F-4D97-AF65-F5344CB8AC3E}">
        <p14:creationId xmlns:p14="http://schemas.microsoft.com/office/powerpoint/2010/main" val="2623188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網址對應與頁面輸出</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35</a:t>
            </a:fld>
            <a:endParaRPr lang="zh-TW" altLang="en-US"/>
          </a:p>
        </p:txBody>
      </p:sp>
      <p:sp>
        <p:nvSpPr>
          <p:cNvPr id="4" name="內容版面配置區 3"/>
          <p:cNvSpPr>
            <a:spLocks noGrp="1"/>
          </p:cNvSpPr>
          <p:nvPr>
            <p:ph sz="quarter" idx="1"/>
          </p:nvPr>
        </p:nvSpPr>
        <p:spPr/>
        <p:txBody>
          <a:bodyPr/>
          <a:lstStyle/>
          <a:p>
            <a:r>
              <a:rPr lang="zh-TW" altLang="en-US"/>
              <a:t>如果需要輸出比較多的資料，使用</a:t>
            </a:r>
            <a:r>
              <a:rPr lang="en-US" altLang="zh-TW"/>
              <a:t>HttpResponse</a:t>
            </a:r>
            <a:r>
              <a:rPr lang="zh-TW" altLang="en-US"/>
              <a:t>並不是好的方法。</a:t>
            </a:r>
            <a:endParaRPr lang="en-US" altLang="zh-TW"/>
          </a:p>
          <a:p>
            <a:r>
              <a:rPr lang="zh-TW" altLang="en-US"/>
              <a:t>一般來說，我們會</a:t>
            </a:r>
            <a:r>
              <a:rPr lang="zh-TW" altLang="zh-TW"/>
              <a:t>在</a:t>
            </a:r>
            <a:r>
              <a:rPr lang="en-US" altLang="zh-TW" dirty="0"/>
              <a:t>views.py</a:t>
            </a:r>
            <a:r>
              <a:rPr lang="zh-TW" altLang="zh-TW" dirty="0"/>
              <a:t>中把資料</a:t>
            </a:r>
            <a:r>
              <a:rPr lang="zh-TW" altLang="zh-TW"/>
              <a:t>準備好，</a:t>
            </a:r>
            <a:endParaRPr lang="en-US" altLang="zh-TW"/>
          </a:p>
          <a:p>
            <a:r>
              <a:rPr lang="zh-TW" altLang="zh-TW"/>
              <a:t>然後</a:t>
            </a:r>
            <a:r>
              <a:rPr lang="zh-TW" altLang="en-US"/>
              <a:t>利用</a:t>
            </a:r>
            <a:r>
              <a:rPr lang="en-US" altLang="zh-TW"/>
              <a:t>render</a:t>
            </a:r>
            <a:r>
              <a:rPr lang="zh-TW" altLang="en-US"/>
              <a:t>函式，把資料和</a:t>
            </a:r>
            <a:r>
              <a:rPr lang="en-US" altLang="zh-TW"/>
              <a:t>template</a:t>
            </a:r>
            <a:r>
              <a:rPr lang="zh-TW" altLang="en-US"/>
              <a:t>組合好之後再做輸出。</a:t>
            </a:r>
            <a:endParaRPr lang="en-US" altLang="zh-TW"/>
          </a:p>
          <a:p>
            <a:r>
              <a:rPr lang="zh-TW" altLang="en-US"/>
              <a:t>也就是</a:t>
            </a:r>
            <a:r>
              <a:rPr lang="zh-TW" altLang="zh-TW"/>
              <a:t>讓</a:t>
            </a:r>
            <a:r>
              <a:rPr lang="en-US" altLang="zh-TW" dirty="0"/>
              <a:t>template</a:t>
            </a:r>
            <a:r>
              <a:rPr lang="zh-TW" altLang="zh-TW" dirty="0"/>
              <a:t>中的</a:t>
            </a:r>
            <a:r>
              <a:rPr lang="en-US" altLang="zh-TW" dirty="0"/>
              <a:t>.html</a:t>
            </a:r>
            <a:r>
              <a:rPr lang="zh-TW" altLang="zh-TW" dirty="0"/>
              <a:t>檔案來負責真正顯示</a:t>
            </a:r>
            <a:r>
              <a:rPr lang="zh-TW" altLang="zh-TW"/>
              <a:t>的工作</a:t>
            </a:r>
            <a:r>
              <a:rPr lang="zh-TW" altLang="en-US"/>
              <a:t>。</a:t>
            </a:r>
            <a:endParaRPr lang="en-US" altLang="zh-TW" dirty="0"/>
          </a:p>
          <a:p>
            <a:endParaRPr lang="zh-TW" altLang="en-US" dirty="0"/>
          </a:p>
        </p:txBody>
      </p:sp>
      <p:pic>
        <p:nvPicPr>
          <p:cNvPr id="6" name="圖片 5">
            <a:extLst>
              <a:ext uri="{FF2B5EF4-FFF2-40B4-BE49-F238E27FC236}">
                <a16:creationId xmlns:a16="http://schemas.microsoft.com/office/drawing/2014/main" id="{6917EBFD-EF14-4C49-C463-F7AB34B27F23}"/>
              </a:ext>
            </a:extLst>
          </p:cNvPr>
          <p:cNvPicPr>
            <a:picLocks noChangeAspect="1"/>
          </p:cNvPicPr>
          <p:nvPr/>
        </p:nvPicPr>
        <p:blipFill>
          <a:blip r:embed="rId2"/>
          <a:stretch>
            <a:fillRect/>
          </a:stretch>
        </p:blipFill>
        <p:spPr>
          <a:xfrm>
            <a:off x="467544" y="4869160"/>
            <a:ext cx="3618767" cy="1705521"/>
          </a:xfrm>
          <a:prstGeom prst="rect">
            <a:avLst/>
          </a:prstGeom>
        </p:spPr>
      </p:pic>
      <p:pic>
        <p:nvPicPr>
          <p:cNvPr id="7" name="圖片 6">
            <a:extLst>
              <a:ext uri="{FF2B5EF4-FFF2-40B4-BE49-F238E27FC236}">
                <a16:creationId xmlns:a16="http://schemas.microsoft.com/office/drawing/2014/main" id="{3FA57BC6-1AA0-7DBF-D0BD-CC71B8DEE048}"/>
              </a:ext>
            </a:extLst>
          </p:cNvPr>
          <p:cNvPicPr>
            <a:picLocks noChangeAspect="1"/>
          </p:cNvPicPr>
          <p:nvPr/>
        </p:nvPicPr>
        <p:blipFill>
          <a:blip r:embed="rId3"/>
          <a:stretch>
            <a:fillRect/>
          </a:stretch>
        </p:blipFill>
        <p:spPr>
          <a:xfrm>
            <a:off x="4568952" y="5035636"/>
            <a:ext cx="4220164" cy="590632"/>
          </a:xfrm>
          <a:prstGeom prst="rect">
            <a:avLst/>
          </a:prstGeom>
        </p:spPr>
      </p:pic>
    </p:spTree>
    <p:extLst>
      <p:ext uri="{BB962C8B-B14F-4D97-AF65-F5344CB8AC3E}">
        <p14:creationId xmlns:p14="http://schemas.microsoft.com/office/powerpoint/2010/main" val="9812586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建立網頁輸出模版</a:t>
            </a:r>
            <a:r>
              <a:rPr lang="en-US" altLang="zh-TW" dirty="0"/>
              <a:t>template</a:t>
            </a:r>
            <a:endParaRPr lang="zh-TW" altLang="zh-TW"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36</a:t>
            </a:fld>
            <a:endParaRPr lang="zh-TW" altLang="en-US"/>
          </a:p>
        </p:txBody>
      </p:sp>
      <p:sp>
        <p:nvSpPr>
          <p:cNvPr id="4" name="內容版面配置區 3"/>
          <p:cNvSpPr>
            <a:spLocks noGrp="1"/>
          </p:cNvSpPr>
          <p:nvPr>
            <p:ph sz="quarter" idx="1"/>
          </p:nvPr>
        </p:nvSpPr>
        <p:spPr/>
        <p:txBody>
          <a:bodyPr/>
          <a:lstStyle/>
          <a:p>
            <a:r>
              <a:rPr lang="zh-TW" altLang="zh-TW" dirty="0"/>
              <a:t>每一個輸出的網頁都可以準備一個或一個以上對應的模</a:t>
            </a:r>
            <a:r>
              <a:rPr lang="zh-TW" altLang="zh-TW"/>
              <a:t>版，這些</a:t>
            </a:r>
            <a:r>
              <a:rPr lang="zh-TW" altLang="zh-TW" dirty="0"/>
              <a:t>模版是以</a:t>
            </a:r>
            <a:r>
              <a:rPr lang="en-US" altLang="zh-TW" dirty="0"/>
              <a:t>.html</a:t>
            </a:r>
            <a:r>
              <a:rPr lang="zh-TW" altLang="zh-TW" dirty="0"/>
              <a:t>的檔案型式儲存在指定的資料夾</a:t>
            </a:r>
            <a:r>
              <a:rPr lang="zh-TW" altLang="zh-TW"/>
              <a:t>中（</a:t>
            </a:r>
            <a:r>
              <a:rPr lang="zh-TW" altLang="en-US"/>
              <a:t>資料夾</a:t>
            </a:r>
            <a:r>
              <a:rPr lang="zh-TW" altLang="zh-TW"/>
              <a:t>一般</a:t>
            </a:r>
            <a:r>
              <a:rPr lang="zh-TW" altLang="zh-TW" dirty="0"/>
              <a:t>都會命名</a:t>
            </a:r>
            <a:r>
              <a:rPr lang="zh-TW" altLang="zh-TW"/>
              <a:t>為</a:t>
            </a:r>
            <a:r>
              <a:rPr lang="en-US" altLang="zh-TW"/>
              <a:t>templates</a:t>
            </a:r>
            <a:r>
              <a:rPr lang="zh-TW" altLang="en-US"/>
              <a:t>，放在根目錄或是</a:t>
            </a:r>
            <a:r>
              <a:rPr lang="en-US" altLang="zh-TW"/>
              <a:t>mysite</a:t>
            </a:r>
            <a:r>
              <a:rPr lang="zh-TW" altLang="en-US"/>
              <a:t>底下都可以</a:t>
            </a:r>
            <a:r>
              <a:rPr lang="zh-TW" altLang="zh-TW"/>
              <a:t>）</a:t>
            </a:r>
            <a:endParaRPr lang="en-US" altLang="zh-TW" dirty="0"/>
          </a:p>
          <a:p>
            <a:r>
              <a:rPr lang="zh-TW" altLang="zh-TW" dirty="0"/>
              <a:t>當網站有資料需要輸出的時候，再透過渲染函數（</a:t>
            </a:r>
            <a:r>
              <a:rPr lang="en-US" altLang="zh-TW" dirty="0"/>
              <a:t>render</a:t>
            </a:r>
            <a:r>
              <a:rPr lang="zh-TW" altLang="zh-TW" dirty="0"/>
              <a:t>）把資料放到模版指定的位置中</a:t>
            </a:r>
            <a:endParaRPr lang="en-US" altLang="zh-TW" dirty="0"/>
          </a:p>
          <a:p>
            <a:endParaRPr lang="zh-TW" altLang="en-US" dirty="0"/>
          </a:p>
        </p:txBody>
      </p:sp>
    </p:spTree>
    <p:extLst>
      <p:ext uri="{BB962C8B-B14F-4D97-AF65-F5344CB8AC3E}">
        <p14:creationId xmlns:p14="http://schemas.microsoft.com/office/powerpoint/2010/main" val="4301180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建立網頁輸出模版</a:t>
            </a:r>
            <a:r>
              <a:rPr lang="en-US" altLang="zh-TW" dirty="0"/>
              <a:t>template</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37</a:t>
            </a:fld>
            <a:endParaRPr lang="zh-TW" altLang="en-US"/>
          </a:p>
        </p:txBody>
      </p:sp>
      <p:sp>
        <p:nvSpPr>
          <p:cNvPr id="4" name="內容版面配置區 3"/>
          <p:cNvSpPr>
            <a:spLocks noGrp="1"/>
          </p:cNvSpPr>
          <p:nvPr>
            <p:ph sz="quarter" idx="1"/>
          </p:nvPr>
        </p:nvSpPr>
        <p:spPr/>
        <p:txBody>
          <a:bodyPr>
            <a:normAutofit lnSpcReduction="10000"/>
          </a:bodyPr>
          <a:lstStyle/>
          <a:p>
            <a:r>
              <a:rPr lang="zh-TW" altLang="zh-TW" sz="2800" dirty="0"/>
              <a:t>基本的步驟如下所示：</a:t>
            </a:r>
          </a:p>
          <a:p>
            <a:pPr lvl="1"/>
            <a:r>
              <a:rPr lang="zh-TW" altLang="zh-TW" sz="2400" dirty="0"/>
              <a:t>在</a:t>
            </a:r>
            <a:r>
              <a:rPr lang="en-US" altLang="zh-TW" sz="2400" dirty="0"/>
              <a:t>settings.py</a:t>
            </a:r>
            <a:r>
              <a:rPr lang="zh-TW" altLang="zh-TW" sz="2400" dirty="0"/>
              <a:t>中設定模版資料夾的位置</a:t>
            </a:r>
          </a:p>
          <a:p>
            <a:pPr lvl="1"/>
            <a:r>
              <a:rPr lang="zh-TW" altLang="zh-TW" sz="2400" dirty="0"/>
              <a:t>在</a:t>
            </a:r>
            <a:r>
              <a:rPr lang="en-US" altLang="zh-TW" sz="2400" dirty="0"/>
              <a:t>urls.py</a:t>
            </a:r>
            <a:r>
              <a:rPr lang="zh-TW" altLang="zh-TW" sz="2400" dirty="0"/>
              <a:t>建立網址和</a:t>
            </a:r>
            <a:r>
              <a:rPr lang="en-US" altLang="zh-TW" sz="2400" dirty="0"/>
              <a:t>views.py</a:t>
            </a:r>
            <a:r>
              <a:rPr lang="zh-TW" altLang="zh-TW" sz="2400" dirty="0"/>
              <a:t>中的函數對應的關係</a:t>
            </a:r>
          </a:p>
          <a:p>
            <a:pPr lvl="1"/>
            <a:r>
              <a:rPr lang="zh-TW" altLang="zh-TW" sz="2400" dirty="0"/>
              <a:t>建立</a:t>
            </a:r>
            <a:r>
              <a:rPr lang="en-US" altLang="zh-TW" sz="2400" dirty="0"/>
              <a:t>.html</a:t>
            </a:r>
            <a:r>
              <a:rPr lang="zh-TW" altLang="zh-TW" sz="2400" dirty="0"/>
              <a:t>檔案（例如</a:t>
            </a:r>
            <a:r>
              <a:rPr lang="en-US" altLang="zh-TW" sz="2400" dirty="0"/>
              <a:t>index.html</a:t>
            </a:r>
            <a:r>
              <a:rPr lang="zh-TW" altLang="zh-TW" sz="2400" dirty="0"/>
              <a:t>），做好排版並安排資料要放置的位置</a:t>
            </a:r>
          </a:p>
          <a:p>
            <a:pPr lvl="1"/>
            <a:r>
              <a:rPr lang="zh-TW" altLang="zh-TW" sz="2400" dirty="0"/>
              <a:t>執行程式，以</a:t>
            </a:r>
            <a:r>
              <a:rPr lang="en-US" altLang="zh-TW" sz="2400" dirty="0" err="1"/>
              <a:t>objects.all</a:t>
            </a:r>
            <a:r>
              <a:rPr lang="en-US" altLang="zh-TW" sz="2400" dirty="0"/>
              <a:t>()</a:t>
            </a:r>
            <a:r>
              <a:rPr lang="zh-TW" altLang="zh-TW" sz="2400" dirty="0"/>
              <a:t>在</a:t>
            </a:r>
            <a:r>
              <a:rPr lang="en-US" altLang="zh-TW" sz="2400" dirty="0"/>
              <a:t>views.py</a:t>
            </a:r>
            <a:r>
              <a:rPr lang="zh-TW" altLang="zh-TW" sz="2400" dirty="0"/>
              <a:t>取得資料，</a:t>
            </a:r>
            <a:r>
              <a:rPr lang="zh-TW" altLang="en-US" sz="2400" dirty="0"/>
              <a:t>放到變數中</a:t>
            </a:r>
            <a:endParaRPr lang="zh-TW" altLang="zh-TW" sz="2400" dirty="0"/>
          </a:p>
          <a:p>
            <a:pPr lvl="1"/>
            <a:r>
              <a:rPr lang="zh-TW" altLang="zh-TW" sz="2400" dirty="0"/>
              <a:t>以</a:t>
            </a:r>
            <a:r>
              <a:rPr lang="en-US" altLang="zh-TW" sz="2400" dirty="0"/>
              <a:t>render</a:t>
            </a:r>
            <a:r>
              <a:rPr lang="zh-TW" altLang="zh-TW" sz="2400" dirty="0"/>
              <a:t>函數，把</a:t>
            </a:r>
            <a:r>
              <a:rPr lang="zh-TW" altLang="en-US" sz="2400" dirty="0"/>
              <a:t>變數</a:t>
            </a:r>
            <a:r>
              <a:rPr lang="zh-TW" altLang="zh-TW" sz="2400" dirty="0"/>
              <a:t>資料（例如</a:t>
            </a:r>
            <a:r>
              <a:rPr lang="en-US" altLang="zh-TW" sz="2400" dirty="0"/>
              <a:t>posts</a:t>
            </a:r>
            <a:r>
              <a:rPr lang="zh-TW" altLang="zh-TW" sz="2400" dirty="0"/>
              <a:t>）送到指定的模版檔案（例如</a:t>
            </a:r>
            <a:r>
              <a:rPr lang="en-US" altLang="zh-TW" sz="2400" dirty="0"/>
              <a:t>index.html</a:t>
            </a:r>
            <a:r>
              <a:rPr lang="zh-TW" altLang="zh-TW" sz="2400" dirty="0"/>
              <a:t>）中</a:t>
            </a:r>
            <a:endParaRPr lang="en-US" altLang="zh-TW" sz="2400" dirty="0"/>
          </a:p>
          <a:p>
            <a:pPr lvl="1"/>
            <a:r>
              <a:rPr lang="zh-TW" altLang="en-US" sz="2400" dirty="0"/>
              <a:t>建議大家設定</a:t>
            </a:r>
            <a:r>
              <a:rPr lang="en-US" altLang="zh-TW" sz="2400" dirty="0">
                <a:solidFill>
                  <a:srgbClr val="FF0000"/>
                </a:solidFill>
              </a:rPr>
              <a:t>Model</a:t>
            </a:r>
            <a:r>
              <a:rPr lang="zh-TW" altLang="en-US" sz="2400" dirty="0">
                <a:solidFill>
                  <a:srgbClr val="FF0000"/>
                </a:solidFill>
              </a:rPr>
              <a:t>類別</a:t>
            </a:r>
            <a:r>
              <a:rPr lang="zh-TW" altLang="en-US" sz="2400" dirty="0"/>
              <a:t>時用</a:t>
            </a:r>
            <a:r>
              <a:rPr lang="zh-TW" altLang="en-US" sz="2400" dirty="0">
                <a:solidFill>
                  <a:srgbClr val="FF0000"/>
                </a:solidFill>
              </a:rPr>
              <a:t>大寫字母開頭</a:t>
            </a:r>
            <a:r>
              <a:rPr lang="zh-TW" altLang="en-US" sz="2400" dirty="0"/>
              <a:t>的英文字（例如：</a:t>
            </a:r>
            <a:r>
              <a:rPr lang="en-US" altLang="zh-TW" sz="2400" dirty="0"/>
              <a:t>Post</a:t>
            </a:r>
            <a:r>
              <a:rPr lang="zh-TW" altLang="en-US" sz="2400" dirty="0"/>
              <a:t>），取得之</a:t>
            </a:r>
            <a:r>
              <a:rPr lang="zh-TW" altLang="en-US" sz="2400" dirty="0">
                <a:solidFill>
                  <a:srgbClr val="FF0000"/>
                </a:solidFill>
              </a:rPr>
              <a:t>變數資料則使用小寫</a:t>
            </a:r>
            <a:r>
              <a:rPr lang="zh-TW" altLang="en-US" sz="2400" dirty="0"/>
              <a:t>英文字（例如：</a:t>
            </a:r>
            <a:r>
              <a:rPr lang="en-US" altLang="zh-TW" sz="2400" dirty="0"/>
              <a:t>posts</a:t>
            </a:r>
            <a:r>
              <a:rPr lang="zh-TW" altLang="en-US" sz="2400" dirty="0"/>
              <a:t>或是</a:t>
            </a:r>
            <a:r>
              <a:rPr lang="en-US" altLang="zh-TW" sz="2400" dirty="0"/>
              <a:t>post</a:t>
            </a:r>
            <a:r>
              <a:rPr lang="zh-TW" altLang="en-US" sz="2400" dirty="0"/>
              <a:t>）</a:t>
            </a:r>
            <a:endParaRPr lang="zh-TW" altLang="zh-TW" sz="2400" dirty="0"/>
          </a:p>
          <a:p>
            <a:endParaRPr lang="zh-TW" altLang="en-US" dirty="0"/>
          </a:p>
        </p:txBody>
      </p:sp>
    </p:spTree>
    <p:extLst>
      <p:ext uri="{BB962C8B-B14F-4D97-AF65-F5344CB8AC3E}">
        <p14:creationId xmlns:p14="http://schemas.microsoft.com/office/powerpoint/2010/main" val="13300096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建立網頁輸出模版</a:t>
            </a:r>
            <a:r>
              <a:rPr lang="en-US" altLang="zh-TW" dirty="0"/>
              <a:t>template</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38</a:t>
            </a:fld>
            <a:endParaRPr lang="zh-TW" altLang="en-US"/>
          </a:p>
        </p:txBody>
      </p:sp>
      <p:sp>
        <p:nvSpPr>
          <p:cNvPr id="4" name="內容版面配置區 3"/>
          <p:cNvSpPr>
            <a:spLocks noGrp="1"/>
          </p:cNvSpPr>
          <p:nvPr>
            <p:ph sz="quarter" idx="1"/>
          </p:nvPr>
        </p:nvSpPr>
        <p:spPr>
          <a:xfrm>
            <a:off x="324968" y="1026372"/>
            <a:ext cx="8534400" cy="5714996"/>
          </a:xfrm>
        </p:spPr>
        <p:txBody>
          <a:bodyPr>
            <a:normAutofit fontScale="77500" lnSpcReduction="20000"/>
          </a:bodyPr>
          <a:lstStyle/>
          <a:p>
            <a:r>
              <a:rPr lang="zh-TW" altLang="zh-TW" sz="2600" dirty="0"/>
              <a:t>以上的第一個步驟，在本堂課的例子中需先在此專案的目錄中建立</a:t>
            </a:r>
            <a:r>
              <a:rPr lang="en-US" altLang="zh-TW" sz="2600" dirty="0"/>
              <a:t>templates</a:t>
            </a:r>
            <a:r>
              <a:rPr lang="zh-TW" altLang="zh-TW" sz="2600" dirty="0"/>
              <a:t>這個資料夾，建立完畢後之目錄結構如下：</a:t>
            </a:r>
          </a:p>
          <a:p>
            <a:pPr lvl="1"/>
            <a:r>
              <a:rPr lang="zh-TW" altLang="zh-TW" dirty="0"/>
              <a:t>├──</a:t>
            </a:r>
            <a:r>
              <a:rPr lang="en-US" altLang="zh-TW" dirty="0"/>
              <a:t> db.sqlite3</a:t>
            </a:r>
            <a:endParaRPr lang="zh-TW" altLang="zh-TW" dirty="0"/>
          </a:p>
          <a:p>
            <a:pPr lvl="1"/>
            <a:r>
              <a:rPr lang="zh-TW" altLang="zh-TW" dirty="0"/>
              <a:t>├──</a:t>
            </a:r>
            <a:r>
              <a:rPr lang="en-US" altLang="zh-TW" dirty="0"/>
              <a:t> </a:t>
            </a:r>
            <a:r>
              <a:rPr lang="en-US" altLang="zh-TW" dirty="0" err="1"/>
              <a:t>mysite</a:t>
            </a:r>
            <a:endParaRPr lang="zh-TW" altLang="zh-TW" dirty="0"/>
          </a:p>
          <a:p>
            <a:pPr lvl="1"/>
            <a:r>
              <a:rPr lang="zh-TW" altLang="zh-TW" dirty="0"/>
              <a:t>│</a:t>
            </a:r>
            <a:r>
              <a:rPr lang="en-US" altLang="zh-TW" dirty="0"/>
              <a:t>   </a:t>
            </a:r>
            <a:r>
              <a:rPr lang="zh-TW" altLang="zh-TW" dirty="0"/>
              <a:t>├──</a:t>
            </a:r>
            <a:r>
              <a:rPr lang="en-US" altLang="zh-TW" dirty="0"/>
              <a:t> admin.py</a:t>
            </a:r>
            <a:endParaRPr lang="zh-TW" altLang="zh-TW" dirty="0"/>
          </a:p>
          <a:p>
            <a:pPr lvl="1"/>
            <a:r>
              <a:rPr lang="zh-TW" altLang="zh-TW" dirty="0"/>
              <a:t>│</a:t>
            </a:r>
            <a:r>
              <a:rPr lang="en-US" altLang="zh-TW" dirty="0"/>
              <a:t>   </a:t>
            </a:r>
            <a:r>
              <a:rPr lang="zh-TW" altLang="zh-TW" dirty="0"/>
              <a:t>├──</a:t>
            </a:r>
            <a:r>
              <a:rPr lang="en-US" altLang="zh-TW" dirty="0"/>
              <a:t> __init__.py</a:t>
            </a:r>
            <a:endParaRPr lang="zh-TW" altLang="zh-TW" dirty="0"/>
          </a:p>
          <a:p>
            <a:pPr lvl="1"/>
            <a:r>
              <a:rPr lang="zh-TW" altLang="zh-TW" dirty="0"/>
              <a:t>│</a:t>
            </a:r>
            <a:r>
              <a:rPr lang="en-US" altLang="zh-TW" dirty="0"/>
              <a:t>   </a:t>
            </a:r>
            <a:r>
              <a:rPr lang="zh-TW" altLang="zh-TW" dirty="0"/>
              <a:t>├──</a:t>
            </a:r>
            <a:r>
              <a:rPr lang="en-US" altLang="zh-TW" dirty="0"/>
              <a:t> migrations</a:t>
            </a:r>
            <a:endParaRPr lang="zh-TW" altLang="zh-TW" dirty="0"/>
          </a:p>
          <a:p>
            <a:pPr lvl="1"/>
            <a:r>
              <a:rPr lang="zh-TW" altLang="zh-TW" dirty="0"/>
              <a:t>│</a:t>
            </a:r>
            <a:r>
              <a:rPr lang="en-US" altLang="zh-TW" dirty="0"/>
              <a:t>   </a:t>
            </a:r>
            <a:r>
              <a:rPr lang="zh-TW" altLang="zh-TW" dirty="0"/>
              <a:t>│</a:t>
            </a:r>
            <a:r>
              <a:rPr lang="en-US" altLang="zh-TW" dirty="0"/>
              <a:t>   </a:t>
            </a:r>
            <a:r>
              <a:rPr lang="zh-TW" altLang="zh-TW" dirty="0"/>
              <a:t>├──</a:t>
            </a:r>
            <a:r>
              <a:rPr lang="en-US" altLang="zh-TW" dirty="0"/>
              <a:t> 0001_initial.py</a:t>
            </a:r>
            <a:endParaRPr lang="zh-TW" altLang="zh-TW" dirty="0"/>
          </a:p>
          <a:p>
            <a:pPr lvl="1"/>
            <a:r>
              <a:rPr lang="zh-TW" altLang="zh-TW" dirty="0"/>
              <a:t>│</a:t>
            </a:r>
            <a:r>
              <a:rPr lang="en-US" altLang="zh-TW" dirty="0"/>
              <a:t>   </a:t>
            </a:r>
            <a:r>
              <a:rPr lang="zh-TW" altLang="zh-TW" dirty="0"/>
              <a:t>│</a:t>
            </a:r>
            <a:r>
              <a:rPr lang="en-US" altLang="zh-TW" dirty="0"/>
              <a:t>   </a:t>
            </a:r>
            <a:r>
              <a:rPr lang="zh-TW" altLang="zh-TW" dirty="0"/>
              <a:t>├──</a:t>
            </a:r>
            <a:r>
              <a:rPr lang="en-US" altLang="zh-TW" dirty="0"/>
              <a:t> __init__.py</a:t>
            </a:r>
            <a:endParaRPr lang="zh-TW" altLang="zh-TW" dirty="0"/>
          </a:p>
          <a:p>
            <a:pPr lvl="1"/>
            <a:r>
              <a:rPr lang="zh-TW" altLang="zh-TW" dirty="0"/>
              <a:t>│</a:t>
            </a:r>
            <a:r>
              <a:rPr lang="en-US" altLang="zh-TW" dirty="0"/>
              <a:t>   </a:t>
            </a:r>
            <a:r>
              <a:rPr lang="zh-TW" altLang="zh-TW" dirty="0"/>
              <a:t>├──</a:t>
            </a:r>
            <a:r>
              <a:rPr lang="en-US" altLang="zh-TW" dirty="0"/>
              <a:t> models.py</a:t>
            </a:r>
            <a:endParaRPr lang="zh-TW" altLang="zh-TW" dirty="0"/>
          </a:p>
          <a:p>
            <a:pPr lvl="1"/>
            <a:r>
              <a:rPr lang="zh-TW" altLang="zh-TW" dirty="0"/>
              <a:t>│</a:t>
            </a:r>
            <a:r>
              <a:rPr lang="en-US" altLang="zh-TW" dirty="0"/>
              <a:t>   </a:t>
            </a:r>
            <a:r>
              <a:rPr lang="zh-TW" altLang="zh-TW" dirty="0"/>
              <a:t>├──</a:t>
            </a:r>
            <a:r>
              <a:rPr lang="en-US" altLang="zh-TW" dirty="0"/>
              <a:t> tests.py</a:t>
            </a:r>
            <a:endParaRPr lang="zh-TW" altLang="zh-TW" dirty="0"/>
          </a:p>
          <a:p>
            <a:pPr lvl="1"/>
            <a:r>
              <a:rPr lang="zh-TW" altLang="zh-TW" dirty="0"/>
              <a:t>│</a:t>
            </a:r>
            <a:r>
              <a:rPr lang="en-US" altLang="zh-TW" dirty="0"/>
              <a:t>   </a:t>
            </a:r>
            <a:r>
              <a:rPr lang="zh-TW" altLang="zh-TW" dirty="0"/>
              <a:t>├──</a:t>
            </a:r>
            <a:r>
              <a:rPr lang="en-US" altLang="zh-TW" dirty="0"/>
              <a:t> views.py</a:t>
            </a:r>
            <a:endParaRPr lang="zh-TW" altLang="zh-TW" dirty="0"/>
          </a:p>
          <a:p>
            <a:pPr lvl="1"/>
            <a:r>
              <a:rPr lang="zh-TW" altLang="zh-TW" dirty="0"/>
              <a:t>├──</a:t>
            </a:r>
            <a:r>
              <a:rPr lang="en-US" altLang="zh-TW" dirty="0"/>
              <a:t> manage.py</a:t>
            </a:r>
            <a:endParaRPr lang="zh-TW" altLang="zh-TW" dirty="0"/>
          </a:p>
          <a:p>
            <a:pPr lvl="1"/>
            <a:r>
              <a:rPr lang="zh-TW" altLang="zh-TW" dirty="0"/>
              <a:t>├──</a:t>
            </a:r>
            <a:r>
              <a:rPr lang="en-US" altLang="zh-TW" dirty="0"/>
              <a:t> </a:t>
            </a:r>
            <a:r>
              <a:rPr lang="en-US" altLang="zh-TW" dirty="0" err="1"/>
              <a:t>mblog</a:t>
            </a:r>
            <a:endParaRPr lang="zh-TW" altLang="zh-TW" dirty="0"/>
          </a:p>
          <a:p>
            <a:pPr lvl="1"/>
            <a:r>
              <a:rPr lang="zh-TW" altLang="zh-TW" dirty="0"/>
              <a:t>│</a:t>
            </a:r>
            <a:r>
              <a:rPr lang="en-US" altLang="zh-TW" dirty="0"/>
              <a:t>   </a:t>
            </a:r>
            <a:r>
              <a:rPr lang="zh-TW" altLang="zh-TW" dirty="0"/>
              <a:t>├──</a:t>
            </a:r>
            <a:r>
              <a:rPr lang="en-US" altLang="zh-TW" dirty="0"/>
              <a:t> __init__.py</a:t>
            </a:r>
            <a:endParaRPr lang="zh-TW" altLang="zh-TW" dirty="0"/>
          </a:p>
          <a:p>
            <a:pPr lvl="1"/>
            <a:r>
              <a:rPr lang="zh-TW" altLang="zh-TW" dirty="0"/>
              <a:t>│</a:t>
            </a:r>
            <a:r>
              <a:rPr lang="en-US" altLang="zh-TW" dirty="0"/>
              <a:t>   </a:t>
            </a:r>
            <a:r>
              <a:rPr lang="zh-TW" altLang="zh-TW" dirty="0"/>
              <a:t>├──</a:t>
            </a:r>
            <a:r>
              <a:rPr lang="en-US" altLang="zh-TW" dirty="0"/>
              <a:t> settings.py</a:t>
            </a:r>
            <a:endParaRPr lang="zh-TW" altLang="zh-TW" dirty="0"/>
          </a:p>
          <a:p>
            <a:pPr lvl="1"/>
            <a:r>
              <a:rPr lang="zh-TW" altLang="zh-TW" dirty="0"/>
              <a:t>│</a:t>
            </a:r>
            <a:r>
              <a:rPr lang="en-US" altLang="zh-TW" dirty="0"/>
              <a:t>   </a:t>
            </a:r>
            <a:r>
              <a:rPr lang="zh-TW" altLang="zh-TW" dirty="0"/>
              <a:t>├──</a:t>
            </a:r>
            <a:r>
              <a:rPr lang="en-US" altLang="zh-TW" dirty="0"/>
              <a:t> urls.py</a:t>
            </a:r>
            <a:endParaRPr lang="zh-TW" altLang="zh-TW" dirty="0"/>
          </a:p>
          <a:p>
            <a:pPr lvl="1"/>
            <a:r>
              <a:rPr lang="zh-TW" altLang="zh-TW" dirty="0"/>
              <a:t>│</a:t>
            </a:r>
            <a:r>
              <a:rPr lang="en-US" altLang="zh-TW" dirty="0"/>
              <a:t>   </a:t>
            </a:r>
            <a:r>
              <a:rPr lang="zh-TW" altLang="zh-TW" dirty="0"/>
              <a:t>├──</a:t>
            </a:r>
            <a:r>
              <a:rPr lang="en-US" altLang="zh-TW" dirty="0"/>
              <a:t> wsgi.py</a:t>
            </a:r>
            <a:endParaRPr lang="zh-TW" altLang="zh-TW" dirty="0"/>
          </a:p>
          <a:p>
            <a:pPr lvl="1"/>
            <a:r>
              <a:rPr lang="zh-TW" altLang="zh-TW" dirty="0"/>
              <a:t>├──</a:t>
            </a:r>
            <a:r>
              <a:rPr lang="en-US" altLang="zh-TW" dirty="0"/>
              <a:t> requirements.txt</a:t>
            </a:r>
            <a:endParaRPr lang="zh-TW" altLang="zh-TW" dirty="0"/>
          </a:p>
          <a:p>
            <a:pPr lvl="1"/>
            <a:r>
              <a:rPr lang="zh-TW" altLang="zh-TW" dirty="0"/>
              <a:t>└──</a:t>
            </a:r>
            <a:r>
              <a:rPr lang="en-US" altLang="zh-TW" dirty="0"/>
              <a:t> </a:t>
            </a:r>
            <a:r>
              <a:rPr lang="en-US" altLang="zh-TW" dirty="0">
                <a:solidFill>
                  <a:srgbClr val="FF0000"/>
                </a:solidFill>
              </a:rPr>
              <a:t>templates </a:t>
            </a:r>
            <a:r>
              <a:rPr lang="en-US" altLang="zh-TW" sz="3100" dirty="0">
                <a:solidFill>
                  <a:srgbClr val="FF0000"/>
                </a:solidFill>
              </a:rPr>
              <a:t>(</a:t>
            </a:r>
            <a:r>
              <a:rPr lang="zh-TW" altLang="en-US" sz="3100" dirty="0">
                <a:solidFill>
                  <a:srgbClr val="FF0000"/>
                </a:solidFill>
              </a:rPr>
              <a:t>注意：和</a:t>
            </a:r>
            <a:r>
              <a:rPr lang="en-US" altLang="zh-TW" sz="3100" dirty="0" err="1">
                <a:solidFill>
                  <a:srgbClr val="FF0000"/>
                </a:solidFill>
              </a:rPr>
              <a:t>mysite</a:t>
            </a:r>
            <a:r>
              <a:rPr lang="zh-TW" altLang="en-US" sz="3100" dirty="0">
                <a:solidFill>
                  <a:srgbClr val="FF0000"/>
                </a:solidFill>
              </a:rPr>
              <a:t>同一層</a:t>
            </a:r>
            <a:r>
              <a:rPr lang="en-US" altLang="zh-TW" sz="3100" dirty="0">
                <a:solidFill>
                  <a:srgbClr val="FF0000"/>
                </a:solidFill>
              </a:rPr>
              <a:t>)</a:t>
            </a:r>
            <a:endParaRPr lang="zh-TW" altLang="zh-TW" sz="3100" dirty="0">
              <a:solidFill>
                <a:srgbClr val="FF0000"/>
              </a:solidFill>
            </a:endParaRPr>
          </a:p>
          <a:p>
            <a:endParaRPr lang="zh-TW" altLang="en-US" dirty="0"/>
          </a:p>
        </p:txBody>
      </p:sp>
    </p:spTree>
    <p:extLst>
      <p:ext uri="{BB962C8B-B14F-4D97-AF65-F5344CB8AC3E}">
        <p14:creationId xmlns:p14="http://schemas.microsoft.com/office/powerpoint/2010/main" val="13152019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建立網頁輸出模版</a:t>
            </a:r>
            <a:r>
              <a:rPr lang="en-US" altLang="zh-TW" dirty="0"/>
              <a:t>template</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39</a:t>
            </a:fld>
            <a:endParaRPr lang="zh-TW" altLang="en-US"/>
          </a:p>
        </p:txBody>
      </p:sp>
      <p:sp>
        <p:nvSpPr>
          <p:cNvPr id="4" name="內容版面配置區 3"/>
          <p:cNvSpPr>
            <a:spLocks noGrp="1"/>
          </p:cNvSpPr>
          <p:nvPr>
            <p:ph sz="quarter" idx="1"/>
          </p:nvPr>
        </p:nvSpPr>
        <p:spPr>
          <a:xfrm>
            <a:off x="301752" y="1527048"/>
            <a:ext cx="8534400" cy="5070304"/>
          </a:xfrm>
        </p:spPr>
        <p:txBody>
          <a:bodyPr>
            <a:normAutofit fontScale="77500" lnSpcReduction="20000"/>
          </a:bodyPr>
          <a:lstStyle/>
          <a:p>
            <a:r>
              <a:rPr lang="zh-TW" altLang="zh-TW" dirty="0"/>
              <a:t>把資料夾名稱加到</a:t>
            </a:r>
            <a:r>
              <a:rPr lang="en-US" altLang="zh-TW" dirty="0"/>
              <a:t>settings.py</a:t>
            </a:r>
            <a:r>
              <a:rPr lang="zh-TW" altLang="zh-TW" dirty="0"/>
              <a:t>的</a:t>
            </a:r>
            <a:r>
              <a:rPr lang="en-US" altLang="zh-TW" dirty="0"/>
              <a:t>TEMPLTE</a:t>
            </a:r>
            <a:r>
              <a:rPr lang="zh-TW" altLang="zh-TW" dirty="0"/>
              <a:t>區塊中，如下所示（只要修改</a:t>
            </a:r>
            <a:r>
              <a:rPr lang="en-US" altLang="zh-TW" dirty="0"/>
              <a:t>DIRS</a:t>
            </a:r>
            <a:r>
              <a:rPr lang="zh-TW" altLang="zh-TW" dirty="0"/>
              <a:t>那一行即可）：</a:t>
            </a:r>
          </a:p>
          <a:p>
            <a:pPr marL="274320" lvl="1" indent="0">
              <a:buNone/>
            </a:pPr>
            <a:r>
              <a:rPr lang="en-US" altLang="zh-TW" sz="2300" dirty="0"/>
              <a:t>TEMPLATES = [</a:t>
            </a:r>
            <a:endParaRPr lang="zh-TW" altLang="zh-TW" sz="2300" dirty="0"/>
          </a:p>
          <a:p>
            <a:pPr marL="274320" lvl="1" indent="0">
              <a:buNone/>
            </a:pPr>
            <a:r>
              <a:rPr lang="en-US" altLang="zh-TW" sz="2300" dirty="0"/>
              <a:t>    {</a:t>
            </a:r>
            <a:endParaRPr lang="zh-TW" altLang="zh-TW" sz="2300" dirty="0"/>
          </a:p>
          <a:p>
            <a:pPr marL="274320" lvl="1" indent="0">
              <a:buNone/>
            </a:pPr>
            <a:r>
              <a:rPr lang="en-US" altLang="zh-TW" sz="2300" dirty="0"/>
              <a:t>        'BACKEND': '</a:t>
            </a:r>
            <a:r>
              <a:rPr lang="en-US" altLang="zh-TW" sz="2300" dirty="0" err="1"/>
              <a:t>django.template.backends.django.DjangoTemplates</a:t>
            </a:r>
            <a:r>
              <a:rPr lang="en-US" altLang="zh-TW" sz="2300" dirty="0"/>
              <a:t>',</a:t>
            </a:r>
            <a:endParaRPr lang="zh-TW" altLang="zh-TW" sz="2300" dirty="0"/>
          </a:p>
          <a:p>
            <a:pPr marL="274320" lvl="1" indent="0">
              <a:buNone/>
            </a:pPr>
            <a:r>
              <a:rPr lang="en-US" altLang="zh-TW" sz="2300" dirty="0"/>
              <a:t>        'DIRS': [</a:t>
            </a:r>
            <a:r>
              <a:rPr lang="en-US" altLang="zh-TW" sz="2300" dirty="0">
                <a:solidFill>
                  <a:srgbClr val="FF0000"/>
                </a:solidFill>
                <a:highlight>
                  <a:srgbClr val="FFFF00"/>
                </a:highlight>
              </a:rPr>
              <a:t>BASE_DIR /</a:t>
            </a:r>
            <a:r>
              <a:rPr lang="zh-TW" altLang="en-US" sz="2300" dirty="0">
                <a:solidFill>
                  <a:srgbClr val="FF0000"/>
                </a:solidFill>
                <a:highlight>
                  <a:srgbClr val="FFFF00"/>
                </a:highlight>
              </a:rPr>
              <a:t> </a:t>
            </a:r>
            <a:r>
              <a:rPr lang="en-US" altLang="zh-TW" sz="2300" dirty="0">
                <a:solidFill>
                  <a:srgbClr val="FF0000"/>
                </a:solidFill>
                <a:highlight>
                  <a:srgbClr val="FFFF00"/>
                </a:highlight>
              </a:rPr>
              <a:t>'templates</a:t>
            </a:r>
            <a:r>
              <a:rPr lang="en-US" altLang="zh-TW" sz="2300" dirty="0">
                <a:highlight>
                  <a:srgbClr val="FFFF00"/>
                </a:highlight>
              </a:rPr>
              <a:t>'</a:t>
            </a:r>
            <a:r>
              <a:rPr lang="en-US" altLang="zh-TW" sz="2300" dirty="0"/>
              <a:t>],</a:t>
            </a:r>
            <a:endParaRPr lang="zh-TW" altLang="zh-TW" sz="2300" dirty="0"/>
          </a:p>
          <a:p>
            <a:pPr marL="274320" lvl="1" indent="0">
              <a:buNone/>
            </a:pPr>
            <a:r>
              <a:rPr lang="en-US" altLang="zh-TW" sz="2300" dirty="0"/>
              <a:t>        'APP_DIRS': True,</a:t>
            </a:r>
            <a:endParaRPr lang="zh-TW" altLang="zh-TW" sz="2300" dirty="0"/>
          </a:p>
          <a:p>
            <a:pPr marL="274320" lvl="1" indent="0">
              <a:buNone/>
            </a:pPr>
            <a:r>
              <a:rPr lang="en-US" altLang="zh-TW" sz="2300" dirty="0"/>
              <a:t>        'OPTIONS': {</a:t>
            </a:r>
            <a:endParaRPr lang="zh-TW" altLang="zh-TW" sz="2300" dirty="0"/>
          </a:p>
          <a:p>
            <a:pPr marL="274320" lvl="1" indent="0">
              <a:buNone/>
            </a:pPr>
            <a:r>
              <a:rPr lang="en-US" altLang="zh-TW" sz="2300" dirty="0"/>
              <a:t>            '</a:t>
            </a:r>
            <a:r>
              <a:rPr lang="en-US" altLang="zh-TW" sz="2300" dirty="0" err="1"/>
              <a:t>context_processors</a:t>
            </a:r>
            <a:r>
              <a:rPr lang="en-US" altLang="zh-TW" sz="2300" dirty="0"/>
              <a:t>': [</a:t>
            </a:r>
            <a:endParaRPr lang="zh-TW" altLang="zh-TW" sz="2300" dirty="0"/>
          </a:p>
          <a:p>
            <a:pPr marL="274320" lvl="1" indent="0">
              <a:buNone/>
            </a:pPr>
            <a:r>
              <a:rPr lang="en-US" altLang="zh-TW" sz="2300" dirty="0"/>
              <a:t>                '</a:t>
            </a:r>
            <a:r>
              <a:rPr lang="en-US" altLang="zh-TW" sz="2300" dirty="0" err="1"/>
              <a:t>django.template.context_processors.debug</a:t>
            </a:r>
            <a:r>
              <a:rPr lang="en-US" altLang="zh-TW" sz="2300" dirty="0"/>
              <a:t>',</a:t>
            </a:r>
            <a:endParaRPr lang="zh-TW" altLang="zh-TW" sz="2300" dirty="0"/>
          </a:p>
          <a:p>
            <a:pPr marL="274320" lvl="1" indent="0">
              <a:buNone/>
            </a:pPr>
            <a:r>
              <a:rPr lang="en-US" altLang="zh-TW" sz="2300" dirty="0"/>
              <a:t>                '</a:t>
            </a:r>
            <a:r>
              <a:rPr lang="en-US" altLang="zh-TW" sz="2300" dirty="0" err="1"/>
              <a:t>django.template.context_processors.request</a:t>
            </a:r>
            <a:r>
              <a:rPr lang="en-US" altLang="zh-TW" sz="2300" dirty="0"/>
              <a:t>',</a:t>
            </a:r>
            <a:endParaRPr lang="zh-TW" altLang="zh-TW" sz="2300" dirty="0"/>
          </a:p>
          <a:p>
            <a:pPr marL="274320" lvl="1" indent="0">
              <a:buNone/>
            </a:pPr>
            <a:r>
              <a:rPr lang="en-US" altLang="zh-TW" sz="2300" dirty="0"/>
              <a:t>                '</a:t>
            </a:r>
            <a:r>
              <a:rPr lang="en-US" altLang="zh-TW" sz="2300" dirty="0" err="1"/>
              <a:t>django.contrib.auth.context_processors.auth</a:t>
            </a:r>
            <a:r>
              <a:rPr lang="en-US" altLang="zh-TW" sz="2300" dirty="0"/>
              <a:t>',</a:t>
            </a:r>
            <a:endParaRPr lang="zh-TW" altLang="zh-TW" sz="2300" dirty="0"/>
          </a:p>
          <a:p>
            <a:pPr marL="274320" lvl="1" indent="0">
              <a:buNone/>
            </a:pPr>
            <a:r>
              <a:rPr lang="en-US" altLang="zh-TW" sz="2300" dirty="0"/>
              <a:t>                '</a:t>
            </a:r>
            <a:r>
              <a:rPr lang="en-US" altLang="zh-TW" sz="2300" dirty="0" err="1"/>
              <a:t>django.contrib.messages.context_processors.messages</a:t>
            </a:r>
            <a:r>
              <a:rPr lang="en-US" altLang="zh-TW" sz="2300" dirty="0"/>
              <a:t>',</a:t>
            </a:r>
            <a:endParaRPr lang="zh-TW" altLang="zh-TW" sz="2300" dirty="0"/>
          </a:p>
          <a:p>
            <a:pPr marL="274320" lvl="1" indent="0">
              <a:buNone/>
            </a:pPr>
            <a:r>
              <a:rPr lang="en-US" altLang="zh-TW" sz="2300" dirty="0"/>
              <a:t>            ],</a:t>
            </a:r>
            <a:endParaRPr lang="zh-TW" altLang="zh-TW" sz="2300" dirty="0"/>
          </a:p>
          <a:p>
            <a:pPr marL="274320" lvl="1" indent="0">
              <a:buNone/>
            </a:pPr>
            <a:r>
              <a:rPr lang="en-US" altLang="zh-TW" sz="2300" dirty="0"/>
              <a:t>        },</a:t>
            </a:r>
            <a:endParaRPr lang="zh-TW" altLang="zh-TW" sz="2300" dirty="0"/>
          </a:p>
          <a:p>
            <a:pPr marL="274320" lvl="1" indent="0">
              <a:buNone/>
            </a:pPr>
            <a:r>
              <a:rPr lang="en-US" altLang="zh-TW" sz="2300" dirty="0"/>
              <a:t>    },</a:t>
            </a:r>
            <a:endParaRPr lang="zh-TW" altLang="zh-TW" sz="2300" dirty="0"/>
          </a:p>
          <a:p>
            <a:pPr marL="274320" lvl="1" indent="0">
              <a:buNone/>
            </a:pPr>
            <a:r>
              <a:rPr lang="en-US" altLang="zh-TW" sz="2300" dirty="0"/>
              <a:t>]</a:t>
            </a:r>
            <a:endParaRPr lang="zh-TW" altLang="zh-TW" sz="2300" dirty="0"/>
          </a:p>
          <a:p>
            <a:endParaRPr lang="zh-TW" altLang="en-US" dirty="0"/>
          </a:p>
        </p:txBody>
      </p:sp>
    </p:spTree>
    <p:extLst>
      <p:ext uri="{BB962C8B-B14F-4D97-AF65-F5344CB8AC3E}">
        <p14:creationId xmlns:p14="http://schemas.microsoft.com/office/powerpoint/2010/main" val="9651771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建立網頁輸出模版</a:t>
            </a:r>
            <a:r>
              <a:rPr lang="en-US" altLang="zh-TW" dirty="0"/>
              <a:t>template</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40</a:t>
            </a:fld>
            <a:endParaRPr lang="zh-TW" altLang="en-US"/>
          </a:p>
        </p:txBody>
      </p:sp>
      <p:sp>
        <p:nvSpPr>
          <p:cNvPr id="4" name="內容版面配置區 3"/>
          <p:cNvSpPr>
            <a:spLocks noGrp="1"/>
          </p:cNvSpPr>
          <p:nvPr>
            <p:ph sz="quarter" idx="1"/>
          </p:nvPr>
        </p:nvSpPr>
        <p:spPr/>
        <p:txBody>
          <a:bodyPr>
            <a:normAutofit lnSpcReduction="10000"/>
          </a:bodyPr>
          <a:lstStyle/>
          <a:p>
            <a:r>
              <a:rPr lang="zh-TW" altLang="zh-TW" dirty="0"/>
              <a:t>接著，我們打算把</a:t>
            </a:r>
            <a:r>
              <a:rPr lang="en-US" altLang="zh-TW" dirty="0"/>
              <a:t>posts</a:t>
            </a:r>
            <a:r>
              <a:rPr lang="zh-TW" altLang="zh-TW" dirty="0"/>
              <a:t>和</a:t>
            </a:r>
            <a:r>
              <a:rPr lang="en-US" altLang="zh-TW" dirty="0"/>
              <a:t>now</a:t>
            </a:r>
            <a:r>
              <a:rPr lang="zh-TW" altLang="zh-TW" dirty="0"/>
              <a:t>（現在時刻）丟到模版（打算叫做</a:t>
            </a:r>
            <a:r>
              <a:rPr lang="en-US" altLang="zh-TW" dirty="0"/>
              <a:t>index.html</a:t>
            </a:r>
            <a:r>
              <a:rPr lang="zh-TW" altLang="zh-TW" dirty="0"/>
              <a:t>）中顯示，所以把</a:t>
            </a:r>
            <a:r>
              <a:rPr lang="en-US" altLang="zh-TW" dirty="0"/>
              <a:t>views.py</a:t>
            </a:r>
            <a:r>
              <a:rPr lang="zh-TW" altLang="zh-TW" dirty="0"/>
              <a:t>重新修改如下：</a:t>
            </a:r>
          </a:p>
          <a:p>
            <a:pPr marL="274320" lvl="1" indent="0">
              <a:buNone/>
            </a:pPr>
            <a:r>
              <a:rPr lang="en-US" altLang="zh-TW" dirty="0"/>
              <a:t>from </a:t>
            </a:r>
            <a:r>
              <a:rPr lang="en-US" altLang="zh-TW" dirty="0" err="1"/>
              <a:t>django.http</a:t>
            </a:r>
            <a:r>
              <a:rPr lang="en-US" altLang="zh-TW" dirty="0"/>
              <a:t> import </a:t>
            </a:r>
            <a:r>
              <a:rPr lang="en-US" altLang="zh-TW" dirty="0">
                <a:solidFill>
                  <a:srgbClr val="FF0000"/>
                </a:solidFill>
              </a:rPr>
              <a:t>render</a:t>
            </a:r>
            <a:endParaRPr lang="zh-TW" altLang="zh-TW" dirty="0">
              <a:solidFill>
                <a:srgbClr val="FF0000"/>
              </a:solidFill>
            </a:endParaRPr>
          </a:p>
          <a:p>
            <a:pPr marL="274320" lvl="1" indent="0">
              <a:buNone/>
            </a:pPr>
            <a:r>
              <a:rPr lang="en-US" altLang="zh-TW" dirty="0"/>
              <a:t>from </a:t>
            </a:r>
            <a:r>
              <a:rPr lang="en-US" altLang="zh-TW" dirty="0" err="1"/>
              <a:t>datetime</a:t>
            </a:r>
            <a:r>
              <a:rPr lang="en-US" altLang="zh-TW" dirty="0"/>
              <a:t> import </a:t>
            </a:r>
            <a:r>
              <a:rPr lang="en-US" altLang="zh-TW" dirty="0" err="1"/>
              <a:t>datetime</a:t>
            </a:r>
            <a:endParaRPr lang="zh-TW" altLang="zh-TW" dirty="0"/>
          </a:p>
          <a:p>
            <a:pPr marL="274320" lvl="1" indent="0">
              <a:buNone/>
            </a:pPr>
            <a:r>
              <a:rPr lang="en-US" altLang="zh-TW" dirty="0"/>
              <a:t>from </a:t>
            </a:r>
            <a:r>
              <a:rPr lang="en-US" altLang="zh-TW" dirty="0" err="1"/>
              <a:t>mysite.models</a:t>
            </a:r>
            <a:r>
              <a:rPr lang="en-US" altLang="zh-TW" dirty="0"/>
              <a:t> import Post</a:t>
            </a:r>
            <a:endParaRPr lang="zh-TW" altLang="zh-TW" dirty="0"/>
          </a:p>
          <a:p>
            <a:pPr marL="274320" lvl="1" indent="0">
              <a:buNone/>
            </a:pPr>
            <a:r>
              <a:rPr lang="en-US" altLang="zh-TW" dirty="0"/>
              <a:t> </a:t>
            </a:r>
            <a:endParaRPr lang="zh-TW" altLang="zh-TW" dirty="0"/>
          </a:p>
          <a:p>
            <a:pPr marL="274320" lvl="1" indent="0">
              <a:buNone/>
            </a:pPr>
            <a:r>
              <a:rPr lang="en-US" altLang="zh-TW" dirty="0"/>
              <a:t>def homepage(request):</a:t>
            </a:r>
            <a:endParaRPr lang="zh-TW" altLang="zh-TW" dirty="0"/>
          </a:p>
          <a:p>
            <a:pPr marL="274320" lvl="1" indent="0">
              <a:buNone/>
            </a:pPr>
            <a:r>
              <a:rPr lang="en-US" altLang="zh-TW" dirty="0"/>
              <a:t>    posts = </a:t>
            </a:r>
            <a:r>
              <a:rPr lang="en-US" altLang="zh-TW" dirty="0" err="1"/>
              <a:t>Post.objects.all</a:t>
            </a:r>
            <a:r>
              <a:rPr lang="en-US" altLang="zh-TW" dirty="0"/>
              <a:t>()</a:t>
            </a:r>
            <a:endParaRPr lang="zh-TW" altLang="zh-TW" dirty="0"/>
          </a:p>
          <a:p>
            <a:pPr marL="274320" lvl="1" indent="0">
              <a:buNone/>
            </a:pPr>
            <a:r>
              <a:rPr lang="en-US" altLang="zh-TW" dirty="0"/>
              <a:t>    now = </a:t>
            </a:r>
            <a:r>
              <a:rPr lang="en-US" altLang="zh-TW" dirty="0" err="1"/>
              <a:t>datetime.now</a:t>
            </a:r>
            <a:r>
              <a:rPr lang="en-US" altLang="zh-TW" dirty="0"/>
              <a:t>()</a:t>
            </a:r>
            <a:endParaRPr lang="zh-TW" altLang="zh-TW" dirty="0"/>
          </a:p>
          <a:p>
            <a:pPr marL="274320" lvl="1" indent="0">
              <a:buNone/>
            </a:pPr>
            <a:r>
              <a:rPr lang="en-US" altLang="zh-TW" dirty="0"/>
              <a:t>    return </a:t>
            </a:r>
            <a:r>
              <a:rPr lang="en-US" altLang="zh-TW" sz="3200" dirty="0">
                <a:solidFill>
                  <a:srgbClr val="FF0000"/>
                </a:solidFill>
              </a:rPr>
              <a:t>render</a:t>
            </a:r>
            <a:r>
              <a:rPr lang="en-US" altLang="zh-TW" dirty="0"/>
              <a:t>(request, </a:t>
            </a:r>
            <a:r>
              <a:rPr lang="en-US" altLang="zh-TW" dirty="0">
                <a:solidFill>
                  <a:srgbClr val="FF0000"/>
                </a:solidFill>
              </a:rPr>
              <a:t>'index.html', </a:t>
            </a:r>
            <a:r>
              <a:rPr lang="en-US" altLang="zh-TW" dirty="0"/>
              <a:t>locals())</a:t>
            </a:r>
            <a:endParaRPr lang="zh-TW" altLang="zh-TW" dirty="0"/>
          </a:p>
          <a:p>
            <a:endParaRPr lang="zh-TW" altLang="en-US" dirty="0"/>
          </a:p>
        </p:txBody>
      </p:sp>
    </p:spTree>
    <p:extLst>
      <p:ext uri="{BB962C8B-B14F-4D97-AF65-F5344CB8AC3E}">
        <p14:creationId xmlns:p14="http://schemas.microsoft.com/office/powerpoint/2010/main" val="18354655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zh-TW" dirty="0"/>
              <a:t>建立網頁輸出模版</a:t>
            </a:r>
            <a:r>
              <a:rPr lang="en-US" altLang="zh-TW" dirty="0"/>
              <a:t>template</a:t>
            </a:r>
            <a:br>
              <a:rPr lang="en-US" altLang="zh-TW" dirty="0"/>
            </a:br>
            <a:r>
              <a:rPr lang="en-US" altLang="zh-TW" dirty="0"/>
              <a:t>index-s0.html</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41</a:t>
            </a:fld>
            <a:endParaRPr lang="zh-TW" altLang="en-US"/>
          </a:p>
        </p:txBody>
      </p:sp>
      <p:sp>
        <p:nvSpPr>
          <p:cNvPr id="4" name="內容版面配置區 3"/>
          <p:cNvSpPr>
            <a:spLocks noGrp="1"/>
          </p:cNvSpPr>
          <p:nvPr>
            <p:ph sz="quarter" idx="1"/>
          </p:nvPr>
        </p:nvSpPr>
        <p:spPr/>
        <p:txBody>
          <a:bodyPr>
            <a:normAutofit fontScale="62500" lnSpcReduction="20000"/>
          </a:bodyPr>
          <a:lstStyle/>
          <a:p>
            <a:r>
              <a:rPr lang="zh-TW" altLang="zh-TW" sz="3200" dirty="0"/>
              <a:t>在</a:t>
            </a:r>
            <a:r>
              <a:rPr lang="en-US" altLang="zh-TW" sz="3200" dirty="0"/>
              <a:t>templates</a:t>
            </a:r>
            <a:r>
              <a:rPr lang="zh-TW" altLang="zh-TW" sz="3200" dirty="0"/>
              <a:t>目錄下，建立一個名為</a:t>
            </a:r>
            <a:r>
              <a:rPr lang="en-US" altLang="zh-TW" sz="3200" dirty="0"/>
              <a:t>index.html</a:t>
            </a:r>
            <a:r>
              <a:rPr lang="zh-TW" altLang="zh-TW" sz="3200" dirty="0"/>
              <a:t>的模版檔案，「</a:t>
            </a:r>
            <a:r>
              <a:rPr lang="en-US" altLang="zh-TW" sz="3200" dirty="0"/>
              <a:t>{}</a:t>
            </a:r>
            <a:r>
              <a:rPr lang="zh-TW" altLang="zh-TW" sz="3200" dirty="0"/>
              <a:t>」大括號用來輸出收到的資料</a:t>
            </a:r>
            <a:r>
              <a:rPr lang="zh-TW" altLang="en-US" sz="3200" dirty="0"/>
              <a:t>，</a:t>
            </a:r>
            <a:r>
              <a:rPr lang="zh-TW" altLang="zh-TW" sz="3200" dirty="0"/>
              <a:t>如下所示：</a:t>
            </a:r>
          </a:p>
          <a:p>
            <a:pPr marL="274320" lvl="1" indent="0">
              <a:buNone/>
            </a:pPr>
            <a:r>
              <a:rPr lang="en-US" altLang="zh-TW" sz="2600" dirty="0"/>
              <a:t>&lt;!DOCTYPE html&gt;</a:t>
            </a:r>
            <a:endParaRPr lang="zh-TW" altLang="zh-TW" sz="2600" dirty="0"/>
          </a:p>
          <a:p>
            <a:pPr marL="274320" lvl="1" indent="0">
              <a:buNone/>
            </a:pPr>
            <a:r>
              <a:rPr lang="en-US" altLang="zh-TW" sz="2600" dirty="0"/>
              <a:t>&lt;html&gt;</a:t>
            </a:r>
            <a:endParaRPr lang="zh-TW" altLang="zh-TW" sz="2600" dirty="0"/>
          </a:p>
          <a:p>
            <a:pPr marL="274320" lvl="1" indent="0">
              <a:buNone/>
            </a:pPr>
            <a:r>
              <a:rPr lang="en-US" altLang="zh-TW" sz="2600" dirty="0"/>
              <a:t>&lt;head&gt;</a:t>
            </a:r>
            <a:endParaRPr lang="zh-TW" altLang="zh-TW" sz="2600" dirty="0"/>
          </a:p>
          <a:p>
            <a:pPr marL="274320" lvl="1" indent="0">
              <a:buNone/>
            </a:pPr>
            <a:r>
              <a:rPr lang="en-US" altLang="zh-TW" sz="2600" dirty="0"/>
              <a:t>    &lt;meta charset='utf-8'&gt;</a:t>
            </a:r>
            <a:endParaRPr lang="zh-TW" altLang="zh-TW" sz="2600" dirty="0"/>
          </a:p>
          <a:p>
            <a:pPr marL="274320" lvl="1" indent="0">
              <a:buNone/>
            </a:pPr>
            <a:r>
              <a:rPr lang="en-US" altLang="zh-TW" sz="2600" dirty="0"/>
              <a:t>    &lt;title&gt;</a:t>
            </a:r>
            <a:endParaRPr lang="zh-TW" altLang="zh-TW" sz="2600" dirty="0"/>
          </a:p>
          <a:p>
            <a:pPr marL="274320" lvl="1" indent="0">
              <a:buNone/>
            </a:pPr>
            <a:r>
              <a:rPr lang="en-US" altLang="zh-TW" sz="2600" dirty="0"/>
              <a:t>        </a:t>
            </a:r>
            <a:r>
              <a:rPr lang="zh-TW" altLang="zh-TW" sz="2600" dirty="0">
                <a:solidFill>
                  <a:srgbClr val="FF0000"/>
                </a:solidFill>
              </a:rPr>
              <a:t>歡迎光臨我的部落格</a:t>
            </a:r>
          </a:p>
          <a:p>
            <a:pPr marL="274320" lvl="1" indent="0">
              <a:buNone/>
            </a:pPr>
            <a:r>
              <a:rPr lang="en-US" altLang="zh-TW" sz="2600" dirty="0"/>
              <a:t>    &lt;/title&gt;</a:t>
            </a:r>
            <a:endParaRPr lang="zh-TW" altLang="zh-TW" sz="2600" dirty="0"/>
          </a:p>
          <a:p>
            <a:pPr marL="274320" lvl="1" indent="0">
              <a:buNone/>
            </a:pPr>
            <a:r>
              <a:rPr lang="en-US" altLang="zh-TW" sz="2600" dirty="0"/>
              <a:t>&lt;/head&gt;</a:t>
            </a:r>
            <a:endParaRPr lang="zh-TW" altLang="zh-TW" sz="2600" dirty="0"/>
          </a:p>
          <a:p>
            <a:pPr marL="274320" lvl="1" indent="0">
              <a:buNone/>
            </a:pPr>
            <a:r>
              <a:rPr lang="en-US" altLang="zh-TW" sz="2600" dirty="0"/>
              <a:t>&lt;body&gt;</a:t>
            </a:r>
            <a:endParaRPr lang="zh-TW" altLang="zh-TW" sz="2600" dirty="0"/>
          </a:p>
          <a:p>
            <a:pPr marL="274320" lvl="1" indent="0">
              <a:buNone/>
            </a:pPr>
            <a:r>
              <a:rPr lang="en-US" altLang="zh-TW" sz="2600" dirty="0"/>
              <a:t>    &lt;h1&gt;</a:t>
            </a:r>
            <a:r>
              <a:rPr lang="zh-TW" altLang="zh-TW" sz="2600" dirty="0"/>
              <a:t>歡迎光臨我的部落格</a:t>
            </a:r>
            <a:r>
              <a:rPr lang="en-US" altLang="zh-TW" sz="2600" dirty="0"/>
              <a:t>&lt;/h1&gt;</a:t>
            </a:r>
            <a:endParaRPr lang="zh-TW" altLang="zh-TW" sz="2600" dirty="0"/>
          </a:p>
          <a:p>
            <a:pPr marL="274320" lvl="1" indent="0">
              <a:buNone/>
            </a:pPr>
            <a:r>
              <a:rPr lang="en-US" altLang="zh-TW" sz="2600" dirty="0"/>
              <a:t>    &lt;</a:t>
            </a:r>
            <a:r>
              <a:rPr lang="en-US" altLang="zh-TW" sz="2600" dirty="0" err="1"/>
              <a:t>hr</a:t>
            </a:r>
            <a:r>
              <a:rPr lang="en-US" altLang="zh-TW" sz="2600" dirty="0"/>
              <a:t>&gt;</a:t>
            </a:r>
            <a:endParaRPr lang="zh-TW" altLang="zh-TW" sz="2600" dirty="0"/>
          </a:p>
          <a:p>
            <a:pPr marL="274320" lvl="1" indent="0">
              <a:buNone/>
            </a:pPr>
            <a:r>
              <a:rPr lang="en-US" altLang="zh-TW" sz="2600" dirty="0"/>
              <a:t>    </a:t>
            </a:r>
            <a:r>
              <a:rPr lang="en-US" altLang="zh-TW" sz="2600" dirty="0">
                <a:solidFill>
                  <a:srgbClr val="FF0000"/>
                </a:solidFill>
              </a:rPr>
              <a:t>{{</a:t>
            </a:r>
            <a:r>
              <a:rPr lang="en-US" altLang="zh-TW" sz="2600" dirty="0"/>
              <a:t>posts</a:t>
            </a:r>
            <a:r>
              <a:rPr lang="en-US" altLang="zh-TW" sz="2600" dirty="0">
                <a:solidFill>
                  <a:srgbClr val="FF0000"/>
                </a:solidFill>
              </a:rPr>
              <a:t>}}</a:t>
            </a:r>
            <a:endParaRPr lang="zh-TW" altLang="zh-TW" sz="2600" dirty="0">
              <a:solidFill>
                <a:srgbClr val="FF0000"/>
              </a:solidFill>
            </a:endParaRPr>
          </a:p>
          <a:p>
            <a:pPr marL="274320" lvl="1" indent="0">
              <a:buNone/>
            </a:pPr>
            <a:r>
              <a:rPr lang="en-US" altLang="zh-TW" sz="2600" dirty="0"/>
              <a:t>    &lt;</a:t>
            </a:r>
            <a:r>
              <a:rPr lang="en-US" altLang="zh-TW" sz="2600" dirty="0" err="1"/>
              <a:t>hr</a:t>
            </a:r>
            <a:r>
              <a:rPr lang="en-US" altLang="zh-TW" sz="2600" dirty="0"/>
              <a:t>&gt;</a:t>
            </a:r>
            <a:endParaRPr lang="zh-TW" altLang="zh-TW" sz="2600" dirty="0"/>
          </a:p>
          <a:p>
            <a:pPr marL="274320" lvl="1" indent="0">
              <a:buNone/>
            </a:pPr>
            <a:r>
              <a:rPr lang="en-US" altLang="zh-TW" sz="2600" dirty="0"/>
              <a:t>    &lt;h3&gt;</a:t>
            </a:r>
            <a:r>
              <a:rPr lang="zh-TW" altLang="zh-TW" sz="2600" dirty="0"/>
              <a:t>現在時刻：</a:t>
            </a:r>
            <a:r>
              <a:rPr lang="en-US" altLang="zh-TW" sz="2600" dirty="0">
                <a:solidFill>
                  <a:srgbClr val="FF0000"/>
                </a:solidFill>
              </a:rPr>
              <a:t>{{</a:t>
            </a:r>
            <a:r>
              <a:rPr lang="en-US" altLang="zh-TW" sz="2600" dirty="0"/>
              <a:t> now </a:t>
            </a:r>
            <a:r>
              <a:rPr lang="en-US" altLang="zh-TW" sz="2600" dirty="0">
                <a:solidFill>
                  <a:srgbClr val="FF0000"/>
                </a:solidFill>
              </a:rPr>
              <a:t>}}</a:t>
            </a:r>
            <a:r>
              <a:rPr lang="en-US" altLang="zh-TW" sz="2600" dirty="0"/>
              <a:t>&lt;/h3&gt;</a:t>
            </a:r>
            <a:endParaRPr lang="zh-TW" altLang="zh-TW" sz="2600" dirty="0"/>
          </a:p>
          <a:p>
            <a:pPr marL="274320" lvl="1" indent="0">
              <a:buNone/>
            </a:pPr>
            <a:r>
              <a:rPr lang="en-US" altLang="zh-TW" sz="2600" dirty="0"/>
              <a:t>&lt;/body&gt;</a:t>
            </a:r>
            <a:endParaRPr lang="zh-TW" altLang="zh-TW" sz="2600" dirty="0"/>
          </a:p>
          <a:p>
            <a:pPr marL="274320" lvl="1" indent="0">
              <a:buNone/>
            </a:pPr>
            <a:r>
              <a:rPr lang="en-US" altLang="zh-TW" sz="2600" dirty="0"/>
              <a:t>&lt;/html&gt;</a:t>
            </a:r>
            <a:endParaRPr lang="zh-TW" altLang="zh-TW" sz="2600" dirty="0"/>
          </a:p>
          <a:p>
            <a:endParaRPr lang="zh-TW" altLang="en-US" dirty="0"/>
          </a:p>
        </p:txBody>
      </p:sp>
    </p:spTree>
    <p:extLst>
      <p:ext uri="{BB962C8B-B14F-4D97-AF65-F5344CB8AC3E}">
        <p14:creationId xmlns:p14="http://schemas.microsoft.com/office/powerpoint/2010/main" val="24030721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建立網頁輸出模版</a:t>
            </a:r>
            <a:r>
              <a:rPr lang="en-US" altLang="zh-TW" dirty="0"/>
              <a:t>template</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42</a:t>
            </a:fld>
            <a:endParaRPr lang="zh-TW" altLang="en-US"/>
          </a:p>
        </p:txBody>
      </p:sp>
      <p:sp>
        <p:nvSpPr>
          <p:cNvPr id="4" name="內容版面配置區 3"/>
          <p:cNvSpPr>
            <a:spLocks noGrp="1"/>
          </p:cNvSpPr>
          <p:nvPr>
            <p:ph sz="quarter" idx="1"/>
          </p:nvPr>
        </p:nvSpPr>
        <p:spPr/>
        <p:txBody>
          <a:bodyPr/>
          <a:lstStyle/>
          <a:p>
            <a:r>
              <a:rPr lang="zh-TW" altLang="zh-TW" dirty="0"/>
              <a:t>加上</a:t>
            </a:r>
            <a:r>
              <a:rPr lang="en-US" altLang="zh-TW" dirty="0"/>
              <a:t>index.html</a:t>
            </a:r>
            <a:r>
              <a:rPr lang="zh-TW" altLang="zh-TW" dirty="0"/>
              <a:t>模版的網頁</a:t>
            </a:r>
            <a:endParaRPr lang="zh-TW" altLang="en-US" dirty="0"/>
          </a:p>
        </p:txBody>
      </p:sp>
      <p:pic>
        <p:nvPicPr>
          <p:cNvPr id="5" name="圖片 4"/>
          <p:cNvPicPr/>
          <p:nvPr/>
        </p:nvPicPr>
        <p:blipFill>
          <a:blip r:embed="rId2">
            <a:extLst>
              <a:ext uri="{28A0092B-C50C-407E-A947-70E740481C1C}">
                <a14:useLocalDpi xmlns:a14="http://schemas.microsoft.com/office/drawing/2010/main" val="0"/>
              </a:ext>
            </a:extLst>
          </a:blip>
          <a:stretch>
            <a:fillRect/>
          </a:stretch>
        </p:blipFill>
        <p:spPr>
          <a:xfrm>
            <a:off x="1799692" y="2018609"/>
            <a:ext cx="5544616" cy="4176464"/>
          </a:xfrm>
          <a:prstGeom prst="rect">
            <a:avLst/>
          </a:prstGeom>
        </p:spPr>
      </p:pic>
    </p:spTree>
    <p:extLst>
      <p:ext uri="{BB962C8B-B14F-4D97-AF65-F5344CB8AC3E}">
        <p14:creationId xmlns:p14="http://schemas.microsoft.com/office/powerpoint/2010/main" val="21761423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47E437C-D848-ECA5-6E7F-B086A476A278}"/>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5285D5B4-F1BA-9C16-9E13-18E3A3DDF383}"/>
              </a:ext>
            </a:extLst>
          </p:cNvPr>
          <p:cNvSpPr>
            <a:spLocks noGrp="1"/>
          </p:cNvSpPr>
          <p:nvPr>
            <p:ph type="title"/>
          </p:nvPr>
        </p:nvSpPr>
        <p:spPr/>
        <p:txBody>
          <a:bodyPr/>
          <a:lstStyle/>
          <a:p>
            <a:r>
              <a:rPr lang="zh-TW" altLang="zh-TW" dirty="0"/>
              <a:t>建立網頁輸出模版</a:t>
            </a:r>
            <a:r>
              <a:rPr lang="en-US" altLang="zh-TW" dirty="0"/>
              <a:t>template</a:t>
            </a:r>
            <a:endParaRPr lang="zh-TW" altLang="en-US" dirty="0"/>
          </a:p>
        </p:txBody>
      </p:sp>
      <p:sp>
        <p:nvSpPr>
          <p:cNvPr id="3" name="投影片編號版面配置區 2">
            <a:extLst>
              <a:ext uri="{FF2B5EF4-FFF2-40B4-BE49-F238E27FC236}">
                <a16:creationId xmlns:a16="http://schemas.microsoft.com/office/drawing/2014/main" id="{46C2697F-FCF5-5E99-178B-1C9258D06642}"/>
              </a:ext>
            </a:extLst>
          </p:cNvPr>
          <p:cNvSpPr>
            <a:spLocks noGrp="1"/>
          </p:cNvSpPr>
          <p:nvPr>
            <p:ph type="sldNum" sz="quarter" idx="12"/>
          </p:nvPr>
        </p:nvSpPr>
        <p:spPr/>
        <p:txBody>
          <a:bodyPr/>
          <a:lstStyle/>
          <a:p>
            <a:fld id="{369E457D-EE12-4164-8E32-9DDD40A95892}" type="slidenum">
              <a:rPr lang="zh-TW" altLang="en-US" smtClean="0"/>
              <a:pPr/>
              <a:t>43</a:t>
            </a:fld>
            <a:endParaRPr lang="zh-TW" altLang="en-US"/>
          </a:p>
        </p:txBody>
      </p:sp>
      <p:sp>
        <p:nvSpPr>
          <p:cNvPr id="4" name="內容版面配置區 3">
            <a:extLst>
              <a:ext uri="{FF2B5EF4-FFF2-40B4-BE49-F238E27FC236}">
                <a16:creationId xmlns:a16="http://schemas.microsoft.com/office/drawing/2014/main" id="{1D079982-EA5C-0992-3600-C708B56107AC}"/>
              </a:ext>
            </a:extLst>
          </p:cNvPr>
          <p:cNvSpPr>
            <a:spLocks noGrp="1"/>
          </p:cNvSpPr>
          <p:nvPr>
            <p:ph sz="quarter" idx="1"/>
          </p:nvPr>
        </p:nvSpPr>
        <p:spPr/>
        <p:txBody>
          <a:bodyPr/>
          <a:lstStyle/>
          <a:p>
            <a:r>
              <a:rPr lang="zh-TW" altLang="zh-TW" dirty="0"/>
              <a:t>加上</a:t>
            </a:r>
            <a:r>
              <a:rPr lang="en-US" altLang="zh-TW" dirty="0"/>
              <a:t>index.html</a:t>
            </a:r>
            <a:r>
              <a:rPr lang="zh-TW" altLang="zh-TW" dirty="0"/>
              <a:t>模版的網頁</a:t>
            </a:r>
            <a:endParaRPr lang="zh-TW" altLang="en-US" dirty="0"/>
          </a:p>
        </p:txBody>
      </p:sp>
      <p:pic>
        <p:nvPicPr>
          <p:cNvPr id="7" name="圖片 6">
            <a:extLst>
              <a:ext uri="{FF2B5EF4-FFF2-40B4-BE49-F238E27FC236}">
                <a16:creationId xmlns:a16="http://schemas.microsoft.com/office/drawing/2014/main" id="{EFCD3577-A892-A8FF-B9A8-42A8CAEC0DAA}"/>
              </a:ext>
            </a:extLst>
          </p:cNvPr>
          <p:cNvPicPr>
            <a:picLocks noChangeAspect="1"/>
          </p:cNvPicPr>
          <p:nvPr/>
        </p:nvPicPr>
        <p:blipFill>
          <a:blip r:embed="rId2"/>
          <a:stretch>
            <a:fillRect/>
          </a:stretch>
        </p:blipFill>
        <p:spPr>
          <a:xfrm>
            <a:off x="107504" y="2276872"/>
            <a:ext cx="8856984" cy="3435047"/>
          </a:xfrm>
          <a:prstGeom prst="rect">
            <a:avLst/>
          </a:prstGeom>
        </p:spPr>
      </p:pic>
    </p:spTree>
    <p:extLst>
      <p:ext uri="{BB962C8B-B14F-4D97-AF65-F5344CB8AC3E}">
        <p14:creationId xmlns:p14="http://schemas.microsoft.com/office/powerpoint/2010/main" val="33116153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建立網頁輸出模版</a:t>
            </a:r>
            <a:r>
              <a:rPr lang="en-US" altLang="zh-TW" dirty="0"/>
              <a:t>template</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44</a:t>
            </a:fld>
            <a:endParaRPr lang="zh-TW" altLang="en-US"/>
          </a:p>
        </p:txBody>
      </p:sp>
      <p:sp>
        <p:nvSpPr>
          <p:cNvPr id="4" name="內容版面配置區 3"/>
          <p:cNvSpPr>
            <a:spLocks noGrp="1"/>
          </p:cNvSpPr>
          <p:nvPr>
            <p:ph sz="quarter" idx="1"/>
          </p:nvPr>
        </p:nvSpPr>
        <p:spPr/>
        <p:txBody>
          <a:bodyPr/>
          <a:lstStyle/>
          <a:p>
            <a:r>
              <a:rPr lang="zh-TW" altLang="zh-TW" dirty="0"/>
              <a:t>在</a:t>
            </a:r>
            <a:r>
              <a:rPr lang="en-US" altLang="zh-TW" dirty="0"/>
              <a:t>template</a:t>
            </a:r>
            <a:r>
              <a:rPr lang="zh-TW" altLang="zh-TW" dirty="0"/>
              <a:t>也有一套模版語言可以用來在模版檔案中解析這些資料項目，在此先說明如何透過</a:t>
            </a:r>
            <a:r>
              <a:rPr lang="en-US" altLang="zh-TW" dirty="0">
                <a:solidFill>
                  <a:srgbClr val="FF0000"/>
                </a:solidFill>
              </a:rPr>
              <a:t>for</a:t>
            </a:r>
            <a:r>
              <a:rPr lang="zh-TW" altLang="zh-TW" dirty="0">
                <a:solidFill>
                  <a:srgbClr val="FF0000"/>
                </a:solidFill>
              </a:rPr>
              <a:t>迴圈</a:t>
            </a:r>
            <a:r>
              <a:rPr lang="zh-TW" altLang="zh-TW" dirty="0"/>
              <a:t>把資料集中的項目一個一個</a:t>
            </a:r>
            <a:r>
              <a:rPr lang="zh-TW" altLang="zh-TW" dirty="0">
                <a:solidFill>
                  <a:srgbClr val="FF0000"/>
                </a:solidFill>
              </a:rPr>
              <a:t>取出使用</a:t>
            </a:r>
            <a:endParaRPr lang="en-US" altLang="zh-TW" dirty="0">
              <a:solidFill>
                <a:srgbClr val="FF0000"/>
              </a:solidFill>
            </a:endParaRPr>
          </a:p>
          <a:p>
            <a:pPr marL="274320" lvl="1" indent="0">
              <a:buNone/>
            </a:pPr>
            <a:r>
              <a:rPr lang="en-US" altLang="zh-TW" dirty="0"/>
              <a:t>&lt;!DOCTYPE html&gt;</a:t>
            </a:r>
          </a:p>
          <a:p>
            <a:pPr marL="274320" lvl="1" indent="0">
              <a:buNone/>
            </a:pPr>
            <a:r>
              <a:rPr lang="en-US" altLang="zh-TW" dirty="0"/>
              <a:t>&lt;html&gt;</a:t>
            </a:r>
          </a:p>
          <a:p>
            <a:pPr marL="274320" lvl="1" indent="0">
              <a:buNone/>
            </a:pPr>
            <a:r>
              <a:rPr lang="en-US" altLang="zh-TW" dirty="0"/>
              <a:t>&lt;head&gt;</a:t>
            </a:r>
          </a:p>
          <a:p>
            <a:pPr marL="274320" lvl="1" indent="0">
              <a:buNone/>
            </a:pPr>
            <a:r>
              <a:rPr lang="en-US" altLang="zh-TW" dirty="0"/>
              <a:t>    &lt;meta charset='utf-8'&gt;</a:t>
            </a:r>
          </a:p>
          <a:p>
            <a:pPr marL="274320" lvl="1" indent="0">
              <a:buNone/>
            </a:pPr>
            <a:r>
              <a:rPr lang="en-US" altLang="zh-TW" dirty="0"/>
              <a:t>    &lt;title&gt;</a:t>
            </a:r>
          </a:p>
          <a:p>
            <a:pPr marL="274320" lvl="1" indent="0">
              <a:buNone/>
            </a:pPr>
            <a:r>
              <a:rPr lang="en-US" altLang="zh-TW" dirty="0"/>
              <a:t>        </a:t>
            </a:r>
            <a:r>
              <a:rPr lang="zh-TW" altLang="en-US" dirty="0"/>
              <a:t>歡迎光臨我的部落格</a:t>
            </a:r>
          </a:p>
          <a:p>
            <a:pPr marL="274320" lvl="1" indent="0">
              <a:buNone/>
            </a:pPr>
            <a:r>
              <a:rPr lang="zh-TW" altLang="en-US" dirty="0"/>
              <a:t>    </a:t>
            </a:r>
            <a:r>
              <a:rPr lang="en-US" altLang="zh-TW" dirty="0"/>
              <a:t>&lt;/title&gt;</a:t>
            </a:r>
          </a:p>
          <a:p>
            <a:pPr marL="274320" lvl="1" indent="0">
              <a:buNone/>
            </a:pPr>
            <a:r>
              <a:rPr lang="en-US" altLang="zh-TW" dirty="0"/>
              <a:t>&lt;/head&gt;</a:t>
            </a:r>
          </a:p>
          <a:p>
            <a:pPr lvl="1"/>
            <a:endParaRPr lang="zh-TW" altLang="en-US" dirty="0"/>
          </a:p>
        </p:txBody>
      </p:sp>
    </p:spTree>
    <p:extLst>
      <p:ext uri="{BB962C8B-B14F-4D97-AF65-F5344CB8AC3E}">
        <p14:creationId xmlns:p14="http://schemas.microsoft.com/office/powerpoint/2010/main" val="26635940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建立網頁輸出模版</a:t>
            </a:r>
            <a:r>
              <a:rPr lang="en-US" altLang="zh-TW" dirty="0"/>
              <a:t>template</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45</a:t>
            </a:fld>
            <a:endParaRPr lang="zh-TW" altLang="en-US"/>
          </a:p>
        </p:txBody>
      </p:sp>
      <p:sp>
        <p:nvSpPr>
          <p:cNvPr id="4" name="內容版面配置區 3"/>
          <p:cNvSpPr>
            <a:spLocks noGrp="1"/>
          </p:cNvSpPr>
          <p:nvPr>
            <p:ph sz="quarter" idx="1"/>
          </p:nvPr>
        </p:nvSpPr>
        <p:spPr/>
        <p:txBody>
          <a:bodyPr>
            <a:normAutofit fontScale="92500" lnSpcReduction="10000"/>
          </a:bodyPr>
          <a:lstStyle/>
          <a:p>
            <a:pPr marL="274320" lvl="1" indent="0">
              <a:buNone/>
            </a:pPr>
            <a:r>
              <a:rPr lang="en-US" altLang="zh-TW" dirty="0"/>
              <a:t>&lt;body&gt;</a:t>
            </a:r>
          </a:p>
          <a:p>
            <a:pPr marL="274320" lvl="1" indent="0">
              <a:buNone/>
            </a:pPr>
            <a:r>
              <a:rPr lang="en-US" altLang="zh-TW" dirty="0"/>
              <a:t>    &lt;h1&gt;</a:t>
            </a:r>
            <a:r>
              <a:rPr lang="zh-TW" altLang="en-US" dirty="0"/>
              <a:t>歡迎光臨我的部落格</a:t>
            </a:r>
            <a:r>
              <a:rPr lang="en-US" altLang="zh-TW" dirty="0"/>
              <a:t>&lt;/h1&gt;</a:t>
            </a:r>
          </a:p>
          <a:p>
            <a:pPr marL="274320" lvl="1" indent="0">
              <a:buNone/>
            </a:pPr>
            <a:r>
              <a:rPr lang="en-US" altLang="zh-TW" dirty="0"/>
              <a:t>    &lt;</a:t>
            </a:r>
            <a:r>
              <a:rPr lang="en-US" altLang="zh-TW" dirty="0" err="1"/>
              <a:t>hr</a:t>
            </a:r>
            <a:r>
              <a:rPr lang="en-US" altLang="zh-TW" dirty="0"/>
              <a:t>&gt;</a:t>
            </a:r>
          </a:p>
          <a:p>
            <a:pPr marL="274320" lvl="1" indent="0">
              <a:buNone/>
            </a:pPr>
            <a:r>
              <a:rPr lang="en-US" altLang="zh-TW" dirty="0"/>
              <a:t>    </a:t>
            </a:r>
            <a:r>
              <a:rPr lang="en-US" altLang="zh-TW" dirty="0">
                <a:solidFill>
                  <a:srgbClr val="FF0000"/>
                </a:solidFill>
              </a:rPr>
              <a:t>{% for post in posts %}</a:t>
            </a:r>
          </a:p>
          <a:p>
            <a:pPr marL="274320" lvl="1" indent="0">
              <a:buNone/>
            </a:pPr>
            <a:r>
              <a:rPr lang="en-US" altLang="zh-TW" dirty="0"/>
              <a:t>        &lt;p style='font-family:</a:t>
            </a:r>
            <a:r>
              <a:rPr lang="zh-TW" altLang="en-US" dirty="0"/>
              <a:t>微軟正黑體</a:t>
            </a:r>
            <a:r>
              <a:rPr lang="en-US" altLang="zh-TW" dirty="0"/>
              <a:t>;font-size:16pt;font-weight:bold;'&gt;</a:t>
            </a:r>
          </a:p>
          <a:p>
            <a:pPr marL="274320" lvl="1" indent="0">
              <a:buNone/>
            </a:pPr>
            <a:r>
              <a:rPr lang="en-US" altLang="zh-TW" dirty="0"/>
              <a:t>            {{ </a:t>
            </a:r>
            <a:r>
              <a:rPr lang="en-US" altLang="zh-TW" dirty="0" err="1">
                <a:solidFill>
                  <a:srgbClr val="FF0000"/>
                </a:solidFill>
              </a:rPr>
              <a:t>post.title</a:t>
            </a:r>
            <a:r>
              <a:rPr lang="en-US" altLang="zh-TW" dirty="0">
                <a:solidFill>
                  <a:srgbClr val="FF0000"/>
                </a:solidFill>
              </a:rPr>
              <a:t> </a:t>
            </a:r>
            <a:r>
              <a:rPr lang="en-US" altLang="zh-TW" dirty="0"/>
              <a:t>}}</a:t>
            </a:r>
          </a:p>
          <a:p>
            <a:pPr marL="274320" lvl="1" indent="0">
              <a:buNone/>
            </a:pPr>
            <a:r>
              <a:rPr lang="en-US" altLang="zh-TW" dirty="0"/>
              <a:t>        &lt;/p&gt;</a:t>
            </a:r>
          </a:p>
          <a:p>
            <a:pPr marL="274320" lvl="1" indent="0">
              <a:buNone/>
            </a:pPr>
            <a:r>
              <a:rPr lang="en-US" altLang="zh-TW" dirty="0"/>
              <a:t>        &lt;p style='font-family:</a:t>
            </a:r>
            <a:r>
              <a:rPr lang="zh-TW" altLang="en-US" dirty="0"/>
              <a:t>微軟正黑體</a:t>
            </a:r>
            <a:r>
              <a:rPr lang="en-US" altLang="zh-TW" dirty="0"/>
              <a:t>;font-size:10pt;letter-spacing:1pt;'&gt;</a:t>
            </a:r>
          </a:p>
          <a:p>
            <a:pPr marL="274320" lvl="1" indent="0">
              <a:buNone/>
            </a:pPr>
            <a:r>
              <a:rPr lang="en-US" altLang="zh-TW" dirty="0"/>
              <a:t>	     {{ </a:t>
            </a:r>
            <a:r>
              <a:rPr lang="en-US" altLang="zh-TW" dirty="0" err="1">
                <a:solidFill>
                  <a:srgbClr val="FF0000"/>
                </a:solidFill>
              </a:rPr>
              <a:t>post.body</a:t>
            </a:r>
            <a:r>
              <a:rPr lang="en-US" altLang="zh-TW" dirty="0">
                <a:solidFill>
                  <a:srgbClr val="FF0000"/>
                </a:solidFill>
              </a:rPr>
              <a:t> </a:t>
            </a:r>
            <a:r>
              <a:rPr lang="en-US" altLang="zh-TW" dirty="0"/>
              <a:t>}} </a:t>
            </a:r>
          </a:p>
          <a:p>
            <a:pPr marL="274320" lvl="1" indent="0">
              <a:buNone/>
            </a:pPr>
            <a:r>
              <a:rPr lang="en-US" altLang="zh-TW" dirty="0"/>
              <a:t>&lt;/p&gt;</a:t>
            </a:r>
          </a:p>
          <a:p>
            <a:pPr marL="274320" lvl="1" indent="0">
              <a:buNone/>
            </a:pPr>
            <a:r>
              <a:rPr lang="en-US" altLang="zh-TW" dirty="0"/>
              <a:t>    </a:t>
            </a:r>
            <a:r>
              <a:rPr lang="en-US" altLang="zh-TW" dirty="0">
                <a:solidFill>
                  <a:srgbClr val="FF0000"/>
                </a:solidFill>
              </a:rPr>
              <a:t>{% </a:t>
            </a:r>
            <a:r>
              <a:rPr lang="en-US" altLang="zh-TW" dirty="0" err="1">
                <a:solidFill>
                  <a:srgbClr val="FF0000"/>
                </a:solidFill>
              </a:rPr>
              <a:t>endfor</a:t>
            </a:r>
            <a:r>
              <a:rPr lang="en-US" altLang="zh-TW" dirty="0">
                <a:solidFill>
                  <a:srgbClr val="FF0000"/>
                </a:solidFill>
              </a:rPr>
              <a:t> %}</a:t>
            </a:r>
          </a:p>
          <a:p>
            <a:pPr lvl="1"/>
            <a:endParaRPr lang="zh-TW" altLang="en-US" dirty="0"/>
          </a:p>
        </p:txBody>
      </p:sp>
    </p:spTree>
    <p:extLst>
      <p:ext uri="{BB962C8B-B14F-4D97-AF65-F5344CB8AC3E}">
        <p14:creationId xmlns:p14="http://schemas.microsoft.com/office/powerpoint/2010/main" val="36055384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23E612F-5ADD-C6F7-8EF2-6A4A039077BE}"/>
              </a:ext>
            </a:extLst>
          </p:cNvPr>
          <p:cNvSpPr>
            <a:spLocks noGrp="1"/>
          </p:cNvSpPr>
          <p:nvPr>
            <p:ph type="title"/>
          </p:nvPr>
        </p:nvSpPr>
        <p:spPr/>
        <p:txBody>
          <a:bodyPr/>
          <a:lstStyle/>
          <a:p>
            <a:endParaRPr lang="zh-TW" altLang="en-US" dirty="0"/>
          </a:p>
        </p:txBody>
      </p:sp>
      <p:sp>
        <p:nvSpPr>
          <p:cNvPr id="3" name="直排文字版面配置區 2">
            <a:extLst>
              <a:ext uri="{FF2B5EF4-FFF2-40B4-BE49-F238E27FC236}">
                <a16:creationId xmlns:a16="http://schemas.microsoft.com/office/drawing/2014/main" id="{4BD4CF69-4664-70DF-78B9-54B44FB84A13}"/>
              </a:ext>
            </a:extLst>
          </p:cNvPr>
          <p:cNvSpPr>
            <a:spLocks noGrp="1"/>
          </p:cNvSpPr>
          <p:nvPr>
            <p:ph type="body" orient="vert"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E21F0B17-26E4-2B15-8EDB-5FAFFD507B71}"/>
              </a:ext>
            </a:extLst>
          </p:cNvPr>
          <p:cNvSpPr>
            <a:spLocks noGrp="1"/>
          </p:cNvSpPr>
          <p:nvPr>
            <p:ph type="sldNum" sz="quarter" idx="12"/>
          </p:nvPr>
        </p:nvSpPr>
        <p:spPr/>
        <p:txBody>
          <a:bodyPr/>
          <a:lstStyle/>
          <a:p>
            <a:fld id="{369E457D-EE12-4164-8E32-9DDD40A95892}" type="slidenum">
              <a:rPr lang="zh-TW" altLang="en-US" smtClean="0"/>
              <a:pPr/>
              <a:t>46</a:t>
            </a:fld>
            <a:endParaRPr lang="zh-TW" altLang="en-US"/>
          </a:p>
        </p:txBody>
      </p:sp>
      <p:pic>
        <p:nvPicPr>
          <p:cNvPr id="8" name="圖片 7">
            <a:extLst>
              <a:ext uri="{FF2B5EF4-FFF2-40B4-BE49-F238E27FC236}">
                <a16:creationId xmlns:a16="http://schemas.microsoft.com/office/drawing/2014/main" id="{361CEEA8-6DD8-E4C8-60E7-9A71D409C3CE}"/>
              </a:ext>
            </a:extLst>
          </p:cNvPr>
          <p:cNvPicPr>
            <a:picLocks noChangeAspect="1"/>
          </p:cNvPicPr>
          <p:nvPr/>
        </p:nvPicPr>
        <p:blipFill>
          <a:blip r:embed="rId3"/>
          <a:stretch>
            <a:fillRect/>
          </a:stretch>
        </p:blipFill>
        <p:spPr>
          <a:xfrm>
            <a:off x="27962" y="8523"/>
            <a:ext cx="9144000" cy="4028011"/>
          </a:xfrm>
          <a:prstGeom prst="rect">
            <a:avLst/>
          </a:prstGeom>
        </p:spPr>
      </p:pic>
      <p:pic>
        <p:nvPicPr>
          <p:cNvPr id="10" name="圖片 9">
            <a:extLst>
              <a:ext uri="{FF2B5EF4-FFF2-40B4-BE49-F238E27FC236}">
                <a16:creationId xmlns:a16="http://schemas.microsoft.com/office/drawing/2014/main" id="{588CAF54-6267-696B-C0E8-B80D98F70BF1}"/>
              </a:ext>
            </a:extLst>
          </p:cNvPr>
          <p:cNvPicPr>
            <a:picLocks noChangeAspect="1"/>
          </p:cNvPicPr>
          <p:nvPr/>
        </p:nvPicPr>
        <p:blipFill>
          <a:blip r:embed="rId4"/>
          <a:stretch>
            <a:fillRect/>
          </a:stretch>
        </p:blipFill>
        <p:spPr>
          <a:xfrm>
            <a:off x="-34058" y="4194940"/>
            <a:ext cx="4582164" cy="2267266"/>
          </a:xfrm>
          <a:prstGeom prst="rect">
            <a:avLst/>
          </a:prstGeom>
        </p:spPr>
      </p:pic>
      <p:pic>
        <p:nvPicPr>
          <p:cNvPr id="6" name="圖片 5">
            <a:extLst>
              <a:ext uri="{FF2B5EF4-FFF2-40B4-BE49-F238E27FC236}">
                <a16:creationId xmlns:a16="http://schemas.microsoft.com/office/drawing/2014/main" id="{1B76457A-0941-A429-5809-E17BA470EF13}"/>
              </a:ext>
            </a:extLst>
          </p:cNvPr>
          <p:cNvPicPr>
            <a:picLocks noChangeAspect="1"/>
          </p:cNvPicPr>
          <p:nvPr/>
        </p:nvPicPr>
        <p:blipFill>
          <a:blip r:embed="rId5"/>
          <a:stretch>
            <a:fillRect/>
          </a:stretch>
        </p:blipFill>
        <p:spPr>
          <a:xfrm>
            <a:off x="4516482" y="4475377"/>
            <a:ext cx="5306165" cy="1648055"/>
          </a:xfrm>
          <a:prstGeom prst="rect">
            <a:avLst/>
          </a:prstGeom>
        </p:spPr>
      </p:pic>
      <p:sp>
        <p:nvSpPr>
          <p:cNvPr id="5" name="文字方塊 4">
            <a:extLst>
              <a:ext uri="{FF2B5EF4-FFF2-40B4-BE49-F238E27FC236}">
                <a16:creationId xmlns:a16="http://schemas.microsoft.com/office/drawing/2014/main" id="{5CBD748E-886E-B8FF-EE31-F1E8A521DE02}"/>
              </a:ext>
            </a:extLst>
          </p:cNvPr>
          <p:cNvSpPr txBox="1"/>
          <p:nvPr/>
        </p:nvSpPr>
        <p:spPr>
          <a:xfrm>
            <a:off x="3651406" y="3868248"/>
            <a:ext cx="5447325" cy="923330"/>
          </a:xfrm>
          <a:prstGeom prst="rect">
            <a:avLst/>
          </a:prstGeom>
          <a:noFill/>
        </p:spPr>
        <p:txBody>
          <a:bodyPr wrap="none" rtlCol="0">
            <a:spAutoFit/>
          </a:bodyPr>
          <a:lstStyle/>
          <a:p>
            <a:r>
              <a:rPr lang="zh-TW" altLang="en-US" dirty="0">
                <a:solidFill>
                  <a:srgbClr val="FF0000"/>
                </a:solidFill>
              </a:rPr>
              <a:t>到設定：檔案</a:t>
            </a:r>
            <a:r>
              <a:rPr lang="en-US" altLang="zh-TW" dirty="0">
                <a:solidFill>
                  <a:srgbClr val="FF0000"/>
                </a:solidFill>
              </a:rPr>
              <a:t>-&gt;</a:t>
            </a:r>
            <a:r>
              <a:rPr lang="zh-TW" altLang="en-US" dirty="0">
                <a:solidFill>
                  <a:srgbClr val="FF0000"/>
                </a:solidFill>
              </a:rPr>
              <a:t>喜好設定</a:t>
            </a:r>
            <a:r>
              <a:rPr lang="en-US" altLang="zh-TW" dirty="0">
                <a:solidFill>
                  <a:srgbClr val="FF0000"/>
                </a:solidFill>
              </a:rPr>
              <a:t>-&gt;</a:t>
            </a:r>
            <a:r>
              <a:rPr lang="zh-TW" altLang="en-US" dirty="0">
                <a:solidFill>
                  <a:srgbClr val="FF0000"/>
                </a:solidFill>
              </a:rPr>
              <a:t>設定</a:t>
            </a:r>
            <a:endParaRPr lang="en-US" altLang="zh-TW" dirty="0">
              <a:solidFill>
                <a:srgbClr val="FF0000"/>
              </a:solidFill>
            </a:endParaRPr>
          </a:p>
          <a:p>
            <a:r>
              <a:rPr lang="zh-TW" altLang="en-US" dirty="0">
                <a:solidFill>
                  <a:srgbClr val="FF0000"/>
                </a:solidFill>
              </a:rPr>
              <a:t>搜尋：</a:t>
            </a:r>
            <a:r>
              <a:rPr lang="en-US" altLang="zh-TW" dirty="0">
                <a:solidFill>
                  <a:srgbClr val="FF0000"/>
                </a:solidFill>
              </a:rPr>
              <a:t>Emmet: Include Languages -&gt; </a:t>
            </a:r>
            <a:r>
              <a:rPr lang="zh-TW" altLang="en-US" dirty="0">
                <a:solidFill>
                  <a:srgbClr val="FF0000"/>
                </a:solidFill>
              </a:rPr>
              <a:t>新增項目</a:t>
            </a:r>
          </a:p>
          <a:p>
            <a:endParaRPr lang="zh-TW" altLang="en-US" dirty="0">
              <a:solidFill>
                <a:srgbClr val="FF0000"/>
              </a:solidFill>
            </a:endParaRPr>
          </a:p>
        </p:txBody>
      </p:sp>
    </p:spTree>
    <p:extLst>
      <p:ext uri="{BB962C8B-B14F-4D97-AF65-F5344CB8AC3E}">
        <p14:creationId xmlns:p14="http://schemas.microsoft.com/office/powerpoint/2010/main" val="23061363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43F1CFD5-37E0-8DF6-28E1-FE4F7D377C05}"/>
              </a:ext>
            </a:extLst>
          </p:cNvPr>
          <p:cNvSpPr>
            <a:spLocks noGrp="1"/>
          </p:cNvSpPr>
          <p:nvPr>
            <p:ph type="sldNum" sz="quarter" idx="12"/>
          </p:nvPr>
        </p:nvSpPr>
        <p:spPr/>
        <p:txBody>
          <a:bodyPr/>
          <a:lstStyle/>
          <a:p>
            <a:fld id="{369E457D-EE12-4164-8E32-9DDD40A95892}" type="slidenum">
              <a:rPr lang="zh-TW" altLang="en-US" smtClean="0"/>
              <a:pPr/>
              <a:t>47</a:t>
            </a:fld>
            <a:endParaRPr lang="zh-TW" altLang="en-US"/>
          </a:p>
        </p:txBody>
      </p:sp>
      <p:pic>
        <p:nvPicPr>
          <p:cNvPr id="4" name="圖片 3">
            <a:extLst>
              <a:ext uri="{FF2B5EF4-FFF2-40B4-BE49-F238E27FC236}">
                <a16:creationId xmlns:a16="http://schemas.microsoft.com/office/drawing/2014/main" id="{3BDFA135-F301-0039-0C7D-1E34D1AC697C}"/>
              </a:ext>
            </a:extLst>
          </p:cNvPr>
          <p:cNvPicPr>
            <a:picLocks noChangeAspect="1"/>
          </p:cNvPicPr>
          <p:nvPr/>
        </p:nvPicPr>
        <p:blipFill>
          <a:blip r:embed="rId2"/>
          <a:stretch>
            <a:fillRect/>
          </a:stretch>
        </p:blipFill>
        <p:spPr>
          <a:xfrm>
            <a:off x="-19708" y="1089"/>
            <a:ext cx="9144000" cy="2391508"/>
          </a:xfrm>
          <a:prstGeom prst="rect">
            <a:avLst/>
          </a:prstGeom>
        </p:spPr>
      </p:pic>
      <p:pic>
        <p:nvPicPr>
          <p:cNvPr id="6" name="圖片 5">
            <a:extLst>
              <a:ext uri="{FF2B5EF4-FFF2-40B4-BE49-F238E27FC236}">
                <a16:creationId xmlns:a16="http://schemas.microsoft.com/office/drawing/2014/main" id="{2AA5510D-A571-B41D-A58A-D09136166EB0}"/>
              </a:ext>
            </a:extLst>
          </p:cNvPr>
          <p:cNvPicPr>
            <a:picLocks noChangeAspect="1"/>
          </p:cNvPicPr>
          <p:nvPr/>
        </p:nvPicPr>
        <p:blipFill>
          <a:blip r:embed="rId3"/>
          <a:stretch>
            <a:fillRect/>
          </a:stretch>
        </p:blipFill>
        <p:spPr>
          <a:xfrm>
            <a:off x="544" y="2392597"/>
            <a:ext cx="4448796" cy="3315163"/>
          </a:xfrm>
          <a:prstGeom prst="rect">
            <a:avLst/>
          </a:prstGeom>
        </p:spPr>
      </p:pic>
      <p:cxnSp>
        <p:nvCxnSpPr>
          <p:cNvPr id="8" name="直線單箭頭接點 7">
            <a:extLst>
              <a:ext uri="{FF2B5EF4-FFF2-40B4-BE49-F238E27FC236}">
                <a16:creationId xmlns:a16="http://schemas.microsoft.com/office/drawing/2014/main" id="{2BD5CB5E-FEFD-5C8A-7364-14DED3CEBA58}"/>
              </a:ext>
            </a:extLst>
          </p:cNvPr>
          <p:cNvCxnSpPr/>
          <p:nvPr/>
        </p:nvCxnSpPr>
        <p:spPr>
          <a:xfrm flipH="1">
            <a:off x="2339752" y="2636912"/>
            <a:ext cx="3168352" cy="244827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10" name="圖片 9">
            <a:extLst>
              <a:ext uri="{FF2B5EF4-FFF2-40B4-BE49-F238E27FC236}">
                <a16:creationId xmlns:a16="http://schemas.microsoft.com/office/drawing/2014/main" id="{FB175BE4-478B-29FF-54F7-799CCE42819D}"/>
              </a:ext>
            </a:extLst>
          </p:cNvPr>
          <p:cNvPicPr>
            <a:picLocks noChangeAspect="1"/>
          </p:cNvPicPr>
          <p:nvPr/>
        </p:nvPicPr>
        <p:blipFill>
          <a:blip r:embed="rId4"/>
          <a:stretch>
            <a:fillRect/>
          </a:stretch>
        </p:blipFill>
        <p:spPr>
          <a:xfrm>
            <a:off x="5004048" y="3363804"/>
            <a:ext cx="4048690" cy="1419423"/>
          </a:xfrm>
          <a:prstGeom prst="rect">
            <a:avLst/>
          </a:prstGeom>
        </p:spPr>
      </p:pic>
      <p:cxnSp>
        <p:nvCxnSpPr>
          <p:cNvPr id="12" name="直線單箭頭接點 11">
            <a:extLst>
              <a:ext uri="{FF2B5EF4-FFF2-40B4-BE49-F238E27FC236}">
                <a16:creationId xmlns:a16="http://schemas.microsoft.com/office/drawing/2014/main" id="{CFF35DBE-7966-3B90-E567-C3FA34F12E22}"/>
              </a:ext>
            </a:extLst>
          </p:cNvPr>
          <p:cNvCxnSpPr/>
          <p:nvPr/>
        </p:nvCxnSpPr>
        <p:spPr>
          <a:xfrm flipV="1">
            <a:off x="4552292" y="4581128"/>
            <a:ext cx="1243844" cy="72008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43503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DF3D5C24-7E90-2111-4CC3-9A21441132E2}"/>
              </a:ext>
            </a:extLst>
          </p:cNvPr>
          <p:cNvSpPr>
            <a:spLocks noGrp="1"/>
          </p:cNvSpPr>
          <p:nvPr>
            <p:ph type="sldNum" sz="quarter" idx="12"/>
          </p:nvPr>
        </p:nvSpPr>
        <p:spPr/>
        <p:txBody>
          <a:bodyPr/>
          <a:lstStyle/>
          <a:p>
            <a:fld id="{369E457D-EE12-4164-8E32-9DDD40A95892}" type="slidenum">
              <a:rPr lang="zh-TW" altLang="en-US" smtClean="0"/>
              <a:pPr/>
              <a:t>48</a:t>
            </a:fld>
            <a:endParaRPr lang="zh-TW" altLang="en-US"/>
          </a:p>
        </p:txBody>
      </p:sp>
      <p:sp>
        <p:nvSpPr>
          <p:cNvPr id="4" name="文字方塊 3">
            <a:extLst>
              <a:ext uri="{FF2B5EF4-FFF2-40B4-BE49-F238E27FC236}">
                <a16:creationId xmlns:a16="http://schemas.microsoft.com/office/drawing/2014/main" id="{832EFCCA-B131-DE25-DD45-2E826321A7CA}"/>
              </a:ext>
            </a:extLst>
          </p:cNvPr>
          <p:cNvSpPr txBox="1"/>
          <p:nvPr/>
        </p:nvSpPr>
        <p:spPr>
          <a:xfrm>
            <a:off x="323528" y="121093"/>
            <a:ext cx="8280920" cy="6186309"/>
          </a:xfrm>
          <a:prstGeom prst="rect">
            <a:avLst/>
          </a:prstGeom>
          <a:noFill/>
        </p:spPr>
        <p:txBody>
          <a:bodyPr wrap="square">
            <a:spAutoFit/>
          </a:bodyPr>
          <a:lstStyle/>
          <a:p>
            <a:r>
              <a:rPr lang="en-US" altLang="zh-TW" dirty="0"/>
              <a:t>{</a:t>
            </a:r>
          </a:p>
          <a:p>
            <a:r>
              <a:rPr lang="en-US" altLang="zh-TW" dirty="0"/>
              <a:t>    "</a:t>
            </a:r>
            <a:r>
              <a:rPr lang="en-US" altLang="zh-TW" dirty="0" err="1"/>
              <a:t>bootstrapIntelliSense</a:t>
            </a:r>
            <a:r>
              <a:rPr lang="en-US" altLang="zh-TW" dirty="0"/>
              <a:t>": {</a:t>
            </a:r>
          </a:p>
          <a:p>
            <a:r>
              <a:rPr lang="en-US" altLang="zh-TW" dirty="0"/>
              <a:t>        "enable": true,</a:t>
            </a:r>
          </a:p>
          <a:p>
            <a:r>
              <a:rPr lang="en-US" altLang="zh-TW" dirty="0"/>
              <a:t>        "</a:t>
            </a:r>
            <a:r>
              <a:rPr lang="en-US" altLang="zh-TW" dirty="0" err="1"/>
              <a:t>bsVersion</a:t>
            </a:r>
            <a:r>
              <a:rPr lang="en-US" altLang="zh-TW" dirty="0"/>
              <a:t>": "5.3",</a:t>
            </a:r>
          </a:p>
          <a:p>
            <a:r>
              <a:rPr lang="en-US" altLang="zh-TW" dirty="0"/>
              <a:t>        "</a:t>
            </a:r>
            <a:r>
              <a:rPr lang="en-US" altLang="zh-TW" dirty="0" err="1"/>
              <a:t>showSuggestions</a:t>
            </a:r>
            <a:r>
              <a:rPr lang="en-US" altLang="zh-TW" dirty="0"/>
              <a:t>": true,</a:t>
            </a:r>
          </a:p>
          <a:p>
            <a:r>
              <a:rPr lang="en-US" altLang="zh-TW" dirty="0"/>
              <a:t>        "</a:t>
            </a:r>
            <a:r>
              <a:rPr lang="en-US" altLang="zh-TW" dirty="0" err="1"/>
              <a:t>autoComplete</a:t>
            </a:r>
            <a:r>
              <a:rPr lang="en-US" altLang="zh-TW" dirty="0"/>
              <a:t>": true</a:t>
            </a:r>
          </a:p>
          <a:p>
            <a:r>
              <a:rPr lang="en-US" altLang="zh-TW" dirty="0"/>
              <a:t>    },</a:t>
            </a:r>
          </a:p>
          <a:p>
            <a:r>
              <a:rPr lang="en-US" altLang="zh-TW" dirty="0"/>
              <a:t>    "</a:t>
            </a:r>
            <a:r>
              <a:rPr lang="en-US" altLang="zh-TW" dirty="0" err="1"/>
              <a:t>files.associations</a:t>
            </a:r>
            <a:r>
              <a:rPr lang="en-US" altLang="zh-TW" dirty="0"/>
              <a:t>": {</a:t>
            </a:r>
          </a:p>
          <a:p>
            <a:r>
              <a:rPr lang="en-US" altLang="zh-TW" dirty="0"/>
              <a:t>        "*.html": "html",</a:t>
            </a:r>
          </a:p>
          <a:p>
            <a:r>
              <a:rPr lang="en-US" altLang="zh-TW" dirty="0"/>
              <a:t>        "*.</a:t>
            </a:r>
            <a:r>
              <a:rPr lang="en-US" altLang="zh-TW" dirty="0" err="1"/>
              <a:t>djhtml</a:t>
            </a:r>
            <a:r>
              <a:rPr lang="en-US" altLang="zh-TW" dirty="0"/>
              <a:t>": "html"</a:t>
            </a:r>
          </a:p>
          <a:p>
            <a:r>
              <a:rPr lang="en-US" altLang="zh-TW" dirty="0"/>
              <a:t>    },</a:t>
            </a:r>
          </a:p>
          <a:p>
            <a:r>
              <a:rPr lang="en-US" altLang="zh-TW" dirty="0"/>
              <a:t>    "</a:t>
            </a:r>
            <a:r>
              <a:rPr lang="en-US" altLang="zh-TW" dirty="0" err="1"/>
              <a:t>css.enabledLanguages</a:t>
            </a:r>
            <a:r>
              <a:rPr lang="en-US" altLang="zh-TW" dirty="0"/>
              <a:t>": ["html","</a:t>
            </a:r>
            <a:r>
              <a:rPr lang="en-US" altLang="zh-TW" dirty="0" err="1"/>
              <a:t>django</a:t>
            </a:r>
            <a:r>
              <a:rPr lang="en-US" altLang="zh-TW" dirty="0"/>
              <a:t>-html"],</a:t>
            </a:r>
          </a:p>
          <a:p>
            <a:r>
              <a:rPr lang="en-US" altLang="zh-TW" dirty="0"/>
              <a:t>    "html-</a:t>
            </a:r>
            <a:r>
              <a:rPr lang="en-US" altLang="zh-TW" dirty="0" err="1"/>
              <a:t>css</a:t>
            </a:r>
            <a:r>
              <a:rPr lang="en-US" altLang="zh-TW" dirty="0"/>
              <a:t>-</a:t>
            </a:r>
            <a:r>
              <a:rPr lang="en-US" altLang="zh-TW" dirty="0" err="1"/>
              <a:t>support.enabledLanguages</a:t>
            </a:r>
            <a:r>
              <a:rPr lang="en-US" altLang="zh-TW" dirty="0"/>
              <a:t>": ["html","</a:t>
            </a:r>
            <a:r>
              <a:rPr lang="en-US" altLang="zh-TW" dirty="0" err="1"/>
              <a:t>django</a:t>
            </a:r>
            <a:r>
              <a:rPr lang="en-US" altLang="zh-TW" dirty="0"/>
              <a:t>-html"],</a:t>
            </a:r>
          </a:p>
          <a:p>
            <a:r>
              <a:rPr lang="en-US" altLang="zh-TW" dirty="0"/>
              <a:t>    "html-</a:t>
            </a:r>
            <a:r>
              <a:rPr lang="en-US" altLang="zh-TW" dirty="0" err="1"/>
              <a:t>css</a:t>
            </a:r>
            <a:r>
              <a:rPr lang="en-US" altLang="zh-TW" dirty="0"/>
              <a:t>-</a:t>
            </a:r>
            <a:r>
              <a:rPr lang="en-US" altLang="zh-TW" dirty="0" err="1"/>
              <a:t>support.styleSheets</a:t>
            </a:r>
            <a:r>
              <a:rPr lang="en-US" altLang="zh-TW" dirty="0"/>
              <a:t>": [</a:t>
            </a:r>
          </a:p>
          <a:p>
            <a:r>
              <a:rPr lang="en-US" altLang="zh-TW" dirty="0"/>
              <a:t>        "https://cdn.jsdelivr.net/</a:t>
            </a:r>
            <a:r>
              <a:rPr lang="en-US" altLang="zh-TW" dirty="0" err="1"/>
              <a:t>npm</a:t>
            </a:r>
            <a:r>
              <a:rPr lang="en-US" altLang="zh-TW" dirty="0"/>
              <a:t>/bootstrap@5.3.0/</a:t>
            </a:r>
            <a:r>
              <a:rPr lang="en-US" altLang="zh-TW" dirty="0" err="1"/>
              <a:t>dist</a:t>
            </a:r>
            <a:r>
              <a:rPr lang="en-US" altLang="zh-TW" dirty="0"/>
              <a:t>/</a:t>
            </a:r>
            <a:r>
              <a:rPr lang="en-US" altLang="zh-TW" dirty="0" err="1"/>
              <a:t>css</a:t>
            </a:r>
            <a:r>
              <a:rPr lang="en-US" altLang="zh-TW" dirty="0"/>
              <a:t>/bootstrap.min.css"</a:t>
            </a:r>
          </a:p>
          <a:p>
            <a:r>
              <a:rPr lang="en-US" altLang="zh-TW" dirty="0"/>
              <a:t>    ],</a:t>
            </a:r>
          </a:p>
          <a:p>
            <a:r>
              <a:rPr lang="en-US" altLang="zh-TW" dirty="0"/>
              <a:t>    "</a:t>
            </a:r>
            <a:r>
              <a:rPr lang="en-US" altLang="zh-TW" dirty="0" err="1"/>
              <a:t>editor.quickSuggestions</a:t>
            </a:r>
            <a:r>
              <a:rPr lang="en-US" altLang="zh-TW" dirty="0"/>
              <a:t>": {</a:t>
            </a:r>
          </a:p>
          <a:p>
            <a:r>
              <a:rPr lang="en-US" altLang="zh-TW" dirty="0"/>
              <a:t>        "strings": true</a:t>
            </a:r>
          </a:p>
          <a:p>
            <a:r>
              <a:rPr lang="en-US" altLang="zh-TW" dirty="0"/>
              <a:t>    }</a:t>
            </a:r>
          </a:p>
          <a:p>
            <a:r>
              <a:rPr lang="en-US" altLang="zh-TW" dirty="0"/>
              <a:t>}</a:t>
            </a:r>
            <a:endParaRPr lang="zh-TW" altLang="en-US" dirty="0"/>
          </a:p>
        </p:txBody>
      </p:sp>
    </p:spTree>
    <p:extLst>
      <p:ext uri="{BB962C8B-B14F-4D97-AF65-F5344CB8AC3E}">
        <p14:creationId xmlns:p14="http://schemas.microsoft.com/office/powerpoint/2010/main" val="28015395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建立網頁輸出模版</a:t>
            </a:r>
            <a:r>
              <a:rPr lang="en-US" altLang="zh-TW" dirty="0"/>
              <a:t>template</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49</a:t>
            </a:fld>
            <a:endParaRPr lang="zh-TW" altLang="en-US"/>
          </a:p>
        </p:txBody>
      </p:sp>
      <p:sp>
        <p:nvSpPr>
          <p:cNvPr id="4" name="內容版面配置區 3"/>
          <p:cNvSpPr>
            <a:spLocks noGrp="1"/>
          </p:cNvSpPr>
          <p:nvPr>
            <p:ph sz="quarter" idx="1"/>
          </p:nvPr>
        </p:nvSpPr>
        <p:spPr/>
        <p:txBody>
          <a:bodyPr/>
          <a:lstStyle/>
          <a:p>
            <a:pPr marL="274320" lvl="1" indent="0">
              <a:buNone/>
            </a:pPr>
            <a:r>
              <a:rPr lang="en-US" altLang="zh-TW" dirty="0"/>
              <a:t> &lt;</a:t>
            </a:r>
            <a:r>
              <a:rPr lang="en-US" altLang="zh-TW" dirty="0" err="1"/>
              <a:t>hr</a:t>
            </a:r>
            <a:r>
              <a:rPr lang="en-US" altLang="zh-TW" dirty="0"/>
              <a:t>&gt;</a:t>
            </a:r>
          </a:p>
          <a:p>
            <a:pPr marL="274320" lvl="1" indent="0">
              <a:buNone/>
            </a:pPr>
            <a:r>
              <a:rPr lang="en-US" altLang="zh-TW" dirty="0"/>
              <a:t>    &lt;h3&gt;</a:t>
            </a:r>
            <a:r>
              <a:rPr lang="zh-TW" altLang="en-US" dirty="0"/>
              <a:t>現在時刻：</a:t>
            </a:r>
            <a:r>
              <a:rPr lang="en-US" altLang="zh-TW" dirty="0"/>
              <a:t>{{ now }}&lt;/h3&gt;</a:t>
            </a:r>
          </a:p>
          <a:p>
            <a:pPr marL="274320" lvl="1" indent="0">
              <a:buNone/>
            </a:pPr>
            <a:r>
              <a:rPr lang="en-US" altLang="zh-TW" dirty="0"/>
              <a:t>&lt;/body&gt;</a:t>
            </a:r>
          </a:p>
          <a:p>
            <a:pPr marL="274320" lvl="1" indent="0">
              <a:buNone/>
            </a:pPr>
            <a:r>
              <a:rPr lang="en-US" altLang="zh-TW" dirty="0"/>
              <a:t>&lt;/html&gt;</a:t>
            </a:r>
            <a:endParaRPr lang="zh-TW" altLang="en-US" dirty="0"/>
          </a:p>
        </p:txBody>
      </p:sp>
    </p:spTree>
    <p:extLst>
      <p:ext uri="{BB962C8B-B14F-4D97-AF65-F5344CB8AC3E}">
        <p14:creationId xmlns:p14="http://schemas.microsoft.com/office/powerpoint/2010/main" val="6593558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建立網頁輸出模版</a:t>
            </a:r>
            <a:r>
              <a:rPr lang="en-US" altLang="zh-TW" dirty="0"/>
              <a:t>template(</a:t>
            </a:r>
            <a:r>
              <a:rPr lang="zh-TW" altLang="en-US" dirty="0"/>
              <a:t>略</a:t>
            </a:r>
            <a:r>
              <a:rPr lang="en-US" altLang="zh-TW" dirty="0"/>
              <a:t>)</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50</a:t>
            </a:fld>
            <a:endParaRPr lang="zh-TW" altLang="en-US"/>
          </a:p>
        </p:txBody>
      </p:sp>
      <p:sp>
        <p:nvSpPr>
          <p:cNvPr id="4" name="內容版面配置區 3"/>
          <p:cNvSpPr>
            <a:spLocks noGrp="1"/>
          </p:cNvSpPr>
          <p:nvPr>
            <p:ph sz="quarter" idx="1"/>
          </p:nvPr>
        </p:nvSpPr>
        <p:spPr/>
        <p:txBody>
          <a:bodyPr/>
          <a:lstStyle/>
          <a:p>
            <a:r>
              <a:rPr lang="zh-TW" altLang="zh-TW" dirty="0"/>
              <a:t>利用</a:t>
            </a:r>
            <a:r>
              <a:rPr lang="en-US" altLang="zh-TW" dirty="0"/>
              <a:t>CSS</a:t>
            </a:r>
            <a:r>
              <a:rPr lang="zh-TW" altLang="zh-TW" dirty="0"/>
              <a:t>的字型指令做些簡單的排版</a:t>
            </a:r>
            <a:endParaRPr lang="zh-TW" altLang="en-US" dirty="0"/>
          </a:p>
        </p:txBody>
      </p:sp>
      <p:pic>
        <p:nvPicPr>
          <p:cNvPr id="5" name="圖片 4"/>
          <p:cNvPicPr/>
          <p:nvPr/>
        </p:nvPicPr>
        <p:blipFill>
          <a:blip r:embed="rId3">
            <a:extLst>
              <a:ext uri="{28A0092B-C50C-407E-A947-70E740481C1C}">
                <a14:useLocalDpi xmlns:a14="http://schemas.microsoft.com/office/drawing/2010/main" val="0"/>
              </a:ext>
            </a:extLst>
          </a:blip>
          <a:stretch>
            <a:fillRect/>
          </a:stretch>
        </p:blipFill>
        <p:spPr>
          <a:xfrm>
            <a:off x="2159732" y="2007192"/>
            <a:ext cx="4824536" cy="4631351"/>
          </a:xfrm>
          <a:prstGeom prst="rect">
            <a:avLst/>
          </a:prstGeom>
        </p:spPr>
      </p:pic>
    </p:spTree>
    <p:extLst>
      <p:ext uri="{BB962C8B-B14F-4D97-AF65-F5344CB8AC3E}">
        <p14:creationId xmlns:p14="http://schemas.microsoft.com/office/powerpoint/2010/main" val="15197256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建立網頁輸出模版</a:t>
            </a:r>
            <a:r>
              <a:rPr lang="en-US" altLang="zh-TW" dirty="0"/>
              <a:t>template</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51</a:t>
            </a:fld>
            <a:endParaRPr lang="zh-TW" altLang="en-US"/>
          </a:p>
        </p:txBody>
      </p:sp>
      <p:sp>
        <p:nvSpPr>
          <p:cNvPr id="4" name="內容版面配置區 3"/>
          <p:cNvSpPr>
            <a:spLocks noGrp="1"/>
          </p:cNvSpPr>
          <p:nvPr>
            <p:ph sz="quarter" idx="1"/>
          </p:nvPr>
        </p:nvSpPr>
        <p:spPr/>
        <p:txBody>
          <a:bodyPr/>
          <a:lstStyle/>
          <a:p>
            <a:r>
              <a:rPr lang="zh-TW" altLang="zh-TW" dirty="0"/>
              <a:t>把標題顯示出來，但是在每一個</a:t>
            </a:r>
            <a:r>
              <a:rPr lang="zh-TW" altLang="zh-TW" dirty="0">
                <a:solidFill>
                  <a:srgbClr val="FF0000"/>
                </a:solidFill>
              </a:rPr>
              <a:t>標題上製作連結</a:t>
            </a:r>
            <a:r>
              <a:rPr lang="zh-TW" altLang="zh-TW" dirty="0"/>
              <a:t>，當瀏覽者點擊連結的時候才會開啟另外一個頁面顯示出該篇文章的內容</a:t>
            </a:r>
            <a:endParaRPr lang="en-US" altLang="zh-TW" dirty="0"/>
          </a:p>
          <a:p>
            <a:pPr marL="274320" lvl="1" indent="0">
              <a:buNone/>
            </a:pPr>
            <a:r>
              <a:rPr lang="en-US" altLang="zh-TW" dirty="0"/>
              <a:t>&lt;!DOCTYPE html&gt;</a:t>
            </a:r>
          </a:p>
          <a:p>
            <a:pPr marL="274320" lvl="1" indent="0">
              <a:buNone/>
            </a:pPr>
            <a:r>
              <a:rPr lang="en-US" altLang="zh-TW" dirty="0"/>
              <a:t>&lt;html&gt;</a:t>
            </a:r>
          </a:p>
          <a:p>
            <a:pPr marL="274320" lvl="1" indent="0">
              <a:buNone/>
            </a:pPr>
            <a:r>
              <a:rPr lang="en-US" altLang="zh-TW" dirty="0"/>
              <a:t>&lt;head&gt;</a:t>
            </a:r>
          </a:p>
          <a:p>
            <a:pPr marL="274320" lvl="1" indent="0">
              <a:buNone/>
            </a:pPr>
            <a:r>
              <a:rPr lang="en-US" altLang="zh-TW" dirty="0"/>
              <a:t>    &lt;meta charset='utf-8'&gt;</a:t>
            </a:r>
          </a:p>
          <a:p>
            <a:pPr marL="274320" lvl="1" indent="0">
              <a:buNone/>
            </a:pPr>
            <a:r>
              <a:rPr lang="en-US" altLang="zh-TW" dirty="0"/>
              <a:t>    &lt;title&gt;</a:t>
            </a:r>
          </a:p>
          <a:p>
            <a:pPr marL="274320" lvl="1" indent="0">
              <a:buNone/>
            </a:pPr>
            <a:r>
              <a:rPr lang="en-US" altLang="zh-TW" dirty="0"/>
              <a:t>        </a:t>
            </a:r>
            <a:r>
              <a:rPr lang="zh-TW" altLang="en-US" dirty="0"/>
              <a:t>歡迎光臨我的部落格</a:t>
            </a:r>
          </a:p>
          <a:p>
            <a:pPr marL="274320" lvl="1" indent="0">
              <a:buNone/>
            </a:pPr>
            <a:r>
              <a:rPr lang="zh-TW" altLang="en-US" dirty="0"/>
              <a:t>    </a:t>
            </a:r>
            <a:r>
              <a:rPr lang="en-US" altLang="zh-TW" dirty="0"/>
              <a:t>&lt;/title&gt;</a:t>
            </a:r>
          </a:p>
          <a:p>
            <a:pPr marL="274320" lvl="1" indent="0">
              <a:buNone/>
            </a:pPr>
            <a:r>
              <a:rPr lang="en-US" altLang="zh-TW" dirty="0"/>
              <a:t>&lt;/head&gt;	</a:t>
            </a:r>
          </a:p>
          <a:p>
            <a:pPr lvl="1"/>
            <a:endParaRPr lang="zh-TW" altLang="en-US" dirty="0"/>
          </a:p>
        </p:txBody>
      </p:sp>
    </p:spTree>
    <p:extLst>
      <p:ext uri="{BB962C8B-B14F-4D97-AF65-F5344CB8AC3E}">
        <p14:creationId xmlns:p14="http://schemas.microsoft.com/office/powerpoint/2010/main" val="41229065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zh-TW" dirty="0"/>
              <a:t>建立網頁</a:t>
            </a:r>
            <a:r>
              <a:rPr lang="en-US" altLang="zh-TW" dirty="0"/>
              <a:t>template(</a:t>
            </a:r>
            <a:r>
              <a:rPr lang="en-US" altLang="zh-TW" dirty="0">
                <a:solidFill>
                  <a:srgbClr val="FF0000"/>
                </a:solidFill>
              </a:rPr>
              <a:t>index-s1BS5.html</a:t>
            </a:r>
            <a:r>
              <a:rPr lang="en-US" altLang="zh-TW" dirty="0"/>
              <a:t>)</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52</a:t>
            </a:fld>
            <a:endParaRPr lang="zh-TW" altLang="en-US"/>
          </a:p>
        </p:txBody>
      </p:sp>
      <p:sp>
        <p:nvSpPr>
          <p:cNvPr id="4" name="內容版面配置區 3"/>
          <p:cNvSpPr>
            <a:spLocks noGrp="1"/>
          </p:cNvSpPr>
          <p:nvPr>
            <p:ph sz="quarter" idx="1"/>
          </p:nvPr>
        </p:nvSpPr>
        <p:spPr>
          <a:xfrm>
            <a:off x="301752" y="1268760"/>
            <a:ext cx="8503920" cy="5472608"/>
          </a:xfrm>
        </p:spPr>
        <p:txBody>
          <a:bodyPr>
            <a:normAutofit fontScale="70000" lnSpcReduction="20000"/>
          </a:bodyPr>
          <a:lstStyle/>
          <a:p>
            <a:pPr marL="274320" lvl="1" indent="0">
              <a:buNone/>
            </a:pPr>
            <a:r>
              <a:rPr lang="en-US" altLang="zh-TW" dirty="0"/>
              <a:t>&lt;body&gt;</a:t>
            </a:r>
          </a:p>
          <a:p>
            <a:pPr marL="274320" lvl="1" indent="0">
              <a:buNone/>
            </a:pPr>
            <a:r>
              <a:rPr lang="en-US" altLang="zh-TW" dirty="0"/>
              <a:t>    &lt;h1&gt;</a:t>
            </a:r>
            <a:r>
              <a:rPr lang="zh-TW" altLang="en-US" dirty="0"/>
              <a:t>歡迎光臨我的部落格</a:t>
            </a:r>
            <a:r>
              <a:rPr lang="en-US" altLang="zh-TW" dirty="0"/>
              <a:t>&lt;/h1&gt;</a:t>
            </a:r>
          </a:p>
          <a:p>
            <a:pPr marL="274320" lvl="1" indent="0">
              <a:buNone/>
            </a:pPr>
            <a:r>
              <a:rPr lang="en-US" altLang="zh-TW" dirty="0"/>
              <a:t>    &lt;</a:t>
            </a:r>
            <a:r>
              <a:rPr lang="en-US" altLang="zh-TW" dirty="0" err="1"/>
              <a:t>hr</a:t>
            </a:r>
            <a:r>
              <a:rPr lang="en-US" altLang="zh-TW" dirty="0"/>
              <a:t>&gt;</a:t>
            </a:r>
          </a:p>
          <a:p>
            <a:pPr marL="274320" lvl="1" indent="0">
              <a:buNone/>
            </a:pPr>
            <a:r>
              <a:rPr lang="en-US" altLang="zh-TW" dirty="0"/>
              <a:t>    {% for post in posts %}</a:t>
            </a:r>
          </a:p>
          <a:p>
            <a:pPr marL="0" indent="0">
              <a:buNone/>
            </a:pPr>
            <a:r>
              <a:rPr lang="en-US" altLang="zh-TW" dirty="0"/>
              <a:t>       &lt;div class="</a:t>
            </a:r>
            <a:r>
              <a:rPr lang="en-US" altLang="zh-TW" dirty="0">
                <a:solidFill>
                  <a:srgbClr val="FF0000"/>
                </a:solidFill>
              </a:rPr>
              <a:t>card</a:t>
            </a:r>
            <a:r>
              <a:rPr lang="en-US" altLang="zh-TW" dirty="0"/>
              <a:t> mb-3"&gt;</a:t>
            </a:r>
          </a:p>
          <a:p>
            <a:pPr marL="0" indent="0">
              <a:buNone/>
            </a:pPr>
            <a:r>
              <a:rPr lang="en-US" altLang="zh-TW" dirty="0"/>
              <a:t>          &lt;div class="</a:t>
            </a:r>
            <a:r>
              <a:rPr lang="en-US" altLang="zh-TW" dirty="0">
                <a:solidFill>
                  <a:srgbClr val="FF0000"/>
                </a:solidFill>
              </a:rPr>
              <a:t>card-body</a:t>
            </a:r>
            <a:r>
              <a:rPr lang="en-US" altLang="zh-TW" dirty="0"/>
              <a:t>"&gt;</a:t>
            </a:r>
          </a:p>
          <a:p>
            <a:pPr marL="0" indent="0">
              <a:buNone/>
            </a:pPr>
            <a:r>
              <a:rPr lang="en-US" altLang="zh-TW" dirty="0"/>
              <a:t>            &lt;h3 class="</a:t>
            </a:r>
            <a:r>
              <a:rPr lang="en-US" altLang="zh-TW" dirty="0">
                <a:solidFill>
                  <a:srgbClr val="FF0000"/>
                </a:solidFill>
              </a:rPr>
              <a:t>card-title"&gt;</a:t>
            </a:r>
          </a:p>
          <a:p>
            <a:pPr marL="0" indent="0">
              <a:buNone/>
            </a:pPr>
            <a:r>
              <a:rPr lang="en-US" altLang="zh-TW" dirty="0">
                <a:solidFill>
                  <a:srgbClr val="FF0000"/>
                </a:solidFill>
              </a:rPr>
              <a:t>&lt;a </a:t>
            </a:r>
            <a:r>
              <a:rPr lang="en-US" altLang="zh-TW" dirty="0" err="1">
                <a:solidFill>
                  <a:srgbClr val="FF0000"/>
                </a:solidFill>
              </a:rPr>
              <a:t>href</a:t>
            </a:r>
            <a:r>
              <a:rPr lang="en-US" altLang="zh-TW" dirty="0">
                <a:solidFill>
                  <a:srgbClr val="FF0000"/>
                </a:solidFill>
              </a:rPr>
              <a:t>="/post/{{</a:t>
            </a:r>
            <a:r>
              <a:rPr lang="en-US" altLang="zh-TW" dirty="0" err="1">
                <a:solidFill>
                  <a:srgbClr val="FF0000"/>
                </a:solidFill>
              </a:rPr>
              <a:t>post.slug</a:t>
            </a:r>
            <a:r>
              <a:rPr lang="en-US" altLang="zh-TW" dirty="0">
                <a:solidFill>
                  <a:srgbClr val="FF0000"/>
                </a:solidFill>
              </a:rPr>
              <a:t>}}"&gt;{{ </a:t>
            </a:r>
            <a:r>
              <a:rPr lang="en-US" altLang="zh-TW" dirty="0" err="1">
                <a:solidFill>
                  <a:srgbClr val="FF0000"/>
                </a:solidFill>
              </a:rPr>
              <a:t>post.title</a:t>
            </a:r>
            <a:r>
              <a:rPr lang="en-US" altLang="zh-TW" dirty="0">
                <a:solidFill>
                  <a:srgbClr val="FF0000"/>
                </a:solidFill>
              </a:rPr>
              <a:t> }}&lt;/a&gt;&lt;/</a:t>
            </a:r>
            <a:r>
              <a:rPr lang="en-US" altLang="zh-TW" dirty="0"/>
              <a:t>h3&gt;</a:t>
            </a:r>
          </a:p>
          <a:p>
            <a:pPr marL="0" indent="0">
              <a:buNone/>
            </a:pPr>
            <a:r>
              <a:rPr lang="en-US" altLang="zh-TW" dirty="0"/>
              <a:t>                    &lt;p class="card-text"&gt;{{ </a:t>
            </a:r>
            <a:r>
              <a:rPr lang="en-US" altLang="zh-TW" dirty="0" err="1"/>
              <a:t>post.body</a:t>
            </a:r>
            <a:r>
              <a:rPr lang="en-US" altLang="zh-TW" dirty="0"/>
              <a:t> }}&lt;/p&gt;</a:t>
            </a:r>
          </a:p>
          <a:p>
            <a:pPr marL="0" indent="0">
              <a:buNone/>
            </a:pPr>
            <a:r>
              <a:rPr lang="en-US" altLang="zh-TW" dirty="0"/>
              <a:t>                    &lt;p class="card-text"&gt;&lt;small class="text-muted"&gt;</a:t>
            </a:r>
            <a:r>
              <a:rPr lang="zh-TW" altLang="en-US" dirty="0"/>
              <a:t>發布於 </a:t>
            </a:r>
            <a:r>
              <a:rPr lang="en-US" altLang="zh-TW" dirty="0"/>
              <a:t>{{ </a:t>
            </a:r>
            <a:r>
              <a:rPr lang="en-US" altLang="zh-TW" dirty="0" err="1"/>
              <a:t>post.pub_date</a:t>
            </a:r>
            <a:r>
              <a:rPr lang="en-US" altLang="zh-TW" dirty="0"/>
              <a:t> }}&lt;/small&gt;&lt;/p&gt;</a:t>
            </a:r>
          </a:p>
          <a:p>
            <a:pPr marL="0" indent="0">
              <a:buNone/>
            </a:pPr>
            <a:r>
              <a:rPr lang="en-US" altLang="zh-TW" dirty="0"/>
              <a:t>                &lt;/div&gt;</a:t>
            </a:r>
          </a:p>
          <a:p>
            <a:pPr marL="0" indent="0">
              <a:buNone/>
            </a:pPr>
            <a:r>
              <a:rPr lang="en-US" altLang="zh-TW" dirty="0"/>
              <a:t>            &lt;/div&gt;</a:t>
            </a:r>
          </a:p>
          <a:p>
            <a:pPr marL="0" indent="0">
              <a:buNone/>
            </a:pPr>
            <a:r>
              <a:rPr lang="en-US" altLang="zh-TW" dirty="0"/>
              <a:t>        {% empty %}</a:t>
            </a:r>
          </a:p>
          <a:p>
            <a:pPr marL="0" indent="0">
              <a:buNone/>
            </a:pPr>
            <a:r>
              <a:rPr lang="en-US" altLang="zh-TW" dirty="0"/>
              <a:t>            &lt;p class="text-muted"&gt;</a:t>
            </a:r>
            <a:r>
              <a:rPr lang="zh-TW" altLang="en-US" dirty="0"/>
              <a:t>目前沒有文章。</a:t>
            </a:r>
            <a:r>
              <a:rPr lang="en-US" altLang="zh-TW" dirty="0"/>
              <a:t>&lt;/p&gt;</a:t>
            </a:r>
          </a:p>
          <a:p>
            <a:pPr marL="274320" lvl="1" indent="0">
              <a:buNone/>
            </a:pPr>
            <a:endParaRPr lang="en-US" altLang="zh-TW" dirty="0"/>
          </a:p>
          <a:p>
            <a:pPr marL="274320" lvl="1" indent="0">
              <a:buNone/>
            </a:pPr>
            <a:r>
              <a:rPr lang="en-US" altLang="zh-TW" dirty="0"/>
              <a:t>    {% </a:t>
            </a:r>
            <a:r>
              <a:rPr lang="en-US" altLang="zh-TW" dirty="0" err="1"/>
              <a:t>endfor</a:t>
            </a:r>
            <a:r>
              <a:rPr lang="en-US" altLang="zh-TW" dirty="0"/>
              <a:t> %}</a:t>
            </a:r>
          </a:p>
          <a:p>
            <a:pPr marL="274320" lvl="1" indent="0">
              <a:buNone/>
            </a:pPr>
            <a:r>
              <a:rPr lang="en-US" altLang="zh-TW" dirty="0"/>
              <a:t>&lt;/body&gt;</a:t>
            </a:r>
          </a:p>
          <a:p>
            <a:pPr marL="274320" lvl="1" indent="0">
              <a:buNone/>
            </a:pPr>
            <a:r>
              <a:rPr lang="en-US" altLang="zh-TW" dirty="0"/>
              <a:t>&lt;/html&gt;</a:t>
            </a:r>
          </a:p>
        </p:txBody>
      </p:sp>
    </p:spTree>
    <p:extLst>
      <p:ext uri="{BB962C8B-B14F-4D97-AF65-F5344CB8AC3E}">
        <p14:creationId xmlns:p14="http://schemas.microsoft.com/office/powerpoint/2010/main" val="5603924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建立網頁輸出模版</a:t>
            </a:r>
            <a:r>
              <a:rPr lang="en-US" altLang="zh-TW" dirty="0"/>
              <a:t>template</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53</a:t>
            </a:fld>
            <a:endParaRPr lang="zh-TW" altLang="en-US"/>
          </a:p>
        </p:txBody>
      </p:sp>
      <p:sp>
        <p:nvSpPr>
          <p:cNvPr id="4" name="內容版面配置區 3"/>
          <p:cNvSpPr>
            <a:spLocks noGrp="1"/>
          </p:cNvSpPr>
          <p:nvPr>
            <p:ph sz="quarter" idx="1"/>
          </p:nvPr>
        </p:nvSpPr>
        <p:spPr/>
        <p:txBody>
          <a:bodyPr/>
          <a:lstStyle/>
          <a:p>
            <a:r>
              <a:rPr lang="zh-TW" altLang="zh-TW" dirty="0"/>
              <a:t>透過</a:t>
            </a:r>
            <a:r>
              <a:rPr lang="en-US" altLang="zh-TW" dirty="0"/>
              <a:t>&lt;a </a:t>
            </a:r>
            <a:r>
              <a:rPr lang="en-US" altLang="zh-TW" dirty="0" err="1"/>
              <a:t>href</a:t>
            </a:r>
            <a:r>
              <a:rPr lang="en-US" altLang="zh-TW" dirty="0"/>
              <a:t>&gt;</a:t>
            </a:r>
            <a:r>
              <a:rPr lang="zh-TW" altLang="zh-TW" dirty="0"/>
              <a:t>這個</a:t>
            </a:r>
            <a:r>
              <a:rPr lang="en-US" altLang="zh-TW" dirty="0"/>
              <a:t>HTML</a:t>
            </a:r>
            <a:r>
              <a:rPr lang="zh-TW" altLang="zh-TW" dirty="0"/>
              <a:t>標籤取出</a:t>
            </a:r>
            <a:r>
              <a:rPr lang="en-US" altLang="zh-TW" dirty="0" err="1"/>
              <a:t>post.slug</a:t>
            </a:r>
            <a:r>
              <a:rPr lang="zh-TW" altLang="zh-TW" dirty="0"/>
              <a:t>建立為連結網址，並放在</a:t>
            </a:r>
            <a:r>
              <a:rPr lang="en-US" altLang="zh-TW" dirty="0"/>
              <a:t>post/</a:t>
            </a:r>
            <a:r>
              <a:rPr lang="zh-TW" altLang="zh-TW" dirty="0"/>
              <a:t>之下</a:t>
            </a:r>
            <a:endParaRPr lang="zh-TW" altLang="en-US" dirty="0"/>
          </a:p>
        </p:txBody>
      </p:sp>
      <p:pic>
        <p:nvPicPr>
          <p:cNvPr id="5" name="圖片 4"/>
          <p:cNvPicPr/>
          <p:nvPr/>
        </p:nvPicPr>
        <p:blipFill>
          <a:blip r:embed="rId2">
            <a:extLst>
              <a:ext uri="{28A0092B-C50C-407E-A947-70E740481C1C}">
                <a14:useLocalDpi xmlns:a14="http://schemas.microsoft.com/office/drawing/2010/main" val="0"/>
              </a:ext>
            </a:extLst>
          </a:blip>
          <a:stretch>
            <a:fillRect/>
          </a:stretch>
        </p:blipFill>
        <p:spPr>
          <a:xfrm>
            <a:off x="1547664" y="2471928"/>
            <a:ext cx="6048672" cy="4053416"/>
          </a:xfrm>
          <a:prstGeom prst="rect">
            <a:avLst/>
          </a:prstGeom>
        </p:spPr>
      </p:pic>
    </p:spTree>
    <p:extLst>
      <p:ext uri="{BB962C8B-B14F-4D97-AF65-F5344CB8AC3E}">
        <p14:creationId xmlns:p14="http://schemas.microsoft.com/office/powerpoint/2010/main" val="29908618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網址對應</a:t>
            </a:r>
            <a:r>
              <a:rPr lang="en-US" altLang="zh-TW" dirty="0"/>
              <a:t>urls.py</a:t>
            </a:r>
            <a:endParaRPr lang="zh-TW" altLang="zh-TW"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54</a:t>
            </a:fld>
            <a:endParaRPr lang="zh-TW" altLang="en-US"/>
          </a:p>
        </p:txBody>
      </p:sp>
      <p:sp>
        <p:nvSpPr>
          <p:cNvPr id="4" name="內容版面配置區 3"/>
          <p:cNvSpPr>
            <a:spLocks noGrp="1"/>
          </p:cNvSpPr>
          <p:nvPr>
            <p:ph sz="quarter" idx="1"/>
          </p:nvPr>
        </p:nvSpPr>
        <p:spPr/>
        <p:txBody>
          <a:bodyPr/>
          <a:lstStyle/>
          <a:p>
            <a:r>
              <a:rPr lang="zh-TW" altLang="zh-TW" dirty="0"/>
              <a:t>注意到</a:t>
            </a:r>
            <a:r>
              <a:rPr lang="zh-TW" altLang="en-US" dirty="0"/>
              <a:t>上</a:t>
            </a:r>
            <a:r>
              <a:rPr lang="zh-TW" altLang="zh-TW" dirty="0"/>
              <a:t>圖箭頭所指的地方，就是點擊了任一篇文章標題的時候，瀏覽器會傳遞給網站的網址。以此例是</a:t>
            </a:r>
            <a:r>
              <a:rPr lang="en-US" altLang="zh-TW" u="sng" dirty="0">
                <a:hlinkClick r:id="rId2"/>
              </a:rPr>
              <a:t>http://192.168.161.131:8000/post/</a:t>
            </a:r>
            <a:r>
              <a:rPr lang="en-US" altLang="zh-TW" u="sng">
                <a:hlinkClick r:id="rId2"/>
              </a:rPr>
              <a:t>baigui01</a:t>
            </a:r>
            <a:r>
              <a:rPr lang="zh-TW" altLang="zh-TW"/>
              <a:t>。</a:t>
            </a:r>
            <a:endParaRPr lang="en-US" altLang="zh-TW"/>
          </a:p>
          <a:p>
            <a:r>
              <a:rPr lang="zh-TW" altLang="en-US"/>
              <a:t>如果你使用本地端的主機，則會是</a:t>
            </a:r>
            <a:endParaRPr lang="en-US" altLang="zh-TW"/>
          </a:p>
          <a:p>
            <a:pPr marL="274320" lvl="1" indent="0">
              <a:buNone/>
            </a:pPr>
            <a:r>
              <a:rPr lang="en-US" altLang="zh-TW"/>
              <a:t>http://127.0.0.1:8000/post/baigui01</a:t>
            </a:r>
          </a:p>
          <a:p>
            <a:r>
              <a:rPr lang="en-US" altLang="zh-TW"/>
              <a:t>/</a:t>
            </a:r>
            <a:r>
              <a:rPr lang="en-US" altLang="zh-TW" dirty="0"/>
              <a:t>post/</a:t>
            </a:r>
            <a:r>
              <a:rPr lang="zh-TW" altLang="zh-TW" dirty="0"/>
              <a:t>是我們加在</a:t>
            </a:r>
            <a:r>
              <a:rPr lang="en-US" altLang="zh-TW" dirty="0"/>
              <a:t>index.html</a:t>
            </a:r>
            <a:r>
              <a:rPr lang="zh-TW" altLang="zh-TW" dirty="0"/>
              <a:t>中為顯示單篇文章用的</a:t>
            </a:r>
            <a:r>
              <a:rPr lang="zh-TW" altLang="zh-TW"/>
              <a:t>前置詞，</a:t>
            </a:r>
            <a:endParaRPr lang="en-US" altLang="zh-TW"/>
          </a:p>
          <a:p>
            <a:r>
              <a:rPr lang="en-US" altLang="zh-TW"/>
              <a:t>baigui01</a:t>
            </a:r>
            <a:r>
              <a:rPr lang="zh-TW" altLang="zh-TW" dirty="0"/>
              <a:t>則是在建立文章時，我們自行設定的自訂網址。也就是說，要辨識出這些網址以對應到要顯示的單篇文章內容，應該有如下的幾個步驟：</a:t>
            </a:r>
          </a:p>
          <a:p>
            <a:endParaRPr lang="zh-TW" altLang="en-US" dirty="0"/>
          </a:p>
        </p:txBody>
      </p:sp>
    </p:spTree>
    <p:extLst>
      <p:ext uri="{BB962C8B-B14F-4D97-AF65-F5344CB8AC3E}">
        <p14:creationId xmlns:p14="http://schemas.microsoft.com/office/powerpoint/2010/main" val="127639323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網址對應</a:t>
            </a:r>
            <a:r>
              <a:rPr lang="en-US" altLang="zh-TW" dirty="0"/>
              <a:t>urls.py</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55</a:t>
            </a:fld>
            <a:endParaRPr lang="zh-TW" altLang="en-US"/>
          </a:p>
        </p:txBody>
      </p:sp>
      <p:sp>
        <p:nvSpPr>
          <p:cNvPr id="4" name="內容版面配置區 3"/>
          <p:cNvSpPr>
            <a:spLocks noGrp="1"/>
          </p:cNvSpPr>
          <p:nvPr>
            <p:ph sz="quarter" idx="1"/>
          </p:nvPr>
        </p:nvSpPr>
        <p:spPr>
          <a:xfrm>
            <a:off x="301752" y="1527048"/>
            <a:ext cx="8662736" cy="5070304"/>
          </a:xfrm>
        </p:spPr>
        <p:txBody>
          <a:bodyPr>
            <a:normAutofit fontScale="92500"/>
          </a:bodyPr>
          <a:lstStyle/>
          <a:p>
            <a:pPr lvl="0"/>
            <a:r>
              <a:rPr lang="zh-TW" altLang="zh-TW" dirty="0"/>
              <a:t>在</a:t>
            </a:r>
            <a:r>
              <a:rPr lang="en-US" altLang="zh-TW" dirty="0"/>
              <a:t>urls.py</a:t>
            </a:r>
            <a:r>
              <a:rPr lang="zh-TW" altLang="zh-TW" dirty="0"/>
              <a:t>設定，只要是</a:t>
            </a:r>
            <a:r>
              <a:rPr lang="en-US" altLang="zh-TW" dirty="0"/>
              <a:t>/post/</a:t>
            </a:r>
            <a:r>
              <a:rPr lang="zh-TW" altLang="zh-TW" dirty="0"/>
              <a:t>開頭的網址，就把後面接著的</a:t>
            </a:r>
            <a:r>
              <a:rPr lang="zh-TW" altLang="zh-TW" dirty="0">
                <a:solidFill>
                  <a:srgbClr val="FF0000"/>
                </a:solidFill>
              </a:rPr>
              <a:t>文字當做是參數</a:t>
            </a:r>
            <a:r>
              <a:rPr lang="en-US" altLang="zh-TW" dirty="0">
                <a:solidFill>
                  <a:srgbClr val="FF0000"/>
                </a:solidFill>
              </a:rPr>
              <a:t>slug</a:t>
            </a:r>
            <a:r>
              <a:rPr lang="zh-TW" altLang="zh-TW" dirty="0"/>
              <a:t>傳遞給</a:t>
            </a:r>
            <a:r>
              <a:rPr lang="en-US" altLang="zh-TW" dirty="0" err="1"/>
              <a:t>post_detail</a:t>
            </a:r>
            <a:r>
              <a:rPr lang="zh-TW" altLang="zh-TW" dirty="0"/>
              <a:t>這個顯示單篇文章的函數</a:t>
            </a:r>
          </a:p>
          <a:p>
            <a:pPr lvl="0"/>
            <a:r>
              <a:rPr lang="zh-TW" altLang="zh-TW" dirty="0"/>
              <a:t>在</a:t>
            </a:r>
            <a:r>
              <a:rPr lang="en-US" altLang="zh-TW" dirty="0"/>
              <a:t>views.py</a:t>
            </a:r>
            <a:r>
              <a:rPr lang="zh-TW" altLang="zh-TW" dirty="0"/>
              <a:t>中新增一個</a:t>
            </a:r>
            <a:r>
              <a:rPr lang="en-US" altLang="zh-TW" dirty="0" err="1"/>
              <a:t>post_detail</a:t>
            </a:r>
            <a:r>
              <a:rPr lang="zh-TW" altLang="zh-TW" dirty="0"/>
              <a:t>函數，除了接收</a:t>
            </a:r>
            <a:r>
              <a:rPr lang="en-US" altLang="zh-TW" dirty="0"/>
              <a:t>request</a:t>
            </a:r>
            <a:r>
              <a:rPr lang="zh-TW" altLang="zh-TW" dirty="0"/>
              <a:t>參數之外，亦接收</a:t>
            </a:r>
            <a:r>
              <a:rPr lang="en-US" altLang="zh-TW" dirty="0"/>
              <a:t>slug</a:t>
            </a:r>
            <a:r>
              <a:rPr lang="zh-TW" altLang="zh-TW" dirty="0"/>
              <a:t>這個參數</a:t>
            </a:r>
          </a:p>
          <a:p>
            <a:pPr lvl="0"/>
            <a:r>
              <a:rPr lang="zh-TW" altLang="zh-TW" dirty="0"/>
              <a:t>在</a:t>
            </a:r>
            <a:r>
              <a:rPr lang="en-US" altLang="zh-TW" dirty="0"/>
              <a:t>templates</a:t>
            </a:r>
            <a:r>
              <a:rPr lang="zh-TW" altLang="zh-TW" dirty="0"/>
              <a:t>資料夾中建立一個用來顯示單篇文章用的</a:t>
            </a:r>
            <a:r>
              <a:rPr lang="en-US" altLang="zh-TW" dirty="0"/>
              <a:t>post.html</a:t>
            </a:r>
            <a:endParaRPr lang="zh-TW" altLang="zh-TW" dirty="0"/>
          </a:p>
          <a:p>
            <a:pPr lvl="0"/>
            <a:r>
              <a:rPr lang="zh-TW" altLang="zh-TW" dirty="0"/>
              <a:t>在</a:t>
            </a:r>
            <a:r>
              <a:rPr lang="en-US" altLang="zh-TW" dirty="0" err="1"/>
              <a:t>post_detail</a:t>
            </a:r>
            <a:r>
              <a:rPr lang="zh-TW" altLang="zh-TW" dirty="0"/>
              <a:t>函數中，以</a:t>
            </a:r>
            <a:r>
              <a:rPr lang="en-US" altLang="zh-TW" dirty="0"/>
              <a:t>slug</a:t>
            </a:r>
            <a:r>
              <a:rPr lang="zh-TW" altLang="zh-TW" dirty="0"/>
              <a:t>為關鍵字，搜尋資料集，找出是否有符合的項目</a:t>
            </a:r>
          </a:p>
          <a:p>
            <a:pPr lvl="0"/>
            <a:r>
              <a:rPr lang="zh-TW" altLang="zh-TW" dirty="0"/>
              <a:t>如果有符合，則把找到的資料項目傳遞給</a:t>
            </a:r>
            <a:r>
              <a:rPr lang="en-US" altLang="zh-TW" dirty="0"/>
              <a:t>render</a:t>
            </a:r>
            <a:r>
              <a:rPr lang="zh-TW" altLang="zh-TW" dirty="0"/>
              <a:t>函數，找出</a:t>
            </a:r>
            <a:r>
              <a:rPr lang="en-US" altLang="zh-TW" dirty="0"/>
              <a:t>post.html</a:t>
            </a:r>
            <a:r>
              <a:rPr lang="zh-TW" altLang="zh-TW" dirty="0"/>
              <a:t>這個模版頁出來渲染，再把結果回傳給瀏覽器</a:t>
            </a:r>
          </a:p>
          <a:p>
            <a:pPr lvl="0"/>
            <a:r>
              <a:rPr lang="zh-TW" altLang="zh-TW" dirty="0"/>
              <a:t>如果沒有符合的項目，再把網頁轉回首頁</a:t>
            </a:r>
          </a:p>
          <a:p>
            <a:endParaRPr lang="zh-TW" altLang="en-US" dirty="0"/>
          </a:p>
        </p:txBody>
      </p:sp>
    </p:spTree>
    <p:extLst>
      <p:ext uri="{BB962C8B-B14F-4D97-AF65-F5344CB8AC3E}">
        <p14:creationId xmlns:p14="http://schemas.microsoft.com/office/powerpoint/2010/main" val="35635358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網址對應</a:t>
            </a:r>
            <a:r>
              <a:rPr lang="en-US" altLang="zh-TW" dirty="0"/>
              <a:t>urls.py</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56</a:t>
            </a:fld>
            <a:endParaRPr lang="zh-TW" altLang="en-US"/>
          </a:p>
        </p:txBody>
      </p:sp>
      <p:sp>
        <p:nvSpPr>
          <p:cNvPr id="4" name="內容版面配置區 3"/>
          <p:cNvSpPr>
            <a:spLocks noGrp="1"/>
          </p:cNvSpPr>
          <p:nvPr>
            <p:ph sz="quarter" idx="1"/>
          </p:nvPr>
        </p:nvSpPr>
        <p:spPr/>
        <p:txBody>
          <a:bodyPr>
            <a:normAutofit/>
          </a:bodyPr>
          <a:lstStyle/>
          <a:p>
            <a:r>
              <a:rPr lang="zh-TW" altLang="zh-TW" dirty="0"/>
              <a:t>在網址的對應方面，需做如下的修改：</a:t>
            </a:r>
          </a:p>
          <a:p>
            <a:pPr marL="274320" lvl="1" indent="0">
              <a:buNone/>
            </a:pPr>
            <a:r>
              <a:rPr lang="en-US" altLang="zh-TW" dirty="0"/>
              <a:t>from </a:t>
            </a:r>
            <a:r>
              <a:rPr lang="en-US" altLang="zh-TW" dirty="0" err="1"/>
              <a:t>django.urls</a:t>
            </a:r>
            <a:r>
              <a:rPr lang="en-US" altLang="zh-TW" dirty="0"/>
              <a:t> import include, path</a:t>
            </a:r>
            <a:endParaRPr lang="zh-TW" altLang="zh-TW" dirty="0"/>
          </a:p>
          <a:p>
            <a:pPr marL="274320" lvl="1" indent="0">
              <a:buNone/>
            </a:pPr>
            <a:r>
              <a:rPr lang="en-US" altLang="zh-TW" dirty="0"/>
              <a:t>from </a:t>
            </a:r>
            <a:r>
              <a:rPr lang="en-US" altLang="zh-TW" dirty="0" err="1"/>
              <a:t>django.contrib</a:t>
            </a:r>
            <a:r>
              <a:rPr lang="en-US" altLang="zh-TW" dirty="0"/>
              <a:t> import admin</a:t>
            </a:r>
            <a:endParaRPr lang="zh-TW" altLang="zh-TW" dirty="0"/>
          </a:p>
          <a:p>
            <a:pPr marL="274320" lvl="1" indent="0">
              <a:buNone/>
            </a:pPr>
            <a:r>
              <a:rPr lang="en-US" altLang="zh-TW" dirty="0"/>
              <a:t>from </a:t>
            </a:r>
            <a:r>
              <a:rPr lang="en-US" altLang="zh-TW" dirty="0" err="1"/>
              <a:t>mainsite.views</a:t>
            </a:r>
            <a:r>
              <a:rPr lang="en-US" altLang="zh-TW" dirty="0"/>
              <a:t> import homepage, </a:t>
            </a:r>
            <a:r>
              <a:rPr lang="en-US" altLang="zh-TW" dirty="0" err="1">
                <a:solidFill>
                  <a:srgbClr val="FF0000"/>
                </a:solidFill>
              </a:rPr>
              <a:t>showpost</a:t>
            </a:r>
            <a:endParaRPr lang="zh-TW" altLang="zh-TW" dirty="0">
              <a:solidFill>
                <a:srgbClr val="FF0000"/>
              </a:solidFill>
            </a:endParaRPr>
          </a:p>
          <a:p>
            <a:pPr marL="274320" lvl="1" indent="0">
              <a:buNone/>
            </a:pPr>
            <a:r>
              <a:rPr lang="en-US" altLang="zh-TW" dirty="0"/>
              <a:t> </a:t>
            </a:r>
            <a:endParaRPr lang="zh-TW" altLang="zh-TW" dirty="0"/>
          </a:p>
          <a:p>
            <a:pPr marL="274320" lvl="1" indent="0">
              <a:buNone/>
            </a:pPr>
            <a:r>
              <a:rPr lang="en-US" altLang="zh-TW" dirty="0" err="1"/>
              <a:t>urlpatterns</a:t>
            </a:r>
            <a:r>
              <a:rPr lang="en-US" altLang="zh-TW" dirty="0"/>
              <a:t> = [</a:t>
            </a:r>
            <a:endParaRPr lang="zh-TW" altLang="zh-TW" dirty="0"/>
          </a:p>
          <a:p>
            <a:pPr marL="274320" lvl="1" indent="0">
              <a:buNone/>
            </a:pPr>
            <a:r>
              <a:rPr lang="en-US" altLang="zh-TW" dirty="0"/>
              <a:t>    path('admin/', </a:t>
            </a:r>
            <a:r>
              <a:rPr lang="en-US" altLang="zh-TW" dirty="0" err="1"/>
              <a:t>admin.site.urls</a:t>
            </a:r>
            <a:r>
              <a:rPr lang="en-US" altLang="zh-TW" dirty="0"/>
              <a:t>),</a:t>
            </a:r>
            <a:endParaRPr lang="zh-TW" altLang="zh-TW" dirty="0"/>
          </a:p>
          <a:p>
            <a:pPr marL="274320" lvl="1" indent="0">
              <a:buNone/>
            </a:pPr>
            <a:r>
              <a:rPr lang="en-US" altLang="zh-TW" dirty="0"/>
              <a:t>    path('', homepage),</a:t>
            </a:r>
            <a:endParaRPr lang="zh-TW" altLang="zh-TW" dirty="0"/>
          </a:p>
          <a:p>
            <a:pPr marL="274320" lvl="1" indent="0">
              <a:buNone/>
            </a:pPr>
            <a:r>
              <a:rPr lang="en-US" altLang="zh-TW" dirty="0">
                <a:solidFill>
                  <a:srgbClr val="FF0000"/>
                </a:solidFill>
              </a:rPr>
              <a:t>    path('post/&lt;</a:t>
            </a:r>
            <a:r>
              <a:rPr lang="en-US" altLang="zh-TW" dirty="0" err="1">
                <a:solidFill>
                  <a:srgbClr val="FF0000"/>
                </a:solidFill>
              </a:rPr>
              <a:t>slug:slug</a:t>
            </a:r>
            <a:r>
              <a:rPr lang="en-US" altLang="zh-TW" dirty="0">
                <a:solidFill>
                  <a:srgbClr val="FF0000"/>
                </a:solidFill>
              </a:rPr>
              <a:t>&gt;/', </a:t>
            </a:r>
            <a:r>
              <a:rPr lang="en-US" altLang="zh-TW" dirty="0" err="1">
                <a:solidFill>
                  <a:srgbClr val="FF0000"/>
                </a:solidFill>
              </a:rPr>
              <a:t>showpost</a:t>
            </a:r>
            <a:r>
              <a:rPr lang="en-US" altLang="zh-TW" dirty="0">
                <a:solidFill>
                  <a:srgbClr val="FF0000"/>
                </a:solidFill>
              </a:rPr>
              <a:t>),</a:t>
            </a:r>
            <a:endParaRPr lang="zh-TW" altLang="zh-TW" dirty="0">
              <a:solidFill>
                <a:srgbClr val="FF0000"/>
              </a:solidFill>
            </a:endParaRPr>
          </a:p>
          <a:p>
            <a:pPr marL="274320" lvl="1" indent="0">
              <a:buNone/>
            </a:pPr>
            <a:r>
              <a:rPr lang="en-US" altLang="zh-TW" dirty="0"/>
              <a:t>]</a:t>
            </a:r>
            <a:endParaRPr lang="zh-TW" altLang="zh-TW" dirty="0"/>
          </a:p>
          <a:p>
            <a:endParaRPr lang="zh-TW" altLang="en-US" dirty="0"/>
          </a:p>
        </p:txBody>
      </p:sp>
    </p:spTree>
    <p:extLst>
      <p:ext uri="{BB962C8B-B14F-4D97-AF65-F5344CB8AC3E}">
        <p14:creationId xmlns:p14="http://schemas.microsoft.com/office/powerpoint/2010/main" val="38306825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網址對應</a:t>
            </a:r>
            <a:r>
              <a:rPr lang="en-US" altLang="zh-TW" dirty="0"/>
              <a:t>urls.py</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57</a:t>
            </a:fld>
            <a:endParaRPr lang="zh-TW" altLang="en-US"/>
          </a:p>
        </p:txBody>
      </p:sp>
      <p:sp>
        <p:nvSpPr>
          <p:cNvPr id="4" name="內容版面配置區 3"/>
          <p:cNvSpPr>
            <a:spLocks noGrp="1"/>
          </p:cNvSpPr>
          <p:nvPr>
            <p:ph sz="quarter" idx="1"/>
          </p:nvPr>
        </p:nvSpPr>
        <p:spPr>
          <a:xfrm>
            <a:off x="301752" y="1527048"/>
            <a:ext cx="8534400" cy="5142312"/>
          </a:xfrm>
        </p:spPr>
        <p:txBody>
          <a:bodyPr>
            <a:normAutofit fontScale="92500" lnSpcReduction="20000"/>
          </a:bodyPr>
          <a:lstStyle/>
          <a:p>
            <a:r>
              <a:rPr lang="zh-TW" altLang="zh-TW" dirty="0"/>
              <a:t>考慮到有可能會有自行輸入錯誤網址以至於找不到文章的情形，除了在以</a:t>
            </a:r>
            <a:r>
              <a:rPr lang="en-US" altLang="zh-TW" dirty="0" err="1"/>
              <a:t>Post.objects.get</a:t>
            </a:r>
            <a:r>
              <a:rPr lang="en-US" altLang="zh-TW" dirty="0"/>
              <a:t>(slug = slug)</a:t>
            </a:r>
            <a:r>
              <a:rPr lang="zh-TW" altLang="zh-TW" dirty="0"/>
              <a:t>搜尋文章時加上例外處理，也在發生例外的時候以</a:t>
            </a:r>
            <a:r>
              <a:rPr lang="en-US" altLang="zh-TW" dirty="0"/>
              <a:t>redirect('/')</a:t>
            </a:r>
            <a:r>
              <a:rPr lang="zh-TW" altLang="zh-TW" dirty="0"/>
              <a:t>的方式直接返回首頁</a:t>
            </a:r>
            <a:endParaRPr lang="en-US" altLang="zh-TW" dirty="0"/>
          </a:p>
          <a:p>
            <a:pPr marL="274320" lvl="1" indent="0">
              <a:buNone/>
            </a:pPr>
            <a:r>
              <a:rPr lang="en-US" altLang="zh-TW" dirty="0"/>
              <a:t>from </a:t>
            </a:r>
            <a:r>
              <a:rPr lang="en-US" altLang="zh-TW" dirty="0" err="1"/>
              <a:t>django.shortcuts</a:t>
            </a:r>
            <a:r>
              <a:rPr lang="en-US" altLang="zh-TW" dirty="0"/>
              <a:t> import render, </a:t>
            </a:r>
            <a:r>
              <a:rPr lang="en-US" altLang="zh-TW" dirty="0">
                <a:solidFill>
                  <a:srgbClr val="FF0000"/>
                </a:solidFill>
              </a:rPr>
              <a:t>redirect</a:t>
            </a:r>
          </a:p>
          <a:p>
            <a:pPr marL="274320" lvl="1" indent="0">
              <a:buNone/>
            </a:pPr>
            <a:r>
              <a:rPr lang="en-US" altLang="zh-TW" dirty="0"/>
              <a:t>from </a:t>
            </a:r>
            <a:r>
              <a:rPr lang="en-US" altLang="zh-TW" dirty="0" err="1"/>
              <a:t>datetime</a:t>
            </a:r>
            <a:r>
              <a:rPr lang="en-US" altLang="zh-TW" dirty="0"/>
              <a:t> import </a:t>
            </a:r>
            <a:r>
              <a:rPr lang="en-US" altLang="zh-TW" dirty="0" err="1"/>
              <a:t>datetime</a:t>
            </a:r>
            <a:endParaRPr lang="en-US" altLang="zh-TW" dirty="0"/>
          </a:p>
          <a:p>
            <a:pPr marL="274320" lvl="1" indent="0">
              <a:buNone/>
            </a:pPr>
            <a:r>
              <a:rPr lang="en-US" altLang="zh-TW" dirty="0"/>
              <a:t>from .models import Post</a:t>
            </a:r>
          </a:p>
          <a:p>
            <a:pPr marL="274320" lvl="1" indent="0">
              <a:buNone/>
            </a:pPr>
            <a:r>
              <a:rPr lang="en-US" altLang="zh-TW" dirty="0"/>
              <a:t>...</a:t>
            </a:r>
            <a:r>
              <a:rPr lang="zh-TW" altLang="en-US" dirty="0"/>
              <a:t>略</a:t>
            </a:r>
            <a:r>
              <a:rPr lang="en-US" altLang="zh-TW" dirty="0"/>
              <a:t>...</a:t>
            </a:r>
          </a:p>
          <a:p>
            <a:pPr marL="274320" lvl="1" indent="0">
              <a:buNone/>
            </a:pPr>
            <a:r>
              <a:rPr lang="en-US" altLang="zh-TW" dirty="0" err="1"/>
              <a:t>def</a:t>
            </a:r>
            <a:r>
              <a:rPr lang="en-US" altLang="zh-TW" dirty="0"/>
              <a:t> </a:t>
            </a:r>
            <a:r>
              <a:rPr lang="en-US" altLang="zh-TW" dirty="0" err="1"/>
              <a:t>showpost</a:t>
            </a:r>
            <a:r>
              <a:rPr lang="en-US" altLang="zh-TW" dirty="0"/>
              <a:t>(request, slug):</a:t>
            </a:r>
          </a:p>
          <a:p>
            <a:pPr marL="274320" lvl="1" indent="0">
              <a:buNone/>
            </a:pPr>
            <a:r>
              <a:rPr lang="en-US" altLang="zh-TW" dirty="0"/>
              <a:t>	</a:t>
            </a:r>
            <a:r>
              <a:rPr lang="en-US" altLang="zh-TW" dirty="0">
                <a:solidFill>
                  <a:srgbClr val="FF0000"/>
                </a:solidFill>
              </a:rPr>
              <a:t>try:</a:t>
            </a:r>
          </a:p>
          <a:p>
            <a:pPr marL="274320" lvl="1" indent="0">
              <a:buNone/>
            </a:pPr>
            <a:r>
              <a:rPr lang="en-US" altLang="zh-TW" dirty="0"/>
              <a:t>		post = </a:t>
            </a:r>
            <a:r>
              <a:rPr lang="en-US" altLang="zh-TW" dirty="0" err="1"/>
              <a:t>Post.objects.get</a:t>
            </a:r>
            <a:r>
              <a:rPr lang="en-US" altLang="zh-TW" dirty="0"/>
              <a:t>(</a:t>
            </a:r>
            <a:r>
              <a:rPr lang="en-US" altLang="zh-TW" dirty="0">
                <a:solidFill>
                  <a:srgbClr val="FF0000"/>
                </a:solidFill>
              </a:rPr>
              <a:t>slug = slug</a:t>
            </a:r>
            <a:r>
              <a:rPr lang="en-US" altLang="zh-TW" dirty="0"/>
              <a:t>)</a:t>
            </a:r>
          </a:p>
          <a:p>
            <a:pPr marL="274320" lvl="1" indent="0">
              <a:buNone/>
            </a:pPr>
            <a:r>
              <a:rPr lang="en-US" altLang="zh-TW" dirty="0"/>
              <a:t>		if post != None:</a:t>
            </a:r>
          </a:p>
          <a:p>
            <a:pPr marL="274320" lvl="1" indent="0">
              <a:buNone/>
            </a:pPr>
            <a:r>
              <a:rPr lang="en-US" altLang="zh-TW" dirty="0"/>
              <a:t>			return render(request, 'post.html', locals())</a:t>
            </a:r>
          </a:p>
          <a:p>
            <a:pPr marL="274320" lvl="1" indent="0">
              <a:buNone/>
            </a:pPr>
            <a:r>
              <a:rPr lang="en-US" altLang="zh-TW" dirty="0"/>
              <a:t>	</a:t>
            </a:r>
            <a:r>
              <a:rPr lang="en-US" altLang="zh-TW" dirty="0">
                <a:solidFill>
                  <a:srgbClr val="FF0000"/>
                </a:solidFill>
              </a:rPr>
              <a:t>except:</a:t>
            </a:r>
          </a:p>
          <a:p>
            <a:pPr marL="274320" lvl="1" indent="0">
              <a:buNone/>
            </a:pPr>
            <a:r>
              <a:rPr lang="en-US" altLang="zh-TW" dirty="0"/>
              <a:t>		return redirect('/')</a:t>
            </a:r>
          </a:p>
          <a:p>
            <a:pPr lvl="1"/>
            <a:endParaRPr lang="zh-TW" altLang="en-US" dirty="0"/>
          </a:p>
        </p:txBody>
      </p:sp>
    </p:spTree>
    <p:extLst>
      <p:ext uri="{BB962C8B-B14F-4D97-AF65-F5344CB8AC3E}">
        <p14:creationId xmlns:p14="http://schemas.microsoft.com/office/powerpoint/2010/main" val="8356203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post.html</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58</a:t>
            </a:fld>
            <a:endParaRPr lang="zh-TW" altLang="en-US"/>
          </a:p>
        </p:txBody>
      </p:sp>
      <p:sp>
        <p:nvSpPr>
          <p:cNvPr id="4" name="內容版面配置區 3"/>
          <p:cNvSpPr>
            <a:spLocks noGrp="1"/>
          </p:cNvSpPr>
          <p:nvPr>
            <p:ph sz="quarter" idx="1"/>
          </p:nvPr>
        </p:nvSpPr>
        <p:spPr/>
        <p:txBody>
          <a:bodyPr/>
          <a:lstStyle/>
          <a:p>
            <a:r>
              <a:rPr lang="zh-TW" altLang="zh-TW" dirty="0"/>
              <a:t>顯示文章的</a:t>
            </a:r>
            <a:r>
              <a:rPr lang="en-US" altLang="zh-TW" dirty="0"/>
              <a:t>post.html</a:t>
            </a:r>
            <a:r>
              <a:rPr lang="zh-TW" altLang="zh-TW" dirty="0"/>
              <a:t>內容如下：</a:t>
            </a:r>
          </a:p>
          <a:p>
            <a:pPr marL="274320" lvl="1" indent="0">
              <a:buNone/>
            </a:pPr>
            <a:r>
              <a:rPr lang="en-US" altLang="zh-TW" dirty="0"/>
              <a:t>&lt;!DOCTYPE html&gt;</a:t>
            </a:r>
            <a:endParaRPr lang="zh-TW" altLang="zh-TW" dirty="0"/>
          </a:p>
          <a:p>
            <a:pPr marL="274320" lvl="1" indent="0">
              <a:buNone/>
            </a:pPr>
            <a:r>
              <a:rPr lang="en-US" altLang="zh-TW" dirty="0"/>
              <a:t>&lt;html&gt;</a:t>
            </a:r>
            <a:endParaRPr lang="zh-TW" altLang="zh-TW" dirty="0"/>
          </a:p>
          <a:p>
            <a:pPr marL="274320" lvl="1" indent="0">
              <a:buNone/>
            </a:pPr>
            <a:r>
              <a:rPr lang="en-US" altLang="zh-TW" dirty="0"/>
              <a:t>&lt;head&gt;</a:t>
            </a:r>
            <a:endParaRPr lang="zh-TW" altLang="zh-TW" dirty="0"/>
          </a:p>
          <a:p>
            <a:pPr marL="274320" lvl="1" indent="0">
              <a:buNone/>
            </a:pPr>
            <a:r>
              <a:rPr lang="en-US" altLang="zh-TW" dirty="0"/>
              <a:t>    &lt;meta charset='utf-8'&gt;</a:t>
            </a:r>
            <a:endParaRPr lang="zh-TW" altLang="zh-TW" dirty="0"/>
          </a:p>
          <a:p>
            <a:pPr marL="274320" lvl="1" indent="0">
              <a:buNone/>
            </a:pPr>
            <a:r>
              <a:rPr lang="en-US" altLang="zh-TW" dirty="0"/>
              <a:t>    &lt;title&gt;</a:t>
            </a:r>
            <a:endParaRPr lang="zh-TW" altLang="zh-TW" dirty="0"/>
          </a:p>
          <a:p>
            <a:pPr marL="274320" lvl="1" indent="0">
              <a:buNone/>
            </a:pPr>
            <a:r>
              <a:rPr lang="en-US" altLang="zh-TW" dirty="0"/>
              <a:t>        </a:t>
            </a:r>
            <a:r>
              <a:rPr lang="zh-TW" altLang="zh-TW" dirty="0"/>
              <a:t>歡迎光臨我的部落格</a:t>
            </a:r>
          </a:p>
          <a:p>
            <a:pPr marL="274320" lvl="1" indent="0">
              <a:buNone/>
            </a:pPr>
            <a:r>
              <a:rPr lang="en-US" altLang="zh-TW" dirty="0"/>
              <a:t>    &lt;/title&gt;</a:t>
            </a:r>
            <a:endParaRPr lang="zh-TW" altLang="zh-TW" dirty="0"/>
          </a:p>
          <a:p>
            <a:pPr marL="274320" lvl="1" indent="0">
              <a:buNone/>
            </a:pPr>
            <a:r>
              <a:rPr lang="en-US" altLang="zh-TW" dirty="0"/>
              <a:t>&lt;/head&gt;</a:t>
            </a:r>
            <a:endParaRPr lang="zh-TW" altLang="zh-TW" dirty="0"/>
          </a:p>
          <a:p>
            <a:endParaRPr lang="zh-TW" altLang="en-US" dirty="0"/>
          </a:p>
        </p:txBody>
      </p:sp>
    </p:spTree>
    <p:extLst>
      <p:ext uri="{BB962C8B-B14F-4D97-AF65-F5344CB8AC3E}">
        <p14:creationId xmlns:p14="http://schemas.microsoft.com/office/powerpoint/2010/main" val="388299465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post.html</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59</a:t>
            </a:fld>
            <a:endParaRPr lang="zh-TW" altLang="en-US"/>
          </a:p>
        </p:txBody>
      </p:sp>
      <p:sp>
        <p:nvSpPr>
          <p:cNvPr id="4" name="內容版面配置區 3"/>
          <p:cNvSpPr>
            <a:spLocks noGrp="1"/>
          </p:cNvSpPr>
          <p:nvPr>
            <p:ph sz="quarter" idx="1"/>
          </p:nvPr>
        </p:nvSpPr>
        <p:spPr/>
        <p:txBody>
          <a:bodyPr/>
          <a:lstStyle/>
          <a:p>
            <a:pPr marL="274320" lvl="1" indent="0">
              <a:buNone/>
            </a:pPr>
            <a:r>
              <a:rPr lang="en-US" altLang="zh-TW" dirty="0"/>
              <a:t>&lt;body&gt;</a:t>
            </a:r>
          </a:p>
          <a:p>
            <a:r>
              <a:rPr lang="en-US" altLang="zh-TW" dirty="0">
                <a:solidFill>
                  <a:srgbClr val="FF0000"/>
                </a:solidFill>
              </a:rPr>
              <a:t>    &lt;h1&gt;{{</a:t>
            </a:r>
            <a:r>
              <a:rPr lang="en-US" altLang="zh-TW" dirty="0" err="1">
                <a:solidFill>
                  <a:srgbClr val="FF0000"/>
                </a:solidFill>
              </a:rPr>
              <a:t>post.title</a:t>
            </a:r>
            <a:r>
              <a:rPr lang="en-US" altLang="zh-TW" dirty="0">
                <a:solidFill>
                  <a:srgbClr val="FF0000"/>
                </a:solidFill>
              </a:rPr>
              <a:t>}}&lt;/h1&gt;</a:t>
            </a:r>
          </a:p>
          <a:p>
            <a:r>
              <a:rPr lang="en-US" altLang="zh-TW" dirty="0">
                <a:solidFill>
                  <a:srgbClr val="FF0000"/>
                </a:solidFill>
              </a:rPr>
              <a:t>    &lt;p&gt;{{</a:t>
            </a:r>
            <a:r>
              <a:rPr lang="en-US" altLang="zh-TW" dirty="0" err="1">
                <a:solidFill>
                  <a:srgbClr val="FF0000"/>
                </a:solidFill>
              </a:rPr>
              <a:t>post.body</a:t>
            </a:r>
            <a:r>
              <a:rPr lang="en-US" altLang="zh-TW" dirty="0">
                <a:solidFill>
                  <a:srgbClr val="FF0000"/>
                </a:solidFill>
              </a:rPr>
              <a:t>}}&lt;/p&gt;</a:t>
            </a:r>
          </a:p>
          <a:p>
            <a:r>
              <a:rPr lang="en-US" altLang="zh-TW" dirty="0">
                <a:solidFill>
                  <a:srgbClr val="FF0000"/>
                </a:solidFill>
              </a:rPr>
              <a:t>    &lt;p&gt;&lt;small class="text-muted"&gt;</a:t>
            </a:r>
            <a:r>
              <a:rPr lang="zh-TW" altLang="en-US" dirty="0">
                <a:solidFill>
                  <a:srgbClr val="FF0000"/>
                </a:solidFill>
              </a:rPr>
              <a:t>發布於 </a:t>
            </a:r>
            <a:r>
              <a:rPr lang="en-US" altLang="zh-TW" dirty="0">
                <a:solidFill>
                  <a:srgbClr val="FF0000"/>
                </a:solidFill>
              </a:rPr>
              <a:t>{{ </a:t>
            </a:r>
            <a:r>
              <a:rPr lang="en-US" altLang="zh-TW" dirty="0" err="1">
                <a:solidFill>
                  <a:srgbClr val="FF0000"/>
                </a:solidFill>
              </a:rPr>
              <a:t>post.pub_date</a:t>
            </a:r>
            <a:r>
              <a:rPr lang="en-US" altLang="zh-TW" dirty="0">
                <a:solidFill>
                  <a:srgbClr val="FF0000"/>
                </a:solidFill>
              </a:rPr>
              <a:t> }}&lt;/small&gt;&lt;/p&gt;</a:t>
            </a:r>
          </a:p>
          <a:p>
            <a:r>
              <a:rPr lang="en-US" altLang="zh-TW" dirty="0">
                <a:solidFill>
                  <a:srgbClr val="FF0000"/>
                </a:solidFill>
              </a:rPr>
              <a:t>    &lt;a </a:t>
            </a:r>
            <a:r>
              <a:rPr lang="en-US" altLang="zh-TW" dirty="0" err="1">
                <a:solidFill>
                  <a:srgbClr val="FF0000"/>
                </a:solidFill>
              </a:rPr>
              <a:t>href</a:t>
            </a:r>
            <a:r>
              <a:rPr lang="en-US" altLang="zh-TW" dirty="0">
                <a:solidFill>
                  <a:srgbClr val="FF0000"/>
                </a:solidFill>
              </a:rPr>
              <a:t>="/"&gt;</a:t>
            </a:r>
            <a:r>
              <a:rPr lang="zh-TW" altLang="en-US" dirty="0">
                <a:solidFill>
                  <a:srgbClr val="FF0000"/>
                </a:solidFill>
              </a:rPr>
              <a:t>回首頁</a:t>
            </a:r>
            <a:r>
              <a:rPr lang="en-US" altLang="zh-TW" dirty="0">
                <a:solidFill>
                  <a:srgbClr val="FF0000"/>
                </a:solidFill>
              </a:rPr>
              <a:t>&lt;/a&gt;</a:t>
            </a:r>
          </a:p>
          <a:p>
            <a:pPr marL="274320" lvl="1" indent="0">
              <a:buNone/>
            </a:pPr>
            <a:r>
              <a:rPr lang="en-US" altLang="zh-TW" dirty="0"/>
              <a:t>&lt;/body&gt;	</a:t>
            </a:r>
          </a:p>
          <a:p>
            <a:pPr marL="274320" lvl="1" indent="0">
              <a:buNone/>
            </a:pPr>
            <a:r>
              <a:rPr lang="en-US" altLang="zh-TW" dirty="0"/>
              <a:t>&lt;/html&gt;</a:t>
            </a:r>
          </a:p>
          <a:p>
            <a:pPr lvl="1"/>
            <a:endParaRPr lang="zh-TW" altLang="en-US" dirty="0"/>
          </a:p>
        </p:txBody>
      </p:sp>
    </p:spTree>
    <p:extLst>
      <p:ext uri="{BB962C8B-B14F-4D97-AF65-F5344CB8AC3E}">
        <p14:creationId xmlns:p14="http://schemas.microsoft.com/office/powerpoint/2010/main" val="300143907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post.html</a:t>
            </a:r>
            <a:r>
              <a:rPr lang="zh-TW" altLang="en-US"/>
              <a:t>輸出結果</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60</a:t>
            </a:fld>
            <a:endParaRPr lang="zh-TW" altLang="en-US"/>
          </a:p>
        </p:txBody>
      </p:sp>
      <p:sp>
        <p:nvSpPr>
          <p:cNvPr id="4" name="內容版面配置區 3"/>
          <p:cNvSpPr>
            <a:spLocks noGrp="1"/>
          </p:cNvSpPr>
          <p:nvPr>
            <p:ph sz="quarter" idx="1"/>
          </p:nvPr>
        </p:nvSpPr>
        <p:spPr/>
        <p:txBody>
          <a:bodyPr/>
          <a:lstStyle/>
          <a:p>
            <a:r>
              <a:rPr lang="zh-TW" altLang="zh-TW" dirty="0"/>
              <a:t>執行結果</a:t>
            </a:r>
            <a:endParaRPr lang="zh-TW" altLang="en-US" dirty="0"/>
          </a:p>
        </p:txBody>
      </p:sp>
      <p:pic>
        <p:nvPicPr>
          <p:cNvPr id="7" name="圖片 6" descr="一張含有 文字, 螢幕擷取畫面, 軟體, 數字 的圖片&#10;&#10;自動產生的描述">
            <a:extLst>
              <a:ext uri="{FF2B5EF4-FFF2-40B4-BE49-F238E27FC236}">
                <a16:creationId xmlns:a16="http://schemas.microsoft.com/office/drawing/2014/main" id="{CE07938A-8428-A768-7493-B630348BC9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584" y="2007193"/>
            <a:ext cx="7864552" cy="4601371"/>
          </a:xfrm>
          <a:prstGeom prst="rect">
            <a:avLst/>
          </a:prstGeom>
        </p:spPr>
      </p:pic>
    </p:spTree>
    <p:extLst>
      <p:ext uri="{BB962C8B-B14F-4D97-AF65-F5344CB8AC3E}">
        <p14:creationId xmlns:p14="http://schemas.microsoft.com/office/powerpoint/2010/main" val="162007049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共用模版的使用</a:t>
            </a:r>
            <a:r>
              <a:rPr lang="en-US" altLang="zh-TW" dirty="0">
                <a:solidFill>
                  <a:srgbClr val="FF0000"/>
                </a:solidFill>
              </a:rPr>
              <a:t>(</a:t>
            </a:r>
            <a:r>
              <a:rPr lang="zh-TW" altLang="en-US" dirty="0">
                <a:solidFill>
                  <a:srgbClr val="FF0000"/>
                </a:solidFill>
              </a:rPr>
              <a:t>後面再介紹</a:t>
            </a:r>
            <a:r>
              <a:rPr lang="en-US" altLang="zh-TW" dirty="0">
                <a:solidFill>
                  <a:srgbClr val="FF0000"/>
                </a:solidFill>
              </a:rPr>
              <a:t>)</a:t>
            </a:r>
            <a:endParaRPr lang="zh-TW" altLang="en-US" dirty="0">
              <a:solidFill>
                <a:srgbClr val="FF0000"/>
              </a:solidFill>
            </a:endParaRPr>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61</a:t>
            </a:fld>
            <a:endParaRPr lang="zh-TW" altLang="en-US"/>
          </a:p>
        </p:txBody>
      </p:sp>
      <p:sp>
        <p:nvSpPr>
          <p:cNvPr id="4" name="內容版面配置區 3"/>
          <p:cNvSpPr>
            <a:spLocks noGrp="1"/>
          </p:cNvSpPr>
          <p:nvPr>
            <p:ph sz="quarter" idx="1"/>
          </p:nvPr>
        </p:nvSpPr>
        <p:spPr/>
        <p:txBody>
          <a:bodyPr/>
          <a:lstStyle/>
          <a:p>
            <a:r>
              <a:rPr lang="zh-TW" altLang="zh-TW" dirty="0"/>
              <a:t>幾乎所有的商用網站在每一頁都會有一些共同的元素以強調網站的風格，如果像上一小節那樣</a:t>
            </a:r>
            <a:r>
              <a:rPr lang="zh-TW" altLang="zh-TW"/>
              <a:t>每一樣</a:t>
            </a:r>
            <a:r>
              <a:rPr lang="zh-TW" altLang="en-US"/>
              <a:t>都</a:t>
            </a:r>
            <a:r>
              <a:rPr lang="zh-TW" altLang="zh-TW"/>
              <a:t>分開</a:t>
            </a:r>
            <a:r>
              <a:rPr lang="zh-TW" altLang="zh-TW" dirty="0"/>
              <a:t>設計的話，不僅要多花許多不必要的時間和精力，而且如果有所更動的時候，也很難同步修改到所有網頁共同的</a:t>
            </a:r>
            <a:r>
              <a:rPr lang="zh-TW" altLang="zh-TW"/>
              <a:t>部份。</a:t>
            </a:r>
            <a:endParaRPr lang="en-US" altLang="zh-TW"/>
          </a:p>
          <a:p>
            <a:r>
              <a:rPr lang="zh-TW" altLang="zh-TW"/>
              <a:t>把</a:t>
            </a:r>
            <a:r>
              <a:rPr lang="zh-TW" altLang="zh-TW" dirty="0"/>
              <a:t>每一個網頁共同的部份獨立出來成為另外一個檔案，才是最正確的</a:t>
            </a:r>
            <a:r>
              <a:rPr lang="zh-TW" altLang="zh-TW"/>
              <a:t>做法，</a:t>
            </a:r>
            <a:r>
              <a:rPr lang="en-US" altLang="zh-TW"/>
              <a:t>Django</a:t>
            </a:r>
            <a:r>
              <a:rPr lang="zh-TW" altLang="zh-TW" dirty="0"/>
              <a:t>就提供了共同模版的方式處理這部份的機制。</a:t>
            </a:r>
          </a:p>
          <a:p>
            <a:endParaRPr lang="zh-TW" altLang="en-US" dirty="0"/>
          </a:p>
        </p:txBody>
      </p:sp>
    </p:spTree>
    <p:extLst>
      <p:ext uri="{BB962C8B-B14F-4D97-AF65-F5344CB8AC3E}">
        <p14:creationId xmlns:p14="http://schemas.microsoft.com/office/powerpoint/2010/main" val="134769889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共用模版的使用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62</a:t>
            </a:fld>
            <a:endParaRPr lang="zh-TW" altLang="en-US"/>
          </a:p>
        </p:txBody>
      </p:sp>
      <p:graphicFrame>
        <p:nvGraphicFramePr>
          <p:cNvPr id="5" name="內容版面配置區 4"/>
          <p:cNvGraphicFramePr>
            <a:graphicFrameLocks noGrp="1"/>
          </p:cNvGraphicFramePr>
          <p:nvPr>
            <p:ph sz="quarter" idx="1"/>
            <p:extLst>
              <p:ext uri="{D42A27DB-BD31-4B8C-83A1-F6EECF244321}">
                <p14:modId xmlns:p14="http://schemas.microsoft.com/office/powerpoint/2010/main" val="3282734183"/>
              </p:ext>
            </p:extLst>
          </p:nvPr>
        </p:nvGraphicFramePr>
        <p:xfrm>
          <a:off x="611560" y="1844824"/>
          <a:ext cx="8136904" cy="3108345"/>
        </p:xfrm>
        <a:graphic>
          <a:graphicData uri="http://schemas.openxmlformats.org/drawingml/2006/table">
            <a:tbl>
              <a:tblPr firstRow="1" firstCol="1" bandRow="1">
                <a:tableStyleId>{5C22544A-7EE6-4342-B048-85BDC9FD1C3A}</a:tableStyleId>
              </a:tblPr>
              <a:tblGrid>
                <a:gridCol w="1876004">
                  <a:extLst>
                    <a:ext uri="{9D8B030D-6E8A-4147-A177-3AD203B41FA5}">
                      <a16:colId xmlns:a16="http://schemas.microsoft.com/office/drawing/2014/main" val="20000"/>
                    </a:ext>
                  </a:extLst>
                </a:gridCol>
                <a:gridCol w="6260900">
                  <a:extLst>
                    <a:ext uri="{9D8B030D-6E8A-4147-A177-3AD203B41FA5}">
                      <a16:colId xmlns:a16="http://schemas.microsoft.com/office/drawing/2014/main" val="20001"/>
                    </a:ext>
                  </a:extLst>
                </a:gridCol>
              </a:tblGrid>
              <a:tr h="504056">
                <a:tc>
                  <a:txBody>
                    <a:bodyPr/>
                    <a:lstStyle/>
                    <a:p>
                      <a:pPr algn="just">
                        <a:spcBef>
                          <a:spcPts val="600"/>
                        </a:spcBef>
                        <a:spcAft>
                          <a:spcPts val="600"/>
                        </a:spcAft>
                      </a:pPr>
                      <a:r>
                        <a:rPr lang="zh-TW" sz="1800" kern="100">
                          <a:effectLst/>
                        </a:rPr>
                        <a:t>檔案名稱</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用途說明</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444051">
                <a:tc>
                  <a:txBody>
                    <a:bodyPr/>
                    <a:lstStyle/>
                    <a:p>
                      <a:pPr algn="just">
                        <a:spcBef>
                          <a:spcPts val="600"/>
                        </a:spcBef>
                        <a:spcAft>
                          <a:spcPts val="600"/>
                        </a:spcAft>
                      </a:pPr>
                      <a:r>
                        <a:rPr lang="en-US" sz="1800" kern="100">
                          <a:effectLst/>
                        </a:rPr>
                        <a:t>base.html</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網站的基礎模版，提供網站的主要設計外觀風格</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576064">
                <a:tc>
                  <a:txBody>
                    <a:bodyPr/>
                    <a:lstStyle/>
                    <a:p>
                      <a:pPr algn="just">
                        <a:spcBef>
                          <a:spcPts val="600"/>
                        </a:spcBef>
                        <a:spcAft>
                          <a:spcPts val="600"/>
                        </a:spcAft>
                      </a:pPr>
                      <a:r>
                        <a:rPr lang="en-US" sz="1800" kern="100">
                          <a:effectLst/>
                        </a:rPr>
                        <a:t>header.html</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網站中每一個網頁共用的標題元素，通常是放置網站</a:t>
                      </a:r>
                      <a:r>
                        <a:rPr lang="en-US" sz="1800" kern="100">
                          <a:effectLst/>
                        </a:rPr>
                        <a:t>Logo</a:t>
                      </a:r>
                      <a:r>
                        <a:rPr lang="zh-TW" sz="1800" kern="100">
                          <a:effectLst/>
                        </a:rPr>
                        <a:t>的地方</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648072">
                <a:tc>
                  <a:txBody>
                    <a:bodyPr/>
                    <a:lstStyle/>
                    <a:p>
                      <a:pPr algn="just">
                        <a:spcBef>
                          <a:spcPts val="600"/>
                        </a:spcBef>
                        <a:spcAft>
                          <a:spcPts val="600"/>
                        </a:spcAft>
                      </a:pPr>
                      <a:r>
                        <a:rPr lang="en-US" sz="1800" kern="100">
                          <a:effectLst/>
                        </a:rPr>
                        <a:t>footer.html</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dirty="0">
                          <a:effectLst/>
                        </a:rPr>
                        <a:t>網站中每一個網頁的共用頁尾，用來放置版權聲明或是其它參考資訊</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432048">
                <a:tc>
                  <a:txBody>
                    <a:bodyPr/>
                    <a:lstStyle/>
                    <a:p>
                      <a:pPr algn="just">
                        <a:spcBef>
                          <a:spcPts val="600"/>
                        </a:spcBef>
                        <a:spcAft>
                          <a:spcPts val="600"/>
                        </a:spcAft>
                      </a:pPr>
                      <a:r>
                        <a:rPr lang="en-US" sz="1800" kern="100">
                          <a:effectLst/>
                        </a:rPr>
                        <a:t>index.html</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此範例網站的首頁</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504054">
                <a:tc>
                  <a:txBody>
                    <a:bodyPr/>
                    <a:lstStyle/>
                    <a:p>
                      <a:pPr algn="just">
                        <a:spcBef>
                          <a:spcPts val="600"/>
                        </a:spcBef>
                        <a:spcAft>
                          <a:spcPts val="600"/>
                        </a:spcAft>
                      </a:pPr>
                      <a:r>
                        <a:rPr lang="en-US" sz="1800" kern="100">
                          <a:effectLst/>
                        </a:rPr>
                        <a:t>post.html</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dirty="0">
                          <a:effectLst/>
                        </a:rPr>
                        <a:t>此範例網站用來顯示單篇文章的網頁</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03697445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共用模版的使用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63</a:t>
            </a:fld>
            <a:endParaRPr lang="zh-TW" altLang="en-US"/>
          </a:p>
        </p:txBody>
      </p:sp>
      <p:sp>
        <p:nvSpPr>
          <p:cNvPr id="4" name="內容版面配置區 3"/>
          <p:cNvSpPr>
            <a:spLocks noGrp="1"/>
          </p:cNvSpPr>
          <p:nvPr>
            <p:ph sz="quarter" idx="1"/>
          </p:nvPr>
        </p:nvSpPr>
        <p:spPr/>
        <p:txBody>
          <a:bodyPr/>
          <a:lstStyle/>
          <a:p>
            <a:r>
              <a:rPr lang="zh-TW" altLang="zh-TW" dirty="0"/>
              <a:t>基本的模版架構</a:t>
            </a:r>
            <a:endParaRPr lang="zh-TW" altLang="en-US" dirty="0"/>
          </a:p>
        </p:txBody>
      </p:sp>
      <p:pic>
        <p:nvPicPr>
          <p:cNvPr id="5" name="圖片 4"/>
          <p:cNvPicPr/>
          <p:nvPr/>
        </p:nvPicPr>
        <p:blipFill>
          <a:blip r:embed="rId3">
            <a:extLst>
              <a:ext uri="{28A0092B-C50C-407E-A947-70E740481C1C}">
                <a14:useLocalDpi xmlns:a14="http://schemas.microsoft.com/office/drawing/2010/main" val="0"/>
              </a:ext>
            </a:extLst>
          </a:blip>
          <a:stretch>
            <a:fillRect/>
          </a:stretch>
        </p:blipFill>
        <p:spPr>
          <a:xfrm>
            <a:off x="1547664" y="2033449"/>
            <a:ext cx="6048672" cy="4596303"/>
          </a:xfrm>
          <a:prstGeom prst="rect">
            <a:avLst/>
          </a:prstGeom>
        </p:spPr>
      </p:pic>
    </p:spTree>
    <p:extLst>
      <p:ext uri="{BB962C8B-B14F-4D97-AF65-F5344CB8AC3E}">
        <p14:creationId xmlns:p14="http://schemas.microsoft.com/office/powerpoint/2010/main" val="194765572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zh-TW" dirty="0"/>
              <a:t>共用模版的使用</a:t>
            </a:r>
            <a:br>
              <a:rPr lang="en-US" altLang="zh-TW" dirty="0"/>
            </a:br>
            <a:r>
              <a:rPr lang="en-US" altLang="zh-TW" dirty="0"/>
              <a:t>files:02mblog\</a:t>
            </a:r>
            <a:r>
              <a:rPr lang="en-US" altLang="zh-TW" dirty="0" err="1"/>
              <a:t>mblog</a:t>
            </a:r>
            <a:r>
              <a:rPr lang="en-US" altLang="zh-TW" dirty="0"/>
              <a:t>\</a:t>
            </a:r>
            <a:r>
              <a:rPr lang="en-US" altLang="zh-TW" dirty="0" err="1"/>
              <a:t>mysite</a:t>
            </a:r>
            <a:r>
              <a:rPr lang="en-US" altLang="zh-TW" dirty="0"/>
              <a:t>\templates</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64</a:t>
            </a:fld>
            <a:endParaRPr lang="zh-TW" altLang="en-US"/>
          </a:p>
        </p:txBody>
      </p:sp>
      <p:sp>
        <p:nvSpPr>
          <p:cNvPr id="4" name="內容版面配置區 3"/>
          <p:cNvSpPr>
            <a:spLocks noGrp="1"/>
          </p:cNvSpPr>
          <p:nvPr>
            <p:ph sz="quarter" idx="1"/>
          </p:nvPr>
        </p:nvSpPr>
        <p:spPr>
          <a:xfrm>
            <a:off x="301752" y="1124744"/>
            <a:ext cx="8534400" cy="5733256"/>
          </a:xfrm>
        </p:spPr>
        <p:txBody>
          <a:bodyPr>
            <a:normAutofit fontScale="85000" lnSpcReduction="20000"/>
          </a:bodyPr>
          <a:lstStyle/>
          <a:p>
            <a:r>
              <a:rPr lang="en-US" altLang="zh-TW" dirty="0">
                <a:solidFill>
                  <a:srgbClr val="FF0000"/>
                </a:solidFill>
              </a:rPr>
              <a:t>base.html</a:t>
            </a:r>
          </a:p>
          <a:p>
            <a:pPr marL="274320" lvl="1" indent="0">
              <a:buNone/>
            </a:pPr>
            <a:r>
              <a:rPr lang="en-US" altLang="zh-TW" dirty="0"/>
              <a:t>&lt;!-- base.html --&gt;</a:t>
            </a:r>
          </a:p>
          <a:p>
            <a:pPr marL="274320" lvl="1" indent="0">
              <a:buNone/>
            </a:pPr>
            <a:r>
              <a:rPr lang="en-US" altLang="zh-TW" dirty="0"/>
              <a:t>&lt;!DOCTYPE&gt;</a:t>
            </a:r>
          </a:p>
          <a:p>
            <a:pPr marL="274320" lvl="1" indent="0">
              <a:buNone/>
            </a:pPr>
            <a:r>
              <a:rPr lang="en-US" altLang="zh-TW" dirty="0"/>
              <a:t>&lt;html&gt;</a:t>
            </a:r>
          </a:p>
          <a:p>
            <a:pPr marL="274320" lvl="1" indent="0">
              <a:buNone/>
            </a:pPr>
            <a:r>
              <a:rPr lang="en-US" altLang="zh-TW" dirty="0"/>
              <a:t>&lt;head&gt;</a:t>
            </a:r>
          </a:p>
          <a:p>
            <a:pPr marL="274320" lvl="1" indent="0">
              <a:buNone/>
            </a:pPr>
            <a:r>
              <a:rPr lang="en-US" altLang="zh-TW" dirty="0"/>
              <a:t>    &lt;meta charset='utf-8'&gt;</a:t>
            </a:r>
          </a:p>
          <a:p>
            <a:pPr marL="274320" lvl="1" indent="0">
              <a:buNone/>
            </a:pPr>
            <a:r>
              <a:rPr lang="en-US" altLang="zh-TW" dirty="0"/>
              <a:t>    &lt;title&gt;</a:t>
            </a:r>
          </a:p>
          <a:p>
            <a:pPr marL="274320" lvl="1" indent="0">
              <a:buNone/>
            </a:pPr>
            <a:r>
              <a:rPr lang="en-US" altLang="zh-TW" dirty="0"/>
              <a:t>        </a:t>
            </a:r>
            <a:r>
              <a:rPr lang="en-US" altLang="zh-TW" dirty="0">
                <a:solidFill>
                  <a:srgbClr val="FF0000"/>
                </a:solidFill>
              </a:rPr>
              <a:t>{% block title %} {% </a:t>
            </a:r>
            <a:r>
              <a:rPr lang="en-US" altLang="zh-TW" dirty="0" err="1">
                <a:solidFill>
                  <a:srgbClr val="FF0000"/>
                </a:solidFill>
              </a:rPr>
              <a:t>endblock</a:t>
            </a:r>
            <a:r>
              <a:rPr lang="en-US" altLang="zh-TW" dirty="0">
                <a:solidFill>
                  <a:srgbClr val="FF0000"/>
                </a:solidFill>
              </a:rPr>
              <a:t> %}</a:t>
            </a:r>
          </a:p>
          <a:p>
            <a:pPr marL="274320" lvl="1" indent="0">
              <a:buNone/>
            </a:pPr>
            <a:r>
              <a:rPr lang="en-US" altLang="zh-TW" dirty="0"/>
              <a:t>    &lt;/title&gt;</a:t>
            </a:r>
          </a:p>
          <a:p>
            <a:pPr marL="274320" lvl="1" indent="0">
              <a:buNone/>
            </a:pPr>
            <a:r>
              <a:rPr lang="en-US" altLang="zh-TW" dirty="0"/>
              <a:t>&lt;/head&gt;</a:t>
            </a:r>
          </a:p>
          <a:p>
            <a:pPr marL="274320" lvl="1" indent="0">
              <a:buNone/>
            </a:pPr>
            <a:r>
              <a:rPr lang="en-US" altLang="zh-TW" dirty="0"/>
              <a:t>&lt;body&gt;</a:t>
            </a:r>
          </a:p>
          <a:p>
            <a:pPr marL="274320" lvl="1" indent="0">
              <a:buNone/>
            </a:pPr>
            <a:r>
              <a:rPr lang="en-US" altLang="zh-TW" dirty="0"/>
              <a:t>    {% </a:t>
            </a:r>
            <a:r>
              <a:rPr lang="en-US" altLang="zh-TW" dirty="0">
                <a:solidFill>
                  <a:srgbClr val="FF0000"/>
                </a:solidFill>
              </a:rPr>
              <a:t>include </a:t>
            </a:r>
            <a:r>
              <a:rPr lang="en-US" altLang="zh-TW" dirty="0"/>
              <a:t>'header.html' %}</a:t>
            </a:r>
          </a:p>
          <a:p>
            <a:pPr marL="274320" lvl="1" indent="0">
              <a:buNone/>
            </a:pPr>
            <a:r>
              <a:rPr lang="en-US" altLang="zh-TW" dirty="0"/>
              <a:t>    </a:t>
            </a:r>
            <a:r>
              <a:rPr lang="en-US" altLang="zh-TW" dirty="0">
                <a:solidFill>
                  <a:srgbClr val="FF0000"/>
                </a:solidFill>
              </a:rPr>
              <a:t>{% block </a:t>
            </a:r>
            <a:r>
              <a:rPr lang="en-US" altLang="zh-TW" dirty="0" err="1">
                <a:solidFill>
                  <a:srgbClr val="FF0000"/>
                </a:solidFill>
              </a:rPr>
              <a:t>headmessage</a:t>
            </a:r>
            <a:r>
              <a:rPr lang="en-US" altLang="zh-TW" dirty="0">
                <a:solidFill>
                  <a:srgbClr val="FF0000"/>
                </a:solidFill>
              </a:rPr>
              <a:t> %} {% </a:t>
            </a:r>
            <a:r>
              <a:rPr lang="en-US" altLang="zh-TW" dirty="0" err="1">
                <a:solidFill>
                  <a:srgbClr val="FF0000"/>
                </a:solidFill>
              </a:rPr>
              <a:t>endblock</a:t>
            </a:r>
            <a:r>
              <a:rPr lang="en-US" altLang="zh-TW" dirty="0">
                <a:solidFill>
                  <a:srgbClr val="FF0000"/>
                </a:solidFill>
              </a:rPr>
              <a:t> %}</a:t>
            </a:r>
          </a:p>
          <a:p>
            <a:pPr marL="274320" lvl="1" indent="0">
              <a:buNone/>
            </a:pPr>
            <a:r>
              <a:rPr lang="en-US" altLang="zh-TW" dirty="0"/>
              <a:t>    &lt;</a:t>
            </a:r>
            <a:r>
              <a:rPr lang="en-US" altLang="zh-TW" dirty="0" err="1"/>
              <a:t>hr</a:t>
            </a:r>
            <a:r>
              <a:rPr lang="en-US" altLang="zh-TW" dirty="0"/>
              <a:t>&gt;</a:t>
            </a:r>
          </a:p>
          <a:p>
            <a:pPr marL="274320" lvl="1" indent="0">
              <a:buNone/>
            </a:pPr>
            <a:r>
              <a:rPr lang="en-US" altLang="zh-TW" dirty="0"/>
              <a:t>    </a:t>
            </a:r>
            <a:r>
              <a:rPr lang="en-US" altLang="zh-TW" dirty="0">
                <a:solidFill>
                  <a:srgbClr val="FF0000"/>
                </a:solidFill>
              </a:rPr>
              <a:t>{% block content %} {% </a:t>
            </a:r>
            <a:r>
              <a:rPr lang="en-US" altLang="zh-TW" dirty="0" err="1">
                <a:solidFill>
                  <a:srgbClr val="FF0000"/>
                </a:solidFill>
              </a:rPr>
              <a:t>endblock</a:t>
            </a:r>
            <a:r>
              <a:rPr lang="en-US" altLang="zh-TW" dirty="0">
                <a:solidFill>
                  <a:srgbClr val="FF0000"/>
                </a:solidFill>
              </a:rPr>
              <a:t> %}</a:t>
            </a:r>
          </a:p>
          <a:p>
            <a:pPr marL="274320" lvl="1" indent="0">
              <a:buNone/>
            </a:pPr>
            <a:r>
              <a:rPr lang="en-US" altLang="zh-TW" dirty="0"/>
              <a:t>    &lt;</a:t>
            </a:r>
            <a:r>
              <a:rPr lang="en-US" altLang="zh-TW" dirty="0" err="1"/>
              <a:t>hr</a:t>
            </a:r>
            <a:r>
              <a:rPr lang="en-US" altLang="zh-TW" dirty="0"/>
              <a:t>&gt;</a:t>
            </a:r>
          </a:p>
          <a:p>
            <a:pPr marL="274320" lvl="1" indent="0">
              <a:buNone/>
            </a:pPr>
            <a:r>
              <a:rPr lang="en-US" altLang="zh-TW" dirty="0"/>
              <a:t>    {% </a:t>
            </a:r>
            <a:r>
              <a:rPr lang="en-US" altLang="zh-TW" dirty="0">
                <a:solidFill>
                  <a:srgbClr val="FF0000"/>
                </a:solidFill>
              </a:rPr>
              <a:t>include</a:t>
            </a:r>
            <a:r>
              <a:rPr lang="en-US" altLang="zh-TW" dirty="0"/>
              <a:t> 'footer.html' %}</a:t>
            </a:r>
          </a:p>
          <a:p>
            <a:pPr marL="274320" lvl="1" indent="0">
              <a:buNone/>
            </a:pPr>
            <a:r>
              <a:rPr lang="en-US" altLang="zh-TW" dirty="0"/>
              <a:t>&lt;/body&gt;</a:t>
            </a:r>
          </a:p>
          <a:p>
            <a:pPr marL="274320" lvl="1" indent="0">
              <a:buNone/>
            </a:pPr>
            <a:r>
              <a:rPr lang="en-US" altLang="zh-TW" dirty="0"/>
              <a:t>&lt;/html&gt;</a:t>
            </a:r>
          </a:p>
          <a:p>
            <a:pPr lvl="1"/>
            <a:endParaRPr lang="zh-TW" altLang="en-US" dirty="0"/>
          </a:p>
        </p:txBody>
      </p:sp>
    </p:spTree>
    <p:extLst>
      <p:ext uri="{BB962C8B-B14F-4D97-AF65-F5344CB8AC3E}">
        <p14:creationId xmlns:p14="http://schemas.microsoft.com/office/powerpoint/2010/main" val="365999084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共用模版的使用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65</a:t>
            </a:fld>
            <a:endParaRPr lang="zh-TW" altLang="en-US"/>
          </a:p>
        </p:txBody>
      </p:sp>
      <p:sp>
        <p:nvSpPr>
          <p:cNvPr id="4" name="內容版面配置區 3"/>
          <p:cNvSpPr>
            <a:spLocks noGrp="1"/>
          </p:cNvSpPr>
          <p:nvPr>
            <p:ph sz="quarter" idx="1"/>
          </p:nvPr>
        </p:nvSpPr>
        <p:spPr>
          <a:xfrm>
            <a:off x="301752" y="1527048"/>
            <a:ext cx="8534400" cy="5070304"/>
          </a:xfrm>
        </p:spPr>
        <p:txBody>
          <a:bodyPr>
            <a:normAutofit fontScale="92500" lnSpcReduction="10000"/>
          </a:bodyPr>
          <a:lstStyle/>
          <a:p>
            <a:r>
              <a:rPr lang="en-US" altLang="zh-TW" dirty="0"/>
              <a:t>index.html</a:t>
            </a:r>
          </a:p>
          <a:p>
            <a:pPr marL="274320" lvl="1" indent="0">
              <a:buNone/>
            </a:pPr>
            <a:r>
              <a:rPr lang="en-US" altLang="zh-TW" dirty="0"/>
              <a:t>&lt;!-- index.html --&gt;</a:t>
            </a:r>
          </a:p>
          <a:p>
            <a:pPr marL="274320" lvl="1" indent="0">
              <a:buNone/>
            </a:pPr>
            <a:r>
              <a:rPr lang="en-US" altLang="zh-TW" dirty="0">
                <a:solidFill>
                  <a:srgbClr val="FF0000"/>
                </a:solidFill>
              </a:rPr>
              <a:t>{% extends 'base.html' %}</a:t>
            </a:r>
          </a:p>
          <a:p>
            <a:pPr marL="274320" lvl="1" indent="0">
              <a:buNone/>
            </a:pPr>
            <a:r>
              <a:rPr lang="en-US" altLang="zh-TW" dirty="0">
                <a:solidFill>
                  <a:srgbClr val="FF0000"/>
                </a:solidFill>
              </a:rPr>
              <a:t>{% block title %} </a:t>
            </a:r>
            <a:r>
              <a:rPr lang="zh-TW" altLang="en-US" dirty="0">
                <a:solidFill>
                  <a:srgbClr val="FF0000"/>
                </a:solidFill>
              </a:rPr>
              <a:t>歡迎光臨我的部落格 </a:t>
            </a:r>
            <a:r>
              <a:rPr lang="en-US" altLang="zh-TW" dirty="0">
                <a:solidFill>
                  <a:srgbClr val="FF0000"/>
                </a:solidFill>
              </a:rPr>
              <a:t>{% </a:t>
            </a:r>
            <a:r>
              <a:rPr lang="en-US" altLang="zh-TW" dirty="0" err="1">
                <a:solidFill>
                  <a:srgbClr val="FF0000"/>
                </a:solidFill>
              </a:rPr>
              <a:t>endblock</a:t>
            </a:r>
            <a:r>
              <a:rPr lang="en-US" altLang="zh-TW" dirty="0">
                <a:solidFill>
                  <a:srgbClr val="FF0000"/>
                </a:solidFill>
              </a:rPr>
              <a:t> %}</a:t>
            </a:r>
          </a:p>
          <a:p>
            <a:pPr marL="274320" lvl="1" indent="0">
              <a:buNone/>
            </a:pPr>
            <a:r>
              <a:rPr lang="en-US" altLang="zh-TW" dirty="0"/>
              <a:t>{% block </a:t>
            </a:r>
            <a:r>
              <a:rPr lang="en-US" altLang="zh-TW" dirty="0" err="1"/>
              <a:t>headmessage</a:t>
            </a:r>
            <a:r>
              <a:rPr lang="en-US" altLang="zh-TW" dirty="0"/>
              <a:t> %} </a:t>
            </a:r>
          </a:p>
          <a:p>
            <a:pPr marL="274320" lvl="1" indent="0">
              <a:buNone/>
            </a:pPr>
            <a:r>
              <a:rPr lang="en-US" altLang="zh-TW" dirty="0"/>
              <a:t>    &lt;h3 style='font-family:</a:t>
            </a:r>
            <a:r>
              <a:rPr lang="zh-TW" altLang="en-US" dirty="0"/>
              <a:t>標楷體</a:t>
            </a:r>
            <a:r>
              <a:rPr lang="en-US" altLang="zh-TW" dirty="0"/>
              <a:t>;'&gt;</a:t>
            </a:r>
            <a:r>
              <a:rPr lang="zh-TW" altLang="en-US" dirty="0"/>
              <a:t>本站文章列表</a:t>
            </a:r>
            <a:r>
              <a:rPr lang="en-US" altLang="zh-TW" dirty="0"/>
              <a:t>&lt;/a&gt;</a:t>
            </a:r>
          </a:p>
          <a:p>
            <a:pPr marL="274320" lvl="1" indent="0">
              <a:buNone/>
            </a:pPr>
            <a:r>
              <a:rPr lang="en-US" altLang="zh-TW" dirty="0"/>
              <a:t>{% </a:t>
            </a:r>
            <a:r>
              <a:rPr lang="en-US" altLang="zh-TW" dirty="0" err="1"/>
              <a:t>endblock</a:t>
            </a:r>
            <a:r>
              <a:rPr lang="en-US" altLang="zh-TW" dirty="0"/>
              <a:t> %}</a:t>
            </a:r>
          </a:p>
          <a:p>
            <a:pPr marL="274320" lvl="1" indent="0">
              <a:buNone/>
            </a:pPr>
            <a:r>
              <a:rPr lang="en-US" altLang="zh-TW" dirty="0">
                <a:solidFill>
                  <a:srgbClr val="FF0000"/>
                </a:solidFill>
              </a:rPr>
              <a:t>{% block content %} </a:t>
            </a:r>
          </a:p>
          <a:p>
            <a:pPr marL="274320" lvl="1" indent="0">
              <a:buNone/>
            </a:pPr>
            <a:r>
              <a:rPr lang="en-US" altLang="zh-TW" dirty="0"/>
              <a:t>    {% for post in posts %}</a:t>
            </a:r>
          </a:p>
          <a:p>
            <a:pPr marL="274320" lvl="1" indent="0">
              <a:buNone/>
            </a:pPr>
            <a:r>
              <a:rPr lang="en-US" altLang="zh-TW" dirty="0"/>
              <a:t>        &lt;p style='font-family:</a:t>
            </a:r>
            <a:r>
              <a:rPr lang="zh-TW" altLang="en-US" dirty="0"/>
              <a:t>微軟正黑體</a:t>
            </a:r>
            <a:r>
              <a:rPr lang="en-US" altLang="zh-TW" dirty="0"/>
              <a:t>;font-size:14pt;font-weight:bold;'&gt;</a:t>
            </a:r>
          </a:p>
          <a:p>
            <a:pPr marL="274320" lvl="1" indent="0">
              <a:buNone/>
            </a:pPr>
            <a:r>
              <a:rPr lang="en-US" altLang="zh-TW" dirty="0"/>
              <a:t>            &lt;a </a:t>
            </a:r>
            <a:r>
              <a:rPr lang="en-US" altLang="zh-TW" dirty="0" err="1"/>
              <a:t>href</a:t>
            </a:r>
            <a:r>
              <a:rPr lang="en-US" altLang="zh-TW" dirty="0"/>
              <a:t>='/post/{{</a:t>
            </a:r>
            <a:r>
              <a:rPr lang="en-US" altLang="zh-TW" dirty="0" err="1"/>
              <a:t>post.slug</a:t>
            </a:r>
            <a:r>
              <a:rPr lang="en-US" altLang="zh-TW" dirty="0"/>
              <a:t>}}'&gt;{{ </a:t>
            </a:r>
            <a:r>
              <a:rPr lang="en-US" altLang="zh-TW" dirty="0" err="1"/>
              <a:t>post.title</a:t>
            </a:r>
            <a:r>
              <a:rPr lang="en-US" altLang="zh-TW" dirty="0"/>
              <a:t> }}&lt;/a&gt;</a:t>
            </a:r>
          </a:p>
          <a:p>
            <a:pPr marL="274320" lvl="1" indent="0">
              <a:buNone/>
            </a:pPr>
            <a:r>
              <a:rPr lang="en-US" altLang="zh-TW" dirty="0"/>
              <a:t>        &lt;/p&gt;</a:t>
            </a:r>
          </a:p>
          <a:p>
            <a:pPr marL="274320" lvl="1" indent="0">
              <a:buNone/>
            </a:pPr>
            <a:r>
              <a:rPr lang="en-US" altLang="zh-TW" dirty="0"/>
              <a:t>    {% </a:t>
            </a:r>
            <a:r>
              <a:rPr lang="en-US" altLang="zh-TW" dirty="0" err="1"/>
              <a:t>endfor</a:t>
            </a:r>
            <a:r>
              <a:rPr lang="en-US" altLang="zh-TW" dirty="0"/>
              <a:t> %}</a:t>
            </a:r>
          </a:p>
          <a:p>
            <a:pPr marL="274320" lvl="1" indent="0">
              <a:buNone/>
            </a:pPr>
            <a:r>
              <a:rPr lang="en-US" altLang="zh-TW" dirty="0">
                <a:solidFill>
                  <a:srgbClr val="FF0000"/>
                </a:solidFill>
              </a:rPr>
              <a:t>{% </a:t>
            </a:r>
            <a:r>
              <a:rPr lang="en-US" altLang="zh-TW" dirty="0" err="1">
                <a:solidFill>
                  <a:srgbClr val="FF0000"/>
                </a:solidFill>
              </a:rPr>
              <a:t>endblock</a:t>
            </a:r>
            <a:r>
              <a:rPr lang="en-US" altLang="zh-TW" dirty="0">
                <a:solidFill>
                  <a:srgbClr val="FF0000"/>
                </a:solidFill>
              </a:rPr>
              <a:t> %}</a:t>
            </a:r>
          </a:p>
          <a:p>
            <a:pPr lvl="1"/>
            <a:endParaRPr lang="zh-TW" altLang="en-US" dirty="0"/>
          </a:p>
        </p:txBody>
      </p:sp>
    </p:spTree>
    <p:extLst>
      <p:ext uri="{BB962C8B-B14F-4D97-AF65-F5344CB8AC3E}">
        <p14:creationId xmlns:p14="http://schemas.microsoft.com/office/powerpoint/2010/main" val="113217624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共用模版的使用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66</a:t>
            </a:fld>
            <a:endParaRPr lang="zh-TW" altLang="en-US"/>
          </a:p>
        </p:txBody>
      </p:sp>
      <p:sp>
        <p:nvSpPr>
          <p:cNvPr id="4" name="內容版面配置區 3"/>
          <p:cNvSpPr>
            <a:spLocks noGrp="1"/>
          </p:cNvSpPr>
          <p:nvPr>
            <p:ph sz="quarter" idx="1"/>
          </p:nvPr>
        </p:nvSpPr>
        <p:spPr/>
        <p:txBody>
          <a:bodyPr>
            <a:normAutofit fontScale="92500" lnSpcReduction="20000"/>
          </a:bodyPr>
          <a:lstStyle/>
          <a:p>
            <a:r>
              <a:rPr lang="en-US" altLang="zh-TW" dirty="0"/>
              <a:t>post.html</a:t>
            </a:r>
          </a:p>
          <a:p>
            <a:pPr marL="274320" lvl="1" indent="0">
              <a:buNone/>
            </a:pPr>
            <a:r>
              <a:rPr lang="en-US" altLang="zh-TW" dirty="0"/>
              <a:t>&lt;!-- post.html --&gt;</a:t>
            </a:r>
          </a:p>
          <a:p>
            <a:pPr marL="274320" lvl="1" indent="0">
              <a:buNone/>
            </a:pPr>
            <a:r>
              <a:rPr lang="en-US" altLang="zh-TW" dirty="0">
                <a:solidFill>
                  <a:srgbClr val="FF0000"/>
                </a:solidFill>
              </a:rPr>
              <a:t>{% extends 'base.html' %}</a:t>
            </a:r>
          </a:p>
          <a:p>
            <a:pPr marL="274320" lvl="1" indent="0">
              <a:buNone/>
            </a:pPr>
            <a:r>
              <a:rPr lang="en-US" altLang="zh-TW" dirty="0"/>
              <a:t>{% block title %} {{ </a:t>
            </a:r>
            <a:r>
              <a:rPr lang="en-US" altLang="zh-TW" dirty="0" err="1"/>
              <a:t>post.title</a:t>
            </a:r>
            <a:r>
              <a:rPr lang="en-US" altLang="zh-TW" dirty="0"/>
              <a:t> }} - </a:t>
            </a:r>
            <a:r>
              <a:rPr lang="zh-TW" altLang="en-US" dirty="0"/>
              <a:t>文學天地 </a:t>
            </a:r>
            <a:r>
              <a:rPr lang="en-US" altLang="zh-TW" dirty="0"/>
              <a:t>{% </a:t>
            </a:r>
            <a:r>
              <a:rPr lang="en-US" altLang="zh-TW" dirty="0" err="1"/>
              <a:t>endblock</a:t>
            </a:r>
            <a:r>
              <a:rPr lang="en-US" altLang="zh-TW" dirty="0"/>
              <a:t> %}</a:t>
            </a:r>
          </a:p>
          <a:p>
            <a:pPr marL="274320" lvl="1" indent="0">
              <a:buNone/>
            </a:pPr>
            <a:r>
              <a:rPr lang="en-US" altLang="zh-TW" dirty="0"/>
              <a:t>{% block </a:t>
            </a:r>
            <a:r>
              <a:rPr lang="en-US" altLang="zh-TW" dirty="0" err="1"/>
              <a:t>headmessage</a:t>
            </a:r>
            <a:r>
              <a:rPr lang="en-US" altLang="zh-TW" dirty="0"/>
              <a:t> %}</a:t>
            </a:r>
          </a:p>
          <a:p>
            <a:pPr marL="274320" lvl="1" indent="0">
              <a:buNone/>
            </a:pPr>
            <a:r>
              <a:rPr lang="en-US" altLang="zh-TW" dirty="0"/>
              <a:t>    &lt;h3 style='font-family:</a:t>
            </a:r>
            <a:r>
              <a:rPr lang="zh-TW" altLang="en-US" dirty="0"/>
              <a:t>微軟正黑體</a:t>
            </a:r>
            <a:r>
              <a:rPr lang="en-US" altLang="zh-TW" dirty="0"/>
              <a:t>;'&gt;{{ </a:t>
            </a:r>
            <a:r>
              <a:rPr lang="en-US" altLang="zh-TW" dirty="0" err="1"/>
              <a:t>post.title</a:t>
            </a:r>
            <a:r>
              <a:rPr lang="en-US" altLang="zh-TW" dirty="0"/>
              <a:t> }}&lt;/h3&gt;</a:t>
            </a:r>
          </a:p>
          <a:p>
            <a:pPr marL="274320" lvl="1" indent="0">
              <a:buNone/>
            </a:pPr>
            <a:r>
              <a:rPr lang="en-US" altLang="zh-TW" dirty="0"/>
              <a:t>    &lt;a style='font-family:</a:t>
            </a:r>
            <a:r>
              <a:rPr lang="zh-TW" altLang="en-US" dirty="0"/>
              <a:t>微軟正黑體</a:t>
            </a:r>
            <a:r>
              <a:rPr lang="en-US" altLang="zh-TW" dirty="0"/>
              <a:t>;' </a:t>
            </a:r>
            <a:r>
              <a:rPr lang="en-US" altLang="zh-TW" dirty="0" err="1"/>
              <a:t>href</a:t>
            </a:r>
            <a:r>
              <a:rPr lang="en-US" altLang="zh-TW" dirty="0"/>
              <a:t>='/'&gt;</a:t>
            </a:r>
            <a:r>
              <a:rPr lang="zh-TW" altLang="en-US" dirty="0"/>
              <a:t>回首頁</a:t>
            </a:r>
            <a:r>
              <a:rPr lang="en-US" altLang="zh-TW" dirty="0"/>
              <a:t>&lt;/a&gt;</a:t>
            </a:r>
          </a:p>
          <a:p>
            <a:pPr marL="274320" lvl="1" indent="0">
              <a:buNone/>
            </a:pPr>
            <a:r>
              <a:rPr lang="en-US" altLang="zh-TW" dirty="0"/>
              <a:t>{% </a:t>
            </a:r>
            <a:r>
              <a:rPr lang="en-US" altLang="zh-TW" dirty="0" err="1"/>
              <a:t>endblock</a:t>
            </a:r>
            <a:r>
              <a:rPr lang="en-US" altLang="zh-TW" dirty="0"/>
              <a:t> %}</a:t>
            </a:r>
          </a:p>
          <a:p>
            <a:pPr marL="274320" lvl="1" indent="0">
              <a:buNone/>
            </a:pPr>
            <a:r>
              <a:rPr lang="en-US" altLang="zh-TW" dirty="0"/>
              <a:t>{% block content %} </a:t>
            </a:r>
          </a:p>
          <a:p>
            <a:pPr marL="274320" lvl="1" indent="0">
              <a:buNone/>
            </a:pPr>
            <a:r>
              <a:rPr lang="en-US" altLang="zh-TW" dirty="0"/>
              <a:t>        &lt;p style='font-family:</a:t>
            </a:r>
            <a:r>
              <a:rPr lang="zh-TW" altLang="en-US" dirty="0"/>
              <a:t>微軟正黑體</a:t>
            </a:r>
            <a:r>
              <a:rPr lang="en-US" altLang="zh-TW" dirty="0"/>
              <a:t>;font-size:12pt;letter-spacing:2pt;'&gt;</a:t>
            </a:r>
          </a:p>
          <a:p>
            <a:pPr marL="274320" lvl="1" indent="0">
              <a:buNone/>
            </a:pPr>
            <a:r>
              <a:rPr lang="en-US" altLang="zh-TW" dirty="0"/>
              <a:t>            {{ </a:t>
            </a:r>
            <a:r>
              <a:rPr lang="en-US" altLang="zh-TW" dirty="0" err="1"/>
              <a:t>post.body</a:t>
            </a:r>
            <a:r>
              <a:rPr lang="en-US" altLang="zh-TW" dirty="0"/>
              <a:t> }}&lt;/a&gt;</a:t>
            </a:r>
          </a:p>
          <a:p>
            <a:pPr marL="274320" lvl="1" indent="0">
              <a:buNone/>
            </a:pPr>
            <a:r>
              <a:rPr lang="en-US" altLang="zh-TW" dirty="0"/>
              <a:t>        &lt;/p&gt;</a:t>
            </a:r>
          </a:p>
          <a:p>
            <a:pPr marL="274320" lvl="1" indent="0">
              <a:buNone/>
            </a:pPr>
            <a:r>
              <a:rPr lang="en-US" altLang="zh-TW" dirty="0"/>
              <a:t>{% </a:t>
            </a:r>
            <a:r>
              <a:rPr lang="en-US" altLang="zh-TW" dirty="0" err="1"/>
              <a:t>endblock</a:t>
            </a:r>
            <a:r>
              <a:rPr lang="en-US" altLang="zh-TW" dirty="0"/>
              <a:t> %}</a:t>
            </a:r>
          </a:p>
          <a:p>
            <a:pPr lvl="1"/>
            <a:endParaRPr lang="zh-TW" altLang="en-US" dirty="0"/>
          </a:p>
        </p:txBody>
      </p:sp>
    </p:spTree>
    <p:extLst>
      <p:ext uri="{BB962C8B-B14F-4D97-AF65-F5344CB8AC3E}">
        <p14:creationId xmlns:p14="http://schemas.microsoft.com/office/powerpoint/2010/main" val="77398900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共用模版的使用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67</a:t>
            </a:fld>
            <a:endParaRPr lang="zh-TW" altLang="en-US"/>
          </a:p>
        </p:txBody>
      </p:sp>
      <p:sp>
        <p:nvSpPr>
          <p:cNvPr id="4" name="內容版面配置區 3"/>
          <p:cNvSpPr>
            <a:spLocks noGrp="1"/>
          </p:cNvSpPr>
          <p:nvPr>
            <p:ph sz="quarter" idx="1"/>
          </p:nvPr>
        </p:nvSpPr>
        <p:spPr/>
        <p:txBody>
          <a:bodyPr/>
          <a:lstStyle/>
          <a:p>
            <a:r>
              <a:rPr lang="en-US" altLang="zh-TW" dirty="0"/>
              <a:t>header.html</a:t>
            </a:r>
          </a:p>
          <a:p>
            <a:pPr marL="274320" lvl="1" indent="0">
              <a:buNone/>
            </a:pPr>
            <a:r>
              <a:rPr lang="en-US" altLang="zh-TW" dirty="0"/>
              <a:t>&lt;!-- header.html --&gt;</a:t>
            </a:r>
          </a:p>
          <a:p>
            <a:pPr marL="274320" lvl="1" indent="0">
              <a:buNone/>
            </a:pPr>
            <a:r>
              <a:rPr lang="en-US" altLang="zh-TW" dirty="0"/>
              <a:t>&lt;h1 style="font-family:</a:t>
            </a:r>
            <a:r>
              <a:rPr lang="zh-TW" altLang="en-US" dirty="0"/>
              <a:t>微軟正黑體</a:t>
            </a:r>
            <a:r>
              <a:rPr lang="en-US" altLang="zh-TW" dirty="0"/>
              <a:t>;"&gt;</a:t>
            </a:r>
            <a:r>
              <a:rPr lang="zh-TW" altLang="en-US" dirty="0"/>
              <a:t>歡迎光臨 文學天地</a:t>
            </a:r>
            <a:r>
              <a:rPr lang="en-US" altLang="zh-TW" dirty="0"/>
              <a:t>&lt;/h1&gt;</a:t>
            </a:r>
          </a:p>
          <a:p>
            <a:pPr lvl="1"/>
            <a:endParaRPr lang="zh-TW" altLang="en-US" dirty="0"/>
          </a:p>
        </p:txBody>
      </p:sp>
    </p:spTree>
    <p:extLst>
      <p:ext uri="{BB962C8B-B14F-4D97-AF65-F5344CB8AC3E}">
        <p14:creationId xmlns:p14="http://schemas.microsoft.com/office/powerpoint/2010/main" val="154698808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共用模版的使用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68</a:t>
            </a:fld>
            <a:endParaRPr lang="zh-TW" altLang="en-US"/>
          </a:p>
        </p:txBody>
      </p:sp>
      <p:sp>
        <p:nvSpPr>
          <p:cNvPr id="4" name="內容版面配置區 3"/>
          <p:cNvSpPr>
            <a:spLocks noGrp="1"/>
          </p:cNvSpPr>
          <p:nvPr>
            <p:ph sz="quarter" idx="1"/>
          </p:nvPr>
        </p:nvSpPr>
        <p:spPr/>
        <p:txBody>
          <a:bodyPr/>
          <a:lstStyle/>
          <a:p>
            <a:r>
              <a:rPr lang="en-US" altLang="zh-TW" dirty="0"/>
              <a:t>footer.html</a:t>
            </a:r>
          </a:p>
          <a:p>
            <a:pPr marL="274320" lvl="1" indent="0">
              <a:buNone/>
            </a:pPr>
            <a:r>
              <a:rPr lang="en-US" altLang="zh-TW" dirty="0"/>
              <a:t>&lt;!-- footer.html --&gt;</a:t>
            </a:r>
          </a:p>
          <a:p>
            <a:pPr marL="274320" lvl="1" indent="0">
              <a:buNone/>
            </a:pPr>
            <a:r>
              <a:rPr lang="en-US" altLang="zh-TW" dirty="0"/>
              <a:t>{% block footer %}</a:t>
            </a:r>
          </a:p>
          <a:p>
            <a:pPr marL="274320" lvl="1" indent="0">
              <a:buNone/>
            </a:pPr>
            <a:r>
              <a:rPr lang="en-US" altLang="zh-TW" dirty="0"/>
              <a:t>    {% if now %}</a:t>
            </a:r>
          </a:p>
          <a:p>
            <a:pPr marL="274320" lvl="1" indent="0">
              <a:buNone/>
            </a:pPr>
            <a:r>
              <a:rPr lang="en-US" altLang="zh-TW" dirty="0"/>
              <a:t>    &lt;p style='font-family:</a:t>
            </a:r>
            <a:r>
              <a:rPr lang="zh-TW" altLang="en-US" dirty="0"/>
              <a:t>微軟正黑體</a:t>
            </a:r>
            <a:r>
              <a:rPr lang="en-US" altLang="zh-TW" dirty="0"/>
              <a:t>;'&gt;</a:t>
            </a:r>
            <a:r>
              <a:rPr lang="zh-TW" altLang="en-US" dirty="0"/>
              <a:t>現在時刻：</a:t>
            </a:r>
            <a:r>
              <a:rPr lang="en-US" altLang="zh-TW" dirty="0"/>
              <a:t>{{ now }}&lt;/p&gt;</a:t>
            </a:r>
          </a:p>
          <a:p>
            <a:pPr marL="274320" lvl="1" indent="0">
              <a:buNone/>
            </a:pPr>
            <a:r>
              <a:rPr lang="en-US" altLang="zh-TW" dirty="0"/>
              <a:t>    {% else %}</a:t>
            </a:r>
          </a:p>
          <a:p>
            <a:pPr marL="274320" lvl="1" indent="0">
              <a:buNone/>
            </a:pPr>
            <a:r>
              <a:rPr lang="en-US" altLang="zh-TW" dirty="0"/>
              <a:t>    &lt;p style='font-family:</a:t>
            </a:r>
            <a:r>
              <a:rPr lang="zh-TW" altLang="en-US" dirty="0"/>
              <a:t>微軟正黑體</a:t>
            </a:r>
            <a:r>
              <a:rPr lang="en-US" altLang="zh-TW" dirty="0"/>
              <a:t>;'&gt;</a:t>
            </a:r>
            <a:r>
              <a:rPr lang="zh-TW" altLang="en-US" dirty="0"/>
              <a:t>本文內容取自網路，如有侵權請來信通知下架</a:t>
            </a:r>
            <a:r>
              <a:rPr lang="en-US" altLang="zh-TW" dirty="0"/>
              <a:t>...&lt;/p&gt;</a:t>
            </a:r>
          </a:p>
          <a:p>
            <a:pPr marL="274320" lvl="1" indent="0">
              <a:buNone/>
            </a:pPr>
            <a:r>
              <a:rPr lang="en-US" altLang="zh-TW" dirty="0"/>
              <a:t>    {% </a:t>
            </a:r>
            <a:r>
              <a:rPr lang="en-US" altLang="zh-TW" dirty="0" err="1"/>
              <a:t>endif</a:t>
            </a:r>
            <a:r>
              <a:rPr lang="en-US" altLang="zh-TW" dirty="0"/>
              <a:t> %}</a:t>
            </a:r>
          </a:p>
          <a:p>
            <a:pPr marL="274320" lvl="1" indent="0">
              <a:buNone/>
            </a:pPr>
            <a:r>
              <a:rPr lang="en-US" altLang="zh-TW" dirty="0"/>
              <a:t>{% </a:t>
            </a:r>
            <a:r>
              <a:rPr lang="en-US" altLang="zh-TW" dirty="0" err="1"/>
              <a:t>endblock</a:t>
            </a:r>
            <a:r>
              <a:rPr lang="en-US" altLang="zh-TW" dirty="0"/>
              <a:t> %}</a:t>
            </a:r>
          </a:p>
          <a:p>
            <a:pPr lvl="1"/>
            <a:endParaRPr lang="zh-TW" altLang="en-US" dirty="0"/>
          </a:p>
        </p:txBody>
      </p:sp>
    </p:spTree>
    <p:extLst>
      <p:ext uri="{BB962C8B-B14F-4D97-AF65-F5344CB8AC3E}">
        <p14:creationId xmlns:p14="http://schemas.microsoft.com/office/powerpoint/2010/main" val="301805009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30E5B61-6800-D142-C332-EFF586568B9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87E9E49-7BE5-ED42-412B-01820ACF185D}"/>
              </a:ext>
            </a:extLst>
          </p:cNvPr>
          <p:cNvSpPr>
            <a:spLocks noGrp="1"/>
          </p:cNvSpPr>
          <p:nvPr>
            <p:ph type="title"/>
          </p:nvPr>
        </p:nvSpPr>
        <p:spPr/>
        <p:txBody>
          <a:bodyPr/>
          <a:lstStyle/>
          <a:p>
            <a:r>
              <a:rPr lang="zh-TW" altLang="zh-TW" dirty="0"/>
              <a:t>共用模版的使用</a:t>
            </a:r>
            <a:endParaRPr lang="zh-TW" altLang="en-US" dirty="0"/>
          </a:p>
        </p:txBody>
      </p:sp>
      <p:sp>
        <p:nvSpPr>
          <p:cNvPr id="3" name="投影片編號版面配置區 2">
            <a:extLst>
              <a:ext uri="{FF2B5EF4-FFF2-40B4-BE49-F238E27FC236}">
                <a16:creationId xmlns:a16="http://schemas.microsoft.com/office/drawing/2014/main" id="{8A495485-D6BC-C173-BB8B-2B6B9DD5330A}"/>
              </a:ext>
            </a:extLst>
          </p:cNvPr>
          <p:cNvSpPr>
            <a:spLocks noGrp="1"/>
          </p:cNvSpPr>
          <p:nvPr>
            <p:ph type="sldNum" sz="quarter" idx="12"/>
          </p:nvPr>
        </p:nvSpPr>
        <p:spPr/>
        <p:txBody>
          <a:bodyPr/>
          <a:lstStyle/>
          <a:p>
            <a:fld id="{369E457D-EE12-4164-8E32-9DDD40A95892}" type="slidenum">
              <a:rPr lang="zh-TW" altLang="en-US" smtClean="0"/>
              <a:pPr/>
              <a:t>69</a:t>
            </a:fld>
            <a:endParaRPr lang="zh-TW" altLang="en-US"/>
          </a:p>
        </p:txBody>
      </p:sp>
      <p:sp>
        <p:nvSpPr>
          <p:cNvPr id="4" name="內容版面配置區 3">
            <a:extLst>
              <a:ext uri="{FF2B5EF4-FFF2-40B4-BE49-F238E27FC236}">
                <a16:creationId xmlns:a16="http://schemas.microsoft.com/office/drawing/2014/main" id="{6DEBBBB3-CE0E-9412-9A3E-A8C4532B87FA}"/>
              </a:ext>
            </a:extLst>
          </p:cNvPr>
          <p:cNvSpPr>
            <a:spLocks noGrp="1"/>
          </p:cNvSpPr>
          <p:nvPr>
            <p:ph sz="quarter" idx="1"/>
          </p:nvPr>
        </p:nvSpPr>
        <p:spPr/>
        <p:txBody>
          <a:bodyPr/>
          <a:lstStyle/>
          <a:p>
            <a:r>
              <a:rPr lang="zh-TW" altLang="zh-TW" dirty="0"/>
              <a:t>套用模版的範例程式執行畫面</a:t>
            </a:r>
            <a:endParaRPr lang="zh-TW" altLang="en-US" dirty="0"/>
          </a:p>
        </p:txBody>
      </p:sp>
      <p:pic>
        <p:nvPicPr>
          <p:cNvPr id="6" name="圖片 5">
            <a:extLst>
              <a:ext uri="{FF2B5EF4-FFF2-40B4-BE49-F238E27FC236}">
                <a16:creationId xmlns:a16="http://schemas.microsoft.com/office/drawing/2014/main" id="{7331DD44-6D7B-ED9A-983A-0F901848B7A8}"/>
              </a:ext>
            </a:extLst>
          </p:cNvPr>
          <p:cNvPicPr>
            <a:picLocks noChangeAspect="1"/>
          </p:cNvPicPr>
          <p:nvPr/>
        </p:nvPicPr>
        <p:blipFill>
          <a:blip r:embed="rId2"/>
          <a:stretch>
            <a:fillRect/>
          </a:stretch>
        </p:blipFill>
        <p:spPr>
          <a:xfrm>
            <a:off x="2195736" y="2564904"/>
            <a:ext cx="4563112" cy="3172268"/>
          </a:xfrm>
          <a:prstGeom prst="rect">
            <a:avLst/>
          </a:prstGeom>
        </p:spPr>
      </p:pic>
    </p:spTree>
    <p:extLst>
      <p:ext uri="{BB962C8B-B14F-4D97-AF65-F5344CB8AC3E}">
        <p14:creationId xmlns:p14="http://schemas.microsoft.com/office/powerpoint/2010/main" val="169100114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DC074A6-AE01-B82C-EEB0-22C9D37B9FE9}"/>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5711EB93-6F27-892A-7ABE-51324C6D182D}"/>
              </a:ext>
            </a:extLst>
          </p:cNvPr>
          <p:cNvSpPr>
            <a:spLocks noGrp="1"/>
          </p:cNvSpPr>
          <p:nvPr>
            <p:ph type="title"/>
          </p:nvPr>
        </p:nvSpPr>
        <p:spPr/>
        <p:txBody>
          <a:bodyPr/>
          <a:lstStyle/>
          <a:p>
            <a:r>
              <a:rPr lang="zh-TW" altLang="zh-TW" dirty="0"/>
              <a:t>共用模版的使用</a:t>
            </a:r>
            <a:endParaRPr lang="zh-TW" altLang="en-US" dirty="0"/>
          </a:p>
        </p:txBody>
      </p:sp>
      <p:sp>
        <p:nvSpPr>
          <p:cNvPr id="3" name="投影片編號版面配置區 2">
            <a:extLst>
              <a:ext uri="{FF2B5EF4-FFF2-40B4-BE49-F238E27FC236}">
                <a16:creationId xmlns:a16="http://schemas.microsoft.com/office/drawing/2014/main" id="{EB39992D-2879-E63D-25A4-6E249C97DA55}"/>
              </a:ext>
            </a:extLst>
          </p:cNvPr>
          <p:cNvSpPr>
            <a:spLocks noGrp="1"/>
          </p:cNvSpPr>
          <p:nvPr>
            <p:ph type="sldNum" sz="quarter" idx="12"/>
          </p:nvPr>
        </p:nvSpPr>
        <p:spPr/>
        <p:txBody>
          <a:bodyPr/>
          <a:lstStyle/>
          <a:p>
            <a:fld id="{369E457D-EE12-4164-8E32-9DDD40A95892}" type="slidenum">
              <a:rPr lang="zh-TW" altLang="en-US" smtClean="0"/>
              <a:pPr/>
              <a:t>70</a:t>
            </a:fld>
            <a:endParaRPr lang="zh-TW" altLang="en-US"/>
          </a:p>
        </p:txBody>
      </p:sp>
      <p:sp>
        <p:nvSpPr>
          <p:cNvPr id="4" name="內容版面配置區 3">
            <a:extLst>
              <a:ext uri="{FF2B5EF4-FFF2-40B4-BE49-F238E27FC236}">
                <a16:creationId xmlns:a16="http://schemas.microsoft.com/office/drawing/2014/main" id="{4DCF0C60-1F3D-4704-C3FC-8A64BA09384E}"/>
              </a:ext>
            </a:extLst>
          </p:cNvPr>
          <p:cNvSpPr>
            <a:spLocks noGrp="1"/>
          </p:cNvSpPr>
          <p:nvPr>
            <p:ph sz="quarter" idx="1"/>
          </p:nvPr>
        </p:nvSpPr>
        <p:spPr/>
        <p:txBody>
          <a:bodyPr/>
          <a:lstStyle/>
          <a:p>
            <a:r>
              <a:rPr lang="zh-TW" altLang="zh-TW" dirty="0"/>
              <a:t>套用模版的範例程式執行畫面</a:t>
            </a:r>
            <a:endParaRPr lang="zh-TW" altLang="en-US" dirty="0"/>
          </a:p>
        </p:txBody>
      </p:sp>
      <p:pic>
        <p:nvPicPr>
          <p:cNvPr id="7" name="圖片 6" descr="一張含有 文字, 螢幕擷取畫面, 軟體, 電腦圖示 的圖片&#10;&#10;自動產生的描述">
            <a:extLst>
              <a:ext uri="{FF2B5EF4-FFF2-40B4-BE49-F238E27FC236}">
                <a16:creationId xmlns:a16="http://schemas.microsoft.com/office/drawing/2014/main" id="{3B183765-882D-FF90-CB7D-D0AD85B7F8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8071" y="2204864"/>
            <a:ext cx="8321761" cy="4031329"/>
          </a:xfrm>
          <a:prstGeom prst="rect">
            <a:avLst/>
          </a:prstGeom>
        </p:spPr>
      </p:pic>
    </p:spTree>
    <p:extLst>
      <p:ext uri="{BB962C8B-B14F-4D97-AF65-F5344CB8AC3E}">
        <p14:creationId xmlns:p14="http://schemas.microsoft.com/office/powerpoint/2010/main" val="311917159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進階網站功能運用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71</a:t>
            </a:fld>
            <a:endParaRPr lang="zh-TW" altLang="en-US"/>
          </a:p>
        </p:txBody>
      </p:sp>
      <p:sp>
        <p:nvSpPr>
          <p:cNvPr id="4" name="內容版面配置區 3"/>
          <p:cNvSpPr>
            <a:spLocks noGrp="1"/>
          </p:cNvSpPr>
          <p:nvPr>
            <p:ph sz="quarter" idx="1"/>
          </p:nvPr>
        </p:nvSpPr>
        <p:spPr/>
        <p:txBody>
          <a:bodyPr/>
          <a:lstStyle/>
          <a:p>
            <a:r>
              <a:rPr lang="zh-TW" altLang="zh-TW" dirty="0"/>
              <a:t>一個成熟的部落格網站，除了前面所設計的功能之外，還需具備顯示圖形的能力，當然，首頁的設計也需要有版面的</a:t>
            </a:r>
            <a:r>
              <a:rPr lang="zh-TW" altLang="zh-TW"/>
              <a:t>概念。</a:t>
            </a:r>
            <a:endParaRPr lang="en-US" altLang="zh-TW"/>
          </a:p>
          <a:p>
            <a:r>
              <a:rPr lang="zh-TW" altLang="zh-TW"/>
              <a:t>此外</a:t>
            </a:r>
            <a:r>
              <a:rPr lang="zh-TW" altLang="zh-TW" dirty="0"/>
              <a:t>，在文章內容的編排方面，如何提供編寫者具有簡易排版的能力，能在文章中設計版面、插入圖形以及建立連結等等，都是本節說明的重點。</a:t>
            </a:r>
          </a:p>
        </p:txBody>
      </p:sp>
    </p:spTree>
    <p:extLst>
      <p:ext uri="{BB962C8B-B14F-4D97-AF65-F5344CB8AC3E}">
        <p14:creationId xmlns:p14="http://schemas.microsoft.com/office/powerpoint/2010/main" val="258203107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t>Javascript</a:t>
            </a:r>
            <a:r>
              <a:rPr lang="zh-TW" altLang="zh-TW" dirty="0"/>
              <a:t>以及</a:t>
            </a:r>
            <a:r>
              <a:rPr lang="en-US" altLang="zh-TW" dirty="0"/>
              <a:t>CSS</a:t>
            </a:r>
            <a:r>
              <a:rPr lang="zh-TW" altLang="zh-TW" dirty="0"/>
              <a:t>檔案的引用</a:t>
            </a:r>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72</a:t>
            </a:fld>
            <a:endParaRPr lang="zh-TW" altLang="en-US"/>
          </a:p>
        </p:txBody>
      </p:sp>
      <p:sp>
        <p:nvSpPr>
          <p:cNvPr id="4" name="內容版面配置區 3"/>
          <p:cNvSpPr>
            <a:spLocks noGrp="1"/>
          </p:cNvSpPr>
          <p:nvPr>
            <p:ph sz="quarter" idx="1"/>
          </p:nvPr>
        </p:nvSpPr>
        <p:spPr/>
        <p:txBody>
          <a:bodyPr/>
          <a:lstStyle/>
          <a:p>
            <a:r>
              <a:rPr lang="zh-TW" altLang="en-US" dirty="0"/>
              <a:t>使用</a:t>
            </a:r>
            <a:r>
              <a:rPr lang="en-US" altLang="zh-TW" dirty="0"/>
              <a:t>Bootstrap</a:t>
            </a:r>
            <a:r>
              <a:rPr lang="zh-TW" altLang="en-US" dirty="0"/>
              <a:t>前端</a:t>
            </a:r>
            <a:r>
              <a:rPr lang="zh-TW" altLang="en-US" dirty="0">
                <a:hlinkClick r:id="rId3"/>
              </a:rPr>
              <a:t>框架</a:t>
            </a:r>
            <a:endParaRPr lang="en-US" altLang="zh-TW" dirty="0"/>
          </a:p>
          <a:p>
            <a:endParaRPr lang="zh-TW" altLang="en-US" dirty="0"/>
          </a:p>
        </p:txBody>
      </p:sp>
      <p:pic>
        <p:nvPicPr>
          <p:cNvPr id="7" name="圖片 6">
            <a:extLst>
              <a:ext uri="{FF2B5EF4-FFF2-40B4-BE49-F238E27FC236}">
                <a16:creationId xmlns:a16="http://schemas.microsoft.com/office/drawing/2014/main" id="{BB81AC29-F540-B05F-51E9-4C497C4D4E35}"/>
              </a:ext>
            </a:extLst>
          </p:cNvPr>
          <p:cNvPicPr>
            <a:picLocks noChangeAspect="1"/>
          </p:cNvPicPr>
          <p:nvPr/>
        </p:nvPicPr>
        <p:blipFill>
          <a:blip r:embed="rId4"/>
          <a:stretch>
            <a:fillRect/>
          </a:stretch>
        </p:blipFill>
        <p:spPr>
          <a:xfrm>
            <a:off x="1403648" y="1957871"/>
            <a:ext cx="6120680" cy="4488499"/>
          </a:xfrm>
          <a:prstGeom prst="rect">
            <a:avLst/>
          </a:prstGeom>
        </p:spPr>
      </p:pic>
    </p:spTree>
    <p:extLst>
      <p:ext uri="{BB962C8B-B14F-4D97-AF65-F5344CB8AC3E}">
        <p14:creationId xmlns:p14="http://schemas.microsoft.com/office/powerpoint/2010/main" val="222388507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t>Javascript</a:t>
            </a:r>
            <a:r>
              <a:rPr lang="zh-TW" altLang="zh-TW" dirty="0"/>
              <a:t>以及</a:t>
            </a:r>
            <a:r>
              <a:rPr lang="en-US" altLang="zh-TW" dirty="0"/>
              <a:t>CSS</a:t>
            </a:r>
            <a:r>
              <a:rPr lang="zh-TW" altLang="zh-TW" dirty="0"/>
              <a:t>檔案的引用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73</a:t>
            </a:fld>
            <a:endParaRPr lang="zh-TW" altLang="en-US"/>
          </a:p>
        </p:txBody>
      </p:sp>
      <p:sp>
        <p:nvSpPr>
          <p:cNvPr id="4" name="內容版面配置區 3"/>
          <p:cNvSpPr>
            <a:spLocks noGrp="1"/>
          </p:cNvSpPr>
          <p:nvPr>
            <p:ph sz="quarter" idx="1"/>
          </p:nvPr>
        </p:nvSpPr>
        <p:spPr>
          <a:xfrm>
            <a:off x="301752" y="1527048"/>
            <a:ext cx="8503920" cy="2045968"/>
          </a:xfrm>
        </p:spPr>
        <p:txBody>
          <a:bodyPr/>
          <a:lstStyle/>
          <a:p>
            <a:r>
              <a:rPr lang="zh-TW" altLang="zh-TW" dirty="0"/>
              <a:t>把</a:t>
            </a:r>
            <a:r>
              <a:rPr lang="en-US" altLang="zh-TW" dirty="0">
                <a:solidFill>
                  <a:srgbClr val="FF0000"/>
                </a:solidFill>
              </a:rPr>
              <a:t>CDN</a:t>
            </a:r>
            <a:r>
              <a:rPr lang="zh-TW" altLang="zh-TW" dirty="0">
                <a:solidFill>
                  <a:srgbClr val="FF0000"/>
                </a:solidFill>
              </a:rPr>
              <a:t>的連結</a:t>
            </a:r>
            <a:r>
              <a:rPr lang="zh-TW" altLang="zh-TW" dirty="0"/>
              <a:t>複製下來，然後放到</a:t>
            </a:r>
            <a:r>
              <a:rPr lang="en-US" altLang="zh-TW" dirty="0">
                <a:solidFill>
                  <a:srgbClr val="FF0000"/>
                </a:solidFill>
              </a:rPr>
              <a:t>base.html</a:t>
            </a:r>
            <a:r>
              <a:rPr lang="zh-TW" altLang="zh-TW" dirty="0"/>
              <a:t>這個模板檔案中</a:t>
            </a:r>
            <a:r>
              <a:rPr lang="zh-TW" altLang="zh-TW" dirty="0">
                <a:solidFill>
                  <a:srgbClr val="FF0000"/>
                </a:solidFill>
              </a:rPr>
              <a:t>（請加在</a:t>
            </a:r>
            <a:r>
              <a:rPr lang="en-US" altLang="zh-TW" dirty="0">
                <a:solidFill>
                  <a:srgbClr val="FF0000"/>
                </a:solidFill>
              </a:rPr>
              <a:t>&lt;/head&gt;</a:t>
            </a:r>
            <a:r>
              <a:rPr lang="zh-TW" altLang="zh-TW" dirty="0">
                <a:solidFill>
                  <a:srgbClr val="FF0000"/>
                </a:solidFill>
              </a:rPr>
              <a:t>的前面即可）</a:t>
            </a:r>
            <a:r>
              <a:rPr lang="zh-TW" altLang="zh-TW" dirty="0"/>
              <a:t>，接著在所有的模板檔案中就可以使用</a:t>
            </a:r>
            <a:r>
              <a:rPr lang="en-US" altLang="zh-TW" dirty="0"/>
              <a:t>Bootstrap</a:t>
            </a:r>
            <a:r>
              <a:rPr lang="zh-TW" altLang="zh-TW" dirty="0"/>
              <a:t>的功能</a:t>
            </a:r>
            <a:endParaRPr lang="en-US" altLang="zh-TW" dirty="0"/>
          </a:p>
          <a:p>
            <a:r>
              <a:rPr lang="zh-TW" altLang="en-US" dirty="0"/>
              <a:t>也可以直接使用它的</a:t>
            </a:r>
            <a:r>
              <a:rPr lang="zh-TW" altLang="en-US" dirty="0">
                <a:hlinkClick r:id="rId3"/>
              </a:rPr>
              <a:t>初始模板</a:t>
            </a:r>
            <a:r>
              <a:rPr lang="zh-TW" altLang="en-US" dirty="0"/>
              <a:t>作為</a:t>
            </a:r>
            <a:r>
              <a:rPr lang="en-US" altLang="zh-TW" dirty="0"/>
              <a:t>base.html</a:t>
            </a:r>
            <a:r>
              <a:rPr lang="zh-TW" altLang="en-US" dirty="0"/>
              <a:t>的基礎。</a:t>
            </a:r>
          </a:p>
        </p:txBody>
      </p:sp>
    </p:spTree>
    <p:extLst>
      <p:ext uri="{BB962C8B-B14F-4D97-AF65-F5344CB8AC3E}">
        <p14:creationId xmlns:p14="http://schemas.microsoft.com/office/powerpoint/2010/main" val="65935029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t>Javascript</a:t>
            </a:r>
            <a:r>
              <a:rPr lang="zh-TW" altLang="zh-TW" dirty="0"/>
              <a:t>以及</a:t>
            </a:r>
            <a:r>
              <a:rPr lang="en-US" altLang="zh-TW" dirty="0"/>
              <a:t>CSS</a:t>
            </a:r>
            <a:r>
              <a:rPr lang="zh-TW" altLang="zh-TW" dirty="0"/>
              <a:t>檔案的引用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74</a:t>
            </a:fld>
            <a:endParaRPr lang="zh-TW" altLang="en-US"/>
          </a:p>
        </p:txBody>
      </p:sp>
      <p:sp>
        <p:nvSpPr>
          <p:cNvPr id="4" name="內容版面配置區 3"/>
          <p:cNvSpPr>
            <a:spLocks noGrp="1"/>
          </p:cNvSpPr>
          <p:nvPr>
            <p:ph sz="quarter" idx="1"/>
          </p:nvPr>
        </p:nvSpPr>
        <p:spPr>
          <a:xfrm>
            <a:off x="301752" y="1527048"/>
            <a:ext cx="8534400" cy="5142312"/>
          </a:xfrm>
        </p:spPr>
        <p:txBody>
          <a:bodyPr>
            <a:normAutofit/>
          </a:bodyPr>
          <a:lstStyle/>
          <a:p>
            <a:r>
              <a:rPr lang="en-US" altLang="zh-TW" dirty="0"/>
              <a:t>base.html</a:t>
            </a:r>
            <a:r>
              <a:rPr lang="zh-TW" altLang="zh-TW" dirty="0"/>
              <a:t>中使用</a:t>
            </a:r>
            <a:r>
              <a:rPr lang="en-US" altLang="zh-TW" dirty="0"/>
              <a:t>Card</a:t>
            </a:r>
            <a:r>
              <a:rPr lang="zh-TW" altLang="zh-TW" dirty="0"/>
              <a:t>來安排首頁的外觀，</a:t>
            </a:r>
            <a:r>
              <a:rPr lang="zh-TW" altLang="en-US" dirty="0"/>
              <a:t>以及套用</a:t>
            </a:r>
            <a:r>
              <a:rPr lang="en-US" altLang="zh-TW" dirty="0"/>
              <a:t>Grid</a:t>
            </a:r>
            <a:r>
              <a:rPr lang="zh-TW" altLang="en-US" dirty="0"/>
              <a:t>的版面設定，</a:t>
            </a:r>
            <a:r>
              <a:rPr lang="zh-TW" altLang="zh-TW" dirty="0"/>
              <a:t>如下所示：</a:t>
            </a:r>
            <a:endParaRPr lang="en-US" altLang="zh-TW" dirty="0"/>
          </a:p>
          <a:p>
            <a:pPr marL="274320" lvl="1" indent="0">
              <a:buNone/>
            </a:pPr>
            <a:r>
              <a:rPr lang="en-US" altLang="zh-TW" sz="1600" dirty="0"/>
              <a:t>&lt;head&gt;</a:t>
            </a:r>
          </a:p>
          <a:p>
            <a:pPr marL="274320" lvl="1" indent="0">
              <a:buNone/>
            </a:pPr>
            <a:r>
              <a:rPr lang="en-US" altLang="zh-TW" sz="1600" dirty="0"/>
              <a:t>    &lt;meta charset='utf-8'&gt;</a:t>
            </a:r>
          </a:p>
          <a:p>
            <a:pPr marL="274320" lvl="1" indent="0">
              <a:buNone/>
            </a:pPr>
            <a:r>
              <a:rPr lang="en-US" altLang="zh-TW" sz="1600" dirty="0"/>
              <a:t>    &lt;meta name="viewport" content="width=device-width, initial-scale=1"&gt;</a:t>
            </a:r>
          </a:p>
          <a:p>
            <a:pPr marL="274320" lvl="1" indent="0">
              <a:buNone/>
            </a:pPr>
            <a:r>
              <a:rPr lang="en-US" altLang="zh-TW" sz="1600" dirty="0"/>
              <a:t>    &lt;title&gt;</a:t>
            </a:r>
          </a:p>
          <a:p>
            <a:pPr marL="274320" lvl="1" indent="0">
              <a:buNone/>
            </a:pPr>
            <a:r>
              <a:rPr lang="en-US" altLang="zh-TW" sz="1600" dirty="0"/>
              <a:t>        {% block title %} {% </a:t>
            </a:r>
            <a:r>
              <a:rPr lang="en-US" altLang="zh-TW" sz="1600" dirty="0" err="1"/>
              <a:t>endblock</a:t>
            </a:r>
            <a:r>
              <a:rPr lang="en-US" altLang="zh-TW" sz="1600" dirty="0"/>
              <a:t> %}</a:t>
            </a:r>
          </a:p>
          <a:p>
            <a:pPr marL="274320" lvl="1" indent="0">
              <a:buNone/>
            </a:pPr>
            <a:r>
              <a:rPr lang="en-US" altLang="zh-TW" sz="1600" dirty="0"/>
              <a:t>    &lt;/title&gt;</a:t>
            </a:r>
          </a:p>
          <a:p>
            <a:pPr marL="274320" lvl="1" indent="0">
              <a:buNone/>
            </a:pPr>
            <a:r>
              <a:rPr lang="en-US" altLang="zh-TW" sz="1600" dirty="0"/>
              <a:t>    </a:t>
            </a:r>
            <a:r>
              <a:rPr lang="en-US" altLang="zh-TW" sz="1600" dirty="0">
                <a:solidFill>
                  <a:srgbClr val="FF0000"/>
                </a:solidFill>
              </a:rPr>
              <a:t>&lt;link </a:t>
            </a:r>
            <a:r>
              <a:rPr lang="en-US" altLang="zh-TW" sz="1600" dirty="0" err="1">
                <a:solidFill>
                  <a:srgbClr val="FF0000"/>
                </a:solidFill>
              </a:rPr>
              <a:t>href</a:t>
            </a:r>
            <a:r>
              <a:rPr lang="en-US" altLang="zh-TW" sz="1600" dirty="0">
                <a:solidFill>
                  <a:srgbClr val="FF0000"/>
                </a:solidFill>
              </a:rPr>
              <a:t>="https://cdn.jsdelivr.net/</a:t>
            </a:r>
            <a:r>
              <a:rPr lang="en-US" altLang="zh-TW" sz="1600" dirty="0" err="1">
                <a:solidFill>
                  <a:srgbClr val="FF0000"/>
                </a:solidFill>
              </a:rPr>
              <a:t>npm</a:t>
            </a:r>
            <a:r>
              <a:rPr lang="en-US" altLang="zh-TW" sz="1600" dirty="0">
                <a:solidFill>
                  <a:srgbClr val="FF0000"/>
                </a:solidFill>
              </a:rPr>
              <a:t>/bootstrap@5.2.2/</a:t>
            </a:r>
            <a:r>
              <a:rPr lang="en-US" altLang="zh-TW" sz="1600" dirty="0" err="1">
                <a:solidFill>
                  <a:srgbClr val="FF0000"/>
                </a:solidFill>
              </a:rPr>
              <a:t>dist</a:t>
            </a:r>
            <a:r>
              <a:rPr lang="en-US" altLang="zh-TW" sz="1600" dirty="0">
                <a:solidFill>
                  <a:srgbClr val="FF0000"/>
                </a:solidFill>
              </a:rPr>
              <a:t>/</a:t>
            </a:r>
            <a:r>
              <a:rPr lang="en-US" altLang="zh-TW" sz="1600" dirty="0" err="1">
                <a:solidFill>
                  <a:srgbClr val="FF0000"/>
                </a:solidFill>
              </a:rPr>
              <a:t>css</a:t>
            </a:r>
            <a:r>
              <a:rPr lang="en-US" altLang="zh-TW" sz="1600" dirty="0">
                <a:solidFill>
                  <a:srgbClr val="FF0000"/>
                </a:solidFill>
              </a:rPr>
              <a:t>/bootstrap.min.css" </a:t>
            </a:r>
            <a:r>
              <a:rPr lang="en-US" altLang="zh-TW" sz="1600" dirty="0" err="1">
                <a:solidFill>
                  <a:srgbClr val="FF0000"/>
                </a:solidFill>
              </a:rPr>
              <a:t>rel</a:t>
            </a:r>
            <a:r>
              <a:rPr lang="en-US" altLang="zh-TW" sz="1600" dirty="0">
                <a:solidFill>
                  <a:srgbClr val="FF0000"/>
                </a:solidFill>
              </a:rPr>
              <a:t>="stylesheet" integrity="sha384-Zenh87qX5JnK2Jl0vWa8Ck2rdkQ2Bzep5IDxbcnCeuOxjzrPF/et3URy9Bv1WTRi" </a:t>
            </a:r>
            <a:r>
              <a:rPr lang="en-US" altLang="zh-TW" sz="1600" dirty="0" err="1">
                <a:solidFill>
                  <a:srgbClr val="FF0000"/>
                </a:solidFill>
              </a:rPr>
              <a:t>crossorigin</a:t>
            </a:r>
            <a:r>
              <a:rPr lang="en-US" altLang="zh-TW" sz="1600" dirty="0">
                <a:solidFill>
                  <a:srgbClr val="FF0000"/>
                </a:solidFill>
              </a:rPr>
              <a:t>="anonymous"&gt;</a:t>
            </a:r>
          </a:p>
          <a:p>
            <a:pPr marL="274320" lvl="1" indent="0">
              <a:buNone/>
            </a:pPr>
            <a:r>
              <a:rPr lang="en-US" altLang="zh-TW" sz="1600" dirty="0"/>
              <a:t>&lt;/head&gt;</a:t>
            </a:r>
            <a:endParaRPr lang="zh-TW" altLang="en-US" sz="1600" dirty="0"/>
          </a:p>
        </p:txBody>
      </p:sp>
    </p:spTree>
    <p:extLst>
      <p:ext uri="{BB962C8B-B14F-4D97-AF65-F5344CB8AC3E}">
        <p14:creationId xmlns:p14="http://schemas.microsoft.com/office/powerpoint/2010/main" val="324172004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t>Javascript</a:t>
            </a:r>
            <a:r>
              <a:rPr lang="zh-TW" altLang="zh-TW" dirty="0"/>
              <a:t>以及</a:t>
            </a:r>
            <a:r>
              <a:rPr lang="en-US" altLang="zh-TW" dirty="0"/>
              <a:t>CSS</a:t>
            </a:r>
            <a:r>
              <a:rPr lang="zh-TW" altLang="zh-TW" dirty="0"/>
              <a:t>檔案的引用</a:t>
            </a:r>
            <a:r>
              <a:rPr lang="en-US" altLang="zh-TW" dirty="0"/>
              <a:t>(</a:t>
            </a:r>
            <a:r>
              <a:rPr lang="zh-TW" altLang="en-US" dirty="0"/>
              <a:t>側邊欄</a:t>
            </a:r>
            <a:r>
              <a:rPr lang="en-US" altLang="zh-TW" dirty="0"/>
              <a:t>)</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75</a:t>
            </a:fld>
            <a:endParaRPr lang="zh-TW" altLang="en-US"/>
          </a:p>
        </p:txBody>
      </p:sp>
      <p:sp>
        <p:nvSpPr>
          <p:cNvPr id="4" name="內容版面配置區 3"/>
          <p:cNvSpPr>
            <a:spLocks noGrp="1"/>
          </p:cNvSpPr>
          <p:nvPr>
            <p:ph sz="quarter" idx="1"/>
          </p:nvPr>
        </p:nvSpPr>
        <p:spPr/>
        <p:txBody>
          <a:bodyPr>
            <a:normAutofit lnSpcReduction="10000"/>
          </a:bodyPr>
          <a:lstStyle/>
          <a:p>
            <a:pPr marL="274320" lvl="1" indent="0">
              <a:buNone/>
            </a:pPr>
            <a:r>
              <a:rPr lang="en-US" altLang="zh-TW" sz="1400" dirty="0"/>
              <a:t>&lt;body&gt;</a:t>
            </a:r>
          </a:p>
          <a:p>
            <a:pPr marL="274320" lvl="1" indent="0">
              <a:buNone/>
            </a:pPr>
            <a:r>
              <a:rPr lang="en-US" altLang="zh-TW" sz="1400" dirty="0"/>
              <a:t>    &lt;div class="container-fluid"&gt;</a:t>
            </a:r>
          </a:p>
          <a:p>
            <a:pPr marL="274320" lvl="1" indent="0">
              <a:buNone/>
            </a:pPr>
            <a:r>
              <a:rPr lang="en-US" altLang="zh-TW" sz="1400" dirty="0"/>
              <a:t>        {% include 'header.html' %}</a:t>
            </a:r>
          </a:p>
          <a:p>
            <a:pPr marL="274320" lvl="1" indent="0">
              <a:buNone/>
            </a:pPr>
            <a:r>
              <a:rPr lang="en-US" altLang="zh-TW" sz="1400" dirty="0"/>
              <a:t>        </a:t>
            </a:r>
            <a:r>
              <a:rPr lang="en-US" altLang="zh-TW" sz="1400" dirty="0">
                <a:solidFill>
                  <a:srgbClr val="FF0000"/>
                </a:solidFill>
              </a:rPr>
              <a:t>&lt;div class="row"&gt;</a:t>
            </a:r>
          </a:p>
          <a:p>
            <a:pPr marL="274320" lvl="1" indent="0">
              <a:buNone/>
            </a:pPr>
            <a:r>
              <a:rPr lang="en-US" altLang="zh-TW" sz="1400" dirty="0">
                <a:solidFill>
                  <a:srgbClr val="FF0000"/>
                </a:solidFill>
              </a:rPr>
              <a:t>            &lt;div class="col-sm-3 col-md-3"&gt;</a:t>
            </a:r>
          </a:p>
          <a:p>
            <a:pPr marL="274320" lvl="1" indent="0">
              <a:buNone/>
            </a:pPr>
            <a:r>
              <a:rPr lang="en-US" altLang="zh-TW" sz="1400" dirty="0">
                <a:solidFill>
                  <a:srgbClr val="FF0000"/>
                </a:solidFill>
              </a:rPr>
              <a:t>                &lt;div class="card"&gt;</a:t>
            </a:r>
          </a:p>
          <a:p>
            <a:pPr marL="274320" lvl="1" indent="0">
              <a:buNone/>
            </a:pPr>
            <a:r>
              <a:rPr lang="en-US" altLang="zh-TW" sz="1400" dirty="0">
                <a:solidFill>
                  <a:srgbClr val="FF0000"/>
                </a:solidFill>
              </a:rPr>
              <a:t>                    &lt;div class="card-header"&gt;</a:t>
            </a:r>
          </a:p>
          <a:p>
            <a:pPr marL="274320" lvl="1" indent="0">
              <a:buNone/>
            </a:pPr>
            <a:r>
              <a:rPr lang="en-US" altLang="zh-TW" sz="1400" dirty="0">
                <a:solidFill>
                  <a:srgbClr val="FF0000"/>
                </a:solidFill>
              </a:rPr>
              <a:t>                        &lt;h3&gt;Menu&lt;/h3&gt;</a:t>
            </a:r>
          </a:p>
          <a:p>
            <a:pPr marL="274320" lvl="1" indent="0">
              <a:buNone/>
            </a:pPr>
            <a:r>
              <a:rPr lang="en-US" altLang="zh-TW" sz="1400" dirty="0">
                <a:solidFill>
                  <a:srgbClr val="FF0000"/>
                </a:solidFill>
              </a:rPr>
              <a:t>                    &lt;/div&gt;</a:t>
            </a:r>
          </a:p>
          <a:p>
            <a:pPr marL="274320" lvl="1" indent="0">
              <a:buNone/>
            </a:pPr>
            <a:r>
              <a:rPr lang="en-US" altLang="zh-TW" sz="1400" dirty="0">
                <a:solidFill>
                  <a:srgbClr val="FF0000"/>
                </a:solidFill>
              </a:rPr>
              <a:t>                    &lt;div class="card-body"&gt;</a:t>
            </a:r>
          </a:p>
          <a:p>
            <a:pPr marL="274320" lvl="1" indent="0">
              <a:buNone/>
            </a:pPr>
            <a:r>
              <a:rPr lang="en-US" altLang="zh-TW" sz="1400" dirty="0">
                <a:solidFill>
                  <a:srgbClr val="FF0000"/>
                </a:solidFill>
              </a:rPr>
              <a:t>                        &lt;div class='list-group'&gt;</a:t>
            </a:r>
          </a:p>
          <a:p>
            <a:pPr marL="274320" lvl="1" indent="0">
              <a:buNone/>
            </a:pPr>
            <a:r>
              <a:rPr lang="en-US" altLang="zh-TW" sz="1400" dirty="0">
                <a:solidFill>
                  <a:srgbClr val="FF0000"/>
                </a:solidFill>
              </a:rPr>
              <a:t>                            &lt;a </a:t>
            </a:r>
            <a:r>
              <a:rPr lang="en-US" altLang="zh-TW" sz="1400" dirty="0" err="1">
                <a:solidFill>
                  <a:srgbClr val="FF0000"/>
                </a:solidFill>
              </a:rPr>
              <a:t>href</a:t>
            </a:r>
            <a:r>
              <a:rPr lang="en-US" altLang="zh-TW" sz="1400" dirty="0">
                <a:solidFill>
                  <a:srgbClr val="FF0000"/>
                </a:solidFill>
              </a:rPr>
              <a:t>='/' class='list-group-item'&gt;HOME&lt;/a&gt;</a:t>
            </a:r>
          </a:p>
          <a:p>
            <a:pPr marL="274320" lvl="1" indent="0">
              <a:buNone/>
            </a:pPr>
            <a:r>
              <a:rPr lang="en-US" altLang="zh-TW" sz="1400" dirty="0">
                <a:solidFill>
                  <a:srgbClr val="FF0000"/>
                </a:solidFill>
              </a:rPr>
              <a:t>                            &lt;a </a:t>
            </a:r>
            <a:r>
              <a:rPr lang="en-US" altLang="zh-TW" sz="1400" dirty="0" err="1">
                <a:solidFill>
                  <a:srgbClr val="FF0000"/>
                </a:solidFill>
              </a:rPr>
              <a:t>href</a:t>
            </a:r>
            <a:r>
              <a:rPr lang="en-US" altLang="zh-TW" sz="1400" dirty="0">
                <a:solidFill>
                  <a:srgbClr val="FF0000"/>
                </a:solidFill>
              </a:rPr>
              <a:t>='https://google.com/news' class='list-group-item'&gt;</a:t>
            </a:r>
            <a:r>
              <a:rPr lang="zh-TW" altLang="en-US" sz="1400" dirty="0">
                <a:solidFill>
                  <a:srgbClr val="FF0000"/>
                </a:solidFill>
              </a:rPr>
              <a:t>即時新聞</a:t>
            </a:r>
            <a:r>
              <a:rPr lang="en-US" altLang="zh-TW" sz="1400" dirty="0">
                <a:solidFill>
                  <a:srgbClr val="FF0000"/>
                </a:solidFill>
              </a:rPr>
              <a:t>&lt;/a&gt;</a:t>
            </a:r>
          </a:p>
          <a:p>
            <a:pPr marL="274320" lvl="1" indent="0">
              <a:buNone/>
            </a:pPr>
            <a:r>
              <a:rPr lang="en-US" altLang="zh-TW" sz="1400" dirty="0">
                <a:solidFill>
                  <a:srgbClr val="FF0000"/>
                </a:solidFill>
              </a:rPr>
              <a:t>                            &lt;a </a:t>
            </a:r>
            <a:r>
              <a:rPr lang="en-US" altLang="zh-TW" sz="1400" dirty="0" err="1">
                <a:solidFill>
                  <a:srgbClr val="FF0000"/>
                </a:solidFill>
              </a:rPr>
              <a:t>href</a:t>
            </a:r>
            <a:r>
              <a:rPr lang="en-US" altLang="zh-TW" sz="1400" dirty="0">
                <a:solidFill>
                  <a:srgbClr val="FF0000"/>
                </a:solidFill>
              </a:rPr>
              <a:t>='https://youtube.com/' class='list-group-item'&gt;YouTube&lt;/a&gt;</a:t>
            </a:r>
          </a:p>
          <a:p>
            <a:pPr marL="274320" lvl="1" indent="0">
              <a:buNone/>
            </a:pPr>
            <a:r>
              <a:rPr lang="en-US" altLang="zh-TW" sz="1400" dirty="0">
                <a:solidFill>
                  <a:srgbClr val="FF0000"/>
                </a:solidFill>
              </a:rPr>
              <a:t>                        &lt;/div&gt;</a:t>
            </a:r>
          </a:p>
          <a:p>
            <a:pPr marL="274320" lvl="1" indent="0">
              <a:buNone/>
            </a:pPr>
            <a:r>
              <a:rPr lang="en-US" altLang="zh-TW" sz="1400" dirty="0">
                <a:solidFill>
                  <a:srgbClr val="FF0000"/>
                </a:solidFill>
              </a:rPr>
              <a:t>                    &lt;/div&gt;</a:t>
            </a:r>
          </a:p>
          <a:p>
            <a:pPr marL="274320" lvl="1" indent="0">
              <a:buNone/>
            </a:pPr>
            <a:r>
              <a:rPr lang="en-US" altLang="zh-TW" sz="1400" dirty="0">
                <a:solidFill>
                  <a:srgbClr val="FF0000"/>
                </a:solidFill>
              </a:rPr>
              <a:t>                &lt;/div&gt;</a:t>
            </a:r>
          </a:p>
          <a:p>
            <a:pPr marL="274320" lvl="1" indent="0">
              <a:buNone/>
            </a:pPr>
            <a:r>
              <a:rPr lang="en-US" altLang="zh-TW" sz="1400" dirty="0">
                <a:solidFill>
                  <a:srgbClr val="FF0000"/>
                </a:solidFill>
              </a:rPr>
              <a:t>            &lt;/div&gt;</a:t>
            </a:r>
            <a:endParaRPr lang="zh-TW" altLang="en-US" sz="1400" dirty="0">
              <a:solidFill>
                <a:srgbClr val="FF0000"/>
              </a:solidFill>
            </a:endParaRPr>
          </a:p>
        </p:txBody>
      </p:sp>
    </p:spTree>
    <p:extLst>
      <p:ext uri="{BB962C8B-B14F-4D97-AF65-F5344CB8AC3E}">
        <p14:creationId xmlns:p14="http://schemas.microsoft.com/office/powerpoint/2010/main" val="387242106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t>Javascript</a:t>
            </a:r>
            <a:r>
              <a:rPr lang="zh-TW" altLang="zh-TW" dirty="0"/>
              <a:t>以及</a:t>
            </a:r>
            <a:r>
              <a:rPr lang="en-US" altLang="zh-TW" dirty="0"/>
              <a:t>CSS</a:t>
            </a:r>
            <a:r>
              <a:rPr lang="zh-TW" altLang="zh-TW" dirty="0"/>
              <a:t>檔案的引用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76</a:t>
            </a:fld>
            <a:endParaRPr lang="zh-TW" altLang="en-US"/>
          </a:p>
        </p:txBody>
      </p:sp>
      <p:sp>
        <p:nvSpPr>
          <p:cNvPr id="4" name="內容版面配置區 3"/>
          <p:cNvSpPr>
            <a:spLocks noGrp="1"/>
          </p:cNvSpPr>
          <p:nvPr>
            <p:ph sz="quarter" idx="1"/>
          </p:nvPr>
        </p:nvSpPr>
        <p:spPr/>
        <p:txBody>
          <a:bodyPr>
            <a:normAutofit fontScale="92500" lnSpcReduction="20000"/>
          </a:bodyPr>
          <a:lstStyle/>
          <a:p>
            <a:pPr marL="274320" lvl="1" indent="0">
              <a:buNone/>
            </a:pPr>
            <a:r>
              <a:rPr lang="en-US" altLang="zh-TW" sz="1400" dirty="0"/>
              <a:t> &lt;div class="col-sm-9 col-md-9"&gt;</a:t>
            </a:r>
          </a:p>
          <a:p>
            <a:pPr marL="274320" lvl="1" indent="0">
              <a:buNone/>
            </a:pPr>
            <a:r>
              <a:rPr lang="en-US" altLang="zh-TW" sz="1400" dirty="0"/>
              <a:t>                &lt;div class="card"&gt;</a:t>
            </a:r>
          </a:p>
          <a:p>
            <a:pPr marL="274320" lvl="1" indent="0">
              <a:buNone/>
            </a:pPr>
            <a:r>
              <a:rPr lang="en-US" altLang="zh-TW" sz="1400" dirty="0"/>
              <a:t>                    &lt;div class="card-header"&gt;</a:t>
            </a:r>
          </a:p>
          <a:p>
            <a:pPr marL="274320" lvl="1" indent="0">
              <a:buNone/>
            </a:pPr>
            <a:r>
              <a:rPr lang="en-US" altLang="zh-TW" sz="1400" dirty="0"/>
              <a:t>                        {% block </a:t>
            </a:r>
            <a:r>
              <a:rPr lang="en-US" altLang="zh-TW" sz="1400" dirty="0" err="1"/>
              <a:t>headmessage</a:t>
            </a:r>
            <a:r>
              <a:rPr lang="en-US" altLang="zh-TW" sz="1400" dirty="0"/>
              <a:t> %} </a:t>
            </a:r>
          </a:p>
          <a:p>
            <a:pPr marL="274320" lvl="1" indent="0">
              <a:buNone/>
            </a:pPr>
            <a:r>
              <a:rPr lang="en-US" altLang="zh-TW" sz="1400" dirty="0"/>
              <a:t>                        {% </a:t>
            </a:r>
            <a:r>
              <a:rPr lang="en-US" altLang="zh-TW" sz="1400" dirty="0" err="1"/>
              <a:t>endblock</a:t>
            </a:r>
            <a:r>
              <a:rPr lang="en-US" altLang="zh-TW" sz="1400" dirty="0"/>
              <a:t> %}</a:t>
            </a:r>
          </a:p>
          <a:p>
            <a:pPr marL="274320" lvl="1" indent="0">
              <a:buNone/>
            </a:pPr>
            <a:r>
              <a:rPr lang="en-US" altLang="zh-TW" sz="1400" dirty="0"/>
              <a:t>                    &lt;/div&gt;</a:t>
            </a:r>
          </a:p>
          <a:p>
            <a:pPr marL="274320" lvl="1" indent="0">
              <a:buNone/>
            </a:pPr>
            <a:r>
              <a:rPr lang="en-US" altLang="zh-TW" sz="1400" dirty="0"/>
              <a:t>                    &lt;div class="card-body"&gt;</a:t>
            </a:r>
          </a:p>
          <a:p>
            <a:pPr marL="274320" lvl="1" indent="0">
              <a:buNone/>
            </a:pPr>
            <a:r>
              <a:rPr lang="en-US" altLang="zh-TW" sz="1400" dirty="0"/>
              <a:t>                        {% block content %} {% </a:t>
            </a:r>
            <a:r>
              <a:rPr lang="en-US" altLang="zh-TW" sz="1400" dirty="0" err="1"/>
              <a:t>endblock</a:t>
            </a:r>
            <a:r>
              <a:rPr lang="en-US" altLang="zh-TW" sz="1400" dirty="0"/>
              <a:t> %}</a:t>
            </a:r>
          </a:p>
          <a:p>
            <a:pPr marL="274320" lvl="1" indent="0">
              <a:buNone/>
            </a:pPr>
            <a:r>
              <a:rPr lang="en-US" altLang="zh-TW" sz="1400" dirty="0"/>
              <a:t>                    &lt;/div&gt;</a:t>
            </a:r>
          </a:p>
          <a:p>
            <a:pPr marL="274320" lvl="1" indent="0">
              <a:buNone/>
            </a:pPr>
            <a:r>
              <a:rPr lang="en-US" altLang="zh-TW" sz="1400" dirty="0"/>
              <a:t>                    &lt;div class="card-footer"&gt;</a:t>
            </a:r>
          </a:p>
          <a:p>
            <a:pPr marL="274320" lvl="1" indent="0">
              <a:buNone/>
            </a:pPr>
            <a:r>
              <a:rPr lang="en-US" altLang="zh-TW" sz="1400" dirty="0"/>
              <a:t>                        {% include 'footer.html' %}</a:t>
            </a:r>
          </a:p>
          <a:p>
            <a:pPr marL="274320" lvl="1" indent="0">
              <a:buNone/>
            </a:pPr>
            <a:r>
              <a:rPr lang="en-US" altLang="zh-TW" sz="1400" dirty="0"/>
              <a:t>                    &lt;/div&gt;</a:t>
            </a:r>
          </a:p>
          <a:p>
            <a:pPr marL="274320" lvl="1" indent="0">
              <a:buNone/>
            </a:pPr>
            <a:r>
              <a:rPr lang="en-US" altLang="zh-TW" sz="1400" dirty="0"/>
              <a:t>                &lt;/div&gt;</a:t>
            </a:r>
          </a:p>
          <a:p>
            <a:pPr marL="274320" lvl="1" indent="0">
              <a:buNone/>
            </a:pPr>
            <a:r>
              <a:rPr lang="en-US" altLang="zh-TW" sz="1400" dirty="0"/>
              <a:t>            &lt;/div&gt;</a:t>
            </a:r>
          </a:p>
          <a:p>
            <a:pPr marL="274320" lvl="1" indent="0">
              <a:buNone/>
            </a:pPr>
            <a:r>
              <a:rPr lang="en-US" altLang="zh-TW" sz="1400" dirty="0"/>
              <a:t>        &lt;/div&gt;</a:t>
            </a:r>
          </a:p>
          <a:p>
            <a:pPr marL="274320" lvl="1" indent="0">
              <a:buNone/>
            </a:pPr>
            <a:r>
              <a:rPr lang="en-US" altLang="zh-TW" sz="1400" dirty="0"/>
              <a:t>    &lt;/div&gt;</a:t>
            </a:r>
          </a:p>
          <a:p>
            <a:pPr marL="274320" lvl="1" indent="0">
              <a:buNone/>
            </a:pPr>
            <a:r>
              <a:rPr lang="en-US" altLang="zh-TW" sz="1400" dirty="0"/>
              <a:t>    &lt;script </a:t>
            </a:r>
            <a:r>
              <a:rPr lang="en-US" altLang="zh-TW" sz="1400" dirty="0" err="1"/>
              <a:t>src</a:t>
            </a:r>
            <a:r>
              <a:rPr lang="en-US" altLang="zh-TW" sz="1400" dirty="0"/>
              <a:t>="https://cdn.jsdelivr.net/</a:t>
            </a:r>
            <a:r>
              <a:rPr lang="en-US" altLang="zh-TW" sz="1400" dirty="0" err="1"/>
              <a:t>npm</a:t>
            </a:r>
            <a:r>
              <a:rPr lang="en-US" altLang="zh-TW" sz="1400" dirty="0"/>
              <a:t>/bootstrap@5.2.2/</a:t>
            </a:r>
            <a:r>
              <a:rPr lang="en-US" altLang="zh-TW" sz="1400" dirty="0" err="1"/>
              <a:t>dist</a:t>
            </a:r>
            <a:r>
              <a:rPr lang="en-US" altLang="zh-TW" sz="1400" dirty="0"/>
              <a:t>/</a:t>
            </a:r>
            <a:r>
              <a:rPr lang="en-US" altLang="zh-TW" sz="1400" dirty="0" err="1"/>
              <a:t>js</a:t>
            </a:r>
            <a:r>
              <a:rPr lang="en-US" altLang="zh-TW" sz="1400" dirty="0"/>
              <a:t>/bootstrap.bundle.min.js" integrity="sha384-OERcA2EqjJCMA+/3y+gxIOqMEjwtxJY7qPCqsdltbNJuaOe923+mo//f6V8Qbsw3" </a:t>
            </a:r>
            <a:r>
              <a:rPr lang="en-US" altLang="zh-TW" sz="1400" dirty="0" err="1"/>
              <a:t>crossorigin</a:t>
            </a:r>
            <a:r>
              <a:rPr lang="en-US" altLang="zh-TW" sz="1400" dirty="0"/>
              <a:t>="anonymous"&gt;&lt;/script&gt;</a:t>
            </a:r>
          </a:p>
          <a:p>
            <a:pPr marL="274320" lvl="1" indent="0">
              <a:buNone/>
            </a:pPr>
            <a:r>
              <a:rPr lang="en-US" altLang="zh-TW" sz="1400" dirty="0"/>
              <a:t>&lt;/body&gt;</a:t>
            </a:r>
          </a:p>
          <a:p>
            <a:pPr marL="274320" lvl="1" indent="0">
              <a:buNone/>
            </a:pPr>
            <a:r>
              <a:rPr lang="en-US" altLang="zh-TW" sz="1400" dirty="0"/>
              <a:t>&lt;/html&gt;</a:t>
            </a:r>
            <a:endParaRPr lang="zh-TW" altLang="en-US" sz="1400" dirty="0"/>
          </a:p>
        </p:txBody>
      </p:sp>
    </p:spTree>
    <p:extLst>
      <p:ext uri="{BB962C8B-B14F-4D97-AF65-F5344CB8AC3E}">
        <p14:creationId xmlns:p14="http://schemas.microsoft.com/office/powerpoint/2010/main" val="250080367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t>Javascript</a:t>
            </a:r>
            <a:r>
              <a:rPr lang="zh-TW" altLang="zh-TW" dirty="0"/>
              <a:t>以及</a:t>
            </a:r>
            <a:r>
              <a:rPr lang="en-US" altLang="zh-TW" dirty="0"/>
              <a:t>CSS</a:t>
            </a:r>
            <a:r>
              <a:rPr lang="zh-TW" altLang="zh-TW" dirty="0"/>
              <a:t>檔案的引用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77</a:t>
            </a:fld>
            <a:endParaRPr lang="zh-TW" altLang="en-US"/>
          </a:p>
        </p:txBody>
      </p:sp>
      <p:sp>
        <p:nvSpPr>
          <p:cNvPr id="4" name="內容版面配置區 3"/>
          <p:cNvSpPr>
            <a:spLocks noGrp="1"/>
          </p:cNvSpPr>
          <p:nvPr>
            <p:ph sz="quarter" idx="1"/>
          </p:nvPr>
        </p:nvSpPr>
        <p:spPr/>
        <p:txBody>
          <a:bodyPr/>
          <a:lstStyle/>
          <a:p>
            <a:r>
              <a:rPr lang="zh-TW" altLang="zh-TW" dirty="0"/>
              <a:t>套用</a:t>
            </a:r>
            <a:r>
              <a:rPr lang="en-US" altLang="zh-TW" dirty="0"/>
              <a:t>Bootstrap</a:t>
            </a:r>
            <a:r>
              <a:rPr lang="zh-TW" altLang="zh-TW" dirty="0"/>
              <a:t>後的結果</a:t>
            </a:r>
            <a:endParaRPr lang="zh-TW" altLang="en-US" dirty="0"/>
          </a:p>
        </p:txBody>
      </p:sp>
      <p:pic>
        <p:nvPicPr>
          <p:cNvPr id="7" name="圖片 6" descr="一張含有 文字, 螢幕擷取畫面, 陳列, 軟體 的圖片&#10;&#10;自動產生的描述">
            <a:extLst>
              <a:ext uri="{FF2B5EF4-FFF2-40B4-BE49-F238E27FC236}">
                <a16:creationId xmlns:a16="http://schemas.microsoft.com/office/drawing/2014/main" id="{85CF8880-24DD-E3B5-0727-A0E7CE2FBC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9185" y="2126069"/>
            <a:ext cx="8244408" cy="4032330"/>
          </a:xfrm>
          <a:prstGeom prst="rect">
            <a:avLst/>
          </a:prstGeom>
        </p:spPr>
      </p:pic>
    </p:spTree>
    <p:extLst>
      <p:ext uri="{BB962C8B-B14F-4D97-AF65-F5344CB8AC3E}">
        <p14:creationId xmlns:p14="http://schemas.microsoft.com/office/powerpoint/2010/main" val="327516392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t>Javascript</a:t>
            </a:r>
            <a:r>
              <a:rPr lang="zh-TW" altLang="zh-TW" dirty="0"/>
              <a:t>以及</a:t>
            </a:r>
            <a:r>
              <a:rPr lang="en-US" altLang="zh-TW" dirty="0"/>
              <a:t>CSS</a:t>
            </a:r>
            <a:r>
              <a:rPr lang="zh-TW" altLang="zh-TW" dirty="0"/>
              <a:t>檔案的引用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78</a:t>
            </a:fld>
            <a:endParaRPr lang="zh-TW" altLang="en-US"/>
          </a:p>
        </p:txBody>
      </p:sp>
      <p:sp>
        <p:nvSpPr>
          <p:cNvPr id="4" name="內容版面配置區 3"/>
          <p:cNvSpPr>
            <a:spLocks noGrp="1"/>
          </p:cNvSpPr>
          <p:nvPr>
            <p:ph sz="quarter" idx="1"/>
          </p:nvPr>
        </p:nvSpPr>
        <p:spPr/>
        <p:txBody>
          <a:bodyPr/>
          <a:lstStyle/>
          <a:p>
            <a:r>
              <a:rPr lang="zh-TW" altLang="zh-TW" dirty="0"/>
              <a:t>使用</a:t>
            </a:r>
            <a:r>
              <a:rPr lang="en-US" altLang="zh-TW" dirty="0"/>
              <a:t>Bootstrap</a:t>
            </a:r>
            <a:r>
              <a:rPr lang="zh-TW" altLang="zh-TW" dirty="0"/>
              <a:t>為網站建立側邊欄</a:t>
            </a:r>
            <a:endParaRPr lang="zh-TW" altLang="en-US" dirty="0"/>
          </a:p>
        </p:txBody>
      </p:sp>
      <p:pic>
        <p:nvPicPr>
          <p:cNvPr id="5" name="圖片 4"/>
          <p:cNvPicPr/>
          <p:nvPr/>
        </p:nvPicPr>
        <p:blipFill>
          <a:blip r:embed="rId2">
            <a:extLst>
              <a:ext uri="{28A0092B-C50C-407E-A947-70E740481C1C}">
                <a14:useLocalDpi xmlns:a14="http://schemas.microsoft.com/office/drawing/2010/main" val="0"/>
              </a:ext>
            </a:extLst>
          </a:blip>
          <a:stretch>
            <a:fillRect/>
          </a:stretch>
        </p:blipFill>
        <p:spPr>
          <a:xfrm>
            <a:off x="1583668" y="2110612"/>
            <a:ext cx="5976664" cy="4414731"/>
          </a:xfrm>
          <a:prstGeom prst="rect">
            <a:avLst/>
          </a:prstGeom>
        </p:spPr>
      </p:pic>
    </p:spTree>
    <p:extLst>
      <p:ext uri="{BB962C8B-B14F-4D97-AF65-F5344CB8AC3E}">
        <p14:creationId xmlns:p14="http://schemas.microsoft.com/office/powerpoint/2010/main" val="157935564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圖形檔的應用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79</a:t>
            </a:fld>
            <a:endParaRPr lang="zh-TW" altLang="en-US"/>
          </a:p>
        </p:txBody>
      </p:sp>
      <p:sp>
        <p:nvSpPr>
          <p:cNvPr id="4" name="內容版面配置區 3"/>
          <p:cNvSpPr>
            <a:spLocks noGrp="1"/>
          </p:cNvSpPr>
          <p:nvPr>
            <p:ph sz="quarter" idx="1"/>
          </p:nvPr>
        </p:nvSpPr>
        <p:spPr>
          <a:xfrm>
            <a:off x="301752" y="1527048"/>
            <a:ext cx="8534400" cy="5142312"/>
          </a:xfrm>
        </p:spPr>
        <p:txBody>
          <a:bodyPr>
            <a:normAutofit fontScale="92500"/>
          </a:bodyPr>
          <a:lstStyle/>
          <a:p>
            <a:r>
              <a:rPr lang="zh-TW" altLang="zh-TW" dirty="0"/>
              <a:t>圖形檔大部份會被放置在</a:t>
            </a:r>
            <a:r>
              <a:rPr lang="en-US" altLang="zh-TW" dirty="0"/>
              <a:t>image</a:t>
            </a:r>
            <a:r>
              <a:rPr lang="zh-TW" altLang="zh-TW" dirty="0"/>
              <a:t>資料夾下，而</a:t>
            </a:r>
            <a:r>
              <a:rPr lang="en-US" altLang="zh-TW" dirty="0"/>
              <a:t>.</a:t>
            </a:r>
            <a:r>
              <a:rPr lang="en-US" altLang="zh-TW" dirty="0" err="1"/>
              <a:t>css</a:t>
            </a:r>
            <a:r>
              <a:rPr lang="zh-TW" altLang="zh-TW" dirty="0"/>
              <a:t>和</a:t>
            </a:r>
            <a:r>
              <a:rPr lang="en-US" altLang="zh-TW" dirty="0"/>
              <a:t>.</a:t>
            </a:r>
            <a:r>
              <a:rPr lang="en-US" altLang="zh-TW" dirty="0" err="1"/>
              <a:t>js</a:t>
            </a:r>
            <a:r>
              <a:rPr lang="zh-TW" altLang="zh-TW" dirty="0"/>
              <a:t>檔案則會被放在</a:t>
            </a:r>
            <a:r>
              <a:rPr lang="en-US" altLang="zh-TW" dirty="0" err="1"/>
              <a:t>css</a:t>
            </a:r>
            <a:r>
              <a:rPr lang="zh-TW" altLang="zh-TW" dirty="0"/>
              <a:t>和</a:t>
            </a:r>
            <a:r>
              <a:rPr lang="en-US" altLang="zh-TW" dirty="0" err="1"/>
              <a:t>js</a:t>
            </a:r>
            <a:r>
              <a:rPr lang="zh-TW" altLang="zh-TW" dirty="0"/>
              <a:t>資料夾下</a:t>
            </a:r>
            <a:endParaRPr lang="en-US" altLang="zh-TW" dirty="0"/>
          </a:p>
          <a:p>
            <a:r>
              <a:rPr lang="en-US" altLang="zh-TW" dirty="0"/>
              <a:t>Django</a:t>
            </a:r>
            <a:r>
              <a:rPr lang="zh-TW" altLang="zh-TW" dirty="0"/>
              <a:t>把這一類型的檔案統稱為</a:t>
            </a:r>
            <a:r>
              <a:rPr lang="en-US" altLang="zh-TW" dirty="0"/>
              <a:t>static files</a:t>
            </a:r>
            <a:r>
              <a:rPr lang="zh-TW" altLang="zh-TW" dirty="0"/>
              <a:t>（靜態檔案）</a:t>
            </a:r>
            <a:endParaRPr lang="en-US" altLang="zh-TW" dirty="0"/>
          </a:p>
          <a:p>
            <a:r>
              <a:rPr lang="zh-TW" altLang="zh-TW" dirty="0"/>
              <a:t>統一把這些檔案（</a:t>
            </a:r>
            <a:r>
              <a:rPr lang="en-US" altLang="zh-TW" dirty="0"/>
              <a:t>.</a:t>
            </a:r>
            <a:r>
              <a:rPr lang="en-US" altLang="zh-TW" dirty="0" err="1"/>
              <a:t>js</a:t>
            </a:r>
            <a:r>
              <a:rPr lang="en-US" altLang="zh-TW" dirty="0"/>
              <a:t>, .</a:t>
            </a:r>
            <a:r>
              <a:rPr lang="en-US" altLang="zh-TW" dirty="0" err="1"/>
              <a:t>css</a:t>
            </a:r>
            <a:r>
              <a:rPr lang="en-US" altLang="zh-TW" dirty="0"/>
              <a:t>, .jpg, .</a:t>
            </a:r>
            <a:r>
              <a:rPr lang="en-US" altLang="zh-TW" dirty="0" err="1"/>
              <a:t>png</a:t>
            </a:r>
            <a:r>
              <a:rPr lang="zh-TW" altLang="zh-TW" dirty="0"/>
              <a:t>等等）都放在</a:t>
            </a:r>
            <a:r>
              <a:rPr lang="en-US" altLang="zh-TW" dirty="0"/>
              <a:t>static</a:t>
            </a:r>
            <a:r>
              <a:rPr lang="zh-TW" altLang="zh-TW" dirty="0"/>
              <a:t>的資料夾之下，然後</a:t>
            </a:r>
            <a:r>
              <a:rPr lang="en-US" altLang="zh-TW" dirty="0"/>
              <a:t>.</a:t>
            </a:r>
            <a:r>
              <a:rPr lang="en-US" altLang="zh-TW" dirty="0" err="1"/>
              <a:t>js</a:t>
            </a:r>
            <a:r>
              <a:rPr lang="zh-TW" altLang="zh-TW" dirty="0"/>
              <a:t>放在</a:t>
            </a:r>
            <a:r>
              <a:rPr lang="en-US" altLang="zh-TW" dirty="0" err="1"/>
              <a:t>js</a:t>
            </a:r>
            <a:r>
              <a:rPr lang="zh-TW" altLang="zh-TW" dirty="0"/>
              <a:t>子目錄，</a:t>
            </a:r>
            <a:r>
              <a:rPr lang="en-US" altLang="zh-TW" dirty="0"/>
              <a:t>.</a:t>
            </a:r>
            <a:r>
              <a:rPr lang="en-US" altLang="zh-TW" dirty="0" err="1"/>
              <a:t>css</a:t>
            </a:r>
            <a:r>
              <a:rPr lang="zh-TW" altLang="zh-TW" dirty="0"/>
              <a:t>放在</a:t>
            </a:r>
            <a:r>
              <a:rPr lang="en-US" altLang="zh-TW" dirty="0" err="1"/>
              <a:t>css</a:t>
            </a:r>
            <a:r>
              <a:rPr lang="zh-TW" altLang="zh-TW" dirty="0"/>
              <a:t>子目錄，而圖形檔則都放在</a:t>
            </a:r>
            <a:r>
              <a:rPr lang="en-US" altLang="zh-TW" dirty="0"/>
              <a:t>images</a:t>
            </a:r>
            <a:r>
              <a:rPr lang="zh-TW" altLang="zh-TW" dirty="0"/>
              <a:t>子目錄中</a:t>
            </a:r>
            <a:endParaRPr lang="en-US" altLang="zh-TW" dirty="0"/>
          </a:p>
          <a:p>
            <a:r>
              <a:rPr lang="zh-TW" altLang="zh-TW" dirty="0"/>
              <a:t>在</a:t>
            </a:r>
            <a:r>
              <a:rPr lang="en-US" altLang="zh-TW" dirty="0"/>
              <a:t>settings.py</a:t>
            </a:r>
            <a:r>
              <a:rPr lang="zh-TW" altLang="zh-TW" dirty="0"/>
              <a:t>中，就要加入如下所示的設定：</a:t>
            </a:r>
          </a:p>
          <a:p>
            <a:pPr marL="274320" lvl="1" indent="0">
              <a:buNone/>
            </a:pPr>
            <a:r>
              <a:rPr lang="en-US" altLang="zh-TW" dirty="0"/>
              <a:t>STATIC_ROOT = BASE_DIR / '</a:t>
            </a:r>
            <a:r>
              <a:rPr lang="en-US" altLang="zh-TW" dirty="0" err="1"/>
              <a:t>staticfiles</a:t>
            </a:r>
            <a:r>
              <a:rPr lang="en-US" altLang="zh-TW" dirty="0"/>
              <a:t>'</a:t>
            </a:r>
          </a:p>
          <a:p>
            <a:pPr marL="274320" lvl="1" indent="0">
              <a:buNone/>
            </a:pPr>
            <a:r>
              <a:rPr lang="en-US" altLang="zh-TW" dirty="0">
                <a:solidFill>
                  <a:srgbClr val="FF0000"/>
                </a:solidFill>
              </a:rPr>
              <a:t>STATICFILES_DIRS = (</a:t>
            </a:r>
          </a:p>
          <a:p>
            <a:pPr marL="274320" lvl="1" indent="0">
              <a:buNone/>
            </a:pPr>
            <a:r>
              <a:rPr lang="en-US" altLang="zh-TW" dirty="0">
                <a:solidFill>
                  <a:srgbClr val="FF0000"/>
                </a:solidFill>
              </a:rPr>
              <a:t>    BASE_DIR / 'static',</a:t>
            </a:r>
          </a:p>
          <a:p>
            <a:pPr marL="274320" lvl="1" indent="0">
              <a:buNone/>
            </a:pPr>
            <a:r>
              <a:rPr lang="en-US" altLang="zh-TW" dirty="0">
                <a:solidFill>
                  <a:srgbClr val="FF0000"/>
                </a:solidFill>
              </a:rPr>
              <a:t>)</a:t>
            </a:r>
          </a:p>
          <a:p>
            <a:pPr marL="274320" lvl="1" indent="0">
              <a:buNone/>
            </a:pPr>
            <a:r>
              <a:rPr lang="en-US" altLang="zh-TW" dirty="0"/>
              <a:t>STATIC_URL = '/static/'</a:t>
            </a:r>
            <a:endParaRPr lang="zh-TW" altLang="en-US" dirty="0"/>
          </a:p>
        </p:txBody>
      </p:sp>
    </p:spTree>
    <p:extLst>
      <p:ext uri="{BB962C8B-B14F-4D97-AF65-F5344CB8AC3E}">
        <p14:creationId xmlns:p14="http://schemas.microsoft.com/office/powerpoint/2010/main" val="90753483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圖形檔的應用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80</a:t>
            </a:fld>
            <a:endParaRPr lang="zh-TW" altLang="en-US"/>
          </a:p>
        </p:txBody>
      </p:sp>
      <p:sp>
        <p:nvSpPr>
          <p:cNvPr id="4" name="內容版面配置區 3"/>
          <p:cNvSpPr>
            <a:spLocks noGrp="1"/>
          </p:cNvSpPr>
          <p:nvPr>
            <p:ph sz="quarter" idx="1"/>
          </p:nvPr>
        </p:nvSpPr>
        <p:spPr/>
        <p:txBody>
          <a:bodyPr/>
          <a:lstStyle/>
          <a:p>
            <a:r>
              <a:rPr lang="en-US" altLang="zh-TW" dirty="0"/>
              <a:t>header.html</a:t>
            </a:r>
            <a:r>
              <a:rPr lang="zh-TW" altLang="zh-TW" dirty="0"/>
              <a:t>中加入對於圖形檔的存取操作</a:t>
            </a:r>
            <a:endParaRPr lang="en-US" altLang="zh-TW" dirty="0"/>
          </a:p>
          <a:p>
            <a:pPr lvl="1"/>
            <a:r>
              <a:rPr lang="en-US" altLang="zh-TW" dirty="0"/>
              <a:t>&lt;!-- header.html --&gt;</a:t>
            </a:r>
          </a:p>
          <a:p>
            <a:pPr lvl="1"/>
            <a:r>
              <a:rPr lang="en-US" altLang="zh-TW" dirty="0">
                <a:solidFill>
                  <a:srgbClr val="FF0000"/>
                </a:solidFill>
              </a:rPr>
              <a:t>{% load static %}</a:t>
            </a:r>
          </a:p>
          <a:p>
            <a:pPr lvl="1"/>
            <a:r>
              <a:rPr lang="en-US" altLang="zh-TW" dirty="0"/>
              <a:t>&lt;div class='well'&gt;</a:t>
            </a:r>
          </a:p>
          <a:p>
            <a:pPr lvl="1"/>
            <a:r>
              <a:rPr lang="en-US" altLang="zh-TW" dirty="0"/>
              <a:t>    &lt;</a:t>
            </a:r>
            <a:r>
              <a:rPr lang="en-US" altLang="zh-TW" dirty="0" err="1"/>
              <a:t>img</a:t>
            </a:r>
            <a:r>
              <a:rPr lang="en-US" altLang="zh-TW" dirty="0"/>
              <a:t> </a:t>
            </a:r>
            <a:r>
              <a:rPr lang="en-US" altLang="zh-TW" dirty="0" err="1"/>
              <a:t>src</a:t>
            </a:r>
            <a:r>
              <a:rPr lang="en-US" altLang="zh-TW" dirty="0"/>
              <a:t>="</a:t>
            </a:r>
            <a:r>
              <a:rPr lang="en-US" altLang="zh-TW" dirty="0">
                <a:solidFill>
                  <a:srgbClr val="FF0000"/>
                </a:solidFill>
              </a:rPr>
              <a:t>{%</a:t>
            </a:r>
            <a:r>
              <a:rPr lang="en-US" altLang="zh-TW" dirty="0"/>
              <a:t> </a:t>
            </a:r>
            <a:r>
              <a:rPr lang="en-US" altLang="zh-TW" dirty="0">
                <a:solidFill>
                  <a:srgbClr val="FF0000"/>
                </a:solidFill>
              </a:rPr>
              <a:t>static "images/logo.png" %}</a:t>
            </a:r>
            <a:r>
              <a:rPr lang="en-US" altLang="zh-TW" dirty="0"/>
              <a:t>"&gt;</a:t>
            </a:r>
          </a:p>
          <a:p>
            <a:pPr lvl="1"/>
            <a:r>
              <a:rPr lang="en-US" altLang="zh-TW" dirty="0"/>
              <a:t>&lt;/div&gt;</a:t>
            </a:r>
          </a:p>
          <a:p>
            <a:pPr lvl="1"/>
            <a:endParaRPr lang="zh-TW" altLang="en-US" dirty="0"/>
          </a:p>
        </p:txBody>
      </p:sp>
    </p:spTree>
    <p:extLst>
      <p:ext uri="{BB962C8B-B14F-4D97-AF65-F5344CB8AC3E}">
        <p14:creationId xmlns:p14="http://schemas.microsoft.com/office/powerpoint/2010/main" val="295999350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圖形檔的應用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81</a:t>
            </a:fld>
            <a:endParaRPr lang="zh-TW" altLang="en-US"/>
          </a:p>
        </p:txBody>
      </p:sp>
      <p:sp>
        <p:nvSpPr>
          <p:cNvPr id="4" name="內容版面配置區 3"/>
          <p:cNvSpPr>
            <a:spLocks noGrp="1"/>
          </p:cNvSpPr>
          <p:nvPr>
            <p:ph sz="quarter" idx="1"/>
          </p:nvPr>
        </p:nvSpPr>
        <p:spPr/>
        <p:txBody>
          <a:bodyPr/>
          <a:lstStyle/>
          <a:p>
            <a:r>
              <a:rPr lang="zh-TW" altLang="zh-TW" dirty="0"/>
              <a:t>使用圖形檔當做是網站</a:t>
            </a:r>
            <a:r>
              <a:rPr lang="en-US" altLang="zh-TW" dirty="0"/>
              <a:t>Logo</a:t>
            </a:r>
            <a:r>
              <a:rPr lang="zh-TW" altLang="zh-TW" dirty="0"/>
              <a:t>的示範頁面</a:t>
            </a:r>
            <a:endParaRPr lang="zh-TW" altLang="en-US" dirty="0"/>
          </a:p>
        </p:txBody>
      </p:sp>
      <p:pic>
        <p:nvPicPr>
          <p:cNvPr id="5" name="圖片 4" descr="2-20.png"/>
          <p:cNvPicPr/>
          <p:nvPr/>
        </p:nvPicPr>
        <p:blipFill>
          <a:blip r:embed="rId2"/>
          <a:stretch>
            <a:fillRect/>
          </a:stretch>
        </p:blipFill>
        <p:spPr>
          <a:xfrm>
            <a:off x="2015716" y="2038809"/>
            <a:ext cx="5112568" cy="4599735"/>
          </a:xfrm>
          <a:prstGeom prst="rect">
            <a:avLst/>
          </a:prstGeom>
        </p:spPr>
      </p:pic>
    </p:spTree>
    <p:extLst>
      <p:ext uri="{BB962C8B-B14F-4D97-AF65-F5344CB8AC3E}">
        <p14:creationId xmlns:p14="http://schemas.microsoft.com/office/powerpoint/2010/main" val="141336541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CCF4A85-2DAF-A010-4673-DF1ACB24F35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1844E652-C122-9A1B-3E8C-D5A76E3CFCFF}"/>
              </a:ext>
            </a:extLst>
          </p:cNvPr>
          <p:cNvSpPr>
            <a:spLocks noGrp="1"/>
          </p:cNvSpPr>
          <p:nvPr>
            <p:ph type="title"/>
          </p:nvPr>
        </p:nvSpPr>
        <p:spPr/>
        <p:txBody>
          <a:bodyPr/>
          <a:lstStyle/>
          <a:p>
            <a:r>
              <a:rPr lang="zh-TW" altLang="zh-TW" dirty="0"/>
              <a:t>圖形檔的應用</a:t>
            </a:r>
            <a:endParaRPr lang="zh-TW" altLang="en-US" dirty="0"/>
          </a:p>
        </p:txBody>
      </p:sp>
      <p:sp>
        <p:nvSpPr>
          <p:cNvPr id="3" name="投影片編號版面配置區 2">
            <a:extLst>
              <a:ext uri="{FF2B5EF4-FFF2-40B4-BE49-F238E27FC236}">
                <a16:creationId xmlns:a16="http://schemas.microsoft.com/office/drawing/2014/main" id="{112DC2B6-5125-FEDF-36AD-5F1DF4816E92}"/>
              </a:ext>
            </a:extLst>
          </p:cNvPr>
          <p:cNvSpPr>
            <a:spLocks noGrp="1"/>
          </p:cNvSpPr>
          <p:nvPr>
            <p:ph type="sldNum" sz="quarter" idx="12"/>
          </p:nvPr>
        </p:nvSpPr>
        <p:spPr/>
        <p:txBody>
          <a:bodyPr/>
          <a:lstStyle/>
          <a:p>
            <a:fld id="{369E457D-EE12-4164-8E32-9DDD40A95892}" type="slidenum">
              <a:rPr lang="zh-TW" altLang="en-US" smtClean="0"/>
              <a:pPr/>
              <a:t>82</a:t>
            </a:fld>
            <a:endParaRPr lang="zh-TW" altLang="en-US"/>
          </a:p>
        </p:txBody>
      </p:sp>
      <p:sp>
        <p:nvSpPr>
          <p:cNvPr id="4" name="內容版面配置區 3">
            <a:extLst>
              <a:ext uri="{FF2B5EF4-FFF2-40B4-BE49-F238E27FC236}">
                <a16:creationId xmlns:a16="http://schemas.microsoft.com/office/drawing/2014/main" id="{AA27D0F5-E0C0-B363-9C83-531DBAE4E400}"/>
              </a:ext>
            </a:extLst>
          </p:cNvPr>
          <p:cNvSpPr>
            <a:spLocks noGrp="1"/>
          </p:cNvSpPr>
          <p:nvPr>
            <p:ph sz="quarter" idx="1"/>
          </p:nvPr>
        </p:nvSpPr>
        <p:spPr/>
        <p:txBody>
          <a:bodyPr/>
          <a:lstStyle/>
          <a:p>
            <a:r>
              <a:rPr lang="zh-TW" altLang="zh-TW" dirty="0"/>
              <a:t>使用圖形檔當做是網站</a:t>
            </a:r>
            <a:r>
              <a:rPr lang="en-US" altLang="zh-TW" dirty="0"/>
              <a:t>Logo</a:t>
            </a:r>
            <a:r>
              <a:rPr lang="zh-TW" altLang="zh-TW" dirty="0"/>
              <a:t>的示範頁面</a:t>
            </a:r>
            <a:endParaRPr lang="zh-TW" altLang="en-US" dirty="0"/>
          </a:p>
        </p:txBody>
      </p:sp>
      <p:pic>
        <p:nvPicPr>
          <p:cNvPr id="7" name="圖片 6">
            <a:extLst>
              <a:ext uri="{FF2B5EF4-FFF2-40B4-BE49-F238E27FC236}">
                <a16:creationId xmlns:a16="http://schemas.microsoft.com/office/drawing/2014/main" id="{5EF7DA99-70C7-BB77-2502-A2CED7BB34B8}"/>
              </a:ext>
            </a:extLst>
          </p:cNvPr>
          <p:cNvPicPr>
            <a:picLocks noChangeAspect="1"/>
          </p:cNvPicPr>
          <p:nvPr/>
        </p:nvPicPr>
        <p:blipFill>
          <a:blip r:embed="rId2"/>
          <a:stretch>
            <a:fillRect/>
          </a:stretch>
        </p:blipFill>
        <p:spPr>
          <a:xfrm>
            <a:off x="1295604" y="2071069"/>
            <a:ext cx="6516216" cy="4596805"/>
          </a:xfrm>
          <a:prstGeom prst="rect">
            <a:avLst/>
          </a:prstGeom>
        </p:spPr>
      </p:pic>
      <p:sp>
        <p:nvSpPr>
          <p:cNvPr id="8" name="矩形 7">
            <a:extLst>
              <a:ext uri="{FF2B5EF4-FFF2-40B4-BE49-F238E27FC236}">
                <a16:creationId xmlns:a16="http://schemas.microsoft.com/office/drawing/2014/main" id="{BC97B8BA-8DC6-8667-AB79-4A9DFD3A41DC}"/>
              </a:ext>
            </a:extLst>
          </p:cNvPr>
          <p:cNvSpPr/>
          <p:nvPr/>
        </p:nvSpPr>
        <p:spPr>
          <a:xfrm>
            <a:off x="4361688" y="5301208"/>
            <a:ext cx="1866496" cy="530420"/>
          </a:xfrm>
          <a:prstGeom prst="rect">
            <a:avLst/>
          </a:prstGeom>
          <a:noFill/>
          <a:ln w="12700"/>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C38EADA0-247D-2BFC-63FC-4A24E744F06B}"/>
              </a:ext>
            </a:extLst>
          </p:cNvPr>
          <p:cNvSpPr txBox="1"/>
          <p:nvPr/>
        </p:nvSpPr>
        <p:spPr>
          <a:xfrm>
            <a:off x="5305072" y="4928269"/>
            <a:ext cx="2577950" cy="369332"/>
          </a:xfrm>
          <a:prstGeom prst="rect">
            <a:avLst/>
          </a:prstGeom>
          <a:noFill/>
        </p:spPr>
        <p:txBody>
          <a:bodyPr wrap="none" rtlCol="0">
            <a:spAutoFit/>
          </a:bodyPr>
          <a:lstStyle/>
          <a:p>
            <a:r>
              <a:rPr lang="en-US" altLang="zh-TW" dirty="0"/>
              <a:t>Base.html card head</a:t>
            </a:r>
            <a:endParaRPr lang="zh-TW" altLang="en-US" dirty="0"/>
          </a:p>
        </p:txBody>
      </p:sp>
      <p:sp>
        <p:nvSpPr>
          <p:cNvPr id="10" name="矩形 9">
            <a:extLst>
              <a:ext uri="{FF2B5EF4-FFF2-40B4-BE49-F238E27FC236}">
                <a16:creationId xmlns:a16="http://schemas.microsoft.com/office/drawing/2014/main" id="{2B26A1C3-067D-3E8E-06AC-B5833FE3D677}"/>
              </a:ext>
            </a:extLst>
          </p:cNvPr>
          <p:cNvSpPr/>
          <p:nvPr/>
        </p:nvSpPr>
        <p:spPr>
          <a:xfrm>
            <a:off x="4361688" y="5893189"/>
            <a:ext cx="1866496" cy="530420"/>
          </a:xfrm>
          <a:prstGeom prst="rect">
            <a:avLst/>
          </a:prstGeom>
          <a:noFill/>
          <a:ln w="12700"/>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1" name="文字方塊 10">
            <a:extLst>
              <a:ext uri="{FF2B5EF4-FFF2-40B4-BE49-F238E27FC236}">
                <a16:creationId xmlns:a16="http://schemas.microsoft.com/office/drawing/2014/main" id="{C0ED030B-D777-0E99-9A29-C7711CB16ABB}"/>
              </a:ext>
            </a:extLst>
          </p:cNvPr>
          <p:cNvSpPr txBox="1"/>
          <p:nvPr/>
        </p:nvSpPr>
        <p:spPr>
          <a:xfrm>
            <a:off x="6372200" y="5939988"/>
            <a:ext cx="2576346" cy="369332"/>
          </a:xfrm>
          <a:prstGeom prst="rect">
            <a:avLst/>
          </a:prstGeom>
          <a:noFill/>
        </p:spPr>
        <p:txBody>
          <a:bodyPr wrap="none" rtlCol="0">
            <a:spAutoFit/>
          </a:bodyPr>
          <a:lstStyle/>
          <a:p>
            <a:r>
              <a:rPr lang="en-US" altLang="zh-TW" dirty="0"/>
              <a:t>Base.html card body</a:t>
            </a:r>
            <a:endParaRPr lang="zh-TW" altLang="en-US" dirty="0"/>
          </a:p>
        </p:txBody>
      </p:sp>
    </p:spTree>
    <p:extLst>
      <p:ext uri="{BB962C8B-B14F-4D97-AF65-F5344CB8AC3E}">
        <p14:creationId xmlns:p14="http://schemas.microsoft.com/office/powerpoint/2010/main" val="50468252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在主網頁顯示</a:t>
            </a:r>
            <a:r>
              <a:rPr lang="zh-TW" altLang="zh-TW" dirty="0">
                <a:solidFill>
                  <a:srgbClr val="FF0000"/>
                </a:solidFill>
              </a:rPr>
              <a:t>文章摘要</a:t>
            </a:r>
            <a:endParaRPr lang="zh-TW" altLang="en-US" dirty="0">
              <a:solidFill>
                <a:srgbClr val="FF0000"/>
              </a:solidFill>
            </a:endParaRPr>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83</a:t>
            </a:fld>
            <a:endParaRPr lang="zh-TW" altLang="en-US"/>
          </a:p>
        </p:txBody>
      </p:sp>
      <p:sp>
        <p:nvSpPr>
          <p:cNvPr id="4" name="內容版面配置區 3"/>
          <p:cNvSpPr>
            <a:spLocks noGrp="1"/>
          </p:cNvSpPr>
          <p:nvPr>
            <p:ph sz="quarter" idx="1"/>
          </p:nvPr>
        </p:nvSpPr>
        <p:spPr/>
        <p:txBody>
          <a:bodyPr/>
          <a:lstStyle/>
          <a:p>
            <a:r>
              <a:rPr lang="en-US" altLang="zh-TW" dirty="0"/>
              <a:t>Template filter</a:t>
            </a:r>
          </a:p>
          <a:p>
            <a:endParaRPr lang="zh-TW" altLang="en-US" dirty="0"/>
          </a:p>
        </p:txBody>
      </p:sp>
      <p:graphicFrame>
        <p:nvGraphicFramePr>
          <p:cNvPr id="5" name="表格 4"/>
          <p:cNvGraphicFramePr>
            <a:graphicFrameLocks noGrp="1"/>
          </p:cNvGraphicFramePr>
          <p:nvPr>
            <p:extLst>
              <p:ext uri="{D42A27DB-BD31-4B8C-83A1-F6EECF244321}">
                <p14:modId xmlns:p14="http://schemas.microsoft.com/office/powerpoint/2010/main" val="2088841434"/>
              </p:ext>
            </p:extLst>
          </p:nvPr>
        </p:nvGraphicFramePr>
        <p:xfrm>
          <a:off x="531712" y="2048232"/>
          <a:ext cx="8080576" cy="4809772"/>
        </p:xfrm>
        <a:graphic>
          <a:graphicData uri="http://schemas.openxmlformats.org/drawingml/2006/table">
            <a:tbl>
              <a:tblPr firstRow="1" firstCol="1" bandRow="1">
                <a:tableStyleId>{5C22544A-7EE6-4342-B048-85BDC9FD1C3A}</a:tableStyleId>
              </a:tblPr>
              <a:tblGrid>
                <a:gridCol w="1390386">
                  <a:extLst>
                    <a:ext uri="{9D8B030D-6E8A-4147-A177-3AD203B41FA5}">
                      <a16:colId xmlns:a16="http://schemas.microsoft.com/office/drawing/2014/main" val="20000"/>
                    </a:ext>
                  </a:extLst>
                </a:gridCol>
                <a:gridCol w="2953320">
                  <a:extLst>
                    <a:ext uri="{9D8B030D-6E8A-4147-A177-3AD203B41FA5}">
                      <a16:colId xmlns:a16="http://schemas.microsoft.com/office/drawing/2014/main" val="20001"/>
                    </a:ext>
                  </a:extLst>
                </a:gridCol>
                <a:gridCol w="3736870">
                  <a:extLst>
                    <a:ext uri="{9D8B030D-6E8A-4147-A177-3AD203B41FA5}">
                      <a16:colId xmlns:a16="http://schemas.microsoft.com/office/drawing/2014/main" val="20002"/>
                    </a:ext>
                  </a:extLst>
                </a:gridCol>
              </a:tblGrid>
              <a:tr h="282928">
                <a:tc>
                  <a:txBody>
                    <a:bodyPr/>
                    <a:lstStyle/>
                    <a:p>
                      <a:pPr algn="just">
                        <a:spcBef>
                          <a:spcPts val="600"/>
                        </a:spcBef>
                        <a:spcAft>
                          <a:spcPts val="600"/>
                        </a:spcAft>
                      </a:pPr>
                      <a:r>
                        <a:rPr lang="zh-TW" sz="1200" kern="100">
                          <a:effectLst/>
                        </a:rPr>
                        <a:t>名稱</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200" kern="100">
                          <a:effectLst/>
                        </a:rPr>
                        <a:t>用途</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200" kern="100">
                          <a:effectLst/>
                        </a:rPr>
                        <a:t>示例</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282928">
                <a:tc>
                  <a:txBody>
                    <a:bodyPr/>
                    <a:lstStyle/>
                    <a:p>
                      <a:pPr algn="just">
                        <a:spcBef>
                          <a:spcPts val="600"/>
                        </a:spcBef>
                        <a:spcAft>
                          <a:spcPts val="600"/>
                        </a:spcAft>
                      </a:pPr>
                      <a:r>
                        <a:rPr lang="en-US" sz="1200" kern="100">
                          <a:effectLst/>
                        </a:rPr>
                        <a:t>capfirst</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200" kern="100">
                          <a:effectLst/>
                        </a:rPr>
                        <a:t>把第一個字母改為大寫</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200" kern="100">
                          <a:effectLst/>
                        </a:rPr>
                        <a:t>{{value | capfirst}}</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282928">
                <a:tc>
                  <a:txBody>
                    <a:bodyPr/>
                    <a:lstStyle/>
                    <a:p>
                      <a:pPr algn="just">
                        <a:spcBef>
                          <a:spcPts val="600"/>
                        </a:spcBef>
                        <a:spcAft>
                          <a:spcPts val="600"/>
                        </a:spcAft>
                      </a:pPr>
                      <a:r>
                        <a:rPr lang="en-US" sz="1200" kern="100">
                          <a:effectLst/>
                        </a:rPr>
                        <a:t>center</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200" kern="100">
                          <a:effectLst/>
                        </a:rPr>
                        <a:t>把字串的內容置中</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200" kern="100">
                          <a:effectLst/>
                        </a:rPr>
                        <a:t>{{value | center:”12”}}</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282928">
                <a:tc>
                  <a:txBody>
                    <a:bodyPr/>
                    <a:lstStyle/>
                    <a:p>
                      <a:pPr algn="just">
                        <a:spcBef>
                          <a:spcPts val="600"/>
                        </a:spcBef>
                        <a:spcAft>
                          <a:spcPts val="600"/>
                        </a:spcAft>
                      </a:pPr>
                      <a:r>
                        <a:rPr lang="en-US" sz="1200" kern="100">
                          <a:effectLst/>
                        </a:rPr>
                        <a:t>cut</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200" kern="100">
                          <a:effectLst/>
                        </a:rPr>
                        <a:t>把字串中指定的字元移除</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200" kern="100">
                          <a:effectLst/>
                        </a:rPr>
                        <a:t>{{value | cut:” “}}</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282928">
                <a:tc>
                  <a:txBody>
                    <a:bodyPr/>
                    <a:lstStyle/>
                    <a:p>
                      <a:pPr algn="just">
                        <a:spcBef>
                          <a:spcPts val="600"/>
                        </a:spcBef>
                        <a:spcAft>
                          <a:spcPts val="600"/>
                        </a:spcAft>
                      </a:pPr>
                      <a:r>
                        <a:rPr lang="en-US" sz="1200" kern="100">
                          <a:effectLst/>
                        </a:rPr>
                        <a:t>date</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200" kern="100">
                          <a:effectLst/>
                        </a:rPr>
                        <a:t>指定日期時間的輸出格式</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200" kern="100" dirty="0">
                          <a:solidFill>
                            <a:srgbClr val="FF0000"/>
                          </a:solidFill>
                          <a:effectLst/>
                        </a:rPr>
                        <a:t>{{value | </a:t>
                      </a:r>
                      <a:r>
                        <a:rPr lang="en-US" sz="1200" kern="100" dirty="0" err="1">
                          <a:solidFill>
                            <a:srgbClr val="FF0000"/>
                          </a:solidFill>
                          <a:effectLst/>
                        </a:rPr>
                        <a:t>date:”d</a:t>
                      </a:r>
                      <a:r>
                        <a:rPr lang="en-US" sz="1200" kern="100" dirty="0">
                          <a:solidFill>
                            <a:srgbClr val="FF0000"/>
                          </a:solidFill>
                          <a:effectLst/>
                        </a:rPr>
                        <a:t> M Y”}}</a:t>
                      </a:r>
                      <a:endParaRPr lang="zh-TW" sz="1200" kern="100" dirty="0">
                        <a:solidFill>
                          <a:srgbClr val="FF0000"/>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565855">
                <a:tc>
                  <a:txBody>
                    <a:bodyPr/>
                    <a:lstStyle/>
                    <a:p>
                      <a:pPr algn="just">
                        <a:spcBef>
                          <a:spcPts val="600"/>
                        </a:spcBef>
                        <a:spcAft>
                          <a:spcPts val="600"/>
                        </a:spcAft>
                      </a:pPr>
                      <a:r>
                        <a:rPr lang="en-US" sz="1200" kern="100">
                          <a:effectLst/>
                        </a:rPr>
                        <a:t>linebreaksbr</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200" kern="100">
                          <a:effectLst/>
                        </a:rPr>
                        <a:t>置換</a:t>
                      </a:r>
                      <a:r>
                        <a:rPr lang="en-US" sz="1200" kern="100">
                          <a:effectLst/>
                        </a:rPr>
                        <a:t>\n</a:t>
                      </a:r>
                      <a:r>
                        <a:rPr lang="zh-TW" sz="1200" kern="100">
                          <a:effectLst/>
                        </a:rPr>
                        <a:t>成為</a:t>
                      </a:r>
                      <a:r>
                        <a:rPr lang="en-US" sz="1200" kern="100">
                          <a:effectLst/>
                        </a:rPr>
                        <a:t>&lt;br /&gt;</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200" kern="100" dirty="0">
                          <a:effectLst/>
                        </a:rPr>
                        <a:t>{{value | </a:t>
                      </a:r>
                      <a:r>
                        <a:rPr lang="en-US" sz="1200" kern="100" dirty="0" err="1">
                          <a:effectLst/>
                        </a:rPr>
                        <a:t>linebreaksbr</a:t>
                      </a:r>
                      <a:r>
                        <a:rPr lang="en-US" sz="1200" kern="100" dirty="0">
                          <a:effectLst/>
                        </a:rPr>
                        <a:t>}}</a:t>
                      </a: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565855">
                <a:tc>
                  <a:txBody>
                    <a:bodyPr/>
                    <a:lstStyle/>
                    <a:p>
                      <a:pPr algn="just">
                        <a:spcBef>
                          <a:spcPts val="600"/>
                        </a:spcBef>
                        <a:spcAft>
                          <a:spcPts val="600"/>
                        </a:spcAft>
                      </a:pPr>
                      <a:r>
                        <a:rPr lang="en-US" sz="1200" kern="100">
                          <a:effectLst/>
                        </a:rPr>
                        <a:t>linenumbers</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200" kern="100" dirty="0">
                          <a:effectLst/>
                        </a:rPr>
                        <a:t>為每一行字串加上行號</a:t>
                      </a: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200" kern="100">
                          <a:effectLst/>
                        </a:rPr>
                        <a:t>{{value | linenumbers}}</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r h="282928">
                <a:tc>
                  <a:txBody>
                    <a:bodyPr/>
                    <a:lstStyle/>
                    <a:p>
                      <a:pPr algn="just">
                        <a:spcBef>
                          <a:spcPts val="600"/>
                        </a:spcBef>
                        <a:spcAft>
                          <a:spcPts val="600"/>
                        </a:spcAft>
                      </a:pPr>
                      <a:r>
                        <a:rPr lang="en-US" sz="1200" kern="100">
                          <a:effectLst/>
                        </a:rPr>
                        <a:t>lower</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200" kern="100">
                          <a:effectLst/>
                        </a:rPr>
                        <a:t>把字串轉換為小寫</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200" kern="100">
                          <a:effectLst/>
                        </a:rPr>
                        <a:t>{{value | lower}}</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7"/>
                  </a:ext>
                </a:extLst>
              </a:tr>
              <a:tr h="565855">
                <a:tc>
                  <a:txBody>
                    <a:bodyPr/>
                    <a:lstStyle/>
                    <a:p>
                      <a:pPr algn="just">
                        <a:spcBef>
                          <a:spcPts val="600"/>
                        </a:spcBef>
                        <a:spcAft>
                          <a:spcPts val="600"/>
                        </a:spcAft>
                      </a:pPr>
                      <a:r>
                        <a:rPr lang="en-US" sz="1200" kern="100">
                          <a:effectLst/>
                        </a:rPr>
                        <a:t>random</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200" kern="100">
                          <a:effectLst/>
                        </a:rPr>
                        <a:t>把前面的串列元素使用隨的方式任選一個輸出</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200" kern="100">
                          <a:effectLst/>
                        </a:rPr>
                        <a:t>{{value | random}}</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8"/>
                  </a:ext>
                </a:extLst>
              </a:tr>
              <a:tr h="282928">
                <a:tc>
                  <a:txBody>
                    <a:bodyPr/>
                    <a:lstStyle/>
                    <a:p>
                      <a:pPr algn="just">
                        <a:spcBef>
                          <a:spcPts val="600"/>
                        </a:spcBef>
                        <a:spcAft>
                          <a:spcPts val="600"/>
                        </a:spcAft>
                      </a:pPr>
                      <a:r>
                        <a:rPr lang="en-US" sz="1200" kern="100">
                          <a:effectLst/>
                        </a:rPr>
                        <a:t>striptags</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200" kern="100">
                          <a:effectLst/>
                        </a:rPr>
                        <a:t>把所有的</a:t>
                      </a:r>
                      <a:r>
                        <a:rPr lang="en-US" sz="1200" kern="100">
                          <a:effectLst/>
                        </a:rPr>
                        <a:t>HTML</a:t>
                      </a:r>
                      <a:r>
                        <a:rPr lang="zh-TW" sz="1200" kern="100">
                          <a:effectLst/>
                        </a:rPr>
                        <a:t>標記全部移除</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200" kern="100">
                          <a:effectLst/>
                        </a:rPr>
                        <a:t>{{value | striptags}}</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9"/>
                  </a:ext>
                </a:extLst>
              </a:tr>
              <a:tr h="565855">
                <a:tc>
                  <a:txBody>
                    <a:bodyPr/>
                    <a:lstStyle/>
                    <a:p>
                      <a:pPr algn="just">
                        <a:spcBef>
                          <a:spcPts val="600"/>
                        </a:spcBef>
                        <a:spcAft>
                          <a:spcPts val="600"/>
                        </a:spcAft>
                      </a:pPr>
                      <a:r>
                        <a:rPr lang="en-US" sz="1200" kern="100" dirty="0" err="1">
                          <a:effectLst/>
                        </a:rPr>
                        <a:t>truncatechars</a:t>
                      </a: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200" kern="100" dirty="0">
                          <a:effectLst/>
                        </a:rPr>
                        <a:t>擷取指定字數的字元</a:t>
                      </a: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200" kern="100" dirty="0">
                          <a:solidFill>
                            <a:srgbClr val="FF0000"/>
                          </a:solidFill>
                          <a:effectLst/>
                        </a:rPr>
                        <a:t>{{value | truncatechars:40}}</a:t>
                      </a:r>
                      <a:endParaRPr lang="zh-TW" sz="1200" kern="100" dirty="0">
                        <a:solidFill>
                          <a:srgbClr val="FF0000"/>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10"/>
                  </a:ext>
                </a:extLst>
              </a:tr>
              <a:tr h="282928">
                <a:tc>
                  <a:txBody>
                    <a:bodyPr/>
                    <a:lstStyle/>
                    <a:p>
                      <a:pPr algn="just">
                        <a:spcBef>
                          <a:spcPts val="600"/>
                        </a:spcBef>
                        <a:spcAft>
                          <a:spcPts val="600"/>
                        </a:spcAft>
                      </a:pPr>
                      <a:r>
                        <a:rPr lang="en-US" sz="1200" kern="100" dirty="0">
                          <a:effectLst/>
                        </a:rPr>
                        <a:t>upper</a:t>
                      </a: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200" kern="100" dirty="0">
                          <a:effectLst/>
                        </a:rPr>
                        <a:t>把字串轉為大寫</a:t>
                      </a: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200" kern="100" dirty="0">
                          <a:effectLst/>
                        </a:rPr>
                        <a:t>{{value | upper}}</a:t>
                      </a: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11"/>
                  </a:ext>
                </a:extLst>
              </a:tr>
              <a:tr h="282928">
                <a:tc>
                  <a:txBody>
                    <a:bodyPr/>
                    <a:lstStyle/>
                    <a:p>
                      <a:pPr algn="just">
                        <a:spcBef>
                          <a:spcPts val="600"/>
                        </a:spcBef>
                        <a:spcAft>
                          <a:spcPts val="600"/>
                        </a:spcAft>
                      </a:pPr>
                      <a:r>
                        <a:rPr lang="en-US" sz="1200" kern="100">
                          <a:effectLst/>
                        </a:rPr>
                        <a:t>wordcount</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200" kern="100">
                          <a:effectLst/>
                        </a:rPr>
                        <a:t>計算字數</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200" kern="100" dirty="0">
                          <a:effectLst/>
                        </a:rPr>
                        <a:t>{{value | </a:t>
                      </a:r>
                      <a:r>
                        <a:rPr lang="en-US" sz="1200" kern="100" dirty="0" err="1">
                          <a:effectLst/>
                        </a:rPr>
                        <a:t>wordcount</a:t>
                      </a:r>
                      <a:r>
                        <a:rPr lang="en-US" sz="1200" kern="100" dirty="0">
                          <a:effectLst/>
                        </a:rPr>
                        <a:t>}}</a:t>
                      </a: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404442149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在主網頁顯示文章摘要</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84</a:t>
            </a:fld>
            <a:endParaRPr lang="zh-TW" altLang="en-US"/>
          </a:p>
        </p:txBody>
      </p:sp>
      <p:sp>
        <p:nvSpPr>
          <p:cNvPr id="4" name="內容版面配置區 3"/>
          <p:cNvSpPr>
            <a:spLocks noGrp="1"/>
          </p:cNvSpPr>
          <p:nvPr>
            <p:ph sz="quarter" idx="1"/>
          </p:nvPr>
        </p:nvSpPr>
        <p:spPr/>
        <p:txBody>
          <a:bodyPr>
            <a:normAutofit/>
          </a:bodyPr>
          <a:lstStyle/>
          <a:p>
            <a:r>
              <a:rPr lang="zh-TW" altLang="zh-TW" dirty="0"/>
              <a:t>使用</a:t>
            </a:r>
            <a:r>
              <a:rPr lang="en-US" altLang="zh-TW" dirty="0" err="1"/>
              <a:t>truncatechars</a:t>
            </a:r>
            <a:r>
              <a:rPr lang="zh-TW" altLang="en-US" dirty="0"/>
              <a:t>、</a:t>
            </a:r>
            <a:r>
              <a:rPr lang="en-US" altLang="zh-TW" dirty="0"/>
              <a:t>date filter</a:t>
            </a:r>
          </a:p>
          <a:p>
            <a:pPr marL="274320" lvl="1" indent="0">
              <a:buNone/>
            </a:pPr>
            <a:r>
              <a:rPr lang="en-US" altLang="zh-TW"/>
              <a:t>&lt;!-- index.html --&gt;</a:t>
            </a:r>
          </a:p>
          <a:p>
            <a:pPr marL="274320" lvl="1" indent="0">
              <a:buNone/>
            </a:pPr>
            <a:r>
              <a:rPr lang="en-US" altLang="zh-TW"/>
              <a:t>{% extends 'base.html' %}</a:t>
            </a:r>
          </a:p>
          <a:p>
            <a:pPr marL="274320" lvl="1" indent="0">
              <a:buNone/>
            </a:pPr>
            <a:r>
              <a:rPr lang="en-US" altLang="zh-TW"/>
              <a:t>{% block title %} </a:t>
            </a:r>
            <a:r>
              <a:rPr lang="zh-TW" altLang="en-US"/>
              <a:t>歡迎光臨我的部落格 </a:t>
            </a:r>
            <a:r>
              <a:rPr lang="en-US" altLang="zh-TW"/>
              <a:t>{% endblock %}</a:t>
            </a:r>
          </a:p>
          <a:p>
            <a:pPr marL="274320" lvl="1" indent="0">
              <a:buNone/>
            </a:pPr>
            <a:r>
              <a:rPr lang="en-US" altLang="zh-TW"/>
              <a:t>{% block headmessage %} </a:t>
            </a:r>
          </a:p>
          <a:p>
            <a:pPr marL="274320" lvl="1" indent="0">
              <a:buNone/>
            </a:pPr>
            <a:r>
              <a:rPr lang="en-US" altLang="zh-TW"/>
              <a:t>    &lt;h3 style='font-family:</a:t>
            </a:r>
            <a:r>
              <a:rPr lang="zh-TW" altLang="en-US"/>
              <a:t>標楷體</a:t>
            </a:r>
            <a:r>
              <a:rPr lang="en-US" altLang="zh-TW"/>
              <a:t>;'&gt;</a:t>
            </a:r>
            <a:r>
              <a:rPr lang="zh-TW" altLang="en-US"/>
              <a:t>本站文章列表</a:t>
            </a:r>
            <a:r>
              <a:rPr lang="en-US" altLang="zh-TW"/>
              <a:t>&lt;/a&gt;</a:t>
            </a:r>
          </a:p>
          <a:p>
            <a:pPr marL="274320" lvl="1" indent="0">
              <a:buNone/>
            </a:pPr>
            <a:r>
              <a:rPr lang="en-US" altLang="zh-TW"/>
              <a:t>{% endblock %}</a:t>
            </a:r>
          </a:p>
          <a:p>
            <a:pPr marL="274320" lvl="1" indent="0">
              <a:buNone/>
            </a:pPr>
            <a:r>
              <a:rPr lang="en-US" altLang="zh-TW"/>
              <a:t>{% block content %} </a:t>
            </a:r>
          </a:p>
          <a:p>
            <a:pPr lvl="1"/>
            <a:endParaRPr lang="zh-TW" altLang="en-US" dirty="0"/>
          </a:p>
        </p:txBody>
      </p:sp>
    </p:spTree>
    <p:extLst>
      <p:ext uri="{BB962C8B-B14F-4D97-AF65-F5344CB8AC3E}">
        <p14:creationId xmlns:p14="http://schemas.microsoft.com/office/powerpoint/2010/main" val="205249547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在主網頁顯示文章摘要</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85</a:t>
            </a:fld>
            <a:endParaRPr lang="zh-TW" altLang="en-US"/>
          </a:p>
        </p:txBody>
      </p:sp>
      <p:sp>
        <p:nvSpPr>
          <p:cNvPr id="4" name="內容版面配置區 3"/>
          <p:cNvSpPr>
            <a:spLocks noGrp="1"/>
          </p:cNvSpPr>
          <p:nvPr>
            <p:ph sz="quarter" idx="1"/>
          </p:nvPr>
        </p:nvSpPr>
        <p:spPr/>
        <p:txBody>
          <a:bodyPr>
            <a:normAutofit fontScale="62500" lnSpcReduction="20000"/>
          </a:bodyPr>
          <a:lstStyle/>
          <a:p>
            <a:pPr marL="274320" lvl="1" indent="0">
              <a:buNone/>
            </a:pPr>
            <a:r>
              <a:rPr lang="en-US" altLang="zh-TW" dirty="0"/>
              <a:t> {% for post in posts %}</a:t>
            </a:r>
          </a:p>
          <a:p>
            <a:pPr marL="274320" lvl="1" indent="0">
              <a:buNone/>
            </a:pPr>
            <a:r>
              <a:rPr lang="en-US" altLang="zh-TW" dirty="0"/>
              <a:t>    &lt;div class='card'&gt;</a:t>
            </a:r>
          </a:p>
          <a:p>
            <a:pPr marL="274320" lvl="1" indent="0">
              <a:buNone/>
            </a:pPr>
            <a:r>
              <a:rPr lang="en-US" altLang="zh-TW" dirty="0"/>
              <a:t>        &lt;div class='card-header'&gt;</a:t>
            </a:r>
          </a:p>
          <a:p>
            <a:pPr marL="274320" lvl="1" indent="0">
              <a:buNone/>
            </a:pPr>
            <a:r>
              <a:rPr lang="en-US" altLang="zh-TW" dirty="0"/>
              <a:t>            &lt;p style='font-family:</a:t>
            </a:r>
            <a:r>
              <a:rPr lang="zh-TW" altLang="en-US" dirty="0"/>
              <a:t>微軟正黑體</a:t>
            </a:r>
            <a:r>
              <a:rPr lang="en-US" altLang="zh-TW" dirty="0"/>
              <a:t>;font-size:14pt;font-weight:bold;'&gt;</a:t>
            </a:r>
          </a:p>
          <a:p>
            <a:pPr marL="274320" lvl="1" indent="0">
              <a:buNone/>
            </a:pPr>
            <a:r>
              <a:rPr lang="en-US" altLang="zh-TW" dirty="0"/>
              <a:t>                &lt;a </a:t>
            </a:r>
            <a:r>
              <a:rPr lang="en-US" altLang="zh-TW" dirty="0" err="1"/>
              <a:t>href</a:t>
            </a:r>
            <a:r>
              <a:rPr lang="en-US" altLang="zh-TW" dirty="0"/>
              <a:t>='/post/{{</a:t>
            </a:r>
            <a:r>
              <a:rPr lang="en-US" altLang="zh-TW" dirty="0" err="1"/>
              <a:t>post.slug</a:t>
            </a:r>
            <a:r>
              <a:rPr lang="en-US" altLang="zh-TW" dirty="0"/>
              <a:t>}}'&gt;{{ </a:t>
            </a:r>
            <a:r>
              <a:rPr lang="en-US" altLang="zh-TW" dirty="0" err="1"/>
              <a:t>post.title</a:t>
            </a:r>
            <a:r>
              <a:rPr lang="en-US" altLang="zh-TW" dirty="0"/>
              <a:t> }}&lt;/a&gt;</a:t>
            </a:r>
          </a:p>
          <a:p>
            <a:pPr marL="274320" lvl="1" indent="0">
              <a:buNone/>
            </a:pPr>
            <a:r>
              <a:rPr lang="en-US" altLang="zh-TW" dirty="0"/>
              <a:t>            &lt;/p&gt;</a:t>
            </a:r>
          </a:p>
          <a:p>
            <a:pPr marL="274320" lvl="1" indent="0">
              <a:buNone/>
            </a:pPr>
            <a:r>
              <a:rPr lang="en-US" altLang="zh-TW" dirty="0"/>
              <a:t>        &lt;/div&gt;</a:t>
            </a:r>
          </a:p>
          <a:p>
            <a:pPr marL="274320" lvl="1" indent="0">
              <a:buNone/>
            </a:pPr>
            <a:r>
              <a:rPr lang="en-US" altLang="zh-TW" dirty="0"/>
              <a:t>        &lt;div class='card-body' style='background-color:#</a:t>
            </a:r>
            <a:r>
              <a:rPr lang="en-US" altLang="zh-TW" dirty="0" err="1"/>
              <a:t>ffffdd</a:t>
            </a:r>
            <a:r>
              <a:rPr lang="en-US" altLang="zh-TW" dirty="0"/>
              <a:t>'&gt;</a:t>
            </a:r>
          </a:p>
          <a:p>
            <a:pPr marL="274320" lvl="1" indent="0">
              <a:buNone/>
            </a:pPr>
            <a:r>
              <a:rPr lang="en-US" altLang="zh-TW" dirty="0"/>
              <a:t>            &lt;p&gt;</a:t>
            </a:r>
          </a:p>
          <a:p>
            <a:pPr marL="274320" lvl="1" indent="0">
              <a:buNone/>
            </a:pPr>
            <a:r>
              <a:rPr lang="en-US" altLang="zh-TW" dirty="0"/>
              <a:t>               </a:t>
            </a:r>
            <a:r>
              <a:rPr lang="en-US" altLang="zh-TW" dirty="0">
                <a:solidFill>
                  <a:srgbClr val="FF0000"/>
                </a:solidFill>
              </a:rPr>
              <a:t>{{ </a:t>
            </a:r>
            <a:r>
              <a:rPr lang="en-US" altLang="zh-TW" dirty="0" err="1">
                <a:solidFill>
                  <a:srgbClr val="FF0000"/>
                </a:solidFill>
              </a:rPr>
              <a:t>post.body</a:t>
            </a:r>
            <a:r>
              <a:rPr lang="en-US" altLang="zh-TW" dirty="0">
                <a:solidFill>
                  <a:srgbClr val="FF0000"/>
                </a:solidFill>
              </a:rPr>
              <a:t> | truncatechars:40 }}</a:t>
            </a:r>
          </a:p>
          <a:p>
            <a:pPr marL="274320" lvl="1" indent="0">
              <a:buNone/>
            </a:pPr>
            <a:r>
              <a:rPr lang="en-US" altLang="zh-TW" dirty="0"/>
              <a:t>            &lt;/p&gt;</a:t>
            </a:r>
          </a:p>
          <a:p>
            <a:pPr marL="274320" lvl="1" indent="0">
              <a:buNone/>
            </a:pPr>
            <a:r>
              <a:rPr lang="en-US" altLang="zh-TW" dirty="0"/>
              <a:t>        &lt;/div&gt;</a:t>
            </a:r>
          </a:p>
          <a:p>
            <a:pPr marL="274320" lvl="1" indent="0">
              <a:buNone/>
            </a:pPr>
            <a:r>
              <a:rPr lang="en-US" altLang="zh-TW" dirty="0"/>
              <a:t>        &lt;div class='card-footer'  style='background-color:#</a:t>
            </a:r>
            <a:r>
              <a:rPr lang="en-US" altLang="zh-TW" dirty="0" err="1"/>
              <a:t>efefef</a:t>
            </a:r>
            <a:r>
              <a:rPr lang="en-US" altLang="zh-TW" dirty="0"/>
              <a:t>'&gt;</a:t>
            </a:r>
          </a:p>
          <a:p>
            <a:pPr marL="274320" lvl="1" indent="0">
              <a:buNone/>
            </a:pPr>
            <a:r>
              <a:rPr lang="en-US" altLang="zh-TW" dirty="0"/>
              <a:t>            &lt;p&gt;</a:t>
            </a:r>
          </a:p>
          <a:p>
            <a:pPr marL="274320" lvl="1" indent="0">
              <a:buNone/>
            </a:pPr>
            <a:r>
              <a:rPr lang="en-US" altLang="zh-TW" dirty="0"/>
              <a:t>                </a:t>
            </a:r>
            <a:r>
              <a:rPr lang="zh-TW" altLang="en-US" dirty="0"/>
              <a:t>發佈時間：</a:t>
            </a:r>
            <a:r>
              <a:rPr lang="en-US" altLang="zh-TW" dirty="0">
                <a:solidFill>
                  <a:srgbClr val="FF0000"/>
                </a:solidFill>
              </a:rPr>
              <a:t>{{ </a:t>
            </a:r>
            <a:r>
              <a:rPr lang="en-US" altLang="zh-TW" dirty="0" err="1">
                <a:solidFill>
                  <a:srgbClr val="FF0000"/>
                </a:solidFill>
              </a:rPr>
              <a:t>post.pub_date</a:t>
            </a:r>
            <a:r>
              <a:rPr lang="en-US" altLang="zh-TW" dirty="0">
                <a:solidFill>
                  <a:srgbClr val="FF0000"/>
                </a:solidFill>
              </a:rPr>
              <a:t> | </a:t>
            </a:r>
            <a:r>
              <a:rPr lang="en-US" altLang="zh-TW" dirty="0" err="1">
                <a:solidFill>
                  <a:srgbClr val="FF0000"/>
                </a:solidFill>
              </a:rPr>
              <a:t>date:"Y</a:t>
            </a:r>
            <a:r>
              <a:rPr lang="en-US" altLang="zh-TW" dirty="0">
                <a:solidFill>
                  <a:srgbClr val="FF0000"/>
                </a:solidFill>
              </a:rPr>
              <a:t> M d, h:m:s"}}</a:t>
            </a:r>
          </a:p>
          <a:p>
            <a:pPr marL="274320" lvl="1" indent="0">
              <a:buNone/>
            </a:pPr>
            <a:r>
              <a:rPr lang="en-US" altLang="zh-TW" dirty="0"/>
              <a:t>            &lt;/p&gt;</a:t>
            </a:r>
          </a:p>
          <a:p>
            <a:pPr marL="274320" lvl="1" indent="0">
              <a:buNone/>
            </a:pPr>
            <a:r>
              <a:rPr lang="en-US" altLang="zh-TW" dirty="0"/>
              <a:t>        &lt;/div&gt;</a:t>
            </a:r>
          </a:p>
          <a:p>
            <a:pPr marL="274320" lvl="1" indent="0">
              <a:buNone/>
            </a:pPr>
            <a:r>
              <a:rPr lang="en-US" altLang="zh-TW" dirty="0"/>
              <a:t>    &lt;/div&gt;</a:t>
            </a:r>
          </a:p>
          <a:p>
            <a:pPr marL="274320" lvl="1" indent="0">
              <a:buNone/>
            </a:pPr>
            <a:r>
              <a:rPr lang="en-US" altLang="zh-TW" dirty="0"/>
              <a:t>    &lt;</a:t>
            </a:r>
            <a:r>
              <a:rPr lang="en-US" altLang="zh-TW" dirty="0" err="1"/>
              <a:t>br</a:t>
            </a:r>
            <a:r>
              <a:rPr lang="en-US" altLang="zh-TW" dirty="0"/>
              <a:t>&gt;</a:t>
            </a:r>
          </a:p>
          <a:p>
            <a:pPr marL="274320" lvl="1" indent="0">
              <a:buNone/>
            </a:pPr>
            <a:r>
              <a:rPr lang="en-US" altLang="zh-TW" dirty="0"/>
              <a:t>    {% </a:t>
            </a:r>
            <a:r>
              <a:rPr lang="en-US" altLang="zh-TW" dirty="0" err="1"/>
              <a:t>endfor</a:t>
            </a:r>
            <a:r>
              <a:rPr lang="en-US" altLang="zh-TW" dirty="0"/>
              <a:t> %}</a:t>
            </a:r>
          </a:p>
          <a:p>
            <a:pPr marL="274320" lvl="1" indent="0">
              <a:buNone/>
            </a:pPr>
            <a:r>
              <a:rPr lang="en-US" altLang="zh-TW" dirty="0"/>
              <a:t>{% </a:t>
            </a:r>
            <a:r>
              <a:rPr lang="en-US" altLang="zh-TW" dirty="0" err="1"/>
              <a:t>endblock</a:t>
            </a:r>
            <a:r>
              <a:rPr lang="en-US" altLang="zh-TW" dirty="0"/>
              <a:t> %}</a:t>
            </a:r>
            <a:endParaRPr lang="zh-TW" altLang="en-US" dirty="0"/>
          </a:p>
        </p:txBody>
      </p:sp>
    </p:spTree>
    <p:extLst>
      <p:ext uri="{BB962C8B-B14F-4D97-AF65-F5344CB8AC3E}">
        <p14:creationId xmlns:p14="http://schemas.microsoft.com/office/powerpoint/2010/main" val="425918424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86</a:t>
            </a:fld>
            <a:endParaRPr lang="zh-TW" altLang="en-US"/>
          </a:p>
        </p:txBody>
      </p:sp>
      <p:sp>
        <p:nvSpPr>
          <p:cNvPr id="4" name="內容版面配置區 3"/>
          <p:cNvSpPr>
            <a:spLocks noGrp="1"/>
          </p:cNvSpPr>
          <p:nvPr>
            <p:ph sz="quarter" idx="1"/>
          </p:nvPr>
        </p:nvSpPr>
        <p:spPr/>
        <p:txBody>
          <a:bodyPr/>
          <a:lstStyle/>
          <a:p>
            <a:r>
              <a:rPr lang="zh-TW" altLang="zh-TW" dirty="0"/>
              <a:t>執行結果</a:t>
            </a:r>
            <a:endParaRPr lang="zh-TW" altLang="en-US" dirty="0"/>
          </a:p>
        </p:txBody>
      </p:sp>
      <p:pic>
        <p:nvPicPr>
          <p:cNvPr id="6" name="圖片 5" descr="一張含有 文字 的圖片&#10;&#10;自動產生的描述">
            <a:extLst>
              <a:ext uri="{FF2B5EF4-FFF2-40B4-BE49-F238E27FC236}">
                <a16:creationId xmlns:a16="http://schemas.microsoft.com/office/drawing/2014/main" id="{E1F3B814-6602-B6D6-C28D-C64D084ED4FE}"/>
              </a:ext>
            </a:extLst>
          </p:cNvPr>
          <p:cNvPicPr>
            <a:picLocks noChangeAspect="1"/>
          </p:cNvPicPr>
          <p:nvPr/>
        </p:nvPicPr>
        <p:blipFill>
          <a:blip r:embed="rId3"/>
          <a:stretch>
            <a:fillRect/>
          </a:stretch>
        </p:blipFill>
        <p:spPr>
          <a:xfrm>
            <a:off x="1403648" y="2026859"/>
            <a:ext cx="6120680" cy="4490192"/>
          </a:xfrm>
          <a:prstGeom prst="rect">
            <a:avLst/>
          </a:prstGeom>
        </p:spPr>
      </p:pic>
      <p:sp>
        <p:nvSpPr>
          <p:cNvPr id="5" name="矩形 4">
            <a:extLst>
              <a:ext uri="{FF2B5EF4-FFF2-40B4-BE49-F238E27FC236}">
                <a16:creationId xmlns:a16="http://schemas.microsoft.com/office/drawing/2014/main" id="{E523F5C7-B5C9-5C2A-4C9B-1615EBEEC91D}"/>
              </a:ext>
            </a:extLst>
          </p:cNvPr>
          <p:cNvSpPr/>
          <p:nvPr/>
        </p:nvSpPr>
        <p:spPr>
          <a:xfrm>
            <a:off x="3052552" y="3945955"/>
            <a:ext cx="1087400" cy="326000"/>
          </a:xfrm>
          <a:prstGeom prst="rect">
            <a:avLst/>
          </a:prstGeom>
          <a:noFill/>
          <a:ln w="12700"/>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4CAD0A8D-DC7A-90D7-1E18-426E7E8189A4}"/>
              </a:ext>
            </a:extLst>
          </p:cNvPr>
          <p:cNvSpPr txBox="1"/>
          <p:nvPr/>
        </p:nvSpPr>
        <p:spPr>
          <a:xfrm>
            <a:off x="6339836" y="6488668"/>
            <a:ext cx="2801032" cy="369332"/>
          </a:xfrm>
          <a:prstGeom prst="rect">
            <a:avLst/>
          </a:prstGeom>
          <a:noFill/>
        </p:spPr>
        <p:txBody>
          <a:bodyPr wrap="square" rtlCol="0">
            <a:spAutoFit/>
          </a:bodyPr>
          <a:lstStyle/>
          <a:p>
            <a:r>
              <a:rPr lang="en-US" altLang="zh-TW" dirty="0"/>
              <a:t>index.html card head</a:t>
            </a:r>
            <a:endParaRPr lang="zh-TW" altLang="en-US" dirty="0"/>
          </a:p>
        </p:txBody>
      </p:sp>
    </p:spTree>
    <p:extLst>
      <p:ext uri="{BB962C8B-B14F-4D97-AF65-F5344CB8AC3E}">
        <p14:creationId xmlns:p14="http://schemas.microsoft.com/office/powerpoint/2010/main" val="182004960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部落格文章的</a:t>
            </a:r>
            <a:r>
              <a:rPr lang="en-US" altLang="zh-TW" dirty="0"/>
              <a:t>HTML</a:t>
            </a:r>
            <a:r>
              <a:rPr lang="zh-TW" altLang="zh-TW" dirty="0"/>
              <a:t>內容處理</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87</a:t>
            </a:fld>
            <a:endParaRPr lang="zh-TW" altLang="en-US"/>
          </a:p>
        </p:txBody>
      </p:sp>
      <p:sp>
        <p:nvSpPr>
          <p:cNvPr id="4" name="內容版面配置區 3"/>
          <p:cNvSpPr>
            <a:spLocks noGrp="1"/>
          </p:cNvSpPr>
          <p:nvPr>
            <p:ph sz="quarter" idx="1"/>
          </p:nvPr>
        </p:nvSpPr>
        <p:spPr/>
        <p:txBody>
          <a:bodyPr/>
          <a:lstStyle/>
          <a:p>
            <a:r>
              <a:rPr lang="zh-TW" altLang="zh-TW" dirty="0"/>
              <a:t>為了讓此網站單純一些，對於文章中所使用到的圖形檔，是以使用第三方圖形檔案服務網站（例如</a:t>
            </a:r>
            <a:r>
              <a:rPr lang="en-US" altLang="zh-TW" dirty="0"/>
              <a:t>imgur.com</a:t>
            </a:r>
            <a:r>
              <a:rPr lang="zh-TW" altLang="zh-TW" dirty="0"/>
              <a:t>）為主</a:t>
            </a:r>
            <a:endParaRPr lang="en-US" altLang="zh-TW" dirty="0"/>
          </a:p>
          <a:p>
            <a:r>
              <a:rPr lang="zh-TW" altLang="zh-TW" dirty="0"/>
              <a:t>在</a:t>
            </a:r>
            <a:r>
              <a:rPr lang="en-US" altLang="zh-TW" dirty="0"/>
              <a:t>imgur.com</a:t>
            </a:r>
            <a:r>
              <a:rPr lang="zh-TW" altLang="zh-TW" dirty="0"/>
              <a:t>上傳了一個圖形檔案，在開啟該圖形之後，可以看到如</a:t>
            </a:r>
            <a:r>
              <a:rPr lang="zh-TW" altLang="en-US" dirty="0"/>
              <a:t>下</a:t>
            </a:r>
            <a:r>
              <a:rPr lang="zh-TW" altLang="zh-TW" dirty="0"/>
              <a:t>圖中箭頭所指的地方，許多不同系統可以使用的連結或是</a:t>
            </a:r>
            <a:r>
              <a:rPr lang="en-US" altLang="zh-TW" dirty="0"/>
              <a:t>HTML</a:t>
            </a:r>
            <a:r>
              <a:rPr lang="zh-TW" altLang="zh-TW" dirty="0"/>
              <a:t>碼。</a:t>
            </a:r>
          </a:p>
          <a:p>
            <a:endParaRPr lang="zh-TW" altLang="en-US" dirty="0"/>
          </a:p>
        </p:txBody>
      </p:sp>
    </p:spTree>
    <p:extLst>
      <p:ext uri="{BB962C8B-B14F-4D97-AF65-F5344CB8AC3E}">
        <p14:creationId xmlns:p14="http://schemas.microsoft.com/office/powerpoint/2010/main" val="203626094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部落格文章的</a:t>
            </a:r>
            <a:r>
              <a:rPr lang="en-US" altLang="zh-TW" dirty="0"/>
              <a:t>HTML</a:t>
            </a:r>
            <a:r>
              <a:rPr lang="zh-TW" altLang="zh-TW" dirty="0"/>
              <a:t>內容處理</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88</a:t>
            </a:fld>
            <a:endParaRPr lang="zh-TW" altLang="en-US"/>
          </a:p>
        </p:txBody>
      </p:sp>
      <p:sp>
        <p:nvSpPr>
          <p:cNvPr id="4" name="內容版面配置區 3"/>
          <p:cNvSpPr>
            <a:spLocks noGrp="1"/>
          </p:cNvSpPr>
          <p:nvPr>
            <p:ph sz="quarter" idx="1"/>
          </p:nvPr>
        </p:nvSpPr>
        <p:spPr/>
        <p:txBody>
          <a:bodyPr/>
          <a:lstStyle/>
          <a:p>
            <a:r>
              <a:rPr lang="en-US" altLang="zh-TW"/>
              <a:t>pasteboard.com</a:t>
            </a:r>
            <a:r>
              <a:rPr lang="zh-TW" altLang="en-US"/>
              <a:t>的圖形來源連結資訊</a:t>
            </a:r>
          </a:p>
        </p:txBody>
      </p:sp>
      <p:pic>
        <p:nvPicPr>
          <p:cNvPr id="6" name="圖片 5">
            <a:extLst>
              <a:ext uri="{FF2B5EF4-FFF2-40B4-BE49-F238E27FC236}">
                <a16:creationId xmlns:a16="http://schemas.microsoft.com/office/drawing/2014/main" id="{1AC8027B-BE8D-2F67-929C-B7172062DF19}"/>
              </a:ext>
            </a:extLst>
          </p:cNvPr>
          <p:cNvPicPr>
            <a:picLocks noChangeAspect="1"/>
          </p:cNvPicPr>
          <p:nvPr/>
        </p:nvPicPr>
        <p:blipFill>
          <a:blip r:embed="rId3"/>
          <a:stretch>
            <a:fillRect/>
          </a:stretch>
        </p:blipFill>
        <p:spPr>
          <a:xfrm>
            <a:off x="1096602" y="2007193"/>
            <a:ext cx="6950796" cy="4478147"/>
          </a:xfrm>
          <a:prstGeom prst="rect">
            <a:avLst/>
          </a:prstGeom>
        </p:spPr>
      </p:pic>
    </p:spTree>
    <p:extLst>
      <p:ext uri="{BB962C8B-B14F-4D97-AF65-F5344CB8AC3E}">
        <p14:creationId xmlns:p14="http://schemas.microsoft.com/office/powerpoint/2010/main" val="189009909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部落格文章的</a:t>
            </a:r>
            <a:r>
              <a:rPr lang="en-US" altLang="zh-TW" dirty="0"/>
              <a:t>HTML</a:t>
            </a:r>
            <a:r>
              <a:rPr lang="zh-TW" altLang="zh-TW" dirty="0"/>
              <a:t>內容處理</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89</a:t>
            </a:fld>
            <a:endParaRPr lang="zh-TW" altLang="en-US"/>
          </a:p>
        </p:txBody>
      </p:sp>
      <p:pic>
        <p:nvPicPr>
          <p:cNvPr id="6" name="內容版面配置區 5" descr="一張含有 文字 的圖片&#10;&#10;自動產生的描述">
            <a:extLst>
              <a:ext uri="{FF2B5EF4-FFF2-40B4-BE49-F238E27FC236}">
                <a16:creationId xmlns:a16="http://schemas.microsoft.com/office/drawing/2014/main" id="{2B11BD6B-902C-539F-3929-D66A6E233E09}"/>
              </a:ext>
            </a:extLst>
          </p:cNvPr>
          <p:cNvPicPr>
            <a:picLocks noGrp="1" noChangeAspect="1"/>
          </p:cNvPicPr>
          <p:nvPr>
            <p:ph sz="quarter" idx="1"/>
          </p:nvPr>
        </p:nvPicPr>
        <p:blipFill>
          <a:blip r:embed="rId3"/>
          <a:stretch>
            <a:fillRect/>
          </a:stretch>
        </p:blipFill>
        <p:spPr>
          <a:xfrm>
            <a:off x="1326056" y="1247034"/>
            <a:ext cx="6528463" cy="4572000"/>
          </a:xfrm>
          <a:prstGeom prst="rect">
            <a:avLst/>
          </a:prstGeom>
        </p:spPr>
      </p:pic>
      <p:sp>
        <p:nvSpPr>
          <p:cNvPr id="5" name="文字方塊 4">
            <a:extLst>
              <a:ext uri="{FF2B5EF4-FFF2-40B4-BE49-F238E27FC236}">
                <a16:creationId xmlns:a16="http://schemas.microsoft.com/office/drawing/2014/main" id="{25921BF6-6B24-E4CA-BFC8-2F8E23CDC32C}"/>
              </a:ext>
            </a:extLst>
          </p:cNvPr>
          <p:cNvSpPr txBox="1"/>
          <p:nvPr/>
        </p:nvSpPr>
        <p:spPr>
          <a:xfrm>
            <a:off x="179512" y="5858688"/>
            <a:ext cx="8964488" cy="738664"/>
          </a:xfrm>
          <a:prstGeom prst="rect">
            <a:avLst/>
          </a:prstGeom>
          <a:noFill/>
        </p:spPr>
        <p:txBody>
          <a:bodyPr wrap="square">
            <a:spAutoFit/>
          </a:bodyPr>
          <a:lstStyle/>
          <a:p>
            <a:r>
              <a:rPr lang="en-US" altLang="zh-TW" sz="2400" dirty="0">
                <a:solidFill>
                  <a:srgbClr val="FF0000"/>
                </a:solidFill>
              </a:rPr>
              <a:t>&lt;</a:t>
            </a:r>
            <a:r>
              <a:rPr lang="en-US" altLang="zh-TW" sz="2400" dirty="0" err="1">
                <a:solidFill>
                  <a:srgbClr val="FF0000"/>
                </a:solidFill>
              </a:rPr>
              <a:t>img</a:t>
            </a:r>
            <a:r>
              <a:rPr lang="en-US" altLang="zh-TW" sz="2400" dirty="0">
                <a:solidFill>
                  <a:srgbClr val="FF0000"/>
                </a:solidFill>
              </a:rPr>
              <a:t> </a:t>
            </a:r>
            <a:r>
              <a:rPr lang="en-US" altLang="zh-TW" sz="2400" dirty="0" err="1">
                <a:solidFill>
                  <a:srgbClr val="FF0000"/>
                </a:solidFill>
              </a:rPr>
              <a:t>src</a:t>
            </a:r>
            <a:r>
              <a:rPr lang="en-US" altLang="zh-TW" sz="2400" dirty="0">
                <a:solidFill>
                  <a:srgbClr val="FF0000"/>
                </a:solidFill>
              </a:rPr>
              <a:t>="</a:t>
            </a:r>
            <a:r>
              <a:rPr lang="en-US" altLang="zh-TW" dirty="0"/>
              <a:t>https://www.rthk.hk/chiculture/chipoem/images/draw2.png" alt="</a:t>
            </a:r>
            <a:r>
              <a:rPr lang="zh-TW" altLang="en-US" dirty="0"/>
              <a:t>無法</a:t>
            </a:r>
            <a:r>
              <a:rPr lang="en-US" altLang="zh-TW" dirty="0"/>
              <a:t>show"&gt;</a:t>
            </a:r>
          </a:p>
        </p:txBody>
      </p:sp>
    </p:spTree>
    <p:extLst>
      <p:ext uri="{BB962C8B-B14F-4D97-AF65-F5344CB8AC3E}">
        <p14:creationId xmlns:p14="http://schemas.microsoft.com/office/powerpoint/2010/main" val="64726212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zh-TW" dirty="0"/>
              <a:t>部落格文章的</a:t>
            </a:r>
            <a:r>
              <a:rPr lang="en-US" altLang="zh-TW" dirty="0"/>
              <a:t>HTML</a:t>
            </a:r>
            <a:r>
              <a:rPr lang="zh-TW" altLang="zh-TW" dirty="0"/>
              <a:t>內容處理</a:t>
            </a:r>
            <a:br>
              <a:rPr lang="en-US" altLang="zh-TW" dirty="0"/>
            </a:br>
            <a:r>
              <a:rPr lang="en-US" altLang="zh-TW" dirty="0">
                <a:solidFill>
                  <a:srgbClr val="FF0000"/>
                </a:solidFill>
              </a:rPr>
              <a:t>(</a:t>
            </a:r>
            <a:r>
              <a:rPr lang="zh-TW" altLang="en-US" dirty="0">
                <a:solidFill>
                  <a:srgbClr val="FF0000"/>
                </a:solidFill>
              </a:rPr>
              <a:t>記得加</a:t>
            </a:r>
            <a:r>
              <a:rPr lang="en-US" altLang="zh-TW" dirty="0">
                <a:solidFill>
                  <a:srgbClr val="FF0000"/>
                </a:solidFill>
              </a:rPr>
              <a:t>&lt;</a:t>
            </a:r>
            <a:r>
              <a:rPr lang="en-US" altLang="zh-TW" dirty="0" err="1">
                <a:solidFill>
                  <a:srgbClr val="FF0000"/>
                </a:solidFill>
              </a:rPr>
              <a:t>img</a:t>
            </a:r>
            <a:r>
              <a:rPr lang="en-US" altLang="zh-TW" dirty="0">
                <a:solidFill>
                  <a:srgbClr val="FF0000"/>
                </a:solidFill>
              </a:rPr>
              <a:t> </a:t>
            </a:r>
            <a:r>
              <a:rPr lang="en-US" altLang="zh-TW" dirty="0" err="1">
                <a:solidFill>
                  <a:srgbClr val="FF0000"/>
                </a:solidFill>
              </a:rPr>
              <a:t>src</a:t>
            </a:r>
            <a:r>
              <a:rPr lang="en-US" altLang="zh-TW" dirty="0">
                <a:solidFill>
                  <a:srgbClr val="FF0000"/>
                </a:solidFill>
              </a:rPr>
              <a:t>=“”)</a:t>
            </a:r>
            <a:r>
              <a:rPr lang="zh-TW" altLang="en-US" dirty="0">
                <a:solidFill>
                  <a:srgbClr val="FF0000"/>
                </a:solidFill>
              </a:rPr>
              <a:t>不能只加圖片網址</a:t>
            </a:r>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90</a:t>
            </a:fld>
            <a:endParaRPr lang="zh-TW" altLang="en-US"/>
          </a:p>
        </p:txBody>
      </p:sp>
      <p:pic>
        <p:nvPicPr>
          <p:cNvPr id="7" name="內容版面配置區 6" descr="一張含有 文字 的圖片&#10;&#10;自動產生的描述">
            <a:extLst>
              <a:ext uri="{FF2B5EF4-FFF2-40B4-BE49-F238E27FC236}">
                <a16:creationId xmlns:a16="http://schemas.microsoft.com/office/drawing/2014/main" id="{2E0AF759-6F48-E22A-FDE6-0EF6151A9187}"/>
              </a:ext>
            </a:extLst>
          </p:cNvPr>
          <p:cNvPicPr>
            <a:picLocks noGrp="1" noChangeAspect="1"/>
          </p:cNvPicPr>
          <p:nvPr>
            <p:ph sz="quarter" idx="1"/>
          </p:nvPr>
        </p:nvPicPr>
        <p:blipFill>
          <a:blip r:embed="rId3"/>
          <a:stretch>
            <a:fillRect/>
          </a:stretch>
        </p:blipFill>
        <p:spPr>
          <a:xfrm>
            <a:off x="301625" y="1660075"/>
            <a:ext cx="8504238" cy="4306200"/>
          </a:xfrm>
          <a:prstGeom prst="rect">
            <a:avLst/>
          </a:prstGeom>
        </p:spPr>
      </p:pic>
      <p:sp>
        <p:nvSpPr>
          <p:cNvPr id="6" name="文字方塊 5">
            <a:extLst>
              <a:ext uri="{FF2B5EF4-FFF2-40B4-BE49-F238E27FC236}">
                <a16:creationId xmlns:a16="http://schemas.microsoft.com/office/drawing/2014/main" id="{FBA25C42-BD6C-B5C9-FF5A-93B04B1DCE09}"/>
              </a:ext>
            </a:extLst>
          </p:cNvPr>
          <p:cNvSpPr txBox="1"/>
          <p:nvPr/>
        </p:nvSpPr>
        <p:spPr>
          <a:xfrm>
            <a:off x="301752" y="5907637"/>
            <a:ext cx="8534400" cy="646331"/>
          </a:xfrm>
          <a:prstGeom prst="rect">
            <a:avLst/>
          </a:prstGeom>
          <a:noFill/>
        </p:spPr>
        <p:txBody>
          <a:bodyPr wrap="square">
            <a:spAutoFit/>
          </a:bodyPr>
          <a:lstStyle/>
          <a:p>
            <a:r>
              <a:rPr lang="en-US" altLang="zh-TW" dirty="0">
                <a:solidFill>
                  <a:srgbClr val="FF0000"/>
                </a:solidFill>
              </a:rPr>
              <a:t>&lt;</a:t>
            </a:r>
            <a:r>
              <a:rPr lang="en-US" altLang="zh-TW" dirty="0" err="1">
                <a:solidFill>
                  <a:srgbClr val="FF0000"/>
                </a:solidFill>
              </a:rPr>
              <a:t>img</a:t>
            </a:r>
            <a:r>
              <a:rPr lang="en-US" altLang="zh-TW" dirty="0">
                <a:solidFill>
                  <a:srgbClr val="FF0000"/>
                </a:solidFill>
              </a:rPr>
              <a:t> </a:t>
            </a:r>
            <a:r>
              <a:rPr lang="en-US" altLang="zh-TW" dirty="0" err="1">
                <a:solidFill>
                  <a:srgbClr val="FF0000"/>
                </a:solidFill>
              </a:rPr>
              <a:t>src</a:t>
            </a:r>
            <a:r>
              <a:rPr lang="en-US" altLang="zh-TW" dirty="0">
                <a:solidFill>
                  <a:srgbClr val="FF0000"/>
                </a:solidFill>
              </a:rPr>
              <a:t>="</a:t>
            </a:r>
            <a:r>
              <a:rPr lang="en-US" altLang="zh-TW" dirty="0"/>
              <a:t>https://www.rthk.hk/chiculture/chipoem/images/draw2.png" </a:t>
            </a:r>
            <a:r>
              <a:rPr lang="en-US" altLang="zh-TW" dirty="0">
                <a:solidFill>
                  <a:srgbClr val="FF0000"/>
                </a:solidFill>
              </a:rPr>
              <a:t>alt="</a:t>
            </a:r>
            <a:r>
              <a:rPr lang="zh-TW" altLang="en-US" dirty="0">
                <a:solidFill>
                  <a:srgbClr val="FF0000"/>
                </a:solidFill>
              </a:rPr>
              <a:t>無法</a:t>
            </a:r>
            <a:r>
              <a:rPr lang="en-US" altLang="zh-TW" dirty="0">
                <a:solidFill>
                  <a:srgbClr val="FF0000"/>
                </a:solidFill>
              </a:rPr>
              <a:t>show"&gt;</a:t>
            </a:r>
          </a:p>
        </p:txBody>
      </p:sp>
    </p:spTree>
    <p:extLst>
      <p:ext uri="{BB962C8B-B14F-4D97-AF65-F5344CB8AC3E}">
        <p14:creationId xmlns:p14="http://schemas.microsoft.com/office/powerpoint/2010/main" val="398864099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部落格文章的</a:t>
            </a:r>
            <a:r>
              <a:rPr lang="en-US" altLang="zh-TW" dirty="0"/>
              <a:t>HTML</a:t>
            </a:r>
            <a:r>
              <a:rPr lang="zh-TW" altLang="zh-TW" dirty="0"/>
              <a:t>內容處理</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91</a:t>
            </a:fld>
            <a:endParaRPr lang="zh-TW" altLang="en-US"/>
          </a:p>
        </p:txBody>
      </p:sp>
      <p:sp>
        <p:nvSpPr>
          <p:cNvPr id="4" name="內容版面配置區 3"/>
          <p:cNvSpPr>
            <a:spLocks noGrp="1"/>
          </p:cNvSpPr>
          <p:nvPr>
            <p:ph sz="quarter" idx="1"/>
          </p:nvPr>
        </p:nvSpPr>
        <p:spPr/>
        <p:txBody>
          <a:bodyPr/>
          <a:lstStyle/>
          <a:p>
            <a:r>
              <a:rPr lang="zh-TW" altLang="zh-TW" dirty="0"/>
              <a:t>在</a:t>
            </a:r>
            <a:r>
              <a:rPr lang="en-US" altLang="zh-TW" dirty="0"/>
              <a:t>post.html</a:t>
            </a:r>
            <a:r>
              <a:rPr lang="zh-TW" altLang="zh-TW" dirty="0"/>
              <a:t>中在輸出</a:t>
            </a:r>
            <a:r>
              <a:rPr lang="en-US" altLang="zh-TW" dirty="0" err="1"/>
              <a:t>post.body</a:t>
            </a:r>
            <a:r>
              <a:rPr lang="zh-TW" altLang="zh-TW" dirty="0"/>
              <a:t>的後面，再加上一個</a:t>
            </a:r>
            <a:r>
              <a:rPr lang="en-US" altLang="zh-TW" dirty="0"/>
              <a:t>safe</a:t>
            </a:r>
            <a:r>
              <a:rPr lang="zh-TW" altLang="zh-TW" dirty="0"/>
              <a:t>的過濾器</a:t>
            </a:r>
            <a:r>
              <a:rPr lang="en-US" altLang="zh-TW" dirty="0"/>
              <a:t> </a:t>
            </a:r>
            <a:r>
              <a:rPr lang="en-US" altLang="zh-TW" dirty="0">
                <a:solidFill>
                  <a:srgbClr val="FF0000"/>
                </a:solidFill>
              </a:rPr>
              <a:t>index.html</a:t>
            </a:r>
            <a:r>
              <a:rPr lang="en-US" altLang="zh-TW" dirty="0"/>
              <a:t> &amp; post.html</a:t>
            </a:r>
            <a:r>
              <a:rPr lang="zh-TW" altLang="en-US" sz="3200" b="1" dirty="0">
                <a:solidFill>
                  <a:srgbClr val="FF0000"/>
                </a:solidFill>
              </a:rPr>
              <a:t>都要加</a:t>
            </a:r>
            <a:endParaRPr lang="en-US" altLang="zh-TW" b="1" dirty="0">
              <a:solidFill>
                <a:srgbClr val="FF0000"/>
              </a:solidFill>
            </a:endParaRPr>
          </a:p>
          <a:p>
            <a:pPr lvl="1"/>
            <a:r>
              <a:rPr lang="en-US" altLang="zh-TW" dirty="0"/>
              <a:t>{{ </a:t>
            </a:r>
            <a:r>
              <a:rPr lang="en-US" altLang="zh-TW" dirty="0" err="1"/>
              <a:t>post.body</a:t>
            </a:r>
            <a:r>
              <a:rPr lang="en-US" altLang="zh-TW" dirty="0"/>
              <a:t> </a:t>
            </a:r>
            <a:r>
              <a:rPr lang="en-US" altLang="zh-TW" dirty="0">
                <a:solidFill>
                  <a:srgbClr val="FF0000"/>
                </a:solidFill>
              </a:rPr>
              <a:t>| safe </a:t>
            </a:r>
            <a:r>
              <a:rPr lang="en-US" altLang="zh-TW" dirty="0"/>
              <a:t>}}</a:t>
            </a:r>
            <a:endParaRPr lang="zh-TW" altLang="en-US" dirty="0"/>
          </a:p>
        </p:txBody>
      </p:sp>
      <p:pic>
        <p:nvPicPr>
          <p:cNvPr id="6" name="圖片 5">
            <a:extLst>
              <a:ext uri="{FF2B5EF4-FFF2-40B4-BE49-F238E27FC236}">
                <a16:creationId xmlns:a16="http://schemas.microsoft.com/office/drawing/2014/main" id="{BDC04873-6F51-8810-F395-9F8025D5C196}"/>
              </a:ext>
            </a:extLst>
          </p:cNvPr>
          <p:cNvPicPr>
            <a:picLocks noChangeAspect="1"/>
          </p:cNvPicPr>
          <p:nvPr/>
        </p:nvPicPr>
        <p:blipFill>
          <a:blip r:embed="rId3"/>
          <a:stretch>
            <a:fillRect/>
          </a:stretch>
        </p:blipFill>
        <p:spPr>
          <a:xfrm>
            <a:off x="1979712" y="2889706"/>
            <a:ext cx="5296880" cy="3870132"/>
          </a:xfrm>
          <a:prstGeom prst="rect">
            <a:avLst/>
          </a:prstGeom>
        </p:spPr>
      </p:pic>
      <p:pic>
        <p:nvPicPr>
          <p:cNvPr id="7" name="圖片 6">
            <a:extLst>
              <a:ext uri="{FF2B5EF4-FFF2-40B4-BE49-F238E27FC236}">
                <a16:creationId xmlns:a16="http://schemas.microsoft.com/office/drawing/2014/main" id="{DD655BF0-E798-CCB6-4389-F462B8486E51}"/>
              </a:ext>
            </a:extLst>
          </p:cNvPr>
          <p:cNvPicPr>
            <a:picLocks noChangeAspect="1"/>
          </p:cNvPicPr>
          <p:nvPr/>
        </p:nvPicPr>
        <p:blipFill>
          <a:blip r:embed="rId4"/>
          <a:stretch>
            <a:fillRect/>
          </a:stretch>
        </p:blipFill>
        <p:spPr>
          <a:xfrm>
            <a:off x="4818888" y="2431346"/>
            <a:ext cx="3696216" cy="285790"/>
          </a:xfrm>
          <a:prstGeom prst="rect">
            <a:avLst/>
          </a:prstGeom>
        </p:spPr>
      </p:pic>
    </p:spTree>
    <p:extLst>
      <p:ext uri="{BB962C8B-B14F-4D97-AF65-F5344CB8AC3E}">
        <p14:creationId xmlns:p14="http://schemas.microsoft.com/office/powerpoint/2010/main" val="51044455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a:xfrm>
            <a:off x="301752" y="1"/>
            <a:ext cx="8534400" cy="1467696"/>
          </a:xfrm>
        </p:spPr>
        <p:txBody>
          <a:bodyPr>
            <a:normAutofit/>
          </a:bodyPr>
          <a:lstStyle/>
          <a:p>
            <a:r>
              <a:rPr lang="en-US" altLang="zh-TW" dirty="0">
                <a:solidFill>
                  <a:srgbClr val="FF0000"/>
                </a:solidFill>
              </a:rPr>
              <a:t>Markdown</a:t>
            </a:r>
            <a:r>
              <a:rPr lang="zh-TW" altLang="zh-TW" dirty="0">
                <a:solidFill>
                  <a:srgbClr val="FF0000"/>
                </a:solidFill>
              </a:rPr>
              <a:t>語法</a:t>
            </a:r>
            <a:r>
              <a:rPr lang="zh-TW" altLang="zh-TW" dirty="0"/>
              <a:t>解析與應用</a:t>
            </a:r>
            <a:br>
              <a:rPr lang="en-US" altLang="zh-TW" dirty="0"/>
            </a:br>
            <a:r>
              <a:rPr lang="en-US" altLang="zh-TW" dirty="0"/>
              <a:t>(02mblog </a:t>
            </a:r>
            <a:r>
              <a:rPr lang="en-US" altLang="zh-TW" dirty="0" err="1"/>
              <a:t>index.thml</a:t>
            </a:r>
            <a:r>
              <a:rPr lang="en-US" altLang="zh-TW" dirty="0"/>
              <a:t>)</a:t>
            </a:r>
            <a:endParaRPr lang="zh-TW" altLang="zh-TW"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92</a:t>
            </a:fld>
            <a:endParaRPr lang="zh-TW" altLang="en-US"/>
          </a:p>
        </p:txBody>
      </p:sp>
      <p:sp>
        <p:nvSpPr>
          <p:cNvPr id="4" name="內容版面配置區 3"/>
          <p:cNvSpPr>
            <a:spLocks noGrp="1"/>
          </p:cNvSpPr>
          <p:nvPr>
            <p:ph sz="quarter" idx="1"/>
          </p:nvPr>
        </p:nvSpPr>
        <p:spPr/>
        <p:txBody>
          <a:bodyPr/>
          <a:lstStyle/>
          <a:p>
            <a:r>
              <a:rPr lang="en-US" altLang="zh-TW" dirty="0"/>
              <a:t>Markdown</a:t>
            </a:r>
            <a:r>
              <a:rPr lang="zh-TW" altLang="zh-TW" dirty="0"/>
              <a:t>語法，讓部落客在編輯文章的時候可以兼顧彈性、便利以及安全。</a:t>
            </a:r>
            <a:r>
              <a:rPr lang="en-US" altLang="zh-TW" dirty="0"/>
              <a:t>Markdown</a:t>
            </a:r>
            <a:r>
              <a:rPr lang="zh-TW" altLang="zh-TW" dirty="0"/>
              <a:t>的語法介紹，請參考網站：</a:t>
            </a:r>
            <a:r>
              <a:rPr lang="en-US" altLang="zh-TW" u="sng" dirty="0">
                <a:hlinkClick r:id="rId2"/>
              </a:rPr>
              <a:t>http://markdown.tw/</a:t>
            </a:r>
            <a:r>
              <a:rPr lang="en-US" altLang="zh-TW" dirty="0"/>
              <a:t> </a:t>
            </a:r>
            <a:r>
              <a:rPr lang="zh-TW" altLang="zh-TW" dirty="0"/>
              <a:t>上的說明。</a:t>
            </a:r>
            <a:endParaRPr lang="en-US" altLang="zh-TW" dirty="0"/>
          </a:p>
          <a:p>
            <a:r>
              <a:rPr lang="zh-TW" altLang="zh-TW"/>
              <a:t>安裝</a:t>
            </a:r>
            <a:r>
              <a:rPr lang="en-US" altLang="zh-TW"/>
              <a:t>markdown</a:t>
            </a:r>
            <a:r>
              <a:rPr lang="zh-TW" altLang="zh-TW"/>
              <a:t>套件</a:t>
            </a:r>
            <a:endParaRPr lang="en-US" altLang="zh-TW" dirty="0"/>
          </a:p>
          <a:p>
            <a:r>
              <a:rPr lang="zh-TW" altLang="zh-TW" dirty="0"/>
              <a:t>使用</a:t>
            </a:r>
            <a:r>
              <a:rPr lang="en-US" altLang="zh-TW"/>
              <a:t>pip list</a:t>
            </a:r>
            <a:r>
              <a:rPr lang="zh-TW" altLang="zh-TW"/>
              <a:t>把</a:t>
            </a:r>
            <a:r>
              <a:rPr lang="zh-TW" altLang="zh-TW" dirty="0"/>
              <a:t>它放到</a:t>
            </a:r>
            <a:r>
              <a:rPr lang="en-US" altLang="zh-TW" dirty="0"/>
              <a:t>requirements.txt</a:t>
            </a:r>
            <a:r>
              <a:rPr lang="zh-TW" altLang="zh-TW" dirty="0"/>
              <a:t>中，步驟如下：</a:t>
            </a:r>
          </a:p>
          <a:p>
            <a:pPr marL="274320" lvl="1" indent="0">
              <a:buNone/>
            </a:pPr>
            <a:r>
              <a:rPr lang="en-US" altLang="zh-TW"/>
              <a:t>pip install markdown</a:t>
            </a:r>
          </a:p>
          <a:p>
            <a:pPr marL="274320" lvl="1" indent="0">
              <a:buNone/>
            </a:pPr>
            <a:r>
              <a:rPr lang="en-US" altLang="zh-TW"/>
              <a:t>pip list --format=freeze &gt; requirements.txt</a:t>
            </a:r>
          </a:p>
          <a:p>
            <a:pPr lvl="1"/>
            <a:endParaRPr lang="zh-TW" altLang="en-US" dirty="0"/>
          </a:p>
        </p:txBody>
      </p:sp>
    </p:spTree>
    <p:extLst>
      <p:ext uri="{BB962C8B-B14F-4D97-AF65-F5344CB8AC3E}">
        <p14:creationId xmlns:p14="http://schemas.microsoft.com/office/powerpoint/2010/main" val="47335249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3952C6A-15A6-41CF-C351-AB7667F41256}"/>
              </a:ext>
            </a:extLst>
          </p:cNvPr>
          <p:cNvSpPr>
            <a:spLocks noGrp="1"/>
          </p:cNvSpPr>
          <p:nvPr>
            <p:ph type="title"/>
          </p:nvPr>
        </p:nvSpPr>
        <p:spPr/>
        <p:txBody>
          <a:bodyPr>
            <a:normAutofit fontScale="90000"/>
          </a:bodyPr>
          <a:lstStyle/>
          <a:p>
            <a:r>
              <a:rPr lang="zh-TW" altLang="en-US" dirty="0"/>
              <a:t>在</a:t>
            </a:r>
            <a:r>
              <a:rPr lang="en-US" altLang="zh-TW" dirty="0" err="1">
                <a:solidFill>
                  <a:srgbClr val="FF0000"/>
                </a:solidFill>
              </a:rPr>
              <a:t>mysite</a:t>
            </a:r>
            <a:r>
              <a:rPr lang="zh-TW" altLang="en-US" dirty="0"/>
              <a:t>底下建立一個</a:t>
            </a:r>
            <a:r>
              <a:rPr lang="en-US" altLang="zh-TW" dirty="0" err="1">
                <a:solidFill>
                  <a:srgbClr val="FF0000"/>
                </a:solidFill>
              </a:rPr>
              <a:t>templatetags</a:t>
            </a:r>
            <a:r>
              <a:rPr lang="zh-TW" altLang="en-US" dirty="0"/>
              <a:t>資料夾</a:t>
            </a:r>
          </a:p>
        </p:txBody>
      </p:sp>
      <p:sp>
        <p:nvSpPr>
          <p:cNvPr id="3" name="投影片編號版面配置區 2">
            <a:extLst>
              <a:ext uri="{FF2B5EF4-FFF2-40B4-BE49-F238E27FC236}">
                <a16:creationId xmlns:a16="http://schemas.microsoft.com/office/drawing/2014/main" id="{71F27270-475D-FB57-11FD-3B0D032609AC}"/>
              </a:ext>
            </a:extLst>
          </p:cNvPr>
          <p:cNvSpPr>
            <a:spLocks noGrp="1"/>
          </p:cNvSpPr>
          <p:nvPr>
            <p:ph type="sldNum" sz="quarter" idx="12"/>
          </p:nvPr>
        </p:nvSpPr>
        <p:spPr/>
        <p:txBody>
          <a:bodyPr/>
          <a:lstStyle/>
          <a:p>
            <a:fld id="{369E457D-EE12-4164-8E32-9DDD40A95892}" type="slidenum">
              <a:rPr lang="zh-TW" altLang="en-US" smtClean="0"/>
              <a:pPr/>
              <a:t>93</a:t>
            </a:fld>
            <a:endParaRPr lang="zh-TW" altLang="en-US"/>
          </a:p>
        </p:txBody>
      </p:sp>
      <p:sp>
        <p:nvSpPr>
          <p:cNvPr id="4" name="內容版面配置區 3">
            <a:extLst>
              <a:ext uri="{FF2B5EF4-FFF2-40B4-BE49-F238E27FC236}">
                <a16:creationId xmlns:a16="http://schemas.microsoft.com/office/drawing/2014/main" id="{E2F984D4-4D7F-47C7-C4BD-93A6D19736E9}"/>
              </a:ext>
            </a:extLst>
          </p:cNvPr>
          <p:cNvSpPr>
            <a:spLocks noGrp="1"/>
          </p:cNvSpPr>
          <p:nvPr>
            <p:ph sz="quarter" idx="1"/>
          </p:nvPr>
        </p:nvSpPr>
        <p:spPr/>
        <p:txBody>
          <a:bodyPr>
            <a:normAutofit fontScale="92500" lnSpcReduction="10000"/>
          </a:bodyPr>
          <a:lstStyle/>
          <a:p>
            <a:r>
              <a:rPr lang="en-US" altLang="zh-TW" dirty="0">
                <a:solidFill>
                  <a:srgbClr val="FF0000"/>
                </a:solidFill>
              </a:rPr>
              <a:t>__init__.py</a:t>
            </a:r>
            <a:r>
              <a:rPr lang="zh-TW" altLang="en-US" dirty="0"/>
              <a:t>，裡面是空的</a:t>
            </a:r>
            <a:endParaRPr lang="en-US" altLang="zh-TW" dirty="0"/>
          </a:p>
          <a:p>
            <a:r>
              <a:rPr lang="en-US" altLang="zh-TW" dirty="0">
                <a:solidFill>
                  <a:srgbClr val="FF0000"/>
                </a:solidFill>
              </a:rPr>
              <a:t>markdown_extras.py</a:t>
            </a:r>
            <a:r>
              <a:rPr lang="zh-TW" altLang="en-US" dirty="0"/>
              <a:t>檔案內容如下：</a:t>
            </a:r>
            <a:endParaRPr lang="en-US" altLang="zh-TW" dirty="0"/>
          </a:p>
          <a:p>
            <a:pPr marL="274320" lvl="1" indent="0">
              <a:buNone/>
            </a:pPr>
            <a:r>
              <a:rPr lang="en-US" altLang="zh-TW" dirty="0"/>
              <a:t>import markdown </a:t>
            </a:r>
          </a:p>
          <a:p>
            <a:pPr marL="274320" lvl="1" indent="0">
              <a:buNone/>
            </a:pPr>
            <a:endParaRPr lang="en-US" altLang="zh-TW" dirty="0"/>
          </a:p>
          <a:p>
            <a:pPr marL="274320" lvl="1" indent="0">
              <a:buNone/>
            </a:pPr>
            <a:r>
              <a:rPr lang="en-US" altLang="zh-TW" dirty="0"/>
              <a:t>from </a:t>
            </a:r>
            <a:r>
              <a:rPr lang="en-US" altLang="zh-TW" dirty="0" err="1"/>
              <a:t>django</a:t>
            </a:r>
            <a:r>
              <a:rPr lang="en-US" altLang="zh-TW" dirty="0"/>
              <a:t> import template</a:t>
            </a:r>
          </a:p>
          <a:p>
            <a:pPr marL="274320" lvl="1" indent="0">
              <a:buNone/>
            </a:pPr>
            <a:r>
              <a:rPr lang="en-US" altLang="zh-TW" dirty="0"/>
              <a:t>from </a:t>
            </a:r>
            <a:r>
              <a:rPr lang="en-US" altLang="zh-TW" dirty="0" err="1"/>
              <a:t>django.template.defaultfilters</a:t>
            </a:r>
            <a:r>
              <a:rPr lang="en-US" altLang="zh-TW" dirty="0"/>
              <a:t> import </a:t>
            </a:r>
            <a:r>
              <a:rPr lang="en-US" altLang="zh-TW" dirty="0" err="1"/>
              <a:t>stringfilter</a:t>
            </a:r>
            <a:endParaRPr lang="en-US" altLang="zh-TW" dirty="0"/>
          </a:p>
          <a:p>
            <a:pPr marL="274320" lvl="1" indent="0">
              <a:buNone/>
            </a:pPr>
            <a:endParaRPr lang="en-US" altLang="zh-TW" dirty="0"/>
          </a:p>
          <a:p>
            <a:pPr marL="274320" lvl="1" indent="0">
              <a:buNone/>
            </a:pPr>
            <a:r>
              <a:rPr lang="en-US" altLang="zh-TW" dirty="0"/>
              <a:t>register = </a:t>
            </a:r>
            <a:r>
              <a:rPr lang="en-US" altLang="zh-TW" dirty="0" err="1"/>
              <a:t>template.Library</a:t>
            </a:r>
            <a:r>
              <a:rPr lang="en-US" altLang="zh-TW" dirty="0"/>
              <a:t>()</a:t>
            </a:r>
          </a:p>
          <a:p>
            <a:pPr marL="274320" lvl="1" indent="0">
              <a:buNone/>
            </a:pPr>
            <a:endParaRPr lang="en-US" altLang="zh-TW" dirty="0"/>
          </a:p>
          <a:p>
            <a:pPr marL="274320" lvl="1" indent="0">
              <a:buNone/>
            </a:pPr>
            <a:r>
              <a:rPr lang="en-US" altLang="zh-TW" dirty="0"/>
              <a:t>@register.filter</a:t>
            </a:r>
          </a:p>
          <a:p>
            <a:pPr marL="274320" lvl="1" indent="0">
              <a:buNone/>
            </a:pPr>
            <a:r>
              <a:rPr lang="en-US" altLang="zh-TW" dirty="0"/>
              <a:t>def </a:t>
            </a:r>
            <a:r>
              <a:rPr lang="en-US" altLang="zh-TW" dirty="0" err="1"/>
              <a:t>convert_markdown</a:t>
            </a:r>
            <a:r>
              <a:rPr lang="en-US" altLang="zh-TW" dirty="0"/>
              <a:t>(text):</a:t>
            </a:r>
          </a:p>
          <a:p>
            <a:pPr marL="274320" lvl="1" indent="0">
              <a:buNone/>
            </a:pPr>
            <a:r>
              <a:rPr lang="en-US" altLang="zh-TW" dirty="0"/>
              <a:t>    return </a:t>
            </a:r>
            <a:r>
              <a:rPr lang="en-US" altLang="zh-TW" dirty="0" err="1"/>
              <a:t>markdown.markdown</a:t>
            </a:r>
            <a:r>
              <a:rPr lang="en-US" altLang="zh-TW" dirty="0"/>
              <a:t>(text)</a:t>
            </a:r>
          </a:p>
          <a:p>
            <a:pPr marL="274320" lvl="1" indent="0">
              <a:buNone/>
            </a:pPr>
            <a:endParaRPr lang="zh-TW" altLang="en-US" dirty="0"/>
          </a:p>
        </p:txBody>
      </p:sp>
    </p:spTree>
    <p:extLst>
      <p:ext uri="{BB962C8B-B14F-4D97-AF65-F5344CB8AC3E}">
        <p14:creationId xmlns:p14="http://schemas.microsoft.com/office/powerpoint/2010/main" val="271074215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Markdown</a:t>
            </a:r>
            <a:r>
              <a:rPr lang="zh-TW" altLang="zh-TW" dirty="0"/>
              <a:t>語法解析與應用</a:t>
            </a:r>
            <a:r>
              <a:rPr lang="en-US" altLang="zh-TW" dirty="0"/>
              <a:t>(</a:t>
            </a:r>
            <a:r>
              <a:rPr lang="zh-TW" altLang="en-US" b="1" dirty="0">
                <a:solidFill>
                  <a:srgbClr val="FF0000"/>
                </a:solidFill>
              </a:rPr>
              <a:t>注意</a:t>
            </a:r>
            <a:r>
              <a:rPr lang="en-US" altLang="zh-TW" b="1" dirty="0">
                <a:solidFill>
                  <a:srgbClr val="FF0000"/>
                </a:solidFill>
              </a:rPr>
              <a:t>: | safe</a:t>
            </a:r>
            <a:r>
              <a:rPr lang="zh-TW" altLang="en-US" b="1" dirty="0">
                <a:solidFill>
                  <a:srgbClr val="FF0000"/>
                </a:solidFill>
              </a:rPr>
              <a:t>的順序</a:t>
            </a:r>
            <a:r>
              <a:rPr lang="en-US" altLang="zh-TW" b="1" dirty="0"/>
              <a:t>)</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94</a:t>
            </a:fld>
            <a:endParaRPr lang="zh-TW" altLang="en-US"/>
          </a:p>
        </p:txBody>
      </p:sp>
      <p:sp>
        <p:nvSpPr>
          <p:cNvPr id="4" name="內容版面配置區 3"/>
          <p:cNvSpPr>
            <a:spLocks noGrp="1"/>
          </p:cNvSpPr>
          <p:nvPr>
            <p:ph sz="quarter" idx="1"/>
          </p:nvPr>
        </p:nvSpPr>
        <p:spPr/>
        <p:txBody>
          <a:bodyPr>
            <a:normAutofit fontScale="92500" lnSpcReduction="20000"/>
          </a:bodyPr>
          <a:lstStyle/>
          <a:p>
            <a:r>
              <a:rPr lang="zh-TW" altLang="zh-TW" dirty="0"/>
              <a:t>修改之後的</a:t>
            </a:r>
            <a:r>
              <a:rPr lang="en-US" altLang="zh-TW" dirty="0"/>
              <a:t>post.html</a:t>
            </a:r>
            <a:r>
              <a:rPr lang="zh-TW" altLang="zh-TW" dirty="0"/>
              <a:t>如下所示：</a:t>
            </a:r>
            <a:endParaRPr lang="en-US" altLang="zh-TW" dirty="0"/>
          </a:p>
          <a:p>
            <a:pPr marL="274320" lvl="1" indent="0">
              <a:buNone/>
            </a:pPr>
            <a:r>
              <a:rPr lang="en-US" altLang="zh-TW" dirty="0"/>
              <a:t>&lt;!-- post.html --&gt;</a:t>
            </a:r>
          </a:p>
          <a:p>
            <a:pPr marL="274320" lvl="1" indent="0">
              <a:buNone/>
            </a:pPr>
            <a:r>
              <a:rPr lang="en-US" altLang="zh-TW" dirty="0"/>
              <a:t>{% extends 'base.html' %}</a:t>
            </a:r>
          </a:p>
          <a:p>
            <a:pPr marL="274320" lvl="1" indent="0">
              <a:buNone/>
            </a:pPr>
            <a:r>
              <a:rPr lang="en-US" altLang="zh-TW" dirty="0">
                <a:solidFill>
                  <a:srgbClr val="FF0000"/>
                </a:solidFill>
              </a:rPr>
              <a:t>{% load </a:t>
            </a:r>
            <a:r>
              <a:rPr lang="en-US" altLang="zh-TW" dirty="0" err="1">
                <a:solidFill>
                  <a:srgbClr val="FF0000"/>
                </a:solidFill>
              </a:rPr>
              <a:t>markdown_extras</a:t>
            </a:r>
            <a:r>
              <a:rPr lang="en-US" altLang="zh-TW" dirty="0">
                <a:solidFill>
                  <a:srgbClr val="FF0000"/>
                </a:solidFill>
              </a:rPr>
              <a:t> %}</a:t>
            </a:r>
          </a:p>
          <a:p>
            <a:pPr marL="274320" lvl="1" indent="0">
              <a:buNone/>
            </a:pPr>
            <a:r>
              <a:rPr lang="en-US" altLang="zh-TW" dirty="0"/>
              <a:t>{% block title %} {{ </a:t>
            </a:r>
            <a:r>
              <a:rPr lang="en-US" altLang="zh-TW" dirty="0" err="1"/>
              <a:t>post.title</a:t>
            </a:r>
            <a:r>
              <a:rPr lang="en-US" altLang="zh-TW" dirty="0"/>
              <a:t> }} - </a:t>
            </a:r>
            <a:r>
              <a:rPr lang="zh-TW" altLang="en-US" dirty="0"/>
              <a:t>文學天地 </a:t>
            </a:r>
            <a:r>
              <a:rPr lang="en-US" altLang="zh-TW" dirty="0"/>
              <a:t>{% </a:t>
            </a:r>
            <a:r>
              <a:rPr lang="en-US" altLang="zh-TW" dirty="0" err="1"/>
              <a:t>endblock</a:t>
            </a:r>
            <a:r>
              <a:rPr lang="en-US" altLang="zh-TW" dirty="0"/>
              <a:t> %}</a:t>
            </a:r>
          </a:p>
          <a:p>
            <a:pPr marL="274320" lvl="1" indent="0">
              <a:buNone/>
            </a:pPr>
            <a:r>
              <a:rPr lang="en-US" altLang="zh-TW" dirty="0"/>
              <a:t>{% block </a:t>
            </a:r>
            <a:r>
              <a:rPr lang="en-US" altLang="zh-TW" dirty="0" err="1"/>
              <a:t>headmessage</a:t>
            </a:r>
            <a:r>
              <a:rPr lang="en-US" altLang="zh-TW" dirty="0"/>
              <a:t> %}</a:t>
            </a:r>
          </a:p>
          <a:p>
            <a:pPr marL="274320" lvl="1" indent="0">
              <a:buNone/>
            </a:pPr>
            <a:r>
              <a:rPr lang="en-US" altLang="zh-TW" dirty="0"/>
              <a:t>    &lt;h3 style='font-family:</a:t>
            </a:r>
            <a:r>
              <a:rPr lang="zh-TW" altLang="en-US" dirty="0"/>
              <a:t>微軟正黑體</a:t>
            </a:r>
            <a:r>
              <a:rPr lang="en-US" altLang="zh-TW" dirty="0"/>
              <a:t>;'&gt;{{ </a:t>
            </a:r>
            <a:r>
              <a:rPr lang="en-US" altLang="zh-TW" dirty="0" err="1"/>
              <a:t>post.title</a:t>
            </a:r>
            <a:r>
              <a:rPr lang="en-US" altLang="zh-TW" dirty="0"/>
              <a:t> }}&lt;/h3&gt;</a:t>
            </a:r>
          </a:p>
          <a:p>
            <a:pPr marL="274320" lvl="1" indent="0">
              <a:buNone/>
            </a:pPr>
            <a:r>
              <a:rPr lang="en-US" altLang="zh-TW" dirty="0"/>
              <a:t>{% </a:t>
            </a:r>
            <a:r>
              <a:rPr lang="en-US" altLang="zh-TW" dirty="0" err="1"/>
              <a:t>endblock</a:t>
            </a:r>
            <a:r>
              <a:rPr lang="en-US" altLang="zh-TW" dirty="0"/>
              <a:t> %}</a:t>
            </a:r>
          </a:p>
          <a:p>
            <a:pPr marL="274320" lvl="1" indent="0">
              <a:buNone/>
            </a:pPr>
            <a:r>
              <a:rPr lang="en-US" altLang="zh-TW" dirty="0"/>
              <a:t>{% block content %} </a:t>
            </a:r>
          </a:p>
          <a:p>
            <a:pPr marL="274320" lvl="1" indent="0">
              <a:buNone/>
            </a:pPr>
            <a:r>
              <a:rPr lang="en-US" altLang="zh-TW" dirty="0"/>
              <a:t>        &lt;p style='font-family:</a:t>
            </a:r>
            <a:r>
              <a:rPr lang="zh-TW" altLang="en-US" dirty="0"/>
              <a:t>微軟正黑體</a:t>
            </a:r>
            <a:r>
              <a:rPr lang="en-US" altLang="zh-TW" dirty="0"/>
              <a:t>;font-size:12pt;letter-spacing:2pt;'&gt;</a:t>
            </a:r>
          </a:p>
          <a:p>
            <a:pPr marL="274320" lvl="1" indent="0">
              <a:buNone/>
            </a:pPr>
            <a:r>
              <a:rPr lang="en-US" altLang="zh-TW" dirty="0"/>
              <a:t>            {{ </a:t>
            </a:r>
            <a:r>
              <a:rPr lang="en-US" altLang="zh-TW" dirty="0" err="1"/>
              <a:t>post.body</a:t>
            </a:r>
            <a:r>
              <a:rPr lang="en-US" altLang="zh-TW" dirty="0"/>
              <a:t> </a:t>
            </a:r>
            <a:r>
              <a:rPr lang="en-US" altLang="zh-TW" dirty="0">
                <a:solidFill>
                  <a:srgbClr val="FF0000"/>
                </a:solidFill>
              </a:rPr>
              <a:t>| </a:t>
            </a:r>
            <a:r>
              <a:rPr lang="en-US" altLang="zh-TW" dirty="0" err="1">
                <a:solidFill>
                  <a:srgbClr val="FF0000"/>
                </a:solidFill>
              </a:rPr>
              <a:t>convert_markdown</a:t>
            </a:r>
            <a:r>
              <a:rPr lang="en-US" altLang="zh-TW" dirty="0">
                <a:solidFill>
                  <a:srgbClr val="FF0000"/>
                </a:solidFill>
              </a:rPr>
              <a:t> </a:t>
            </a:r>
            <a:r>
              <a:rPr lang="en-US" altLang="zh-TW" sz="3500" b="1" dirty="0">
                <a:solidFill>
                  <a:srgbClr val="FF0000"/>
                </a:solidFill>
              </a:rPr>
              <a:t>| safe </a:t>
            </a:r>
            <a:r>
              <a:rPr lang="en-US" altLang="zh-TW" dirty="0"/>
              <a:t>}}&lt;/a&gt;</a:t>
            </a:r>
          </a:p>
          <a:p>
            <a:pPr marL="274320" lvl="1" indent="0">
              <a:buNone/>
            </a:pPr>
            <a:r>
              <a:rPr lang="en-US" altLang="zh-TW" dirty="0"/>
              <a:t>        &lt;/p&gt;</a:t>
            </a:r>
          </a:p>
          <a:p>
            <a:pPr marL="274320" lvl="1" indent="0">
              <a:buNone/>
            </a:pPr>
            <a:r>
              <a:rPr lang="en-US" altLang="zh-TW" dirty="0"/>
              <a:t>{% </a:t>
            </a:r>
            <a:r>
              <a:rPr lang="en-US" altLang="zh-TW" dirty="0" err="1"/>
              <a:t>endblock</a:t>
            </a:r>
            <a:r>
              <a:rPr lang="en-US" altLang="zh-TW" dirty="0"/>
              <a:t> %}</a:t>
            </a:r>
          </a:p>
          <a:p>
            <a:pPr lvl="1"/>
            <a:endParaRPr lang="en-US" altLang="zh-TW" dirty="0"/>
          </a:p>
          <a:p>
            <a:pPr lvl="1"/>
            <a:endParaRPr lang="zh-TW" altLang="en-US" dirty="0"/>
          </a:p>
        </p:txBody>
      </p:sp>
    </p:spTree>
    <p:extLst>
      <p:ext uri="{BB962C8B-B14F-4D97-AF65-F5344CB8AC3E}">
        <p14:creationId xmlns:p14="http://schemas.microsoft.com/office/powerpoint/2010/main" val="248977096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Markdown</a:t>
            </a:r>
            <a:r>
              <a:rPr lang="zh-TW" altLang="zh-TW" dirty="0"/>
              <a:t>語法解析與應用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95</a:t>
            </a:fld>
            <a:endParaRPr lang="zh-TW" altLang="en-US"/>
          </a:p>
        </p:txBody>
      </p:sp>
      <p:sp>
        <p:nvSpPr>
          <p:cNvPr id="4" name="內容版面配置區 3"/>
          <p:cNvSpPr>
            <a:spLocks noGrp="1"/>
          </p:cNvSpPr>
          <p:nvPr>
            <p:ph sz="quarter" idx="1"/>
          </p:nvPr>
        </p:nvSpPr>
        <p:spPr/>
        <p:txBody>
          <a:bodyPr/>
          <a:lstStyle/>
          <a:p>
            <a:r>
              <a:rPr lang="zh-TW" altLang="zh-TW" dirty="0"/>
              <a:t>把原本的文章內容加上簡單的</a:t>
            </a:r>
            <a:r>
              <a:rPr lang="en-US" altLang="zh-TW" dirty="0"/>
              <a:t>Markdown</a:t>
            </a:r>
            <a:r>
              <a:rPr lang="zh-TW" altLang="zh-TW" dirty="0"/>
              <a:t>語法</a:t>
            </a:r>
            <a:endParaRPr lang="en-US" altLang="zh-TW" dirty="0"/>
          </a:p>
          <a:p>
            <a:r>
              <a:rPr lang="zh-TW" altLang="zh-TW" dirty="0"/>
              <a:t>「</a:t>
            </a:r>
            <a:r>
              <a:rPr lang="en-US" altLang="zh-TW" dirty="0"/>
              <a:t>##</a:t>
            </a:r>
            <a:r>
              <a:rPr lang="zh-TW" altLang="zh-TW" dirty="0"/>
              <a:t>」是</a:t>
            </a:r>
            <a:r>
              <a:rPr lang="en-US" altLang="zh-TW" dirty="0"/>
              <a:t>Markdown</a:t>
            </a:r>
            <a:r>
              <a:rPr lang="zh-TW" altLang="zh-TW" dirty="0"/>
              <a:t>中的小標題</a:t>
            </a:r>
            <a:endParaRPr lang="en-US" altLang="zh-TW" dirty="0"/>
          </a:p>
          <a:p>
            <a:r>
              <a:rPr lang="zh-TW" altLang="zh-TW" dirty="0"/>
              <a:t>「</a:t>
            </a:r>
            <a:r>
              <a:rPr lang="en-US" altLang="zh-TW" dirty="0"/>
              <a:t>!</a:t>
            </a:r>
            <a:r>
              <a:rPr lang="zh-TW" altLang="zh-TW" dirty="0"/>
              <a:t>」則是圖形連結</a:t>
            </a:r>
            <a:endParaRPr lang="zh-TW" altLang="en-US" dirty="0"/>
          </a:p>
        </p:txBody>
      </p:sp>
      <p:pic>
        <p:nvPicPr>
          <p:cNvPr id="5" name="圖片 4" descr="一張含有 文字 的圖片&#10;&#10;自動產生的描述">
            <a:extLst>
              <a:ext uri="{FF2B5EF4-FFF2-40B4-BE49-F238E27FC236}">
                <a16:creationId xmlns:a16="http://schemas.microsoft.com/office/drawing/2014/main" id="{0EA4C38E-D4B4-B614-D700-C9DC75710BA9}"/>
              </a:ext>
            </a:extLst>
          </p:cNvPr>
          <p:cNvPicPr>
            <a:picLocks noChangeAspect="1"/>
          </p:cNvPicPr>
          <p:nvPr/>
        </p:nvPicPr>
        <p:blipFill>
          <a:blip r:embed="rId2"/>
          <a:stretch>
            <a:fillRect/>
          </a:stretch>
        </p:blipFill>
        <p:spPr>
          <a:xfrm>
            <a:off x="1897189" y="2996952"/>
            <a:ext cx="5313045" cy="3512820"/>
          </a:xfrm>
          <a:prstGeom prst="rect">
            <a:avLst/>
          </a:prstGeom>
        </p:spPr>
      </p:pic>
    </p:spTree>
    <p:extLst>
      <p:ext uri="{BB962C8B-B14F-4D97-AF65-F5344CB8AC3E}">
        <p14:creationId xmlns:p14="http://schemas.microsoft.com/office/powerpoint/2010/main" val="37205291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Markdown</a:t>
            </a:r>
            <a:r>
              <a:rPr lang="zh-TW" altLang="zh-TW" dirty="0"/>
              <a:t>語法解析與應用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96</a:t>
            </a:fld>
            <a:endParaRPr lang="zh-TW" altLang="en-US"/>
          </a:p>
        </p:txBody>
      </p:sp>
      <p:pic>
        <p:nvPicPr>
          <p:cNvPr id="6" name="內容版面配置區 5" descr="一張含有 文字 的圖片&#10;&#10;自動產生的描述">
            <a:extLst>
              <a:ext uri="{FF2B5EF4-FFF2-40B4-BE49-F238E27FC236}">
                <a16:creationId xmlns:a16="http://schemas.microsoft.com/office/drawing/2014/main" id="{9CD94F68-70E5-E15E-AC43-3F689C8E2957}"/>
              </a:ext>
            </a:extLst>
          </p:cNvPr>
          <p:cNvPicPr>
            <a:picLocks noGrp="1" noChangeAspect="1"/>
          </p:cNvPicPr>
          <p:nvPr>
            <p:ph sz="quarter" idx="1"/>
          </p:nvPr>
        </p:nvPicPr>
        <p:blipFill>
          <a:blip r:embed="rId2"/>
          <a:stretch>
            <a:fillRect/>
          </a:stretch>
        </p:blipFill>
        <p:spPr>
          <a:xfrm>
            <a:off x="1333547" y="1527175"/>
            <a:ext cx="6440394" cy="4572000"/>
          </a:xfrm>
          <a:prstGeom prst="rect">
            <a:avLst/>
          </a:prstGeom>
        </p:spPr>
      </p:pic>
    </p:spTree>
    <p:extLst>
      <p:ext uri="{BB962C8B-B14F-4D97-AF65-F5344CB8AC3E}">
        <p14:creationId xmlns:p14="http://schemas.microsoft.com/office/powerpoint/2010/main" val="310720182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Markdown</a:t>
            </a:r>
            <a:r>
              <a:rPr lang="zh-TW" altLang="zh-TW" dirty="0"/>
              <a:t>語法解析與應用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97</a:t>
            </a:fld>
            <a:endParaRPr lang="zh-TW" altLang="en-US"/>
          </a:p>
        </p:txBody>
      </p:sp>
      <p:pic>
        <p:nvPicPr>
          <p:cNvPr id="6" name="內容版面配置區 5" descr="一張含有 文字 的圖片&#10;&#10;自動產生的描述">
            <a:extLst>
              <a:ext uri="{FF2B5EF4-FFF2-40B4-BE49-F238E27FC236}">
                <a16:creationId xmlns:a16="http://schemas.microsoft.com/office/drawing/2014/main" id="{8DC919F2-A136-A288-A9C4-C1CC225A6817}"/>
              </a:ext>
            </a:extLst>
          </p:cNvPr>
          <p:cNvPicPr>
            <a:picLocks noGrp="1" noChangeAspect="1"/>
          </p:cNvPicPr>
          <p:nvPr>
            <p:ph sz="quarter" idx="1"/>
          </p:nvPr>
        </p:nvPicPr>
        <p:blipFill>
          <a:blip r:embed="rId3"/>
          <a:stretch>
            <a:fillRect/>
          </a:stretch>
        </p:blipFill>
        <p:spPr>
          <a:xfrm>
            <a:off x="1333547" y="1527175"/>
            <a:ext cx="6440394" cy="4572000"/>
          </a:xfrm>
          <a:prstGeom prst="rect">
            <a:avLst/>
          </a:prstGeom>
        </p:spPr>
      </p:pic>
    </p:spTree>
    <p:extLst>
      <p:ext uri="{BB962C8B-B14F-4D97-AF65-F5344CB8AC3E}">
        <p14:creationId xmlns:p14="http://schemas.microsoft.com/office/powerpoint/2010/main" val="112515783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E3829C-3B8F-6B42-7335-2846D36326C6}"/>
              </a:ext>
            </a:extLst>
          </p:cNvPr>
          <p:cNvSpPr>
            <a:spLocks noGrp="1"/>
          </p:cNvSpPr>
          <p:nvPr>
            <p:ph type="title"/>
          </p:nvPr>
        </p:nvSpPr>
        <p:spPr/>
        <p:txBody>
          <a:bodyPr/>
          <a:lstStyle/>
          <a:p>
            <a:r>
              <a:rPr lang="zh-TW" altLang="en-US" dirty="0"/>
              <a:t>套件幫忙轉換成</a:t>
            </a:r>
            <a:r>
              <a:rPr lang="en-US" altLang="zh-TW" dirty="0"/>
              <a:t>h2~6</a:t>
            </a:r>
            <a:r>
              <a:rPr lang="zh-TW" altLang="en-US" dirty="0"/>
              <a:t>標籤，原本只有</a:t>
            </a:r>
            <a:r>
              <a:rPr lang="en-US" altLang="zh-TW" dirty="0"/>
              <a:t>p</a:t>
            </a:r>
            <a:r>
              <a:rPr lang="zh-TW" altLang="en-US" dirty="0"/>
              <a:t>標籤</a:t>
            </a:r>
          </a:p>
        </p:txBody>
      </p:sp>
      <p:sp>
        <p:nvSpPr>
          <p:cNvPr id="3" name="直排文字版面配置區 2">
            <a:extLst>
              <a:ext uri="{FF2B5EF4-FFF2-40B4-BE49-F238E27FC236}">
                <a16:creationId xmlns:a16="http://schemas.microsoft.com/office/drawing/2014/main" id="{C4FCB5F2-5012-E187-6F05-ABF5F7DEDDE1}"/>
              </a:ext>
            </a:extLst>
          </p:cNvPr>
          <p:cNvSpPr>
            <a:spLocks noGrp="1"/>
          </p:cNvSpPr>
          <p:nvPr>
            <p:ph type="body" orient="vert" idx="1"/>
          </p:nvPr>
        </p:nvSpPr>
        <p:spPr>
          <a:xfrm>
            <a:off x="301752" y="1055459"/>
            <a:ext cx="8534400" cy="4599432"/>
          </a:xfrm>
        </p:spPr>
        <p:txBody>
          <a:bodyPr/>
          <a:lstStyle/>
          <a:p>
            <a:endParaRPr lang="zh-TW" altLang="en-US"/>
          </a:p>
        </p:txBody>
      </p:sp>
      <p:sp>
        <p:nvSpPr>
          <p:cNvPr id="4" name="投影片編號版面配置區 3">
            <a:extLst>
              <a:ext uri="{FF2B5EF4-FFF2-40B4-BE49-F238E27FC236}">
                <a16:creationId xmlns:a16="http://schemas.microsoft.com/office/drawing/2014/main" id="{FFC061CC-AB38-1E80-9190-41707177CFEB}"/>
              </a:ext>
            </a:extLst>
          </p:cNvPr>
          <p:cNvSpPr>
            <a:spLocks noGrp="1"/>
          </p:cNvSpPr>
          <p:nvPr>
            <p:ph type="sldNum" sz="quarter" idx="12"/>
          </p:nvPr>
        </p:nvSpPr>
        <p:spPr/>
        <p:txBody>
          <a:bodyPr/>
          <a:lstStyle/>
          <a:p>
            <a:fld id="{369E457D-EE12-4164-8E32-9DDD40A95892}" type="slidenum">
              <a:rPr lang="zh-TW" altLang="en-US" smtClean="0"/>
              <a:pPr/>
              <a:t>98</a:t>
            </a:fld>
            <a:endParaRPr lang="zh-TW" altLang="en-US"/>
          </a:p>
        </p:txBody>
      </p:sp>
      <p:pic>
        <p:nvPicPr>
          <p:cNvPr id="6" name="圖片 5">
            <a:extLst>
              <a:ext uri="{FF2B5EF4-FFF2-40B4-BE49-F238E27FC236}">
                <a16:creationId xmlns:a16="http://schemas.microsoft.com/office/drawing/2014/main" id="{1170E805-6447-0D50-49D7-C75F05A78145}"/>
              </a:ext>
            </a:extLst>
          </p:cNvPr>
          <p:cNvPicPr>
            <a:picLocks noChangeAspect="1"/>
          </p:cNvPicPr>
          <p:nvPr/>
        </p:nvPicPr>
        <p:blipFill>
          <a:blip r:embed="rId2"/>
          <a:stretch>
            <a:fillRect/>
          </a:stretch>
        </p:blipFill>
        <p:spPr>
          <a:xfrm>
            <a:off x="0" y="4149080"/>
            <a:ext cx="9144000" cy="1898096"/>
          </a:xfrm>
          <a:prstGeom prst="rect">
            <a:avLst/>
          </a:prstGeom>
        </p:spPr>
      </p:pic>
      <p:pic>
        <p:nvPicPr>
          <p:cNvPr id="8" name="圖片 7">
            <a:extLst>
              <a:ext uri="{FF2B5EF4-FFF2-40B4-BE49-F238E27FC236}">
                <a16:creationId xmlns:a16="http://schemas.microsoft.com/office/drawing/2014/main" id="{145C3F1C-57FF-5738-E528-B11B8876F4CE}"/>
              </a:ext>
            </a:extLst>
          </p:cNvPr>
          <p:cNvPicPr>
            <a:picLocks noChangeAspect="1"/>
          </p:cNvPicPr>
          <p:nvPr/>
        </p:nvPicPr>
        <p:blipFill>
          <a:blip r:embed="rId3"/>
          <a:stretch>
            <a:fillRect/>
          </a:stretch>
        </p:blipFill>
        <p:spPr>
          <a:xfrm>
            <a:off x="-3048" y="980728"/>
            <a:ext cx="9144000" cy="3161366"/>
          </a:xfrm>
          <a:prstGeom prst="rect">
            <a:avLst/>
          </a:prstGeom>
        </p:spPr>
      </p:pic>
      <p:pic>
        <p:nvPicPr>
          <p:cNvPr id="10" name="圖片 9">
            <a:extLst>
              <a:ext uri="{FF2B5EF4-FFF2-40B4-BE49-F238E27FC236}">
                <a16:creationId xmlns:a16="http://schemas.microsoft.com/office/drawing/2014/main" id="{5A9301AD-D9F7-8125-D274-A0D1B2F68D0C}"/>
              </a:ext>
            </a:extLst>
          </p:cNvPr>
          <p:cNvPicPr>
            <a:picLocks noChangeAspect="1"/>
          </p:cNvPicPr>
          <p:nvPr/>
        </p:nvPicPr>
        <p:blipFill>
          <a:blip r:embed="rId4"/>
          <a:stretch>
            <a:fillRect/>
          </a:stretch>
        </p:blipFill>
        <p:spPr>
          <a:xfrm>
            <a:off x="0" y="6125192"/>
            <a:ext cx="9144000" cy="683173"/>
          </a:xfrm>
          <a:prstGeom prst="rect">
            <a:avLst/>
          </a:prstGeom>
        </p:spPr>
      </p:pic>
    </p:spTree>
    <p:extLst>
      <p:ext uri="{BB962C8B-B14F-4D97-AF65-F5344CB8AC3E}">
        <p14:creationId xmlns:p14="http://schemas.microsoft.com/office/powerpoint/2010/main" val="2986249081"/>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市鎮">
  <a:themeElements>
    <a:clrScheme name="市鎮">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觀點">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市鎮">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Civic</Template>
  <TotalTime>18132</TotalTime>
  <Words>7754</Words>
  <Application>Microsoft Office PowerPoint</Application>
  <PresentationFormat>如螢幕大小 (4:3)</PresentationFormat>
  <Paragraphs>965</Paragraphs>
  <Slides>98</Slides>
  <Notes>38</Notes>
  <HiddenSlides>2</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98</vt:i4>
      </vt:variant>
    </vt:vector>
  </HeadingPairs>
  <TitlesOfParts>
    <vt:vector size="105" baseType="lpstr">
      <vt:lpstr>微軟正黑體</vt:lpstr>
      <vt:lpstr>Calibri</vt:lpstr>
      <vt:lpstr>Consolas</vt:lpstr>
      <vt:lpstr>Verdana</vt:lpstr>
      <vt:lpstr>Wingdings</vt:lpstr>
      <vt:lpstr>Wingdings 2</vt:lpstr>
      <vt:lpstr>市鎮</vt:lpstr>
      <vt:lpstr>第二堂 Django網站快速入門</vt:lpstr>
      <vt:lpstr>學習目標</vt:lpstr>
      <vt:lpstr>部落格網站的需求與規劃</vt:lpstr>
      <vt:lpstr>產生第一個網站框架</vt:lpstr>
      <vt:lpstr> 產生第一個網站框架 請在Anaconda Prompt之下執行以下指令</vt:lpstr>
      <vt:lpstr>產生第一個網站框架</vt:lpstr>
      <vt:lpstr>產生第一個網站框架</vt:lpstr>
      <vt:lpstr>產生第一個網站框架</vt:lpstr>
      <vt:lpstr>產生第一個網站框架</vt:lpstr>
      <vt:lpstr>PowerPoint 簡報</vt:lpstr>
      <vt:lpstr>Django資料夾與檔案解析</vt:lpstr>
      <vt:lpstr>編輯settings.py(提醒學生這容易漏掉)</vt:lpstr>
      <vt:lpstr>編輯settings.py</vt:lpstr>
      <vt:lpstr>資料庫與Django的關係</vt:lpstr>
      <vt:lpstr>資料庫與Django的關係</vt:lpstr>
      <vt:lpstr>定義資料模型</vt:lpstr>
      <vt:lpstr>定義資料模型(migrate後，提醒學生：要reflash sqlite檔案才會看到post資料表出現)</vt:lpstr>
      <vt:lpstr> 啟用admin管理介面</vt:lpstr>
      <vt:lpstr>建立一個管理者的帳號以及密碼</vt:lpstr>
      <vt:lpstr>PowerPoint 簡報</vt:lpstr>
      <vt:lpstr>定義的Post納入管理 透過admin.site.register註冊</vt:lpstr>
      <vt:lpstr>啟用admin管理介面</vt:lpstr>
      <vt:lpstr>啟用admin管理介面</vt:lpstr>
      <vt:lpstr>啟用admin管理介面</vt:lpstr>
      <vt:lpstr>啟用admin管理介面</vt:lpstr>
      <vt:lpstr>啟用admin管理介面</vt:lpstr>
      <vt:lpstr>啟用admin管理介面</vt:lpstr>
      <vt:lpstr>啟用admin管理介面</vt:lpstr>
      <vt:lpstr>啟用admin管理介面</vt:lpstr>
      <vt:lpstr>比較設定前後欄位顯示</vt:lpstr>
      <vt:lpstr>讀取資料庫中的內容</vt:lpstr>
      <vt:lpstr>讀取資料庫中的內容</vt:lpstr>
      <vt:lpstr>讀取資料庫中的內容(簡化只show posts就好) 02mblog資料夾</vt:lpstr>
      <vt:lpstr>讀取資料庫中的內容</vt:lpstr>
      <vt:lpstr>網址對應與頁面輸出</vt:lpstr>
      <vt:lpstr>建立網頁輸出模版template</vt:lpstr>
      <vt:lpstr>建立網頁輸出模版template</vt:lpstr>
      <vt:lpstr>建立網頁輸出模版template</vt:lpstr>
      <vt:lpstr>建立網頁輸出模版template</vt:lpstr>
      <vt:lpstr>建立網頁輸出模版template</vt:lpstr>
      <vt:lpstr>建立網頁輸出模版template index-s0.html</vt:lpstr>
      <vt:lpstr>建立網頁輸出模版template</vt:lpstr>
      <vt:lpstr>建立網頁輸出模版template</vt:lpstr>
      <vt:lpstr>建立網頁輸出模版template</vt:lpstr>
      <vt:lpstr>建立網頁輸出模版template</vt:lpstr>
      <vt:lpstr>PowerPoint 簡報</vt:lpstr>
      <vt:lpstr>PowerPoint 簡報</vt:lpstr>
      <vt:lpstr>PowerPoint 簡報</vt:lpstr>
      <vt:lpstr>建立網頁輸出模版template</vt:lpstr>
      <vt:lpstr>建立網頁輸出模版template(略)</vt:lpstr>
      <vt:lpstr>建立網頁輸出模版template</vt:lpstr>
      <vt:lpstr>建立網頁template(index-s1BS5.html)</vt:lpstr>
      <vt:lpstr>建立網頁輸出模版template</vt:lpstr>
      <vt:lpstr>網址對應urls.py</vt:lpstr>
      <vt:lpstr>網址對應urls.py</vt:lpstr>
      <vt:lpstr>網址對應urls.py</vt:lpstr>
      <vt:lpstr>網址對應urls.py</vt:lpstr>
      <vt:lpstr>post.html</vt:lpstr>
      <vt:lpstr>post.html</vt:lpstr>
      <vt:lpstr>post.html輸出結果</vt:lpstr>
      <vt:lpstr>共用模版的使用(後面再介紹)</vt:lpstr>
      <vt:lpstr>共用模版的使用</vt:lpstr>
      <vt:lpstr>共用模版的使用</vt:lpstr>
      <vt:lpstr>共用模版的使用 files:02mblog\mblog\mysite\templates</vt:lpstr>
      <vt:lpstr>共用模版的使用</vt:lpstr>
      <vt:lpstr>共用模版的使用</vt:lpstr>
      <vt:lpstr>共用模版的使用</vt:lpstr>
      <vt:lpstr>共用模版的使用</vt:lpstr>
      <vt:lpstr>共用模版的使用</vt:lpstr>
      <vt:lpstr>共用模版的使用</vt:lpstr>
      <vt:lpstr>進階網站功能運用</vt:lpstr>
      <vt:lpstr>Javascript以及CSS檔案的引用</vt:lpstr>
      <vt:lpstr>Javascript以及CSS檔案的引用</vt:lpstr>
      <vt:lpstr>Javascript以及CSS檔案的引用</vt:lpstr>
      <vt:lpstr>Javascript以及CSS檔案的引用(側邊欄)</vt:lpstr>
      <vt:lpstr>Javascript以及CSS檔案的引用</vt:lpstr>
      <vt:lpstr>Javascript以及CSS檔案的引用</vt:lpstr>
      <vt:lpstr>Javascript以及CSS檔案的引用</vt:lpstr>
      <vt:lpstr>圖形檔的應用</vt:lpstr>
      <vt:lpstr>圖形檔的應用</vt:lpstr>
      <vt:lpstr>圖形檔的應用</vt:lpstr>
      <vt:lpstr>圖形檔的應用</vt:lpstr>
      <vt:lpstr>在主網頁顯示文章摘要</vt:lpstr>
      <vt:lpstr>在主網頁顯示文章摘要</vt:lpstr>
      <vt:lpstr>在主網頁顯示文章摘要</vt:lpstr>
      <vt:lpstr>PowerPoint 簡報</vt:lpstr>
      <vt:lpstr>部落格文章的HTML內容處理</vt:lpstr>
      <vt:lpstr>部落格文章的HTML內容處理</vt:lpstr>
      <vt:lpstr>部落格文章的HTML內容處理</vt:lpstr>
      <vt:lpstr>部落格文章的HTML內容處理 (記得加&lt;img src=“”)不能只加圖片網址</vt:lpstr>
      <vt:lpstr>部落格文章的HTML內容處理</vt:lpstr>
      <vt:lpstr>Markdown語法解析與應用 (02mblog index.thml)</vt:lpstr>
      <vt:lpstr>在mysite底下建立一個templatetags資料夾</vt:lpstr>
      <vt:lpstr>Markdown語法解析與應用(注意: | safe的順序)</vt:lpstr>
      <vt:lpstr>Markdown語法解析與應用</vt:lpstr>
      <vt:lpstr>Markdown語法解析與應用</vt:lpstr>
      <vt:lpstr>Markdown語法解析與應用</vt:lpstr>
      <vt:lpstr>套件幫忙轉換成h2~6標籤，原本只有p標籤</vt:lpstr>
    </vt:vector>
  </TitlesOfParts>
  <Company>SYNNEX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第一堂 程式設計所需要的基礎知識</dc:title>
  <dc:creator>USER</dc:creator>
  <cp:lastModifiedBy>炳志 林</cp:lastModifiedBy>
  <cp:revision>217</cp:revision>
  <dcterms:created xsi:type="dcterms:W3CDTF">2017-10-09T22:32:02Z</dcterms:created>
  <dcterms:modified xsi:type="dcterms:W3CDTF">2026-10-03T14:24:30Z</dcterms:modified>
</cp:coreProperties>
</file>