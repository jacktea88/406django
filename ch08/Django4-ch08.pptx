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3"/>
  </p:notesMasterIdLst>
  <p:sldIdLst>
    <p:sldId id="256" r:id="rId2"/>
    <p:sldId id="257" r:id="rId3"/>
    <p:sldId id="259" r:id="rId4"/>
    <p:sldId id="260" r:id="rId5"/>
    <p:sldId id="261" r:id="rId6"/>
    <p:sldId id="264" r:id="rId7"/>
    <p:sldId id="262" r:id="rId8"/>
    <p:sldId id="356" r:id="rId9"/>
    <p:sldId id="357" r:id="rId10"/>
    <p:sldId id="358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84" r:id="rId24"/>
    <p:sldId id="276" r:id="rId25"/>
    <p:sldId id="278" r:id="rId26"/>
    <p:sldId id="277" r:id="rId27"/>
    <p:sldId id="279" r:id="rId28"/>
    <p:sldId id="280" r:id="rId29"/>
    <p:sldId id="285" r:id="rId30"/>
    <p:sldId id="281" r:id="rId31"/>
    <p:sldId id="282" r:id="rId32"/>
    <p:sldId id="289" r:id="rId33"/>
    <p:sldId id="283" r:id="rId34"/>
    <p:sldId id="286" r:id="rId35"/>
    <p:sldId id="287" r:id="rId36"/>
    <p:sldId id="288" r:id="rId37"/>
    <p:sldId id="290" r:id="rId38"/>
    <p:sldId id="291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293" r:id="rId64"/>
    <p:sldId id="319" r:id="rId65"/>
    <p:sldId id="320" r:id="rId66"/>
    <p:sldId id="321" r:id="rId67"/>
    <p:sldId id="322" r:id="rId68"/>
    <p:sldId id="379" r:id="rId69"/>
    <p:sldId id="359" r:id="rId70"/>
    <p:sldId id="360" r:id="rId71"/>
    <p:sldId id="323" r:id="rId72"/>
    <p:sldId id="326" r:id="rId73"/>
    <p:sldId id="327" r:id="rId74"/>
    <p:sldId id="328" r:id="rId75"/>
    <p:sldId id="329" r:id="rId76"/>
    <p:sldId id="330" r:id="rId77"/>
    <p:sldId id="331" r:id="rId78"/>
    <p:sldId id="341" r:id="rId79"/>
    <p:sldId id="332" r:id="rId80"/>
    <p:sldId id="333" r:id="rId81"/>
    <p:sldId id="377" r:id="rId82"/>
    <p:sldId id="334" r:id="rId83"/>
    <p:sldId id="337" r:id="rId84"/>
    <p:sldId id="338" r:id="rId85"/>
    <p:sldId id="339" r:id="rId86"/>
    <p:sldId id="340" r:id="rId87"/>
    <p:sldId id="342" r:id="rId88"/>
    <p:sldId id="335" r:id="rId89"/>
    <p:sldId id="343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36" r:id="rId101"/>
    <p:sldId id="355" r:id="rId102"/>
    <p:sldId id="361" r:id="rId103"/>
    <p:sldId id="378" r:id="rId104"/>
    <p:sldId id="362" r:id="rId105"/>
    <p:sldId id="363" r:id="rId106"/>
    <p:sldId id="364" r:id="rId107"/>
    <p:sldId id="365" r:id="rId108"/>
    <p:sldId id="366" r:id="rId109"/>
    <p:sldId id="367" r:id="rId110"/>
    <p:sldId id="368" r:id="rId111"/>
    <p:sldId id="380" r:id="rId112"/>
    <p:sldId id="369" r:id="rId113"/>
    <p:sldId id="370" r:id="rId114"/>
    <p:sldId id="371" r:id="rId115"/>
    <p:sldId id="372" r:id="rId116"/>
    <p:sldId id="373" r:id="rId117"/>
    <p:sldId id="374" r:id="rId118"/>
    <p:sldId id="375" r:id="rId119"/>
    <p:sldId id="376" r:id="rId120"/>
    <p:sldId id="381" r:id="rId121"/>
    <p:sldId id="382" r:id="rId1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AF28DD-5AE9-4678-AAB0-44EBEFC48792}" v="116" dt="2023-05-24T00:17:36.264"/>
    <p1510:client id="{7A12BE5D-4429-476B-AB23-C8B469267249}" v="277" dt="2023-05-24T07:12:24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1" autoAdjust="0"/>
    <p:restoredTop sz="82587" autoAdjust="0"/>
  </p:normalViewPr>
  <p:slideViewPr>
    <p:cSldViewPr>
      <p:cViewPr>
        <p:scale>
          <a:sx n="68" d="100"/>
          <a:sy n="68" d="100"/>
        </p:scale>
        <p:origin x="-318" y="-6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notesMaster" Target="notesMasters/notesMaster1.xml"/><Relationship Id="rId128" Type="http://schemas.microsoft.com/office/2015/10/relationships/revisionInfo" Target="revisionInfo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E2433-649F-42E5-AECB-94990831C40A}" type="datetimeFigureOut">
              <a:rPr lang="zh-TW" altLang="en-US" smtClean="0"/>
              <a:pPr/>
              <a:t>2025/12/12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FE99C-3BAC-4305-ABBB-3890AB1B451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196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Form:get</a:t>
            </a:r>
            <a:r>
              <a:rPr lang="en-US" altLang="zh-TW" dirty="0"/>
              <a:t>, label, </a:t>
            </a:r>
            <a:r>
              <a:rPr lang="en-US" altLang="zh-TW" dirty="0" err="1"/>
              <a:t>input:text:pass:sumit:reset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9225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V-view</a:t>
            </a:r>
          </a:p>
          <a:p>
            <a:r>
              <a:rPr lang="en-US" altLang="zh-TW" sz="12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Urid = null or none or “” ??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0423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Variable_default</a:t>
            </a:r>
            <a:endParaRPr lang="en-US" altLang="zh-TW" dirty="0"/>
          </a:p>
          <a:p>
            <a:r>
              <a:rPr lang="en-US" altLang="zh-TW" dirty="0" err="1"/>
              <a:t>ifelse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6245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練習表單元件 </a:t>
            </a:r>
            <a:endParaRPr lang="en-US" altLang="zh-TW" dirty="0"/>
          </a:p>
          <a:p>
            <a:r>
              <a:rPr lang="zh-TW" altLang="en-US" dirty="0"/>
              <a:t>注意選單要放在</a:t>
            </a:r>
            <a:r>
              <a:rPr lang="en-US" altLang="zh-TW" dirty="0"/>
              <a:t>&lt;form&gt;</a:t>
            </a:r>
            <a:r>
              <a:rPr lang="zh-TW" altLang="en-US" dirty="0"/>
              <a:t>之內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4271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Input:checkbox</a:t>
            </a:r>
            <a:r>
              <a:rPr lang="en-US" altLang="zh-TW" dirty="0"/>
              <a:t>  </a:t>
            </a:r>
            <a:r>
              <a:rPr lang="zh-TW" altLang="en-US" dirty="0"/>
              <a:t>須補</a:t>
            </a:r>
            <a:r>
              <a:rPr lang="en-US" altLang="zh-TW" dirty="0"/>
              <a:t>value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5818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M-model</a:t>
            </a:r>
          </a:p>
          <a:p>
            <a:r>
              <a:rPr lang="en-US" altLang="zh-TW" dirty="0" err="1"/>
              <a:t>Mf-charfield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可介紹</a:t>
            </a:r>
            <a:r>
              <a:rPr lang="en-US" altLang="zh-TW" dirty="0"/>
              <a:t>nickname: </a:t>
            </a:r>
            <a:r>
              <a:rPr lang="zh-TW" altLang="en-US" dirty="0"/>
              <a:t>加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verbose_name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暱稱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zh-TW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TW" altLang="en-US" dirty="0"/>
              <a:t>在</a:t>
            </a:r>
            <a:r>
              <a:rPr lang="en-US" altLang="zh-TW" dirty="0"/>
              <a:t>admin</a:t>
            </a:r>
            <a:r>
              <a:rPr lang="zh-TW" altLang="en-US" dirty="0"/>
              <a:t>畫面會改變欄位顯示名稱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6502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先建立一些心情</a:t>
            </a:r>
            <a:r>
              <a:rPr lang="en-US" altLang="zh-TW" dirty="0"/>
              <a:t>mood</a:t>
            </a:r>
            <a:r>
              <a:rPr lang="zh-TW" altLang="en-US" dirty="0"/>
              <a:t>資料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7054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Class:</a:t>
            </a:r>
            <a:r>
              <a:rPr lang="zh-TW" altLang="en-US" dirty="0"/>
              <a:t>　</a:t>
            </a:r>
            <a:r>
              <a:rPr lang="en-US" altLang="zh-TW" dirty="0"/>
              <a:t>Row -&gt; col-12 -&gt; card -&gt; card-header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3929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 </a:t>
            </a:r>
            <a:r>
              <a:rPr lang="en-US" altLang="zh-TW" dirty="0" err="1"/>
              <a:t>div.card</a:t>
            </a:r>
            <a:r>
              <a:rPr lang="zh-TW" altLang="en-US" dirty="0"/>
              <a:t>  </a:t>
            </a:r>
            <a:r>
              <a:rPr lang="en-US" altLang="zh-TW" dirty="0"/>
              <a:t>-&gt;</a:t>
            </a:r>
            <a:r>
              <a:rPr lang="en-US" altLang="zh-TW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‘card'</a:t>
            </a:r>
            <a:r>
              <a:rPr lang="en-US" altLang="zh-TW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2687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注意：要有</a:t>
            </a:r>
            <a:r>
              <a:rPr lang="en-US" altLang="zh-TW" dirty="0"/>
              <a:t>mood = … (status=mood)</a:t>
            </a:r>
            <a:r>
              <a:rPr lang="zh-TW" altLang="en-US" dirty="0"/>
              <a:t>因為</a:t>
            </a:r>
            <a:r>
              <a:rPr lang="en-US" altLang="zh-TW" dirty="0"/>
              <a:t>post</a:t>
            </a:r>
            <a:r>
              <a:rPr lang="zh-TW" altLang="en-US" dirty="0"/>
              <a:t>存的是</a:t>
            </a:r>
            <a:r>
              <a:rPr lang="en-US" altLang="zh-TW" dirty="0"/>
              <a:t>mood id</a:t>
            </a:r>
            <a:r>
              <a:rPr lang="zh-TW" altLang="en-US" dirty="0"/>
              <a:t>以對應</a:t>
            </a:r>
            <a:r>
              <a:rPr lang="en-US" altLang="zh-TW" dirty="0"/>
              <a:t>mood</a:t>
            </a:r>
            <a:r>
              <a:rPr lang="zh-TW" altLang="en-US" dirty="0"/>
              <a:t>資料表的內容，而不是</a:t>
            </a:r>
            <a:r>
              <a:rPr lang="en-US" altLang="zh-TW" dirty="0"/>
              <a:t>mood</a:t>
            </a:r>
            <a:r>
              <a:rPr lang="zh-TW" altLang="en-US" dirty="0"/>
              <a:t>內容</a:t>
            </a:r>
            <a:r>
              <a:rPr lang="en-US" altLang="zh-TW" dirty="0"/>
              <a:t>(</a:t>
            </a:r>
            <a:r>
              <a:rPr lang="zh-TW" altLang="en-US" dirty="0"/>
              <a:t>開心、感恩等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9712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https://icons.getbootstrap.com/#usage</a:t>
            </a:r>
          </a:p>
          <a:p>
            <a:r>
              <a:rPr lang="en-US" altLang="zh-TW" dirty="0" err="1"/>
              <a:t>js</a:t>
            </a:r>
            <a:r>
              <a:rPr lang="zh-TW" altLang="en-US" dirty="0"/>
              <a:t>放在</a:t>
            </a:r>
            <a:r>
              <a:rPr lang="en-US" altLang="zh-TW" dirty="0"/>
              <a:t>header.html</a:t>
            </a:r>
            <a:r>
              <a:rPr lang="zh-TW" altLang="en-US" dirty="0"/>
              <a:t>內</a:t>
            </a:r>
            <a:r>
              <a:rPr lang="en-US" altLang="zh-TW" dirty="0"/>
              <a:t>container</a:t>
            </a:r>
            <a:r>
              <a:rPr lang="zh-TW" altLang="en-US" dirty="0"/>
              <a:t>下方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65057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找出全部的</a:t>
            </a:r>
            <a:r>
              <a:rPr lang="en-US" altLang="zh-TW" dirty="0"/>
              <a:t>posts </a:t>
            </a:r>
            <a:r>
              <a:rPr lang="zh-TW" altLang="en-US" dirty="0"/>
              <a:t>和 </a:t>
            </a:r>
            <a:r>
              <a:rPr lang="en-US" altLang="zh-TW" dirty="0"/>
              <a:t>moods </a:t>
            </a:r>
            <a:r>
              <a:rPr lang="zh-TW" altLang="en-US" dirty="0"/>
              <a:t>讓網頁能</a:t>
            </a:r>
            <a:r>
              <a:rPr lang="en-US" altLang="zh-TW" dirty="0"/>
              <a:t>show</a:t>
            </a:r>
            <a:r>
              <a:rPr lang="zh-TW" altLang="en-US" dirty="0"/>
              <a:t>出來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2229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注意：</a:t>
            </a:r>
            <a:r>
              <a:rPr lang="en-US" altLang="zh-TW" sz="12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p.mood.status</a:t>
            </a:r>
            <a:r>
              <a:rPr lang="en-US" altLang="zh-TW" sz="12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zh-TW" altLang="en-US" sz="12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而不是</a:t>
            </a:r>
            <a:r>
              <a:rPr lang="en-US" altLang="zh-TW" sz="12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p.mood</a:t>
            </a:r>
            <a:r>
              <a:rPr lang="en-US" altLang="zh-TW" sz="12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(</a:t>
            </a:r>
            <a:r>
              <a:rPr lang="zh-TW" altLang="en-US" sz="12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這只是</a:t>
            </a:r>
            <a:r>
              <a:rPr lang="en-US" altLang="zh-TW" sz="12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mood</a:t>
            </a:r>
            <a:r>
              <a:rPr lang="zh-TW" altLang="en-US" sz="12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的</a:t>
            </a:r>
            <a:r>
              <a:rPr lang="en-US" altLang="zh-TW" sz="12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id</a:t>
            </a:r>
            <a:r>
              <a:rPr lang="zh-TW" altLang="en-US" sz="12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而不是內容</a:t>
            </a:r>
            <a:r>
              <a:rPr lang="en-US" altLang="zh-TW" sz="12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</a:p>
          <a:p>
            <a:r>
              <a:rPr lang="zh-TW" altLang="en-US" dirty="0"/>
              <a:t>會看到正常顯示內容是因為我們有設定</a:t>
            </a:r>
            <a:r>
              <a:rPr lang="en-US" altLang="zh-TW" dirty="0"/>
              <a:t>mood </a:t>
            </a:r>
            <a:r>
              <a:rPr lang="zh-TW" altLang="en-US" dirty="0"/>
              <a:t>的 </a:t>
            </a:r>
            <a:r>
              <a:rPr lang="en-US" altLang="zh-TW" dirty="0"/>
              <a:t>__str__ </a:t>
            </a:r>
            <a:r>
              <a:rPr lang="zh-TW" altLang="en-US" dirty="0"/>
              <a:t>會顯示</a:t>
            </a:r>
            <a:r>
              <a:rPr lang="en-US" altLang="zh-TW" dirty="0" err="1"/>
              <a:t>self.status</a:t>
            </a:r>
            <a:r>
              <a:rPr lang="zh-TW" altLang="en-US" dirty="0"/>
              <a:t>也就是</a:t>
            </a:r>
            <a:r>
              <a:rPr lang="en-US" altLang="zh-TW" dirty="0" err="1"/>
              <a:t>mood.status</a:t>
            </a:r>
            <a:endParaRPr lang="en-US" altLang="zh-TW" dirty="0"/>
          </a:p>
          <a:p>
            <a:r>
              <a:rPr lang="zh-TW" altLang="en-US" dirty="0"/>
              <a:t>可</a:t>
            </a:r>
            <a:r>
              <a:rPr lang="en-US" altLang="zh-TW" dirty="0"/>
              <a:t>demo</a:t>
            </a:r>
            <a:r>
              <a:rPr lang="zh-TW" altLang="en-US" dirty="0"/>
              <a:t>拿掉</a:t>
            </a:r>
            <a:r>
              <a:rPr lang="en-US" altLang="zh-TW" dirty="0"/>
              <a:t>__str__</a:t>
            </a:r>
            <a:r>
              <a:rPr lang="zh-TW" altLang="en-US" dirty="0"/>
              <a:t>的設定就可知道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36169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Copy index.html rename to posting.html then remove show post part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90018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改成</a:t>
            </a:r>
            <a:r>
              <a:rPr lang="en-US" altLang="zh-TW" dirty="0"/>
              <a:t>post</a:t>
            </a:r>
            <a:r>
              <a:rPr lang="zh-TW" altLang="en-US" dirty="0"/>
              <a:t>，注意</a:t>
            </a:r>
            <a:r>
              <a:rPr lang="en-US" altLang="zh-TW" dirty="0"/>
              <a:t>action=“ . ”</a:t>
            </a:r>
          </a:p>
          <a:p>
            <a:r>
              <a:rPr lang="zh-TW" altLang="en-US" dirty="0"/>
              <a:t>因為現在首頁是</a:t>
            </a:r>
            <a:r>
              <a:rPr lang="en-US" altLang="zh-TW" dirty="0"/>
              <a:t>index.html</a:t>
            </a:r>
            <a:r>
              <a:rPr lang="zh-TW" altLang="en-US" dirty="0"/>
              <a:t>並不是</a:t>
            </a:r>
            <a:r>
              <a:rPr lang="en-US" altLang="zh-TW" dirty="0"/>
              <a:t>show post</a:t>
            </a:r>
            <a:r>
              <a:rPr lang="zh-TW" altLang="en-US" dirty="0"/>
              <a:t>的網頁</a:t>
            </a:r>
            <a:r>
              <a:rPr lang="en-US" altLang="zh-TW" dirty="0"/>
              <a:t>posting</a:t>
            </a:r>
            <a:r>
              <a:rPr lang="zh-TW" altLang="en-US" dirty="0"/>
              <a:t>，所以不能用</a:t>
            </a:r>
            <a:r>
              <a:rPr lang="en-US" altLang="zh-TW" dirty="0"/>
              <a:t>”/”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5061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forms.py,</a:t>
            </a:r>
            <a:r>
              <a:rPr lang="zh-TW" altLang="en-US" dirty="0"/>
              <a:t>請放在</a:t>
            </a:r>
            <a:r>
              <a:rPr lang="en-US" altLang="zh-TW" dirty="0" err="1"/>
              <a:t>mysite</a:t>
            </a:r>
            <a:r>
              <a:rPr lang="en-US" altLang="zh-TW" dirty="0"/>
              <a:t> </a:t>
            </a:r>
            <a:r>
              <a:rPr lang="zh-TW" altLang="en-US" dirty="0"/>
              <a:t>資料夾之下</a:t>
            </a:r>
            <a:endParaRPr lang="en-US" altLang="zh-TW" dirty="0"/>
          </a:p>
          <a:p>
            <a:r>
              <a:rPr lang="zh-TW" altLang="en-US" dirty="0"/>
              <a:t>快速鍵：</a:t>
            </a:r>
            <a:r>
              <a:rPr lang="en-US" altLang="zh-TW" dirty="0"/>
              <a:t>class: </a:t>
            </a:r>
            <a:r>
              <a:rPr lang="en-US" altLang="zh-TW" b="1" dirty="0"/>
              <a:t>F</a:t>
            </a:r>
            <a:r>
              <a:rPr lang="en-US" altLang="zh-TW" dirty="0"/>
              <a:t>orm</a:t>
            </a:r>
          </a:p>
          <a:p>
            <a:r>
              <a:rPr lang="en-US" altLang="zh-TW" b="1" dirty="0" err="1"/>
              <a:t>ff</a:t>
            </a:r>
            <a:r>
              <a:rPr lang="en-US" altLang="zh-TW" dirty="0" err="1"/>
              <a:t>char</a:t>
            </a:r>
            <a:r>
              <a:rPr lang="en-US" altLang="zh-TW" dirty="0"/>
              <a:t> = </a:t>
            </a:r>
            <a:r>
              <a:rPr lang="en-US" altLang="zh-TW" dirty="0" err="1"/>
              <a:t>forms.CharField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82210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path('contact/', </a:t>
            </a:r>
            <a:r>
              <a:rPr lang="en-US" altLang="zh-TW" dirty="0" err="1"/>
              <a:t>views.contact</a:t>
            </a:r>
            <a:r>
              <a:rPr lang="en-US" altLang="zh-TW" dirty="0"/>
              <a:t>),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08439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header.html</a:t>
            </a:r>
            <a:r>
              <a:rPr lang="zh-TW" altLang="en-US" dirty="0"/>
              <a:t>選單的選項中</a:t>
            </a:r>
            <a:r>
              <a:rPr lang="en-US" altLang="zh-TW" dirty="0"/>
              <a:t>,</a:t>
            </a:r>
            <a:r>
              <a:rPr lang="zh-TW" altLang="en-US" dirty="0"/>
              <a:t>請加入如下的程式碼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&lt;a class="nav-link" </a:t>
            </a:r>
            <a:r>
              <a:rPr lang="en-US" altLang="zh-TW" dirty="0" err="1"/>
              <a:t>href</a:t>
            </a:r>
            <a:r>
              <a:rPr lang="en-US" altLang="zh-TW" dirty="0"/>
              <a:t>="/contact/"&gt;</a:t>
            </a:r>
            <a:r>
              <a:rPr lang="zh-TW" altLang="en-US" dirty="0"/>
              <a:t>連絡管理員</a:t>
            </a:r>
            <a:r>
              <a:rPr lang="en-US" altLang="zh-TW" dirty="0"/>
              <a:t>&lt;/a&gt;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09544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除了</a:t>
            </a:r>
            <a:r>
              <a:rPr lang="en-US" altLang="zh-TW" dirty="0"/>
              <a:t>.</a:t>
            </a:r>
            <a:r>
              <a:rPr lang="en-US" altLang="zh-TW" dirty="0" err="1"/>
              <a:t>as_p</a:t>
            </a:r>
            <a:r>
              <a:rPr lang="zh-TW" altLang="en-US" dirty="0"/>
              <a:t>之外</a:t>
            </a:r>
            <a:r>
              <a:rPr lang="en-US" altLang="zh-TW" dirty="0"/>
              <a:t>,</a:t>
            </a:r>
            <a:r>
              <a:rPr lang="zh-TW" altLang="en-US" dirty="0"/>
              <a:t>還有</a:t>
            </a:r>
            <a:r>
              <a:rPr lang="en-US" altLang="zh-TW" dirty="0"/>
              <a:t>.</a:t>
            </a:r>
            <a:r>
              <a:rPr lang="en-US" altLang="zh-TW" dirty="0" err="1"/>
              <a:t>as_table</a:t>
            </a:r>
            <a:r>
              <a:rPr lang="en-US" altLang="zh-TW" dirty="0"/>
              <a:t> </a:t>
            </a:r>
            <a:r>
              <a:rPr lang="zh-TW" altLang="en-US" dirty="0"/>
              <a:t>以及</a:t>
            </a:r>
            <a:r>
              <a:rPr lang="en-US" altLang="zh-TW" dirty="0"/>
              <a:t>.</a:t>
            </a:r>
            <a:r>
              <a:rPr lang="en-US" altLang="zh-TW" dirty="0" err="1"/>
              <a:t>as_ul</a:t>
            </a:r>
            <a:r>
              <a:rPr lang="zh-TW" altLang="en-US" dirty="0"/>
              <a:t>可以選。</a:t>
            </a:r>
            <a:r>
              <a:rPr lang="en-US" altLang="zh-TW" dirty="0"/>
              <a:t>{{</a:t>
            </a:r>
            <a:r>
              <a:rPr lang="en-US" altLang="zh-TW" dirty="0" err="1"/>
              <a:t>form.as_table</a:t>
            </a:r>
            <a:r>
              <a:rPr lang="en-US" altLang="zh-TW" dirty="0"/>
              <a:t> }}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5368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</a:pP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為何是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TP? </a:t>
            </a: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因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key name</a:t>
            </a: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是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TP</a:t>
            </a: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而內容是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taipei</a:t>
            </a: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，選單顯示的是內容，而表單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的是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key name or id    </a:t>
            </a:r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CITY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[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['</a:t>
            </a:r>
            <a:r>
              <a:rPr lang="en-US" altLang="zh-TW" b="0" dirty="0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TP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b="0" dirty="0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Taipei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'],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['</a:t>
            </a:r>
            <a:r>
              <a:rPr lang="en-US" altLang="zh-TW" b="0" dirty="0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TY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b="0" dirty="0" err="1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Taoyuang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'],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['</a:t>
            </a:r>
            <a:r>
              <a:rPr lang="en-US" altLang="zh-TW" b="0" dirty="0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TC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b="0" dirty="0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Taichung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'],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['</a:t>
            </a:r>
            <a:r>
              <a:rPr lang="en-US" altLang="zh-TW" b="0" dirty="0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TN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b="0" dirty="0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Tainan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'],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['</a:t>
            </a:r>
            <a:r>
              <a:rPr lang="en-US" altLang="zh-TW" b="0" dirty="0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KS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b="0" dirty="0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Kaohsiung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'],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['</a:t>
            </a:r>
            <a:r>
              <a:rPr lang="en-US" altLang="zh-TW" b="0" dirty="0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NA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b="0" dirty="0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Others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'],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6174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右上角帳戶圖案</a:t>
            </a:r>
            <a:r>
              <a:rPr lang="en-US" altLang="zh-TW" dirty="0"/>
              <a:t>-&gt;</a:t>
            </a:r>
            <a:r>
              <a:rPr lang="zh-TW" altLang="en-US" dirty="0"/>
              <a:t>更多設定</a:t>
            </a:r>
            <a:r>
              <a:rPr lang="en-US" altLang="zh-TW" dirty="0"/>
              <a:t>-&gt;</a:t>
            </a:r>
            <a:r>
              <a:rPr lang="zh-TW" altLang="en-US" dirty="0"/>
              <a:t>最下面更多選項下面有個</a:t>
            </a:r>
            <a:r>
              <a:rPr lang="en-US" altLang="zh-TW" dirty="0"/>
              <a:t>google</a:t>
            </a:r>
            <a:r>
              <a:rPr lang="zh-TW" altLang="en-US" dirty="0"/>
              <a:t>帳戶設定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38330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43DF2B9-2279-2AAD-1E67-287C42787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22FB5ADD-41DC-F08D-3427-EDEF3552E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41CFB64F-E588-D2A2-317B-07DF247FA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右上角帳戶圖案</a:t>
            </a:r>
            <a:r>
              <a:rPr lang="en-US" altLang="zh-TW" dirty="0"/>
              <a:t>-&gt;</a:t>
            </a:r>
            <a:r>
              <a:rPr lang="zh-TW" altLang="en-US" dirty="0"/>
              <a:t>更多設定</a:t>
            </a:r>
            <a:r>
              <a:rPr lang="en-US" altLang="zh-TW" dirty="0"/>
              <a:t>-&gt;</a:t>
            </a:r>
            <a:r>
              <a:rPr lang="zh-TW" altLang="en-US" dirty="0"/>
              <a:t>最下面更多選項下面有個</a:t>
            </a:r>
            <a:r>
              <a:rPr lang="en-US" altLang="zh-TW" dirty="0"/>
              <a:t>google</a:t>
            </a:r>
            <a:r>
              <a:rPr lang="zh-TW" altLang="en-US" dirty="0"/>
              <a:t>帳戶設定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244B4CAA-0DCB-8B11-73EF-888030420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35859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別忘了此字串的前面要加上「</a:t>
            </a:r>
            <a:r>
              <a:rPr lang="en-US" altLang="zh-TW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zh-TW" altLang="en-US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」才有辦法順利地把中文字利用</a:t>
            </a:r>
            <a:r>
              <a:rPr lang="en-US" altLang="zh-TW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zh-TW" altLang="en-US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函式插入到指定的</a:t>
            </a:r>
            <a:r>
              <a:rPr lang="en-US" altLang="zh-TW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zh-TW" altLang="en-US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位置處。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 err="1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EmailMessage</a:t>
            </a:r>
            <a:r>
              <a:rPr lang="zh-TW" altLang="en-US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建立電子郵件内容</a:t>
            </a:r>
            <a:r>
              <a:rPr lang="en-US" altLang="zh-TW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TW" altLang="en-US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它接收</a:t>
            </a:r>
            <a:r>
              <a:rPr lang="en-US" altLang="zh-TW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zh-TW" altLang="en-US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個參數</a:t>
            </a:r>
            <a:r>
              <a:rPr lang="en-US" altLang="zh-TW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TW" altLang="en-US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分別是</a:t>
            </a:r>
            <a:r>
              <a:rPr lang="en-US" altLang="zh-TW" b="0" dirty="0" err="1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EmallMessage</a:t>
            </a:r>
            <a:r>
              <a:rPr lang="en-US" altLang="zh-TW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en-US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信件主旨</a:t>
            </a:r>
            <a:r>
              <a:rPr lang="en-US" altLang="zh-TW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TW" altLang="en-US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信件內容</a:t>
            </a:r>
            <a:r>
              <a:rPr lang="en-US" altLang="zh-TW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TW" altLang="en-US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寄信人</a:t>
            </a:r>
            <a:r>
              <a:rPr lang="en-US" altLang="zh-TW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,“</a:t>
            </a:r>
            <a:r>
              <a:rPr lang="zh-TW" altLang="en-US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收信人電郵</a:t>
            </a:r>
            <a:r>
              <a:rPr lang="en-US" altLang="zh-TW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1,“</a:t>
            </a:r>
            <a:r>
              <a:rPr lang="zh-TW" altLang="en-US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收信人電郵</a:t>
            </a:r>
            <a:r>
              <a:rPr lang="en-US" altLang="zh-TW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2,“</a:t>
            </a:r>
            <a:r>
              <a:rPr lang="zh-TW" altLang="en-US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收信人電郵</a:t>
            </a:r>
            <a:r>
              <a:rPr lang="en-US" altLang="zh-TW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3]),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課本有誤，以下是另一方式</a:t>
            </a:r>
            <a:endParaRPr lang="en-US" altLang="zh-TW" b="0" dirty="0">
              <a:solidFill>
                <a:srgbClr val="65737E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altLang="zh-TW" b="0" dirty="0" err="1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core</a:t>
            </a:r>
            <a:r>
              <a:rPr lang="en-US" altLang="zh-TW" b="0" dirty="0" err="1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mail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send_mail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EMAIL_HOST_USER = </a:t>
            </a:r>
            <a:r>
              <a:rPr lang="en-US" altLang="zh-TW" b="0" dirty="0" err="1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settings.EMAIL_HOST_USER</a:t>
            </a:r>
            <a:endParaRPr lang="en-US" altLang="zh-TW" b="0" dirty="0">
              <a:solidFill>
                <a:srgbClr val="65737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TW" b="0" dirty="0" err="1">
                <a:solidFill>
                  <a:srgbClr val="6699CC"/>
                </a:solidFill>
                <a:effectLst/>
                <a:latin typeface="Consolas" panose="020B0609020204030204" pitchFamily="49" charset="0"/>
              </a:rPr>
              <a:t>send_mail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(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b="0" dirty="0">
                <a:solidFill>
                  <a:srgbClr val="6699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b="0" dirty="0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Test Message In Python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",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6699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b="0" dirty="0" err="1">
                <a:solidFill>
                  <a:srgbClr val="6699CC"/>
                </a:solidFill>
                <a:effectLst/>
                <a:latin typeface="Consolas" panose="020B0609020204030204" pitchFamily="49" charset="0"/>
              </a:rPr>
              <a:t>mail_body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6699CC"/>
                </a:solidFill>
                <a:effectLst/>
                <a:latin typeface="Consolas" panose="020B0609020204030204" pitchFamily="49" charset="0"/>
              </a:rPr>
              <a:t>                EMAIL_HOST_USER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6699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['</a:t>
            </a:r>
            <a:r>
              <a:rPr lang="en-US" altLang="zh-TW" b="0" dirty="0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jacktea@gmail.com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'],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6699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b="0" dirty="0" err="1">
                <a:solidFill>
                  <a:srgbClr val="F99157"/>
                </a:solidFill>
                <a:effectLst/>
                <a:latin typeface="Consolas" panose="020B0609020204030204" pitchFamily="49" charset="0"/>
              </a:rPr>
              <a:t>fail_silently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F99157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6699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12550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ModelForm</a:t>
            </a:r>
            <a:r>
              <a:rPr lang="en-US" altLang="zh-TW" dirty="0"/>
              <a:t> </a:t>
            </a:r>
            <a:r>
              <a:rPr lang="zh-TW" altLang="en-US" dirty="0"/>
              <a:t>不僅可以直接在表單中套用已在</a:t>
            </a:r>
            <a:r>
              <a:rPr lang="en-US" altLang="zh-TW" dirty="0"/>
              <a:t>Model</a:t>
            </a:r>
            <a:r>
              <a:rPr lang="zh-TW" altLang="en-US" dirty="0"/>
              <a:t>定義好的欄位</a:t>
            </a:r>
            <a:r>
              <a:rPr lang="en-US" altLang="zh-TW" dirty="0"/>
              <a:t>,</a:t>
            </a:r>
            <a:r>
              <a:rPr lang="zh-TW" altLang="en-US" dirty="0"/>
              <a:t>還可以決定要保留哪</a:t>
            </a:r>
          </a:p>
          <a:p>
            <a:r>
              <a:rPr lang="zh-TW" altLang="en-US" dirty="0"/>
              <a:t>些欄位</a:t>
            </a:r>
            <a:r>
              <a:rPr lang="en-US" altLang="zh-TW" dirty="0"/>
              <a:t>,</a:t>
            </a:r>
            <a:r>
              <a:rPr lang="zh-TW" altLang="en-US" dirty="0"/>
              <a:t>並且可以使用簡單指令就把表單中的資料儲存到資料表中</a:t>
            </a:r>
            <a:r>
              <a:rPr lang="en-US" altLang="zh-TW" dirty="0"/>
              <a:t>,</a:t>
            </a:r>
            <a:r>
              <a:rPr lang="zh-TW" altLang="en-US" dirty="0"/>
              <a:t>非常實用</a:t>
            </a:r>
            <a:r>
              <a:rPr lang="en-US" altLang="zh-TW" dirty="0"/>
              <a:t>,</a:t>
            </a:r>
            <a:r>
              <a:rPr lang="zh-TW" altLang="en-US" dirty="0"/>
              <a:t>一定要</a:t>
            </a:r>
          </a:p>
          <a:p>
            <a:r>
              <a:rPr lang="zh-TW" altLang="en-US" dirty="0"/>
              <a:t>學會。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77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7354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en-US" altLang="zh-TW" dirty="0"/>
              <a:t>posting.html</a:t>
            </a:r>
            <a:r>
              <a:rPr lang="zh-TW" altLang="en-US" dirty="0"/>
              <a:t>來改成</a:t>
            </a:r>
            <a:r>
              <a:rPr lang="en-US" altLang="zh-TW" dirty="0"/>
              <a:t>post2db.html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09891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別忘了加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mysite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models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檔案起始處別忘了要引入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models,</a:t>
            </a: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然後在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class Meta:</a:t>
            </a: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中有兩個項目要指定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,model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是指定此表單要參照的是哪一個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Model,</a:t>
            </a: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在這裡我們參照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models.Post</a:t>
            </a: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。接下來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在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fields </a:t>
            </a: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則要指定使用 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models.Post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中的哪些欄位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在這裡我們使用了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mood.nickname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以及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message </a:t>
            </a: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這個欄位。其實到這邊就算是完成了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下面那一段程式碼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是為了要把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預設的英文欄位名稱改為中文才要加進去的片段。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79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30446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延用前一節，若沒延用就要記得做</a:t>
            </a:r>
            <a:r>
              <a:rPr lang="en-US" altLang="zh-TW" dirty="0"/>
              <a:t>migrate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84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en-US" altLang="zh-TW" dirty="0"/>
              <a:t>posting</a:t>
            </a:r>
            <a:r>
              <a:rPr lang="zh-TW" altLang="en-US" dirty="0"/>
              <a:t>的話，就不用改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13985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table</a:t>
            </a:r>
            <a:r>
              <a:rPr lang="zh-TW" altLang="en-US" dirty="0"/>
              <a:t>要記得加，</a:t>
            </a:r>
            <a:r>
              <a:rPr lang="en-US" altLang="zh-TW" dirty="0"/>
              <a:t>table</a:t>
            </a:r>
            <a:r>
              <a:rPr lang="zh-TW" altLang="en-US" dirty="0"/>
              <a:t>之間這段換掉就好</a:t>
            </a:r>
            <a:endParaRPr lang="en-US" altLang="zh-TW" dirty="0"/>
          </a:p>
          <a:p>
            <a:r>
              <a:rPr lang="en-US" altLang="zh-TW" dirty="0" err="1"/>
              <a:t>As_p</a:t>
            </a:r>
            <a:r>
              <a:rPr lang="zh-TW" altLang="en-US" dirty="0"/>
              <a:t>就不用另外加什麼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08483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注意</a:t>
            </a:r>
            <a:r>
              <a:rPr lang="en-US" altLang="zh-TW" dirty="0"/>
              <a:t>,</a:t>
            </a:r>
            <a:r>
              <a:rPr lang="zh-TW" altLang="en-US" dirty="0"/>
              <a:t>在剛剛並沒有特別處理心情 </a:t>
            </a:r>
            <a:r>
              <a:rPr lang="en-US" altLang="zh-TW" dirty="0"/>
              <a:t>mood </a:t>
            </a:r>
            <a:r>
              <a:rPr lang="zh-TW" altLang="en-US" dirty="0"/>
              <a:t>的部份</a:t>
            </a:r>
            <a:r>
              <a:rPr lang="en-US" altLang="zh-TW" dirty="0"/>
              <a:t>,</a:t>
            </a:r>
            <a:r>
              <a:rPr lang="zh-TW" altLang="en-US" dirty="0"/>
              <a:t>但是</a:t>
            </a:r>
            <a:r>
              <a:rPr lang="en-US" altLang="zh-TW" dirty="0" err="1"/>
              <a:t>ModelForm</a:t>
            </a:r>
            <a:endParaRPr lang="en-US" altLang="zh-TW" dirty="0"/>
          </a:p>
          <a:p>
            <a:r>
              <a:rPr lang="zh-TW" altLang="en-US" dirty="0"/>
              <a:t>自動幫我們處理好了</a:t>
            </a:r>
            <a:r>
              <a:rPr lang="en-US" altLang="zh-TW" dirty="0"/>
              <a:t>,</a:t>
            </a:r>
            <a:r>
              <a:rPr lang="zh-TW" altLang="en-US" dirty="0"/>
              <a:t>外來鍵</a:t>
            </a:r>
            <a:r>
              <a:rPr lang="en-US" altLang="zh-TW" dirty="0"/>
              <a:t>(</a:t>
            </a:r>
            <a:r>
              <a:rPr lang="en-US" altLang="zh-TW" dirty="0" err="1"/>
              <a:t>ForeignKey</a:t>
            </a:r>
            <a:r>
              <a:rPr lang="en-US" altLang="zh-TW" dirty="0"/>
              <a:t>)</a:t>
            </a:r>
            <a:r>
              <a:rPr lang="zh-TW" altLang="en-US" dirty="0"/>
              <a:t>的欄位會自動取得資料表中的記錄</a:t>
            </a:r>
            <a:r>
              <a:rPr lang="en-US" altLang="zh-TW" dirty="0"/>
              <a:t>,</a:t>
            </a:r>
            <a:r>
              <a:rPr lang="zh-TW" altLang="en-US" dirty="0"/>
              <a:t>並自動</a:t>
            </a:r>
          </a:p>
          <a:p>
            <a:r>
              <a:rPr lang="zh-TW" altLang="en-US" dirty="0"/>
              <a:t>成為下拉式選單</a:t>
            </a:r>
            <a:r>
              <a:rPr lang="en-US" altLang="zh-TW" dirty="0"/>
              <a:t>,</a:t>
            </a:r>
            <a:r>
              <a:rPr lang="zh-TW" altLang="en-US" dirty="0"/>
              <a:t>是不是超級方便</a:t>
            </a:r>
            <a:r>
              <a:rPr lang="en-US" altLang="zh-TW" dirty="0"/>
              <a:t>?!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84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40052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沒錯</a:t>
            </a:r>
            <a:r>
              <a:rPr lang="en-US" altLang="zh-TW" dirty="0"/>
              <a:t>,</a:t>
            </a:r>
            <a:r>
              <a:rPr lang="zh-TW" altLang="en-US" dirty="0"/>
              <a:t>只要使用 </a:t>
            </a:r>
            <a:r>
              <a:rPr lang="en-US" altLang="zh-TW" dirty="0"/>
              <a:t>post </a:t>
            </a:r>
            <a:r>
              <a:rPr lang="en-US" altLang="zh-TW" dirty="0" err="1"/>
              <a:t>form.save</a:t>
            </a:r>
            <a:r>
              <a:rPr lang="en-US" altLang="zh-TW" dirty="0"/>
              <a:t>(),</a:t>
            </a:r>
            <a:r>
              <a:rPr lang="zh-TW" altLang="en-US" dirty="0"/>
              <a:t>就完成把表單的資料儲存在資料庫的動作了</a:t>
            </a:r>
            <a:r>
              <a:rPr lang="en-US" altLang="zh-TW" dirty="0"/>
              <a:t>,</a:t>
            </a:r>
            <a:r>
              <a:rPr lang="zh-TW" altLang="en-US" dirty="0"/>
              <a:t>完</a:t>
            </a:r>
          </a:p>
          <a:p>
            <a:r>
              <a:rPr lang="zh-TW" altLang="en-US" dirty="0"/>
              <a:t>全不需要使用到任何其他的程式碼。執行以上的程式</a:t>
            </a:r>
            <a:r>
              <a:rPr lang="en-US" altLang="zh-TW" dirty="0"/>
              <a:t>,</a:t>
            </a:r>
            <a:r>
              <a:rPr lang="zh-TW" altLang="en-US" dirty="0"/>
              <a:t>在使用者張貼訊息時</a:t>
            </a:r>
            <a:r>
              <a:rPr lang="en-US" altLang="zh-TW" dirty="0"/>
              <a:t>,</a:t>
            </a:r>
            <a:r>
              <a:rPr lang="zh-TW" altLang="en-US" dirty="0"/>
              <a:t>除了真正把</a:t>
            </a:r>
          </a:p>
          <a:p>
            <a:r>
              <a:rPr lang="zh-TW" altLang="en-US" dirty="0"/>
              <a:t>資料儲存進去之外</a:t>
            </a:r>
            <a:r>
              <a:rPr lang="en-US" altLang="zh-TW" dirty="0"/>
              <a:t>,</a:t>
            </a:r>
            <a:r>
              <a:rPr lang="zh-TW" altLang="en-US" dirty="0"/>
              <a:t>也會在網頁的上方顯示出訊息</a:t>
            </a:r>
            <a:r>
              <a:rPr lang="en-US" altLang="zh-TW" dirty="0"/>
              <a:t>,</a:t>
            </a:r>
            <a:r>
              <a:rPr lang="zh-TW" altLang="en-US" dirty="0"/>
              <a:t>如圖</a:t>
            </a:r>
            <a:r>
              <a:rPr lang="en-US" altLang="zh-TW" dirty="0"/>
              <a:t>8-21</a:t>
            </a:r>
            <a:r>
              <a:rPr lang="zh-TW" altLang="en-US" dirty="0"/>
              <a:t>所示。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8372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102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75859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976C54-4534-EFC3-5855-0163B822F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EC148A51-D7A9-A4C0-6F40-D03DB5933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0F1F3115-ABA3-3EFB-9262-2CB3E36C9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B35640C0-4568-9852-CFF7-8CB479A923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103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358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9C816-D38B-498E-804E-00D02760FC7A}" type="datetime1">
              <a:rPr lang="zh-TW" altLang="en-US" smtClean="0"/>
              <a:pPr/>
              <a:t>2025/12/12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橢圓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AABA-C288-41C0-9D8E-87773CE9488B}" type="datetime1">
              <a:rPr lang="zh-TW" altLang="en-US" smtClean="0"/>
              <a:pPr/>
              <a:t>2025/12/12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9EFE-5102-4BAD-A377-702F02C2814E}" type="datetime1">
              <a:rPr lang="zh-TW" altLang="en-US" smtClean="0"/>
              <a:pPr/>
              <a:t>2025/12/12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橢圓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橢圓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240F5BD8-68CC-49A6-B769-229D3FACB86C}" type="datetime1">
              <a:rPr lang="zh-TW" altLang="en-US" smtClean="0"/>
              <a:pPr/>
              <a:t>2025/12/12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內容版面配置區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線接點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C3C99-9A5D-4B12-8519-BF3493FEA3BD}" type="datetime1">
              <a:rPr lang="zh-TW" altLang="en-US" smtClean="0"/>
              <a:pPr/>
              <a:t>2025/12/12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內容版面配置區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內容版面配置區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5" name="橢圓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橢圓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3" name="標題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B973-9C4C-43B9-BBC9-7D038B5E66BB}" type="datetime1">
              <a:rPr lang="zh-TW" altLang="en-US" smtClean="0"/>
              <a:pPr/>
              <a:t>2025/12/12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E384-56FB-46D9-B267-C20E836A8212}" type="datetime1">
              <a:rPr lang="zh-TW" altLang="en-US" smtClean="0"/>
              <a:pPr/>
              <a:t>2025/12/12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內容版面配置區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0" name="橢圓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橢圓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5C06-3635-48B4-9326-561BB1229EEB}" type="datetime1">
              <a:rPr lang="zh-TW" altLang="en-US" smtClean="0"/>
              <a:pPr/>
              <a:t>2025/12/12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線接點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橢圓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橢圓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BA9F43BE-0941-4E88-B57D-D38DECBCB997}" type="datetime1">
              <a:rPr lang="zh-TW" altLang="en-US" smtClean="0"/>
              <a:pPr/>
              <a:t>2025/12/12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116A9-7278-4674-BCA0-66C5F066EB15}" type="datetime1">
              <a:rPr lang="zh-TW" altLang="en-US" smtClean="0"/>
              <a:pPr/>
              <a:t>2025/12/12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橢圓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0AF00-ACBD-4185-8358-D82955DAF0D3}" type="datetime1">
              <a:rPr lang="zh-TW" altLang="en-US" smtClean="0"/>
              <a:pPr/>
              <a:t>2025/12/12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73E7C058-3467-44CD-AC53-31F205DF3CA0}" type="datetime1">
              <a:rPr lang="zh-TW" altLang="en-US" smtClean="0"/>
              <a:pPr/>
              <a:t>2025/12/12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橢圓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橢圓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try/download/community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hyperlink" Target="https://www.mongodb.com/try/download/community" TargetMode="Externa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71600" y="2819400"/>
            <a:ext cx="6800800" cy="1689720"/>
          </a:xfrm>
        </p:spPr>
        <p:txBody>
          <a:bodyPr>
            <a:normAutofit/>
          </a:bodyPr>
          <a:lstStyle/>
          <a:p>
            <a:r>
              <a:rPr lang="zh-TW" altLang="en-US" sz="2400">
                <a:latin typeface="+mj-ea"/>
              </a:rPr>
              <a:t>活用</a:t>
            </a:r>
            <a:r>
              <a:rPr lang="en-US" altLang="zh-TW" sz="2400">
                <a:latin typeface="+mj-ea"/>
              </a:rPr>
              <a:t>Django4</a:t>
            </a:r>
            <a:r>
              <a:rPr lang="zh-TW" altLang="en-US" sz="2400">
                <a:latin typeface="+mj-ea"/>
              </a:rPr>
              <a:t>建構動態網站的</a:t>
            </a:r>
            <a:r>
              <a:rPr lang="en-US" altLang="zh-TW" sz="2400">
                <a:latin typeface="+mj-ea"/>
              </a:rPr>
              <a:t>16</a:t>
            </a:r>
            <a:r>
              <a:rPr lang="zh-TW" altLang="en-US" sz="2400">
                <a:latin typeface="+mj-ea"/>
              </a:rPr>
              <a:t>堂課</a:t>
            </a:r>
            <a:endParaRPr lang="zh-TW" altLang="en-US" sz="2400" dirty="0">
              <a:latin typeface="+mj-ea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第八堂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zh-TW" dirty="0"/>
              <a:t>網站表單的應用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學習目標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5142312"/>
          </a:xfrm>
        </p:spPr>
        <p:txBody>
          <a:bodyPr/>
          <a:lstStyle/>
          <a:p>
            <a:pPr lvl="0"/>
            <a:r>
              <a:rPr lang="zh-TW" altLang="zh-TW" dirty="0"/>
              <a:t>網站</a:t>
            </a:r>
            <a:r>
              <a:rPr lang="zh-TW" altLang="zh-TW"/>
              <a:t>與表單</a:t>
            </a:r>
            <a:endParaRPr lang="en-US" altLang="zh-TW"/>
          </a:p>
          <a:p>
            <a:pPr lvl="0"/>
            <a:r>
              <a:rPr lang="zh-TW" altLang="zh-TW"/>
              <a:t>基礎</a:t>
            </a:r>
            <a:r>
              <a:rPr lang="zh-TW" altLang="zh-TW" dirty="0"/>
              <a:t>表單類別的應用</a:t>
            </a:r>
            <a:endParaRPr lang="en-US" altLang="zh-TW" dirty="0"/>
          </a:p>
          <a:p>
            <a:pPr lvl="0"/>
            <a:r>
              <a:rPr lang="zh-TW" altLang="zh-TW" dirty="0"/>
              <a:t>模型表單類別</a:t>
            </a:r>
            <a:r>
              <a:rPr lang="zh-TW" altLang="zh-TW"/>
              <a:t>的應用</a:t>
            </a:r>
            <a:endParaRPr lang="en-US" altLang="zh-TW"/>
          </a:p>
          <a:p>
            <a:pPr lvl="0"/>
            <a:r>
              <a:rPr lang="en-US" altLang="zh-TW"/>
              <a:t>MongoDB</a:t>
            </a:r>
            <a:r>
              <a:rPr lang="zh-TW" altLang="en-US"/>
              <a:t>資料庫的操作與應用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HTML &lt;form&gt;</a:t>
            </a:r>
            <a:r>
              <a:rPr lang="zh-TW" altLang="zh-TW" dirty="0"/>
              <a:t>表單簡介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以下是一個非常典型的表單</a:t>
            </a:r>
            <a:r>
              <a:rPr lang="en-US" altLang="zh-TW" dirty="0"/>
              <a:t>HTML</a:t>
            </a:r>
            <a:r>
              <a:rPr lang="zh-TW" altLang="zh-TW" dirty="0"/>
              <a:t>網頁設計例：</a:t>
            </a:r>
          </a:p>
          <a:p>
            <a:pPr marL="274320" lvl="1" indent="0">
              <a:buNone/>
            </a:pPr>
            <a:r>
              <a:rPr lang="en-US" altLang="zh-TW" sz="2000" dirty="0"/>
              <a:t>&lt;form name='my form' </a:t>
            </a:r>
            <a:r>
              <a:rPr lang="en-US" altLang="zh-TW" sz="2000" dirty="0">
                <a:solidFill>
                  <a:srgbClr val="FF0000"/>
                </a:solidFill>
              </a:rPr>
              <a:t>action='/'</a:t>
            </a:r>
            <a:r>
              <a:rPr lang="en-US" altLang="zh-TW" sz="2000" dirty="0"/>
              <a:t> method='GET'&gt;</a:t>
            </a:r>
            <a:endParaRPr lang="zh-TW" altLang="zh-TW" sz="2000" dirty="0"/>
          </a:p>
          <a:p>
            <a:pPr marL="274320" lvl="1" indent="0">
              <a:buNone/>
            </a:pPr>
            <a:r>
              <a:rPr lang="en-US" altLang="zh-TW" sz="2000" dirty="0"/>
              <a:t>    &lt;label for='</a:t>
            </a:r>
            <a:r>
              <a:rPr lang="en-US" altLang="zh-TW" sz="2000" dirty="0" err="1"/>
              <a:t>user_id</a:t>
            </a:r>
            <a:r>
              <a:rPr lang="en-US" altLang="zh-TW" sz="2000" dirty="0"/>
              <a:t>'&gt;Your ID:&lt;/label&gt;</a:t>
            </a:r>
            <a:endParaRPr lang="zh-TW" altLang="zh-TW" sz="2000" dirty="0"/>
          </a:p>
          <a:p>
            <a:pPr marL="274320" lvl="1" indent="0">
              <a:buNone/>
            </a:pPr>
            <a:r>
              <a:rPr lang="en-US" altLang="zh-TW" sz="2000" dirty="0"/>
              <a:t>    &lt;input id='</a:t>
            </a:r>
            <a:r>
              <a:rPr lang="en-US" altLang="zh-TW" sz="2000" dirty="0" err="1"/>
              <a:t>user_id</a:t>
            </a:r>
            <a:r>
              <a:rPr lang="en-US" altLang="zh-TW" sz="2000" dirty="0"/>
              <a:t>' type='text' name='</a:t>
            </a:r>
            <a:r>
              <a:rPr lang="en-US" altLang="zh-TW" sz="2000" dirty="0" err="1"/>
              <a:t>user_id</a:t>
            </a:r>
            <a:r>
              <a:rPr lang="en-US" altLang="zh-TW" sz="2000" dirty="0"/>
              <a:t>'&gt;</a:t>
            </a:r>
            <a:endParaRPr lang="zh-TW" altLang="zh-TW" sz="2000" dirty="0"/>
          </a:p>
          <a:p>
            <a:pPr marL="274320" lvl="1" indent="0">
              <a:buNone/>
            </a:pPr>
            <a:r>
              <a:rPr lang="en-US" altLang="zh-TW" sz="2000" dirty="0"/>
              <a:t>    &lt;label for_'</a:t>
            </a:r>
            <a:r>
              <a:rPr lang="en-US" altLang="zh-TW" sz="2000" dirty="0" err="1"/>
              <a:t>user_pass</a:t>
            </a:r>
            <a:r>
              <a:rPr lang="en-US" altLang="zh-TW" sz="2000" dirty="0"/>
              <a:t>'&gt;Your Password:&lt;/label&gt;</a:t>
            </a:r>
            <a:endParaRPr lang="zh-TW" altLang="zh-TW" sz="2000" dirty="0"/>
          </a:p>
          <a:p>
            <a:pPr marL="274320" lvl="1" indent="0">
              <a:buNone/>
            </a:pPr>
            <a:r>
              <a:rPr lang="en-US" altLang="zh-TW" sz="2000" dirty="0"/>
              <a:t>    &lt;input id='</a:t>
            </a:r>
            <a:r>
              <a:rPr lang="en-US" altLang="zh-TW" sz="2000" dirty="0" err="1"/>
              <a:t>user_pass</a:t>
            </a:r>
            <a:r>
              <a:rPr lang="en-US" altLang="zh-TW" sz="2000" dirty="0"/>
              <a:t>' type='password' name='</a:t>
            </a:r>
            <a:r>
              <a:rPr lang="en-US" altLang="zh-TW" sz="2000" dirty="0" err="1"/>
              <a:t>user_pass</a:t>
            </a:r>
            <a:r>
              <a:rPr lang="en-US" altLang="zh-TW" sz="2000" dirty="0"/>
              <a:t>'&gt;</a:t>
            </a:r>
            <a:endParaRPr lang="zh-TW" altLang="zh-TW" sz="2000" dirty="0"/>
          </a:p>
          <a:p>
            <a:pPr marL="274320" lvl="1" indent="0">
              <a:buNone/>
            </a:pPr>
            <a:r>
              <a:rPr lang="en-US" altLang="zh-TW" sz="2000" dirty="0"/>
              <a:t>    &lt;input type='submit' value='</a:t>
            </a:r>
            <a:r>
              <a:rPr lang="zh-TW" altLang="zh-TW" sz="2000" dirty="0"/>
              <a:t>登入</a:t>
            </a:r>
            <a:r>
              <a:rPr lang="en-US" altLang="zh-TW" sz="2000" dirty="0"/>
              <a:t>'&gt;</a:t>
            </a:r>
            <a:endParaRPr lang="zh-TW" altLang="zh-TW" sz="2000" dirty="0"/>
          </a:p>
          <a:p>
            <a:pPr marL="274320" lvl="1" indent="0">
              <a:buNone/>
            </a:pPr>
            <a:r>
              <a:rPr lang="en-US" altLang="zh-TW" sz="2000" dirty="0"/>
              <a:t>    &lt;input type='reset' value='</a:t>
            </a:r>
            <a:r>
              <a:rPr lang="zh-TW" altLang="zh-TW" sz="2000" dirty="0"/>
              <a:t>清除重填</a:t>
            </a:r>
            <a:r>
              <a:rPr lang="en-US" altLang="zh-TW" sz="2000" dirty="0"/>
              <a:t>'&gt;</a:t>
            </a:r>
            <a:endParaRPr lang="zh-TW" altLang="zh-TW" sz="2000" dirty="0"/>
          </a:p>
          <a:p>
            <a:pPr marL="274320" lvl="1" indent="0">
              <a:buNone/>
            </a:pPr>
            <a:r>
              <a:rPr lang="en-US" altLang="zh-TW" sz="2000" dirty="0"/>
              <a:t>&lt;/form&gt;</a:t>
            </a:r>
            <a:endParaRPr lang="zh-TW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20485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HTML &lt;form&gt;</a:t>
            </a:r>
            <a:r>
              <a:rPr lang="zh-TW" altLang="zh-TW" dirty="0"/>
              <a:t>表單簡介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734744" cy="5214320"/>
          </a:xfrm>
        </p:spPr>
        <p:txBody>
          <a:bodyPr>
            <a:normAutofit lnSpcReduction="10000"/>
          </a:bodyPr>
          <a:lstStyle/>
          <a:p>
            <a:r>
              <a:rPr lang="zh-TW" altLang="zh-TW" sz="2800" dirty="0"/>
              <a:t>可以看出以下幾個重點：</a:t>
            </a:r>
          </a:p>
          <a:p>
            <a:pPr lvl="1"/>
            <a:r>
              <a:rPr lang="zh-TW" altLang="zh-TW" sz="2300" dirty="0"/>
              <a:t>以</a:t>
            </a:r>
            <a:r>
              <a:rPr lang="en-US" altLang="zh-TW" sz="2300" dirty="0"/>
              <a:t>&lt;form&gt;&lt;/form&gt;</a:t>
            </a:r>
            <a:r>
              <a:rPr lang="zh-TW" altLang="zh-TW" sz="2300" dirty="0"/>
              <a:t>作為開始和結束的標記</a:t>
            </a:r>
          </a:p>
          <a:p>
            <a:pPr lvl="1"/>
            <a:r>
              <a:rPr lang="zh-TW" altLang="zh-TW" sz="2300" dirty="0"/>
              <a:t>在</a:t>
            </a:r>
            <a:r>
              <a:rPr lang="en-US" altLang="zh-TW" sz="2300" dirty="0"/>
              <a:t>&lt;form&gt;</a:t>
            </a:r>
            <a:r>
              <a:rPr lang="zh-TW" altLang="zh-TW" sz="2300" dirty="0"/>
              <a:t>設定相關屬性</a:t>
            </a:r>
          </a:p>
          <a:p>
            <a:pPr lvl="2"/>
            <a:r>
              <a:rPr lang="en-US" altLang="zh-TW" dirty="0"/>
              <a:t>name</a:t>
            </a:r>
            <a:r>
              <a:rPr lang="zh-TW" altLang="zh-TW" dirty="0"/>
              <a:t>是通用屬性，幾乎在每一個標記中都可以使用，代表本標記的名稱</a:t>
            </a:r>
          </a:p>
          <a:p>
            <a:pPr lvl="2"/>
            <a:r>
              <a:rPr lang="en-US" altLang="zh-TW" dirty="0"/>
              <a:t>id</a:t>
            </a:r>
            <a:r>
              <a:rPr lang="zh-TW" altLang="zh-TW" dirty="0"/>
              <a:t>也是通用屬性，每一個屬性都可以使用，代表本標記的識別字，通常必須要是唯一的</a:t>
            </a:r>
          </a:p>
          <a:p>
            <a:pPr lvl="2"/>
            <a:r>
              <a:rPr lang="en-US" altLang="zh-TW" dirty="0"/>
              <a:t>method</a:t>
            </a:r>
            <a:r>
              <a:rPr lang="zh-TW" altLang="zh-TW" dirty="0"/>
              <a:t>適用於</a:t>
            </a:r>
            <a:r>
              <a:rPr lang="en-US" altLang="zh-TW" dirty="0"/>
              <a:t>&lt;form&gt;</a:t>
            </a:r>
            <a:r>
              <a:rPr lang="zh-TW" altLang="zh-TW" dirty="0"/>
              <a:t>標記，用來表示傳遞的參數要使用</a:t>
            </a:r>
            <a:r>
              <a:rPr lang="en-US" altLang="zh-TW" dirty="0"/>
              <a:t>POST</a:t>
            </a:r>
            <a:r>
              <a:rPr lang="zh-TW" altLang="zh-TW" dirty="0"/>
              <a:t>還是</a:t>
            </a:r>
            <a:r>
              <a:rPr lang="en-US" altLang="zh-TW" dirty="0"/>
              <a:t>GET</a:t>
            </a:r>
            <a:r>
              <a:rPr lang="zh-TW" altLang="zh-TW" dirty="0"/>
              <a:t>，這是表單傳遞的兩種不同方式。</a:t>
            </a:r>
          </a:p>
          <a:p>
            <a:pPr lvl="2"/>
            <a:r>
              <a:rPr lang="en-US" altLang="zh-TW" dirty="0">
                <a:solidFill>
                  <a:srgbClr val="FF0000"/>
                </a:solidFill>
              </a:rPr>
              <a:t>action</a:t>
            </a:r>
            <a:r>
              <a:rPr lang="zh-TW" altLang="zh-TW" dirty="0">
                <a:solidFill>
                  <a:srgbClr val="FF0000"/>
                </a:solidFill>
              </a:rPr>
              <a:t>屬性很重要</a:t>
            </a:r>
            <a:r>
              <a:rPr lang="zh-TW" altLang="zh-TW" dirty="0"/>
              <a:t>，後面指定的內容是用來設定當使用者按下「</a:t>
            </a:r>
            <a:r>
              <a:rPr lang="en-US" altLang="zh-TW" dirty="0"/>
              <a:t>submit</a:t>
            </a:r>
            <a:r>
              <a:rPr lang="zh-TW" altLang="zh-TW" dirty="0"/>
              <a:t>」按鈕之後，所有的資料要被送到哪裡。一般可以指定一個</a:t>
            </a:r>
            <a:r>
              <a:rPr lang="en-US" altLang="zh-TW" dirty="0"/>
              <a:t>PHP</a:t>
            </a:r>
            <a:r>
              <a:rPr lang="zh-TW" altLang="zh-TW" dirty="0"/>
              <a:t>程式或是</a:t>
            </a:r>
            <a:r>
              <a:rPr lang="en-US" altLang="zh-TW" dirty="0" err="1"/>
              <a:t>javascript</a:t>
            </a:r>
            <a:r>
              <a:rPr lang="zh-TW" altLang="zh-TW" dirty="0"/>
              <a:t>的一個函數，</a:t>
            </a:r>
            <a:r>
              <a:rPr lang="zh-TW" altLang="zh-TW" dirty="0">
                <a:solidFill>
                  <a:srgbClr val="FF0000"/>
                </a:solidFill>
              </a:rPr>
              <a:t>在</a:t>
            </a:r>
            <a:r>
              <a:rPr lang="en-US" altLang="zh-TW" dirty="0">
                <a:solidFill>
                  <a:srgbClr val="FF0000"/>
                </a:solidFill>
              </a:rPr>
              <a:t>Django</a:t>
            </a:r>
            <a:r>
              <a:rPr lang="zh-TW" altLang="zh-TW" dirty="0">
                <a:solidFill>
                  <a:srgbClr val="FF0000"/>
                </a:solidFill>
              </a:rPr>
              <a:t>只要指定給一個要處理的網址</a:t>
            </a:r>
            <a:r>
              <a:rPr lang="zh-TW" altLang="zh-TW" dirty="0"/>
              <a:t>就可以了。</a:t>
            </a:r>
          </a:p>
          <a:p>
            <a:pPr lvl="1"/>
            <a:r>
              <a:rPr lang="en-US" altLang="zh-TW" sz="2300" dirty="0"/>
              <a:t>&lt;label&gt;</a:t>
            </a:r>
            <a:r>
              <a:rPr lang="zh-TW" altLang="zh-TW" sz="2300" dirty="0"/>
              <a:t>主要是用來設定表單元素前的說明文字，使用</a:t>
            </a:r>
            <a:r>
              <a:rPr lang="en-US" altLang="zh-TW" sz="2300" dirty="0"/>
              <a:t>for</a:t>
            </a:r>
            <a:r>
              <a:rPr lang="zh-TW" altLang="zh-TW" sz="2300" dirty="0"/>
              <a:t>屬性來設定此標籤是屬於哪一個輸入元素之用。</a:t>
            </a:r>
          </a:p>
        </p:txBody>
      </p:sp>
    </p:spTree>
    <p:extLst>
      <p:ext uri="{BB962C8B-B14F-4D97-AF65-F5344CB8AC3E}">
        <p14:creationId xmlns:p14="http://schemas.microsoft.com/office/powerpoint/2010/main" val="742389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HTML &lt;form&gt;</a:t>
            </a:r>
            <a:r>
              <a:rPr lang="zh-TW" altLang="zh-TW" dirty="0"/>
              <a:t>表單簡介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altLang="zh-TW" sz="2300" dirty="0"/>
              <a:t>&lt;input&gt;</a:t>
            </a:r>
            <a:r>
              <a:rPr lang="zh-TW" altLang="zh-TW" sz="2300" dirty="0"/>
              <a:t>為主要輸入元素，其屬性主要包括：</a:t>
            </a:r>
          </a:p>
          <a:p>
            <a:pPr lvl="2"/>
            <a:r>
              <a:rPr lang="en-US" altLang="zh-TW" dirty="0"/>
              <a:t>id</a:t>
            </a:r>
            <a:r>
              <a:rPr lang="zh-TW" altLang="zh-TW" dirty="0"/>
              <a:t>是通用屬性，識別字</a:t>
            </a:r>
          </a:p>
          <a:p>
            <a:pPr lvl="2"/>
            <a:r>
              <a:rPr lang="en-US" altLang="zh-TW" dirty="0"/>
              <a:t>name</a:t>
            </a:r>
            <a:r>
              <a:rPr lang="zh-TW" altLang="zh-TW" dirty="0"/>
              <a:t>是通用屬性，是</a:t>
            </a:r>
            <a:r>
              <a:rPr lang="en-US" altLang="zh-TW" dirty="0"/>
              <a:t>&lt;input&gt;</a:t>
            </a:r>
            <a:r>
              <a:rPr lang="zh-TW" altLang="zh-TW" dirty="0"/>
              <a:t>的名稱，</a:t>
            </a:r>
            <a:r>
              <a:rPr lang="zh-TW" altLang="zh-TW" dirty="0">
                <a:solidFill>
                  <a:srgbClr val="FF0000"/>
                </a:solidFill>
              </a:rPr>
              <a:t>在</a:t>
            </a:r>
            <a:r>
              <a:rPr lang="en-US" altLang="zh-TW" dirty="0">
                <a:solidFill>
                  <a:srgbClr val="FF0000"/>
                </a:solidFill>
              </a:rPr>
              <a:t>Django</a:t>
            </a:r>
            <a:r>
              <a:rPr lang="zh-TW" altLang="zh-TW" dirty="0">
                <a:solidFill>
                  <a:srgbClr val="FF0000"/>
                </a:solidFill>
              </a:rPr>
              <a:t>程式中是以此名稱來取得資料 </a:t>
            </a:r>
          </a:p>
          <a:p>
            <a:pPr lvl="2"/>
            <a:r>
              <a:rPr lang="en-US" altLang="zh-TW" dirty="0"/>
              <a:t>type</a:t>
            </a:r>
            <a:r>
              <a:rPr lang="zh-TW" altLang="zh-TW" dirty="0"/>
              <a:t>是格式，有許多種型態，詳細說明如表</a:t>
            </a:r>
            <a:r>
              <a:rPr lang="en-US" altLang="zh-TW" dirty="0"/>
              <a:t>8-1</a:t>
            </a:r>
            <a:r>
              <a:rPr lang="zh-TW" altLang="zh-TW" dirty="0"/>
              <a:t>。其中</a:t>
            </a:r>
            <a:r>
              <a:rPr lang="en-US" altLang="zh-TW" dirty="0"/>
              <a:t>text</a:t>
            </a:r>
            <a:r>
              <a:rPr lang="zh-TW" altLang="zh-TW" dirty="0"/>
              <a:t>為文字型態，而</a:t>
            </a:r>
            <a:r>
              <a:rPr lang="en-US" altLang="zh-TW" dirty="0"/>
              <a:t>password </a:t>
            </a:r>
            <a:r>
              <a:rPr lang="zh-TW" altLang="en-US" dirty="0"/>
              <a:t>基</a:t>
            </a:r>
            <a:r>
              <a:rPr lang="zh-TW" altLang="zh-TW" dirty="0"/>
              <a:t>本上也是文字型態，但是此欄位在輸入時，字元會以密碼符號代替。</a:t>
            </a:r>
          </a:p>
          <a:p>
            <a:pPr lvl="2"/>
            <a:r>
              <a:rPr lang="zh-TW" altLang="zh-TW" dirty="0"/>
              <a:t>如欲設定預設值，可使用</a:t>
            </a:r>
            <a:r>
              <a:rPr lang="en-US" altLang="zh-TW" dirty="0"/>
              <a:t>value</a:t>
            </a:r>
            <a:r>
              <a:rPr lang="zh-TW" altLang="zh-TW" dirty="0"/>
              <a:t>屬性</a:t>
            </a:r>
          </a:p>
          <a:p>
            <a:pPr lvl="1"/>
            <a:r>
              <a:rPr lang="en-US" altLang="zh-TW" sz="2300" dirty="0"/>
              <a:t>&lt;input type='submit'&gt;</a:t>
            </a:r>
            <a:r>
              <a:rPr lang="zh-TW" altLang="zh-TW" sz="2300" dirty="0"/>
              <a:t>為特殊元素，就是「送出資料」的按鈕，但是按鈕上的文字是由</a:t>
            </a:r>
            <a:r>
              <a:rPr lang="en-US" altLang="zh-TW" sz="2300" dirty="0"/>
              <a:t>value</a:t>
            </a:r>
            <a:r>
              <a:rPr lang="zh-TW" altLang="zh-TW" sz="2300" dirty="0"/>
              <a:t>屬性來指定。</a:t>
            </a:r>
          </a:p>
          <a:p>
            <a:pPr lvl="1"/>
            <a:r>
              <a:rPr lang="en-US" altLang="zh-TW" sz="2300" dirty="0"/>
              <a:t>&lt;input type='reset'&gt;</a:t>
            </a:r>
            <a:r>
              <a:rPr lang="zh-TW" altLang="zh-TW" sz="2300" dirty="0"/>
              <a:t>為特殊元素，就是「清除本表單中目前所有輸入的值」，一般都被當做是清除重來按鈕。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3774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HTML &lt;form&gt;</a:t>
            </a:r>
            <a:r>
              <a:rPr lang="zh-TW" altLang="zh-TW" dirty="0"/>
              <a:t>表單簡介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5142312"/>
          </a:xfrm>
        </p:spPr>
        <p:txBody>
          <a:bodyPr/>
          <a:lstStyle/>
          <a:p>
            <a:r>
              <a:rPr lang="zh-TW" altLang="zh-TW" dirty="0"/>
              <a:t>在</a:t>
            </a:r>
            <a:r>
              <a:rPr lang="en-US" altLang="zh-TW" dirty="0"/>
              <a:t>Django</a:t>
            </a:r>
            <a:r>
              <a:rPr lang="zh-TW" altLang="zh-TW" dirty="0"/>
              <a:t>的網站中，這些內容要放在</a:t>
            </a:r>
            <a:r>
              <a:rPr lang="en-US" altLang="zh-TW" dirty="0"/>
              <a:t>Template</a:t>
            </a:r>
            <a:r>
              <a:rPr lang="zh-TW" altLang="zh-TW" dirty="0"/>
              <a:t>檔案中</a:t>
            </a:r>
            <a:endParaRPr lang="en-US" altLang="zh-TW" dirty="0"/>
          </a:p>
          <a:p>
            <a:r>
              <a:rPr lang="zh-TW" altLang="en-US" dirty="0"/>
              <a:t>開始建立網站</a:t>
            </a:r>
            <a:endParaRPr lang="en-US" altLang="zh-TW" dirty="0"/>
          </a:p>
          <a:p>
            <a:pPr lvl="1"/>
            <a:r>
              <a:rPr lang="zh-TW" altLang="zh-TW" dirty="0"/>
              <a:t>使用</a:t>
            </a:r>
            <a:r>
              <a:rPr lang="en-US" altLang="zh-TW" dirty="0" err="1"/>
              <a:t>django</a:t>
            </a:r>
            <a:r>
              <a:rPr lang="en-US" altLang="zh-TW" dirty="0"/>
              <a:t>-admin </a:t>
            </a:r>
            <a:r>
              <a:rPr lang="en-US" altLang="zh-TW" err="1"/>
              <a:t>startproject</a:t>
            </a:r>
            <a:r>
              <a:rPr lang="en-US" altLang="zh-TW"/>
              <a:t> dj4ch08</a:t>
            </a:r>
            <a:r>
              <a:rPr lang="zh-TW" altLang="zh-TW"/>
              <a:t>建立一個</a:t>
            </a:r>
            <a:r>
              <a:rPr lang="en-US" altLang="zh-TW"/>
              <a:t>dj4ch08</a:t>
            </a:r>
            <a:r>
              <a:rPr lang="zh-TW" altLang="zh-TW"/>
              <a:t>網站</a:t>
            </a:r>
            <a:r>
              <a:rPr lang="zh-TW" altLang="zh-TW" dirty="0"/>
              <a:t>專案</a:t>
            </a:r>
            <a:endParaRPr lang="en-US" altLang="zh-TW" dirty="0"/>
          </a:p>
          <a:p>
            <a:pPr lvl="1"/>
            <a:r>
              <a:rPr lang="zh-TW" altLang="zh-TW" dirty="0"/>
              <a:t>使用</a:t>
            </a:r>
            <a:r>
              <a:rPr lang="en-US" altLang="zh-TW" dirty="0"/>
              <a:t>python manage.py </a:t>
            </a:r>
            <a:r>
              <a:rPr lang="en-US" altLang="zh-TW" dirty="0" err="1"/>
              <a:t>startapp</a:t>
            </a:r>
            <a:r>
              <a:rPr lang="en-US" altLang="zh-TW" dirty="0"/>
              <a:t> </a:t>
            </a:r>
            <a:r>
              <a:rPr lang="en-US" altLang="zh-TW" dirty="0" err="1"/>
              <a:t>mysite</a:t>
            </a:r>
            <a:r>
              <a:rPr lang="zh-TW" altLang="zh-TW" dirty="0"/>
              <a:t>，建立一個名稱</a:t>
            </a:r>
            <a:r>
              <a:rPr lang="en-US" altLang="zh-TW" dirty="0" err="1"/>
              <a:t>mysite</a:t>
            </a:r>
            <a:r>
              <a:rPr lang="zh-TW" altLang="zh-TW" dirty="0"/>
              <a:t>的</a:t>
            </a:r>
            <a:r>
              <a:rPr lang="en-US" altLang="zh-TW" dirty="0"/>
              <a:t>App</a:t>
            </a:r>
          </a:p>
          <a:p>
            <a:pPr lvl="1"/>
            <a:r>
              <a:rPr lang="zh-TW" altLang="en-US" dirty="0"/>
              <a:t>將</a:t>
            </a:r>
            <a:r>
              <a:rPr lang="en-US" altLang="zh-TW" err="1"/>
              <a:t>mysite</a:t>
            </a:r>
            <a:r>
              <a:rPr lang="zh-TW" altLang="en-US"/>
              <a:t>加入</a:t>
            </a:r>
            <a:r>
              <a:rPr lang="zh-TW" altLang="zh-TW"/>
              <a:t>到</a:t>
            </a:r>
            <a:r>
              <a:rPr lang="en-US" altLang="zh-TW" dirty="0"/>
              <a:t>settings.py</a:t>
            </a:r>
            <a:r>
              <a:rPr lang="zh-TW" altLang="zh-TW" dirty="0"/>
              <a:t>中</a:t>
            </a:r>
            <a:r>
              <a:rPr lang="en-US" altLang="zh-TW" dirty="0"/>
              <a:t>INSTALLED_APP</a:t>
            </a:r>
          </a:p>
          <a:p>
            <a:pPr lvl="1"/>
            <a:r>
              <a:rPr lang="zh-TW" altLang="zh-TW" dirty="0"/>
              <a:t>參考前面章節內容，設定</a:t>
            </a:r>
            <a:r>
              <a:rPr lang="en-US" altLang="zh-TW" dirty="0"/>
              <a:t>templates</a:t>
            </a:r>
            <a:r>
              <a:rPr lang="zh-TW" altLang="zh-TW" dirty="0"/>
              <a:t>和</a:t>
            </a:r>
            <a:r>
              <a:rPr lang="en-US" altLang="zh-TW" dirty="0"/>
              <a:t>STATICFILES_DIRS</a:t>
            </a:r>
            <a:r>
              <a:rPr lang="zh-TW" altLang="zh-TW" dirty="0"/>
              <a:t>的目錄</a:t>
            </a:r>
            <a:endParaRPr lang="en-US" altLang="zh-TW" dirty="0"/>
          </a:p>
          <a:p>
            <a:pPr lvl="1"/>
            <a:r>
              <a:rPr lang="zh-TW" altLang="en-US" dirty="0"/>
              <a:t>借用上一堂課的</a:t>
            </a:r>
            <a:r>
              <a:rPr lang="en-US" altLang="zh-TW" dirty="0"/>
              <a:t>templates</a:t>
            </a:r>
            <a:r>
              <a:rPr lang="zh-TW" altLang="en-US" dirty="0"/>
              <a:t>目錄下的</a:t>
            </a:r>
            <a:r>
              <a:rPr lang="en-US" altLang="zh-TW" dirty="0"/>
              <a:t>base.html, header.html, footer.html</a:t>
            </a:r>
            <a:r>
              <a:rPr lang="zh-TW" altLang="en-US" dirty="0"/>
              <a:t>以及</a:t>
            </a:r>
            <a:r>
              <a:rPr lang="en-US" altLang="zh-TW" dirty="0"/>
              <a:t>index.html</a:t>
            </a:r>
            <a:r>
              <a:rPr lang="zh-TW" altLang="en-US" dirty="0"/>
              <a:t>，還有</a:t>
            </a:r>
            <a:r>
              <a:rPr lang="en-US" altLang="zh-TW" dirty="0"/>
              <a:t>static</a:t>
            </a:r>
            <a:r>
              <a:rPr lang="zh-TW" altLang="en-US" dirty="0"/>
              <a:t>下的</a:t>
            </a:r>
            <a:r>
              <a:rPr lang="en-US" altLang="zh-TW" dirty="0"/>
              <a:t>images/logo.png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9537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HTML &lt;form&gt;</a:t>
            </a:r>
            <a:r>
              <a:rPr lang="zh-TW" altLang="zh-TW" dirty="0"/>
              <a:t>表單簡介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5142312"/>
          </a:xfrm>
        </p:spPr>
        <p:txBody>
          <a:bodyPr>
            <a:normAutofit fontScale="92500" lnSpcReduction="20000"/>
          </a:bodyPr>
          <a:lstStyle/>
          <a:p>
            <a:r>
              <a:rPr lang="zh-TW" altLang="zh-TW" dirty="0"/>
              <a:t>修改</a:t>
            </a:r>
            <a:r>
              <a:rPr lang="en-US" altLang="zh-TW" dirty="0"/>
              <a:t>index.html</a:t>
            </a:r>
            <a:r>
              <a:rPr lang="zh-TW" altLang="zh-TW" dirty="0"/>
              <a:t>如下：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&lt;!-- index.html (dj4ch08 project) --&gt;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extends "base.html"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block title %}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我有話要說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endblock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block content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&lt;div class='container'&gt;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&lt;form name='my form' action='/' method='GET'&gt;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&lt;label for='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'&gt;Your ID:&lt;/label&gt;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id='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type='text' 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name='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&lt;label for_'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Your</a:t>
            </a:r>
            <a:r>
              <a:rPr lang="en-US" altLang="zh-TW" sz="1800" kern="100" dirty="0" err="1">
                <a:solidFill>
                  <a:srgbClr val="FF0000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type</a:t>
            </a:r>
            <a:r>
              <a:rPr lang="en-US" altLang="zh-TW" sz="1800" kern="100" dirty="0">
                <a:solidFill>
                  <a:srgbClr val="FF0000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='password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Password:&lt;/label&gt;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id='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 ' name='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type='submit' value='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登入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type='reset' value='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清除重填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&lt;/form&gt;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endblock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6958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807FCCA-4141-9CCE-1D64-4D7DAFEC8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HTML &lt;form&gt;</a:t>
            </a:r>
            <a:r>
              <a:rPr lang="zh-TW" altLang="en-US"/>
              <a:t>表單簡介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C42012A0-1FEA-B6AD-4111-AD3403CC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E73AE143-01BF-51AB-3369-9C1BFD812AB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/>
              <a:t>urls.py</a:t>
            </a:r>
            <a:r>
              <a:rPr lang="zh-TW" altLang="en-US"/>
              <a:t>的內容如下：</a:t>
            </a:r>
            <a:endParaRPr lang="en-US" altLang="zh-TW"/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django.contrib import admin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django.urls import path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mysite import views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django.conf import settings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django.conf.urls.static import static 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urlpatterns = [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path('', views.index),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path('admin/', admin.site.urls),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] + static(settings.MEDIA_URL, document_root=settings.MEDIA_ROOT)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6197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807FCCA-4141-9CCE-1D64-4D7DAFEC8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HTML &lt;form&gt;</a:t>
            </a:r>
            <a:r>
              <a:rPr lang="zh-TW" altLang="en-US"/>
              <a:t>表單簡介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C42012A0-1FEA-B6AD-4111-AD3403CC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E73AE143-01BF-51AB-3369-9C1BFD812AB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/>
              <a:t>views.py</a:t>
            </a:r>
            <a:r>
              <a:rPr lang="zh-TW" altLang="en-US"/>
              <a:t>的內容如下：</a:t>
            </a:r>
            <a:endParaRPr lang="en-US" altLang="zh-TW"/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django.shortcuts import render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 index(request):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return render(request, 'index.html', locals())</a:t>
            </a:r>
          </a:p>
          <a:p>
            <a:pPr marL="0" indent="0">
              <a:buNone/>
            </a:pPr>
            <a:endParaRPr lang="en-US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r>
              <a:rPr lang="en-US" altLang="zh-TW" kern="100">
                <a:latin typeface="Courier New" panose="02070309020205020404" pitchFamily="49" charset="0"/>
                <a:ea typeface="標楷體" panose="03000509000000000000" pitchFamily="65" charset="-120"/>
              </a:rPr>
              <a:t>base.html</a:t>
            </a:r>
            <a:r>
              <a:rPr lang="zh-TW" altLang="en-US" kern="100">
                <a:latin typeface="Courier New" panose="02070309020205020404" pitchFamily="49" charset="0"/>
                <a:ea typeface="標楷體" panose="03000509000000000000" pitchFamily="65" charset="-120"/>
              </a:rPr>
              <a:t>以及</a:t>
            </a:r>
            <a:r>
              <a:rPr lang="en-US" altLang="zh-TW" sz="1800" kern="100">
                <a:latin typeface="Courier New" panose="02070309020205020404" pitchFamily="49" charset="0"/>
                <a:ea typeface="標楷體" panose="03000509000000000000" pitchFamily="65" charset="-120"/>
              </a:rPr>
              <a:t>footer</a:t>
            </a:r>
            <a:r>
              <a:rPr lang="en-US" altLang="zh-TW" kern="100">
                <a:latin typeface="Courier New" panose="02070309020205020404" pitchFamily="49" charset="0"/>
                <a:ea typeface="標楷體" panose="03000509000000000000" pitchFamily="65" charset="-120"/>
              </a:rPr>
              <a:t>.html</a:t>
            </a:r>
            <a:r>
              <a:rPr lang="zh-TW" altLang="en-US" kern="100">
                <a:latin typeface="Courier New" panose="02070309020205020404" pitchFamily="49" charset="0"/>
                <a:ea typeface="標楷體" panose="03000509000000000000" pitchFamily="65" charset="-120"/>
              </a:rPr>
              <a:t>同上一節的內容。</a:t>
            </a:r>
            <a:endParaRPr lang="zh-TW" altLang="zh-TW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0679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807FCCA-4141-9CCE-1D64-4D7DAFEC8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HTML &lt;form&gt;</a:t>
            </a:r>
            <a:r>
              <a:rPr lang="zh-TW" altLang="en-US"/>
              <a:t>表單簡介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C42012A0-1FEA-B6AD-4111-AD3403CC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E73AE143-01BF-51AB-3369-9C1BFD812AB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dirty="0"/>
              <a:t>header.html</a:t>
            </a:r>
            <a:r>
              <a:rPr lang="zh-TW" altLang="en-US" dirty="0"/>
              <a:t>的內容如下：</a:t>
            </a:r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&lt;!-- header.html (dj4ch08 project) --&gt;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&lt;nav class='navbar navbar-default'&gt;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&lt;div class='container-fluid'&gt;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&lt;nav class="navbar navbar-expand-lg </a:t>
            </a:r>
            <a:r>
              <a:rPr lang="en-US" altLang="zh-TW" sz="19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bg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-body-tertiary"&gt;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&lt;div class="container-fluid"&gt;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&lt;a class=“navbar-brand” </a:t>
            </a:r>
            <a:r>
              <a:rPr lang="en-US" altLang="zh-TW" sz="19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href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=“#”&gt;</a:t>
            </a:r>
            <a:r>
              <a:rPr lang="zh-TW" altLang="en-US" sz="19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心情留言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&lt;/a&gt;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&lt;button class="navbar-toggler" type="button" data-bs-toggle="collapse" data-bs-target="#</a:t>
            </a:r>
            <a:r>
              <a:rPr lang="en-US" altLang="zh-TW" sz="19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navbarNavAltMarkup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 aria-controls="</a:t>
            </a:r>
            <a:r>
              <a:rPr lang="en-US" altLang="zh-TW" sz="19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navbarNavAltMarkup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 aria-expanded="false" aria-label="Toggle navigation"&gt;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&lt;span class="navbar-toggler-icon"&gt;&lt;/span&gt;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&lt;/button&gt;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&lt;div class="collapse navbar-collapse" id="</a:t>
            </a:r>
            <a:r>
              <a:rPr lang="en-US" altLang="zh-TW" sz="19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navbarNavAltMarkup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&lt;div class="navbar-nav"&gt;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  &lt;a class="nav-link active" aria-current="page" </a:t>
            </a:r>
            <a:r>
              <a:rPr lang="en-US" altLang="zh-TW" sz="19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href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="/"&gt;Home&lt;/a&gt;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  &lt;a class="nav-link" </a:t>
            </a:r>
            <a:r>
              <a:rPr lang="en-US" altLang="zh-TW" sz="19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href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="/admin"&gt;</a:t>
            </a:r>
            <a:r>
              <a:rPr lang="zh-TW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後台管理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&lt;/a&gt;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&lt;/div&gt;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&lt;/div&gt;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&lt;/div&gt;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&lt;/nav&gt;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&lt;/div&gt;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&lt;/nav&gt;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0390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HTML &lt;form&gt;</a:t>
            </a:r>
            <a:r>
              <a:rPr lang="zh-TW" altLang="zh-TW" dirty="0"/>
              <a:t>表單簡介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別忘了要在</a:t>
            </a:r>
            <a:r>
              <a:rPr lang="en-US" altLang="zh-TW" dirty="0"/>
              <a:t>urls.py</a:t>
            </a:r>
            <a:r>
              <a:rPr lang="zh-TW" altLang="zh-TW" dirty="0"/>
              <a:t>設定</a:t>
            </a:r>
            <a:r>
              <a:rPr lang="en-US" altLang="zh-TW" dirty="0"/>
              <a:t>index</a:t>
            </a:r>
            <a:r>
              <a:rPr lang="zh-TW" altLang="zh-TW" dirty="0"/>
              <a:t>的首頁對應以及使用</a:t>
            </a:r>
            <a:r>
              <a:rPr lang="en-US" altLang="zh-TW" dirty="0"/>
              <a:t>python manage.py </a:t>
            </a:r>
            <a:r>
              <a:rPr lang="en-US" altLang="zh-TW" dirty="0" err="1"/>
              <a:t>runserver</a:t>
            </a:r>
            <a:r>
              <a:rPr lang="zh-TW" altLang="zh-TW" dirty="0"/>
              <a:t>執行網站</a:t>
            </a:r>
            <a:endParaRPr lang="en-US" altLang="zh-TW" dirty="0"/>
          </a:p>
          <a:p>
            <a:r>
              <a:rPr lang="zh-TW" altLang="zh-TW" dirty="0"/>
              <a:t>典型登入用表單的呈現畫面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95D6E328-7B77-7B61-5DE3-88D48B1AE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03" y="3284984"/>
            <a:ext cx="7877418" cy="281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214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HTML &lt;form&gt;</a:t>
            </a:r>
            <a:r>
              <a:rPr lang="zh-TW" altLang="zh-TW" dirty="0"/>
              <a:t>表單簡介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734744" cy="5214320"/>
          </a:xfrm>
        </p:spPr>
        <p:txBody>
          <a:bodyPr>
            <a:normAutofit fontScale="92500" lnSpcReduction="10000"/>
          </a:bodyPr>
          <a:lstStyle/>
          <a:p>
            <a:r>
              <a:rPr lang="zh-TW" altLang="zh-TW" dirty="0"/>
              <a:t>如何接收輸入的值呢？</a:t>
            </a:r>
            <a:endParaRPr lang="en-US" altLang="zh-TW" dirty="0"/>
          </a:p>
          <a:p>
            <a:pPr lvl="1"/>
            <a:r>
              <a:rPr lang="zh-TW" altLang="zh-TW" dirty="0"/>
              <a:t>是透過</a:t>
            </a:r>
            <a:r>
              <a:rPr lang="en-US" altLang="zh-TW" dirty="0"/>
              <a:t>request</a:t>
            </a:r>
            <a:r>
              <a:rPr lang="zh-TW" altLang="zh-TW" dirty="0"/>
              <a:t>物件</a:t>
            </a:r>
            <a:endParaRPr lang="en-US" altLang="zh-TW" dirty="0"/>
          </a:p>
          <a:p>
            <a:pPr lvl="1"/>
            <a:r>
              <a:rPr lang="zh-TW" altLang="zh-TW" dirty="0"/>
              <a:t>在處理的</a:t>
            </a:r>
            <a:r>
              <a:rPr lang="en-US" altLang="zh-TW" dirty="0" err="1"/>
              <a:t>views.index</a:t>
            </a:r>
            <a:r>
              <a:rPr lang="zh-TW" altLang="zh-TW" dirty="0"/>
              <a:t>函數中會接收一個</a:t>
            </a:r>
            <a:r>
              <a:rPr lang="en-US" altLang="zh-TW" dirty="0" err="1"/>
              <a:t>requst</a:t>
            </a:r>
            <a:r>
              <a:rPr lang="zh-TW" altLang="zh-TW" dirty="0"/>
              <a:t>物件</a:t>
            </a:r>
            <a:r>
              <a:rPr lang="zh-TW" altLang="en-US" dirty="0"/>
              <a:t>，</a:t>
            </a:r>
            <a:r>
              <a:rPr lang="zh-TW" altLang="zh-TW" dirty="0"/>
              <a:t>使用</a:t>
            </a:r>
            <a:r>
              <a:rPr lang="en-US" altLang="zh-TW" dirty="0" err="1">
                <a:solidFill>
                  <a:srgbClr val="FF0000"/>
                </a:solidFill>
              </a:rPr>
              <a:t>request.GET</a:t>
            </a:r>
            <a:r>
              <a:rPr lang="en-US" altLang="zh-TW" dirty="0">
                <a:solidFill>
                  <a:srgbClr val="FF0000"/>
                </a:solidFill>
              </a:rPr>
              <a:t>['</a:t>
            </a:r>
            <a:r>
              <a:rPr lang="en-US" altLang="zh-TW" dirty="0" err="1">
                <a:solidFill>
                  <a:srgbClr val="FF0000"/>
                </a:solidFill>
              </a:rPr>
              <a:t>input_name</a:t>
            </a:r>
            <a:r>
              <a:rPr lang="en-US" altLang="zh-TW" dirty="0">
                <a:solidFill>
                  <a:srgbClr val="FF0000"/>
                </a:solidFill>
              </a:rPr>
              <a:t>']</a:t>
            </a:r>
            <a:r>
              <a:rPr lang="zh-TW" altLang="zh-TW" dirty="0">
                <a:solidFill>
                  <a:srgbClr val="FF0000"/>
                </a:solidFill>
              </a:rPr>
              <a:t>取得</a:t>
            </a:r>
            <a:r>
              <a:rPr lang="zh-TW" altLang="en-US" dirty="0">
                <a:solidFill>
                  <a:srgbClr val="FF0000"/>
                </a:solidFill>
              </a:rPr>
              <a:t>表單資料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Views.py</a:t>
            </a:r>
            <a:r>
              <a:rPr lang="zh-TW" altLang="en-US" dirty="0"/>
              <a:t>程式如下：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django.shortcuts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render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mysite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models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 index(request):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try: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urid =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request.GET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request.GET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except: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urid = None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return render(request, 'index.html', locals())</a:t>
            </a:r>
          </a:p>
        </p:txBody>
      </p:sp>
    </p:spTree>
    <p:extLst>
      <p:ext uri="{BB962C8B-B14F-4D97-AF65-F5344CB8AC3E}">
        <p14:creationId xmlns:p14="http://schemas.microsoft.com/office/powerpoint/2010/main" val="1785799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HTML &lt;form&gt;</a:t>
            </a:r>
            <a:r>
              <a:rPr lang="zh-TW" altLang="zh-TW" dirty="0"/>
              <a:t>表單簡介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5142312"/>
          </a:xfrm>
        </p:spPr>
        <p:txBody>
          <a:bodyPr>
            <a:normAutofit lnSpcReduction="10000"/>
          </a:bodyPr>
          <a:lstStyle/>
          <a:p>
            <a:r>
              <a:rPr lang="zh-TW" altLang="zh-TW" dirty="0"/>
              <a:t>表單的內容有可能會是空值（</a:t>
            </a:r>
            <a:r>
              <a:rPr lang="en-US" altLang="zh-TW" dirty="0"/>
              <a:t>None</a:t>
            </a:r>
            <a:r>
              <a:rPr lang="zh-TW" altLang="zh-TW" dirty="0"/>
              <a:t>）</a:t>
            </a:r>
            <a:endParaRPr lang="en-US" altLang="zh-TW" dirty="0"/>
          </a:p>
          <a:p>
            <a:r>
              <a:rPr lang="zh-TW" altLang="zh-TW" dirty="0"/>
              <a:t>使用</a:t>
            </a:r>
            <a:r>
              <a:rPr lang="en-US" altLang="zh-TW" dirty="0"/>
              <a:t>try/except</a:t>
            </a:r>
            <a:r>
              <a:rPr lang="zh-TW" altLang="zh-TW" dirty="0"/>
              <a:t>例外處理機制</a:t>
            </a:r>
            <a:r>
              <a:rPr lang="zh-TW" altLang="en-US" dirty="0"/>
              <a:t>預防造</a:t>
            </a:r>
            <a:r>
              <a:rPr lang="zh-TW" altLang="zh-TW" dirty="0"/>
              <a:t>成網站程式異常中斷執行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 index(request):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try: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urid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request.GET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request.GET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except: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urid = None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if urid != None and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== '12345':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verified = True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else: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verified = False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return render(request, 'index.html', locals())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1818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HTML &lt;form&gt;</a:t>
            </a:r>
            <a:r>
              <a:rPr lang="zh-TW" altLang="zh-TW" dirty="0"/>
              <a:t>表單簡介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340768"/>
            <a:ext cx="8734744" cy="5400600"/>
          </a:xfrm>
        </p:spPr>
        <p:txBody>
          <a:bodyPr>
            <a:normAutofit fontScale="70000" lnSpcReduction="20000"/>
          </a:bodyPr>
          <a:lstStyle/>
          <a:p>
            <a:r>
              <a:rPr lang="zh-TW" altLang="zh-TW" dirty="0"/>
              <a:t>在</a:t>
            </a:r>
            <a:r>
              <a:rPr lang="en-US" altLang="zh-TW" dirty="0"/>
              <a:t>index.html</a:t>
            </a:r>
            <a:r>
              <a:rPr lang="zh-TW" altLang="zh-TW" dirty="0"/>
              <a:t>中取出</a:t>
            </a:r>
            <a:r>
              <a:rPr lang="en-US" altLang="zh-TW" dirty="0"/>
              <a:t>verified</a:t>
            </a:r>
            <a:r>
              <a:rPr lang="zh-TW" altLang="zh-TW" dirty="0"/>
              <a:t>這個變數來檢查，依據內容是</a:t>
            </a:r>
            <a:r>
              <a:rPr lang="en-US" altLang="zh-TW" dirty="0"/>
              <a:t>True</a:t>
            </a:r>
            <a:r>
              <a:rPr lang="zh-TW" altLang="zh-TW" dirty="0"/>
              <a:t>還是</a:t>
            </a:r>
            <a:r>
              <a:rPr lang="en-US" altLang="zh-TW" dirty="0"/>
              <a:t>False</a:t>
            </a:r>
            <a:r>
              <a:rPr lang="zh-TW" altLang="zh-TW" dirty="0"/>
              <a:t>來顯示相對應的字串。修改後的</a:t>
            </a:r>
            <a:r>
              <a:rPr lang="en-US" altLang="zh-TW" dirty="0"/>
              <a:t>index.html</a:t>
            </a:r>
            <a:r>
              <a:rPr lang="zh-TW" altLang="zh-TW" dirty="0"/>
              <a:t>如下所示：</a:t>
            </a: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&lt;!-- index.html (dj4ch08 project) --&gt;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extends "base.html" %}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block title %}</a:t>
            </a:r>
            <a:r>
              <a:rPr lang="zh-TW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我有話要說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endblock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block content %}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&lt;div class='container'&gt;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&lt;form name='my form' action='/' method='</a:t>
            </a:r>
            <a:r>
              <a:rPr lang="en-US" altLang="zh-TW" sz="3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GET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&lt;label for='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'&gt;Your ID:&lt;/label&gt;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id='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 type='text' name='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&lt;label for_'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'&gt;Your Password:&lt;/label&gt;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id='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 type='password' name='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type='submit' value='</a:t>
            </a:r>
            <a:r>
              <a:rPr lang="zh-TW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登入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type='reset' value='</a:t>
            </a:r>
            <a:r>
              <a:rPr lang="zh-TW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清除重填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&lt;/form&gt;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Your ID:{{ urid | default:"</a:t>
            </a:r>
            <a:r>
              <a:rPr lang="zh-TW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未輸入</a:t>
            </a: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ID"}}&lt;</a:t>
            </a:r>
            <a:r>
              <a:rPr lang="en-US" altLang="zh-TW" sz="23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br</a:t>
            </a: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/&gt;</a:t>
            </a:r>
            <a:endParaRPr lang="zh-TW" altLang="zh-TW" sz="23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23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if verified </a:t>
            </a: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%}</a:t>
            </a:r>
            <a:endParaRPr lang="zh-TW" altLang="zh-TW" sz="23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</a:t>
            </a:r>
            <a:r>
              <a:rPr lang="en-US" altLang="zh-TW" sz="23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em</a:t>
            </a: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</a:t>
            </a:r>
            <a:r>
              <a:rPr lang="zh-TW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你通過了驗證</a:t>
            </a: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</a:t>
            </a:r>
            <a:r>
              <a:rPr lang="en-US" altLang="zh-TW" sz="23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em</a:t>
            </a: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</a:t>
            </a:r>
            <a:endParaRPr lang="zh-TW" altLang="zh-TW" sz="23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23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else</a:t>
            </a: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23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</a:t>
            </a:r>
            <a:r>
              <a:rPr lang="en-US" altLang="zh-TW" sz="23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em</a:t>
            </a: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</a:t>
            </a:r>
            <a:r>
              <a:rPr lang="zh-TW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密碼或帳號打錯了喔</a:t>
            </a: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</a:t>
            </a:r>
            <a:r>
              <a:rPr lang="en-US" altLang="zh-TW" sz="23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em</a:t>
            </a: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</a:t>
            </a:r>
            <a:endParaRPr lang="zh-TW" altLang="zh-TW" sz="23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23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endif</a:t>
            </a: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23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&lt;/div&gt;</a:t>
            </a:r>
            <a:endParaRPr lang="zh-TW" altLang="zh-TW" sz="23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23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endblock</a:t>
            </a:r>
            <a:r>
              <a:rPr lang="en-US" altLang="zh-TW" sz="23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23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566167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活用表單的標籤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HTML</a:t>
            </a:r>
            <a:r>
              <a:rPr lang="zh-TW" altLang="zh-TW" dirty="0"/>
              <a:t>表單中常用的元件</a:t>
            </a:r>
          </a:p>
          <a:p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220394"/>
              </p:ext>
            </p:extLst>
          </p:nvPr>
        </p:nvGraphicFramePr>
        <p:xfrm>
          <a:off x="310544" y="2060848"/>
          <a:ext cx="8525608" cy="4248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785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910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5596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17882">
                <a:tc>
                  <a:txBody>
                    <a:bodyPr/>
                    <a:lstStyle/>
                    <a:p>
                      <a:pPr indent="30480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800" kern="100">
                          <a:effectLst/>
                        </a:rPr>
                        <a:t>標籤名稱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480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800" kern="100">
                          <a:effectLst/>
                        </a:rPr>
                        <a:t>說明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480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800" kern="100">
                          <a:effectLst/>
                        </a:rPr>
                        <a:t>使用範例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30590"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>
                          <a:effectLst/>
                        </a:rPr>
                        <a:t>&lt;select&gt;</a:t>
                      </a:r>
                    </a:p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>
                          <a:effectLst/>
                        </a:rPr>
                        <a:t>&lt;/select&gt;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800" kern="100">
                          <a:effectLst/>
                        </a:rPr>
                        <a:t>下拉式選單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&lt;label for='</a:t>
                      </a:r>
                      <a:r>
                        <a:rPr lang="en-US" sz="1800" kern="100" dirty="0" err="1">
                          <a:effectLst/>
                        </a:rPr>
                        <a:t>flist</a:t>
                      </a:r>
                      <a:r>
                        <a:rPr lang="en-US" sz="1800" kern="100" dirty="0">
                          <a:effectLst/>
                        </a:rPr>
                        <a:t>'&gt;</a:t>
                      </a:r>
                      <a:r>
                        <a:rPr lang="zh-TW" sz="1800" kern="100" dirty="0">
                          <a:effectLst/>
                        </a:rPr>
                        <a:t>最喜歡的水果</a:t>
                      </a:r>
                      <a:r>
                        <a:rPr lang="en-US" sz="1800" kern="100" dirty="0">
                          <a:effectLst/>
                        </a:rPr>
                        <a:t>&lt;/label&gt;</a:t>
                      </a:r>
                      <a:endParaRPr lang="zh-TW" sz="1800" kern="100" dirty="0">
                        <a:effectLst/>
                      </a:endParaRP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&lt;select name='</a:t>
                      </a:r>
                      <a:r>
                        <a:rPr lang="en-US" sz="1800" kern="100" dirty="0" err="1">
                          <a:effectLst/>
                        </a:rPr>
                        <a:t>flist</a:t>
                      </a:r>
                      <a:r>
                        <a:rPr lang="en-US" sz="1800" kern="100" dirty="0">
                          <a:effectLst/>
                        </a:rPr>
                        <a:t>'&gt;</a:t>
                      </a:r>
                      <a:endParaRPr lang="zh-TW" sz="1800" kern="100" dirty="0">
                        <a:effectLst/>
                      </a:endParaRP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&lt;option value='0'&gt;Apple&lt;/option&gt;</a:t>
                      </a:r>
                      <a:endParaRPr lang="zh-TW" sz="1800" kern="100" dirty="0">
                        <a:effectLst/>
                      </a:endParaRP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&lt;option value='1'&gt;Banana&lt;/option&gt;</a:t>
                      </a:r>
                      <a:endParaRPr lang="zh-TW" sz="1800" kern="100" dirty="0">
                        <a:effectLst/>
                      </a:endParaRP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&lt;option value='2'&gt;Cherry&lt;/option&gt;</a:t>
                      </a:r>
                      <a:endParaRPr lang="zh-TW" sz="1800" kern="100" dirty="0">
                        <a:effectLst/>
                      </a:endParaRPr>
                    </a:p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&lt;/select&gt;&lt;</a:t>
                      </a:r>
                      <a:r>
                        <a:rPr lang="en-US" sz="1800" kern="100" dirty="0" err="1">
                          <a:effectLst/>
                        </a:rPr>
                        <a:t>br</a:t>
                      </a:r>
                      <a:r>
                        <a:rPr lang="en-US" sz="1800" kern="100" dirty="0">
                          <a:effectLst/>
                        </a:rPr>
                        <a:t>&gt;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372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活用表單的標籤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16</a:t>
            </a:fld>
            <a:endParaRPr lang="zh-TW" altLang="en-US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655405347"/>
              </p:ext>
            </p:extLst>
          </p:nvPr>
        </p:nvGraphicFramePr>
        <p:xfrm>
          <a:off x="268248" y="1467696"/>
          <a:ext cx="8567904" cy="46255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93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9898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7955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625599"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&lt;input type=’radio’&gt;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800" b="0" kern="100">
                          <a:solidFill>
                            <a:schemeClr val="tx1"/>
                          </a:solidFill>
                          <a:effectLst/>
                        </a:rPr>
                        <a:t>選項按鈕</a:t>
                      </a:r>
                      <a:endParaRPr lang="en-US" altLang="zh-TW" sz="1800" b="0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zh-TW" sz="1800" b="0" kern="100" dirty="0">
                          <a:solidFill>
                            <a:schemeClr val="tx1"/>
                          </a:solidFill>
                          <a:effectLst/>
                        </a:rPr>
                        <a:t>單選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zh-TW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800" b="0" kern="100" dirty="0">
                          <a:solidFill>
                            <a:schemeClr val="tx1"/>
                          </a:solidFill>
                          <a:effectLst/>
                        </a:rPr>
                        <a:t>最喜歡的顏色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zh-TW" sz="1800" b="0" kern="100" dirty="0">
                          <a:solidFill>
                            <a:schemeClr val="tx1"/>
                          </a:solidFill>
                          <a:effectLst/>
                        </a:rPr>
                        <a:t>單選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)&lt;</a:t>
                      </a: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br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endParaRPr lang="zh-TW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&lt;input type='radio' name='</a:t>
                      </a: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fcolor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' value='Green' checked&gt;Green&lt;</a:t>
                      </a: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br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endParaRPr lang="zh-TW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&lt;input type='radio' name='</a:t>
                      </a: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fcolor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' value='Blue'&gt;Blue&lt;</a:t>
                      </a: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br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endParaRPr lang="zh-TW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&lt;input type='radio' name='</a:t>
                      </a: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fcolor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' value='Red'&gt;Red&lt;</a:t>
                      </a: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br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endParaRPr lang="zh-TW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&lt;input type='radio' name='</a:t>
                      </a: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fcolor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' value='Black'&gt;Black&lt;</a:t>
                      </a: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br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endParaRPr lang="zh-TW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6097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活用表單的標籤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17</a:t>
            </a:fld>
            <a:endParaRPr lang="zh-TW" altLang="en-US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417496112"/>
              </p:ext>
            </p:extLst>
          </p:nvPr>
        </p:nvGraphicFramePr>
        <p:xfrm>
          <a:off x="324272" y="1916832"/>
          <a:ext cx="8640216" cy="28083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0784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1247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81989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08312"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&lt;input type=’checkbox’&gt;</a:t>
                      </a:r>
                      <a:endParaRPr lang="zh-TW" sz="16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600" b="0" kern="100" dirty="0">
                          <a:solidFill>
                            <a:schemeClr val="tx1"/>
                          </a:solidFill>
                          <a:effectLst/>
                        </a:rPr>
                        <a:t>核取方塊</a:t>
                      </a:r>
                      <a:endParaRPr lang="en-US" altLang="zh-TW" sz="16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600" b="0" kern="100" dirty="0">
                          <a:solidFill>
                            <a:schemeClr val="tx1"/>
                          </a:solidFill>
                          <a:effectLst/>
                        </a:rPr>
                        <a:t>（多選）</a:t>
                      </a:r>
                      <a:endParaRPr lang="zh-TW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600" b="0" kern="100" dirty="0">
                          <a:solidFill>
                            <a:schemeClr val="tx1"/>
                          </a:solidFill>
                          <a:effectLst/>
                        </a:rPr>
                        <a:t>最喜歡的顏色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zh-TW" sz="1600" b="0" kern="100" dirty="0">
                          <a:solidFill>
                            <a:schemeClr val="tx1"/>
                          </a:solidFill>
                          <a:effectLst/>
                        </a:rPr>
                        <a:t>複選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)&lt;</a:t>
                      </a:r>
                      <a:r>
                        <a:rPr lang="en-US" sz="1600" b="0" kern="100" dirty="0" err="1">
                          <a:solidFill>
                            <a:schemeClr val="tx1"/>
                          </a:solidFill>
                          <a:effectLst/>
                        </a:rPr>
                        <a:t>br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endParaRPr lang="zh-TW" sz="16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&lt;input type='checkbox' name='</a:t>
                      </a:r>
                      <a:r>
                        <a:rPr lang="en-US" sz="1600" b="0" kern="100" dirty="0" err="1">
                          <a:solidFill>
                            <a:schemeClr val="tx1"/>
                          </a:solidFill>
                          <a:effectLst/>
                        </a:rPr>
                        <a:t>cfcolor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' value='Green'&gt;Green&lt;</a:t>
                      </a:r>
                      <a:r>
                        <a:rPr lang="en-US" sz="1600" b="0" kern="100" dirty="0" err="1">
                          <a:solidFill>
                            <a:schemeClr val="tx1"/>
                          </a:solidFill>
                          <a:effectLst/>
                        </a:rPr>
                        <a:t>br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endParaRPr lang="zh-TW" sz="16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&lt;input type='checkbox' name='</a:t>
                      </a:r>
                      <a:r>
                        <a:rPr lang="en-US" sz="1600" b="0" kern="100" dirty="0" err="1">
                          <a:solidFill>
                            <a:schemeClr val="tx1"/>
                          </a:solidFill>
                          <a:effectLst/>
                        </a:rPr>
                        <a:t>cfcolor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' value='Blue'&gt;Blue&lt;</a:t>
                      </a:r>
                      <a:r>
                        <a:rPr lang="en-US" sz="1600" b="0" kern="100" dirty="0" err="1">
                          <a:solidFill>
                            <a:schemeClr val="tx1"/>
                          </a:solidFill>
                          <a:effectLst/>
                        </a:rPr>
                        <a:t>br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endParaRPr lang="zh-TW" sz="16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&lt;input type='checkbox' name='</a:t>
                      </a:r>
                      <a:r>
                        <a:rPr lang="en-US" sz="1600" b="0" kern="100" dirty="0" err="1">
                          <a:solidFill>
                            <a:schemeClr val="tx1"/>
                          </a:solidFill>
                          <a:effectLst/>
                        </a:rPr>
                        <a:t>cfcolor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' value='Red'&gt;Red&lt;</a:t>
                      </a:r>
                      <a:r>
                        <a:rPr lang="en-US" sz="1600" b="0" kern="100" dirty="0" err="1">
                          <a:solidFill>
                            <a:schemeClr val="tx1"/>
                          </a:solidFill>
                          <a:effectLst/>
                        </a:rPr>
                        <a:t>br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endParaRPr lang="zh-TW" sz="16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&lt;input type='checkbox' name='</a:t>
                      </a:r>
                      <a:r>
                        <a:rPr lang="en-US" sz="1600" b="0" kern="100" dirty="0" err="1">
                          <a:solidFill>
                            <a:schemeClr val="tx1"/>
                          </a:solidFill>
                          <a:effectLst/>
                        </a:rPr>
                        <a:t>cfcolor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' value='Black'&gt;Black&lt;</a:t>
                      </a:r>
                      <a:r>
                        <a:rPr lang="en-US" sz="1600" b="0" kern="100" dirty="0" err="1">
                          <a:solidFill>
                            <a:schemeClr val="tx1"/>
                          </a:solidFill>
                          <a:effectLst/>
                        </a:rPr>
                        <a:t>br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endParaRPr lang="zh-TW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298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活用表單的標籤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18</a:t>
            </a:fld>
            <a:endParaRPr lang="zh-TW" altLang="en-US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908194097"/>
              </p:ext>
            </p:extLst>
          </p:nvPr>
        </p:nvGraphicFramePr>
        <p:xfrm>
          <a:off x="301752" y="1772816"/>
          <a:ext cx="8534400" cy="36724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080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9273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6086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224136"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>
                          <a:effectLst/>
                        </a:rPr>
                        <a:t>&lt;input type='hidden'&gt;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800" b="0" kern="100" dirty="0">
                          <a:solidFill>
                            <a:srgbClr val="FF0000"/>
                          </a:solidFill>
                          <a:effectLst/>
                        </a:rPr>
                        <a:t>隱藏欄位</a:t>
                      </a:r>
                      <a:endParaRPr lang="zh-TW" sz="1800" b="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&lt;input type='hidden' name='hidevalue' value='hidevalue'&gt;</a:t>
                      </a:r>
                      <a:endParaRPr lang="zh-TW" sz="1800" b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224136"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>
                          <a:effectLst/>
                        </a:rPr>
                        <a:t>&lt;input type='button'&gt;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800" b="0" kern="100">
                          <a:solidFill>
                            <a:schemeClr val="tx1"/>
                          </a:solidFill>
                          <a:effectLst/>
                        </a:rPr>
                        <a:t>自訂按鈕</a:t>
                      </a:r>
                      <a:endParaRPr lang="zh-TW" sz="1800" b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&lt;input type='button' value='Google' onclick='location.href="http://google.com"'&gt;</a:t>
                      </a:r>
                      <a:endParaRPr lang="zh-TW" sz="1800" b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224136"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>
                          <a:effectLst/>
                        </a:rPr>
                        <a:t>&lt;textarea&gt;</a:t>
                      </a:r>
                    </a:p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>
                          <a:effectLst/>
                        </a:rPr>
                        <a:t>&lt;/textarea&gt;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800" b="0" kern="100">
                          <a:solidFill>
                            <a:schemeClr val="tx1"/>
                          </a:solidFill>
                          <a:effectLst/>
                        </a:rPr>
                        <a:t>多列文字內容</a:t>
                      </a:r>
                      <a:endParaRPr lang="zh-TW" sz="1800" b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&lt;</a:t>
                      </a: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textarea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 name='message' rows=5 cols=40&gt;&lt;/</a:t>
                      </a: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textarea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endParaRPr lang="zh-TW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3286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活用表單的標籤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90728" cy="5214320"/>
          </a:xfrm>
        </p:spPr>
        <p:txBody>
          <a:bodyPr>
            <a:normAutofit fontScale="92500"/>
          </a:bodyPr>
          <a:lstStyle/>
          <a:p>
            <a:r>
              <a:rPr lang="zh-TW" altLang="zh-TW" dirty="0"/>
              <a:t>提供西元年的下拉式選單功能，希望能從西元</a:t>
            </a:r>
            <a:r>
              <a:rPr lang="en-US" altLang="zh-TW" dirty="0"/>
              <a:t>1960</a:t>
            </a:r>
            <a:r>
              <a:rPr lang="zh-TW" altLang="zh-TW" dirty="0"/>
              <a:t>年到</a:t>
            </a:r>
            <a:r>
              <a:rPr lang="en-US" altLang="zh-TW" dirty="0"/>
              <a:t>2020</a:t>
            </a:r>
            <a:r>
              <a:rPr lang="zh-TW" altLang="zh-TW" dirty="0"/>
              <a:t>年</a:t>
            </a:r>
            <a:endParaRPr lang="en-US" altLang="zh-TW" dirty="0"/>
          </a:p>
          <a:p>
            <a:r>
              <a:rPr lang="en-US" altLang="zh-TW" dirty="0" err="1"/>
              <a:t>views.index</a:t>
            </a:r>
            <a:r>
              <a:rPr lang="zh-TW" altLang="zh-TW" dirty="0"/>
              <a:t>中加入</a:t>
            </a:r>
            <a:r>
              <a:rPr lang="zh-TW" altLang="en-US" dirty="0"/>
              <a:t>如下程式碼：</a:t>
            </a:r>
            <a:endParaRPr lang="en-US" altLang="zh-TW" dirty="0"/>
          </a:p>
          <a:p>
            <a:pPr lvl="1"/>
            <a:r>
              <a:rPr lang="en-US" altLang="zh-TW" dirty="0"/>
              <a:t>years = range(1960,2021)</a:t>
            </a:r>
            <a:endParaRPr lang="zh-TW" altLang="zh-TW" dirty="0"/>
          </a:p>
          <a:p>
            <a:r>
              <a:rPr lang="zh-TW" altLang="zh-TW" dirty="0"/>
              <a:t>在</a:t>
            </a:r>
            <a:r>
              <a:rPr lang="en-US" altLang="zh-TW" dirty="0"/>
              <a:t>index.html</a:t>
            </a:r>
            <a:r>
              <a:rPr lang="zh-TW" altLang="zh-TW" dirty="0"/>
              <a:t>中使用以下的內容把</a:t>
            </a:r>
            <a:r>
              <a:rPr lang="en-US" altLang="zh-TW" dirty="0"/>
              <a:t>years</a:t>
            </a:r>
            <a:r>
              <a:rPr lang="zh-TW" altLang="zh-TW" dirty="0"/>
              <a:t>串列轉換成</a:t>
            </a:r>
            <a:r>
              <a:rPr lang="zh-TW" altLang="zh-TW" dirty="0">
                <a:solidFill>
                  <a:srgbClr val="FF0000"/>
                </a:solidFill>
              </a:rPr>
              <a:t>下拉式選單：</a:t>
            </a:r>
            <a:endParaRPr lang="en-US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sz="2300" dirty="0"/>
              <a:t> </a:t>
            </a:r>
            <a:r>
              <a:rPr lang="en-US" altLang="zh-TW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&lt;label for='</a:t>
            </a:r>
            <a:r>
              <a:rPr lang="en-US" altLang="zh-TW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byear</a:t>
            </a:r>
            <a:r>
              <a:rPr lang="en-US" altLang="zh-TW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'&gt;</a:t>
            </a:r>
            <a:r>
              <a:rPr lang="zh-TW" altLang="zh-TW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出生年</a:t>
            </a:r>
            <a:r>
              <a:rPr lang="en-US" altLang="zh-TW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:&lt;/label&gt;</a:t>
            </a:r>
            <a:endParaRPr lang="zh-TW" altLang="zh-TW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&lt;select name='</a:t>
            </a:r>
            <a:r>
              <a:rPr lang="en-US" altLang="zh-TW" sz="23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byear</a:t>
            </a:r>
            <a:r>
              <a:rPr lang="en-US" altLang="zh-TW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'&gt;</a:t>
            </a:r>
            <a:endParaRPr lang="zh-TW" altLang="zh-TW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{% for year in years %}</a:t>
            </a:r>
            <a:endParaRPr lang="zh-TW" altLang="zh-TW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zh-TW" alt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 value='{{ year }}'&gt;{{ year }}</a:t>
            </a:r>
          </a:p>
          <a:p>
            <a:pPr marL="274320" lvl="1" indent="0">
              <a:buNone/>
            </a:pPr>
            <a:r>
              <a:rPr lang="zh-TW" alt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TW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&lt;/option&gt;</a:t>
            </a:r>
            <a:endParaRPr lang="zh-TW" altLang="zh-TW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{% </a:t>
            </a:r>
            <a:r>
              <a:rPr lang="en-US" altLang="zh-TW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endfor</a:t>
            </a:r>
            <a:r>
              <a:rPr lang="en-US" altLang="zh-TW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%}</a:t>
            </a:r>
            <a:endParaRPr lang="zh-TW" altLang="zh-TW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&lt;/select</a:t>
            </a:r>
            <a:r>
              <a:rPr lang="en-US" altLang="zh-TW" sz="23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altLang="zh-TW" sz="23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zh-TW" sz="23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zh-TW" altLang="en-US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79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活用表單的標籤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0" y="1527048"/>
            <a:ext cx="9144000" cy="5142312"/>
          </a:xfrm>
        </p:spPr>
        <p:txBody>
          <a:bodyPr>
            <a:normAutofit/>
          </a:bodyPr>
          <a:lstStyle/>
          <a:p>
            <a:r>
              <a:rPr lang="zh-TW" altLang="zh-TW" dirty="0"/>
              <a:t>下拉式選單只有</a:t>
            </a:r>
            <a:r>
              <a:rPr lang="zh-TW" altLang="zh-TW" dirty="0">
                <a:solidFill>
                  <a:srgbClr val="FF0000"/>
                </a:solidFill>
              </a:rPr>
              <a:t>單選</a:t>
            </a:r>
            <a:r>
              <a:rPr lang="zh-TW" altLang="zh-TW" dirty="0"/>
              <a:t>，所以在</a:t>
            </a:r>
            <a:r>
              <a:rPr lang="en-US" altLang="zh-TW" dirty="0" err="1"/>
              <a:t>views.index</a:t>
            </a:r>
            <a:r>
              <a:rPr lang="zh-TW" altLang="zh-TW" dirty="0"/>
              <a:t>中使用</a:t>
            </a:r>
            <a:r>
              <a:rPr lang="en-US" altLang="zh-TW" dirty="0" err="1">
                <a:solidFill>
                  <a:srgbClr val="FF0000"/>
                </a:solidFill>
              </a:rPr>
              <a:t>request.GET</a:t>
            </a:r>
            <a:r>
              <a:rPr lang="en-US" altLang="zh-TW" dirty="0">
                <a:solidFill>
                  <a:srgbClr val="FF0000"/>
                </a:solidFill>
              </a:rPr>
              <a:t>[‘</a:t>
            </a:r>
            <a:r>
              <a:rPr lang="en-US" altLang="zh-TW" dirty="0" err="1">
                <a:solidFill>
                  <a:srgbClr val="FF0000"/>
                </a:solidFill>
              </a:rPr>
              <a:t>byear</a:t>
            </a:r>
            <a:r>
              <a:rPr lang="en-US" altLang="zh-TW" dirty="0">
                <a:solidFill>
                  <a:srgbClr val="FF0000"/>
                </a:solidFill>
              </a:rPr>
              <a:t>’]</a:t>
            </a:r>
            <a:r>
              <a:rPr lang="zh-TW" altLang="zh-TW" dirty="0"/>
              <a:t>也可以取得上述下拉式選單的結果</a:t>
            </a:r>
            <a:endParaRPr lang="en-US" altLang="zh-TW" dirty="0"/>
          </a:p>
          <a:p>
            <a:r>
              <a:rPr lang="en-US" altLang="zh-TW" dirty="0"/>
              <a:t>checkbox</a:t>
            </a:r>
            <a:r>
              <a:rPr lang="zh-TW" altLang="zh-TW" dirty="0"/>
              <a:t>這一類多選的選單，則要以串列變數的方式來處理，例如以下的</a:t>
            </a:r>
            <a:r>
              <a:rPr lang="en-US" altLang="zh-TW" dirty="0"/>
              <a:t>HTML</a:t>
            </a:r>
            <a:r>
              <a:rPr lang="zh-TW" altLang="zh-TW" dirty="0"/>
              <a:t>片段：</a:t>
            </a:r>
          </a:p>
          <a:p>
            <a:pPr marL="274320" lvl="1" indent="0">
              <a:buNone/>
            </a:pPr>
            <a:r>
              <a:rPr lang="zh-TW" altLang="zh-TW" dirty="0"/>
              <a:t>喜歡的顏色（可複選）：</a:t>
            </a:r>
          </a:p>
          <a:p>
            <a:pPr marL="274320" lvl="1" indent="0">
              <a:buNone/>
            </a:pPr>
            <a:r>
              <a:rPr lang="en-US" altLang="zh-TW" dirty="0"/>
              <a:t>&lt;input type=</a:t>
            </a:r>
            <a:r>
              <a:rPr lang="en-US" altLang="zh-TW" dirty="0">
                <a:solidFill>
                  <a:srgbClr val="FF0000"/>
                </a:solidFill>
              </a:rPr>
              <a:t>'checkbox' </a:t>
            </a:r>
            <a:r>
              <a:rPr lang="en-US" altLang="zh-TW" dirty="0"/>
              <a:t>name=</a:t>
            </a:r>
            <a:r>
              <a:rPr lang="en-US" altLang="zh-TW" dirty="0">
                <a:solidFill>
                  <a:srgbClr val="FF0000"/>
                </a:solidFill>
              </a:rPr>
              <a:t>'</a:t>
            </a:r>
            <a:r>
              <a:rPr lang="en-US" altLang="zh-TW" dirty="0" err="1">
                <a:solidFill>
                  <a:srgbClr val="FF0000"/>
                </a:solidFill>
              </a:rPr>
              <a:t>fcolor</a:t>
            </a:r>
            <a:r>
              <a:rPr lang="en-US" altLang="zh-TW" dirty="0">
                <a:solidFill>
                  <a:srgbClr val="FF0000"/>
                </a:solidFill>
              </a:rPr>
              <a:t>' </a:t>
            </a:r>
            <a:r>
              <a:rPr lang="en-US" altLang="zh-TW" dirty="0"/>
              <a:t>value='Green'&gt;Green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&lt;input type=</a:t>
            </a:r>
            <a:r>
              <a:rPr lang="en-US" altLang="zh-TW" dirty="0">
                <a:solidFill>
                  <a:srgbClr val="FF0000"/>
                </a:solidFill>
              </a:rPr>
              <a:t>'checkbox'</a:t>
            </a:r>
            <a:r>
              <a:rPr lang="en-US" altLang="zh-TW" dirty="0"/>
              <a:t> name=</a:t>
            </a:r>
            <a:r>
              <a:rPr lang="en-US" altLang="zh-TW" dirty="0">
                <a:solidFill>
                  <a:srgbClr val="FF0000"/>
                </a:solidFill>
              </a:rPr>
              <a:t>'</a:t>
            </a:r>
            <a:r>
              <a:rPr lang="en-US" altLang="zh-TW" dirty="0" err="1">
                <a:solidFill>
                  <a:srgbClr val="FF0000"/>
                </a:solidFill>
              </a:rPr>
              <a:t>fcolor</a:t>
            </a:r>
            <a:r>
              <a:rPr lang="en-US" altLang="zh-TW" dirty="0">
                <a:solidFill>
                  <a:srgbClr val="FF0000"/>
                </a:solidFill>
              </a:rPr>
              <a:t>' </a:t>
            </a:r>
            <a:r>
              <a:rPr lang="en-US" altLang="zh-TW" dirty="0"/>
              <a:t>value='Red'&gt;Red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&lt;input type=</a:t>
            </a:r>
            <a:r>
              <a:rPr lang="en-US" altLang="zh-TW" dirty="0">
                <a:solidFill>
                  <a:srgbClr val="FF0000"/>
                </a:solidFill>
              </a:rPr>
              <a:t>'checkbox'</a:t>
            </a:r>
            <a:r>
              <a:rPr lang="en-US" altLang="zh-TW" dirty="0"/>
              <a:t> name=</a:t>
            </a:r>
            <a:r>
              <a:rPr lang="en-US" altLang="zh-TW" dirty="0">
                <a:solidFill>
                  <a:srgbClr val="FF0000"/>
                </a:solidFill>
              </a:rPr>
              <a:t>'</a:t>
            </a:r>
            <a:r>
              <a:rPr lang="en-US" altLang="zh-TW" dirty="0" err="1">
                <a:solidFill>
                  <a:srgbClr val="FF0000"/>
                </a:solidFill>
              </a:rPr>
              <a:t>fcolor</a:t>
            </a:r>
            <a:r>
              <a:rPr lang="en-US" altLang="zh-TW" dirty="0">
                <a:solidFill>
                  <a:srgbClr val="FF0000"/>
                </a:solidFill>
              </a:rPr>
              <a:t>' </a:t>
            </a:r>
            <a:r>
              <a:rPr lang="en-US" altLang="zh-TW" dirty="0"/>
              <a:t>value='Blue'&gt;Blue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&lt;input type=</a:t>
            </a:r>
            <a:r>
              <a:rPr lang="en-US" altLang="zh-TW" dirty="0">
                <a:solidFill>
                  <a:srgbClr val="FF0000"/>
                </a:solidFill>
              </a:rPr>
              <a:t>'checkbox' </a:t>
            </a:r>
            <a:r>
              <a:rPr lang="en-US" altLang="zh-TW" dirty="0"/>
              <a:t>name=</a:t>
            </a:r>
            <a:r>
              <a:rPr lang="en-US" altLang="zh-TW" dirty="0">
                <a:solidFill>
                  <a:srgbClr val="FF0000"/>
                </a:solidFill>
              </a:rPr>
              <a:t>'</a:t>
            </a:r>
            <a:r>
              <a:rPr lang="en-US" altLang="zh-TW" dirty="0" err="1">
                <a:solidFill>
                  <a:srgbClr val="FF0000"/>
                </a:solidFill>
              </a:rPr>
              <a:t>fcolor</a:t>
            </a:r>
            <a:r>
              <a:rPr lang="en-US" altLang="zh-TW" dirty="0">
                <a:solidFill>
                  <a:srgbClr val="FF0000"/>
                </a:solidFill>
              </a:rPr>
              <a:t>' </a:t>
            </a:r>
            <a:r>
              <a:rPr lang="en-US" altLang="zh-TW" dirty="0"/>
              <a:t>value='Yellow'&gt;Yellow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&lt;input type=</a:t>
            </a:r>
            <a:r>
              <a:rPr lang="en-US" altLang="zh-TW" dirty="0">
                <a:solidFill>
                  <a:srgbClr val="FF0000"/>
                </a:solidFill>
              </a:rPr>
              <a:t>'checkbox' </a:t>
            </a:r>
            <a:r>
              <a:rPr lang="en-US" altLang="zh-TW" dirty="0"/>
              <a:t>name=</a:t>
            </a:r>
            <a:r>
              <a:rPr lang="en-US" altLang="zh-TW" dirty="0">
                <a:solidFill>
                  <a:srgbClr val="FF0000"/>
                </a:solidFill>
              </a:rPr>
              <a:t>'</a:t>
            </a:r>
            <a:r>
              <a:rPr lang="en-US" altLang="zh-TW" dirty="0" err="1">
                <a:solidFill>
                  <a:srgbClr val="FF0000"/>
                </a:solidFill>
              </a:rPr>
              <a:t>fcolor</a:t>
            </a:r>
            <a:r>
              <a:rPr lang="en-US" altLang="zh-TW" dirty="0">
                <a:solidFill>
                  <a:srgbClr val="FF0000"/>
                </a:solidFill>
              </a:rPr>
              <a:t>' </a:t>
            </a:r>
            <a:r>
              <a:rPr lang="en-US" altLang="zh-TW" dirty="0"/>
              <a:t>value='Orange'&gt;Orange&lt;</a:t>
            </a:r>
            <a:r>
              <a:rPr lang="en-US" altLang="zh-TW" dirty="0" err="1"/>
              <a:t>br</a:t>
            </a:r>
            <a:r>
              <a:rPr lang="en-US" altLang="zh-TW" dirty="0"/>
              <a:t>/&gt;</a:t>
            </a: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2664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活用表單的標籤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5214320"/>
          </a:xfrm>
        </p:spPr>
        <p:txBody>
          <a:bodyPr>
            <a:normAutofit fontScale="92500"/>
          </a:bodyPr>
          <a:lstStyle/>
          <a:p>
            <a:r>
              <a:rPr lang="zh-TW" altLang="zh-TW" dirty="0"/>
              <a:t>顏色選項的</a:t>
            </a:r>
            <a:r>
              <a:rPr lang="en-US" altLang="zh-TW" dirty="0">
                <a:solidFill>
                  <a:srgbClr val="FF0000"/>
                </a:solidFill>
              </a:rPr>
              <a:t>name</a:t>
            </a:r>
            <a:r>
              <a:rPr lang="zh-TW" altLang="zh-TW" dirty="0">
                <a:solidFill>
                  <a:srgbClr val="FF0000"/>
                </a:solidFill>
              </a:rPr>
              <a:t>屬性均為相同</a:t>
            </a:r>
            <a:r>
              <a:rPr lang="zh-TW" altLang="zh-TW" dirty="0"/>
              <a:t>，但是</a:t>
            </a:r>
            <a:r>
              <a:rPr lang="en-US" altLang="zh-TW" dirty="0">
                <a:solidFill>
                  <a:srgbClr val="FF0000"/>
                </a:solidFill>
              </a:rPr>
              <a:t>value</a:t>
            </a:r>
            <a:r>
              <a:rPr lang="zh-TW" altLang="zh-TW" dirty="0">
                <a:solidFill>
                  <a:srgbClr val="FF0000"/>
                </a:solidFill>
              </a:rPr>
              <a:t>不一樣</a:t>
            </a:r>
            <a:r>
              <a:rPr lang="zh-TW" altLang="zh-TW" dirty="0"/>
              <a:t>，使用</a:t>
            </a:r>
            <a:r>
              <a:rPr lang="en-US" altLang="zh-TW" dirty="0" err="1">
                <a:solidFill>
                  <a:srgbClr val="FF0000"/>
                </a:solidFill>
              </a:rPr>
              <a:t>getlist</a:t>
            </a:r>
            <a:r>
              <a:rPr lang="zh-TW" altLang="zh-TW" dirty="0"/>
              <a:t>方法函數可以把所有選到的項目放到串列中</a:t>
            </a:r>
            <a:endParaRPr lang="en-US" altLang="zh-TW" dirty="0"/>
          </a:p>
          <a:p>
            <a:r>
              <a:rPr lang="zh-TW" altLang="zh-TW" dirty="0"/>
              <a:t>在</a:t>
            </a:r>
            <a:r>
              <a:rPr lang="en-US" altLang="zh-TW" dirty="0" err="1"/>
              <a:t>views.index</a:t>
            </a:r>
            <a:r>
              <a:rPr lang="zh-TW" altLang="zh-TW" dirty="0"/>
              <a:t>函數中要使用下列這一行程式來取得：</a:t>
            </a:r>
          </a:p>
          <a:p>
            <a:pPr lvl="1"/>
            <a:r>
              <a:rPr lang="en-US" altLang="zh-TW" dirty="0" err="1"/>
              <a:t>urfcolor</a:t>
            </a:r>
            <a:r>
              <a:rPr lang="en-US" altLang="zh-TW" dirty="0"/>
              <a:t> = </a:t>
            </a:r>
            <a:r>
              <a:rPr lang="en-US" altLang="zh-TW" dirty="0" err="1"/>
              <a:t>request.GET.</a:t>
            </a:r>
            <a:r>
              <a:rPr lang="en-US" altLang="zh-TW" dirty="0" err="1">
                <a:solidFill>
                  <a:srgbClr val="FF0000"/>
                </a:solidFill>
              </a:rPr>
              <a:t>getlist</a:t>
            </a:r>
            <a:r>
              <a:rPr lang="en-US" altLang="zh-TW" dirty="0"/>
              <a:t>('</a:t>
            </a:r>
            <a:r>
              <a:rPr lang="en-US" altLang="zh-TW" dirty="0" err="1"/>
              <a:t>fcolor</a:t>
            </a:r>
            <a:r>
              <a:rPr lang="en-US" altLang="zh-TW" dirty="0"/>
              <a:t>')</a:t>
            </a:r>
            <a:endParaRPr lang="zh-TW" altLang="zh-TW" dirty="0"/>
          </a:p>
          <a:p>
            <a:r>
              <a:rPr lang="en-US" altLang="zh-TW" dirty="0"/>
              <a:t>{% for %}/{% </a:t>
            </a:r>
            <a:r>
              <a:rPr lang="en-US" altLang="zh-TW" dirty="0" err="1"/>
              <a:t>endfor</a:t>
            </a:r>
            <a:r>
              <a:rPr lang="en-US" altLang="zh-TW" dirty="0"/>
              <a:t> %}</a:t>
            </a:r>
            <a:r>
              <a:rPr lang="zh-TW" altLang="zh-TW" dirty="0"/>
              <a:t>作法</a:t>
            </a:r>
            <a:r>
              <a:rPr lang="zh-TW" altLang="en-US" dirty="0"/>
              <a:t>將</a:t>
            </a:r>
            <a:r>
              <a:rPr lang="en-US" altLang="zh-TW" dirty="0" err="1"/>
              <a:t>urfcolor</a:t>
            </a:r>
            <a:r>
              <a:rPr lang="zh-TW" altLang="zh-TW" dirty="0"/>
              <a:t>串列變數在</a:t>
            </a:r>
            <a:r>
              <a:rPr lang="en-US" altLang="zh-TW" dirty="0"/>
              <a:t>index.html</a:t>
            </a:r>
            <a:r>
              <a:rPr lang="zh-TW" altLang="zh-TW" dirty="0"/>
              <a:t>中顯示出來</a:t>
            </a:r>
            <a:r>
              <a:rPr lang="zh-TW" altLang="en-US" dirty="0"/>
              <a:t>，如下所示：</a:t>
            </a:r>
            <a:endParaRPr lang="en-US" altLang="zh-TW" dirty="0"/>
          </a:p>
          <a:p>
            <a:pPr marL="274320" lvl="1" indent="0">
              <a:buNone/>
            </a:pPr>
            <a:r>
              <a:rPr lang="zh-TW" altLang="zh-TW" sz="2300" dirty="0"/>
              <a:t>顏色喜好</a:t>
            </a:r>
            <a:r>
              <a:rPr lang="en-US" altLang="zh-TW" sz="2300" dirty="0"/>
              <a:t>:</a:t>
            </a:r>
            <a:endParaRPr lang="zh-TW" altLang="zh-TW" sz="2300" dirty="0"/>
          </a:p>
          <a:p>
            <a:pPr marL="274320" lvl="1" indent="0">
              <a:buNone/>
            </a:pPr>
            <a:r>
              <a:rPr lang="en-US" altLang="zh-TW" sz="2300" dirty="0"/>
              <a:t>{% for c in </a:t>
            </a:r>
            <a:r>
              <a:rPr lang="en-US" altLang="zh-TW" sz="2300" dirty="0" err="1"/>
              <a:t>urfcolor</a:t>
            </a:r>
            <a:r>
              <a:rPr lang="en-US" altLang="zh-TW" sz="2300" dirty="0"/>
              <a:t> %}</a:t>
            </a:r>
            <a:endParaRPr lang="zh-TW" altLang="zh-TW" sz="2300" dirty="0"/>
          </a:p>
          <a:p>
            <a:pPr marL="274320" lvl="1" indent="0">
              <a:buNone/>
            </a:pPr>
            <a:r>
              <a:rPr lang="en-US" altLang="zh-TW" sz="2300" dirty="0"/>
              <a:t>    {{ c }}</a:t>
            </a:r>
            <a:endParaRPr lang="zh-TW" altLang="zh-TW" sz="2300" dirty="0"/>
          </a:p>
          <a:p>
            <a:pPr marL="274320" lvl="1" indent="0">
              <a:buNone/>
            </a:pPr>
            <a:r>
              <a:rPr lang="en-US" altLang="zh-TW" sz="2300" dirty="0"/>
              <a:t>{% empty %}</a:t>
            </a:r>
            <a:endParaRPr lang="zh-TW" altLang="zh-TW" sz="2300" dirty="0"/>
          </a:p>
          <a:p>
            <a:pPr marL="274320" lvl="1" indent="0">
              <a:buNone/>
            </a:pPr>
            <a:r>
              <a:rPr lang="en-US" altLang="zh-TW" sz="2300" dirty="0"/>
              <a:t>    </a:t>
            </a:r>
            <a:r>
              <a:rPr lang="zh-TW" altLang="zh-TW" sz="2300" dirty="0"/>
              <a:t>沒有選擇任何顏色</a:t>
            </a:r>
          </a:p>
          <a:p>
            <a:pPr marL="274320" lvl="1" indent="0">
              <a:buNone/>
            </a:pPr>
            <a:r>
              <a:rPr lang="en-US" altLang="zh-TW" sz="2300" dirty="0"/>
              <a:t>{% </a:t>
            </a:r>
            <a:r>
              <a:rPr lang="en-US" altLang="zh-TW" sz="2300" dirty="0" err="1"/>
              <a:t>endfor</a:t>
            </a:r>
            <a:r>
              <a:rPr lang="en-US" altLang="zh-TW" sz="2300" dirty="0"/>
              <a:t>%}</a:t>
            </a:r>
            <a:endParaRPr lang="zh-TW" altLang="zh-TW" sz="2300" dirty="0"/>
          </a:p>
          <a:p>
            <a:pPr marL="274320" lvl="1" indent="0">
              <a:buNone/>
            </a:pPr>
            <a:r>
              <a:rPr lang="en-US" altLang="zh-TW" sz="2300" dirty="0"/>
              <a:t>&lt;</a:t>
            </a:r>
            <a:r>
              <a:rPr lang="en-US" altLang="zh-TW" sz="2300" dirty="0" err="1"/>
              <a:t>br</a:t>
            </a:r>
            <a:r>
              <a:rPr lang="en-US" altLang="zh-TW" sz="2300" dirty="0"/>
              <a:t>/&gt;</a:t>
            </a:r>
            <a:endParaRPr lang="zh-TW" altLang="zh-TW" sz="2300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58334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活用表單的標籤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加上各式</a:t>
            </a:r>
            <a:r>
              <a:rPr lang="en-US" altLang="zh-TW" dirty="0"/>
              <a:t>HTML</a:t>
            </a:r>
            <a:r>
              <a:rPr lang="zh-TW" altLang="zh-TW" dirty="0"/>
              <a:t>表單標籤的網頁執行畫面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DB61286B-0FE3-973D-0A1B-10BC5F3D8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276872"/>
            <a:ext cx="8205404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562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建立本堂課範例網站的資料模型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延續上一堂課的</a:t>
            </a:r>
            <a:r>
              <a:rPr lang="en-US" altLang="zh-TW" dirty="0"/>
              <a:t>Template</a:t>
            </a:r>
            <a:r>
              <a:rPr lang="zh-TW" altLang="zh-TW" dirty="0"/>
              <a:t>基礎</a:t>
            </a:r>
            <a:r>
              <a:rPr lang="zh-TW" altLang="en-US" dirty="0"/>
              <a:t>，</a:t>
            </a:r>
            <a:r>
              <a:rPr lang="zh-TW" altLang="zh-TW" dirty="0"/>
              <a:t>設計一個可以讓網友自由發言的網站</a:t>
            </a:r>
            <a:r>
              <a:rPr lang="zh-TW" altLang="en-US" dirty="0"/>
              <a:t>，功能如下：</a:t>
            </a:r>
            <a:endParaRPr lang="en-US" altLang="zh-TW" dirty="0"/>
          </a:p>
          <a:p>
            <a:pPr lvl="1"/>
            <a:r>
              <a:rPr lang="zh-TW" altLang="zh-TW" dirty="0"/>
              <a:t>可以自選心情</a:t>
            </a:r>
            <a:endParaRPr lang="en-US" altLang="zh-TW" dirty="0"/>
          </a:p>
          <a:p>
            <a:pPr lvl="1"/>
            <a:r>
              <a:rPr lang="zh-TW" altLang="zh-TW" dirty="0"/>
              <a:t>張貼心情小語</a:t>
            </a:r>
            <a:endParaRPr lang="en-US" altLang="zh-TW" dirty="0"/>
          </a:p>
          <a:p>
            <a:pPr lvl="1"/>
            <a:r>
              <a:rPr lang="zh-TW" altLang="zh-TW" dirty="0"/>
              <a:t>設定一個日後要刪除文章用的密碼</a:t>
            </a:r>
            <a:endParaRPr lang="en-US" altLang="zh-TW" dirty="0"/>
          </a:p>
          <a:p>
            <a:pPr lvl="1"/>
            <a:r>
              <a:rPr lang="zh-TW" altLang="zh-TW" dirty="0"/>
              <a:t>訊息者必須經過管理者從後台啟用之後才會顯示在網頁上</a:t>
            </a:r>
            <a:r>
              <a:rPr lang="en-US" altLang="zh-TW" dirty="0"/>
              <a:t>(</a:t>
            </a:r>
            <a:r>
              <a:rPr lang="zh-TW" altLang="zh-TW" dirty="0"/>
              <a:t>文章有一個布林值欄位</a:t>
            </a:r>
            <a:r>
              <a:rPr lang="en-US" altLang="zh-TW" dirty="0"/>
              <a:t>enabled</a:t>
            </a:r>
            <a:r>
              <a:rPr lang="zh-TW" altLang="zh-TW" dirty="0"/>
              <a:t>，預設值是</a:t>
            </a:r>
            <a:r>
              <a:rPr lang="en-US" altLang="zh-TW" dirty="0"/>
              <a:t>False</a:t>
            </a:r>
            <a:r>
              <a:rPr lang="zh-TW" altLang="zh-TW" dirty="0"/>
              <a:t>，只有開啟為</a:t>
            </a:r>
            <a:r>
              <a:rPr lang="en-US" altLang="zh-TW" dirty="0"/>
              <a:t>True</a:t>
            </a:r>
            <a:r>
              <a:rPr lang="zh-TW" altLang="zh-TW" dirty="0"/>
              <a:t>之後，才允許出現在網頁中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60086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建立本堂課範例網站的資料模型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我有話要說網站的主畫面設計</a:t>
            </a:r>
            <a:endParaRPr lang="zh-TW" altLang="en-US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xmlns="" id="{9E8538EB-9D3C-4EF7-9B55-7F536F865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060848"/>
            <a:ext cx="7200800" cy="417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8397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建立本堂課範例網站的資料模型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Model.py</a:t>
            </a:r>
            <a:r>
              <a:rPr lang="zh-TW" altLang="en-US" dirty="0"/>
              <a:t>類別設計：</a:t>
            </a:r>
            <a:endParaRPr lang="en-US" altLang="zh-TW" dirty="0"/>
          </a:p>
          <a:p>
            <a:pPr lvl="1"/>
            <a:r>
              <a:rPr lang="en-US" altLang="zh-TW" dirty="0"/>
              <a:t>class Mood</a:t>
            </a:r>
          </a:p>
          <a:p>
            <a:pPr lvl="2"/>
            <a:r>
              <a:rPr lang="en-US" altLang="zh-TW" dirty="0"/>
              <a:t>status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zh-TW" altLang="zh-TW" dirty="0"/>
              <a:t>一個文字欄位，用來記錄心情的狀態</a:t>
            </a:r>
            <a:endParaRPr lang="en-US" altLang="zh-TW" dirty="0"/>
          </a:p>
          <a:p>
            <a:pPr lvl="1"/>
            <a:r>
              <a:rPr lang="en-US" altLang="zh-TW" dirty="0"/>
              <a:t>class Post</a:t>
            </a:r>
          </a:p>
          <a:p>
            <a:pPr lvl="2"/>
            <a:r>
              <a:rPr lang="en-US" altLang="zh-TW" dirty="0"/>
              <a:t>mood</a:t>
            </a:r>
            <a:r>
              <a:rPr lang="zh-TW" altLang="en-US" dirty="0"/>
              <a:t> 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zh-TW" altLang="zh-TW" dirty="0"/>
              <a:t>連結到</a:t>
            </a:r>
            <a:r>
              <a:rPr lang="en-US" altLang="zh-TW" dirty="0"/>
              <a:t>Mood</a:t>
            </a:r>
            <a:r>
              <a:rPr lang="zh-TW" altLang="zh-TW" dirty="0"/>
              <a:t>使用外鍵連結過去</a:t>
            </a:r>
            <a:endParaRPr lang="en-US" altLang="zh-TW" dirty="0"/>
          </a:p>
          <a:p>
            <a:pPr lvl="2"/>
            <a:r>
              <a:rPr lang="en-US" altLang="zh-TW" dirty="0"/>
              <a:t>nickname -</a:t>
            </a:r>
            <a:r>
              <a:rPr lang="zh-TW" altLang="zh-TW" dirty="0"/>
              <a:t>記錄張貼者暱稱</a:t>
            </a:r>
            <a:endParaRPr lang="en-US" altLang="zh-TW" dirty="0"/>
          </a:p>
          <a:p>
            <a:pPr lvl="2"/>
            <a:r>
              <a:rPr lang="en-US" altLang="zh-TW" dirty="0"/>
              <a:t>message -</a:t>
            </a:r>
            <a:r>
              <a:rPr lang="zh-TW" altLang="zh-TW" dirty="0"/>
              <a:t>儲存實際的內容</a:t>
            </a:r>
            <a:endParaRPr lang="en-US" altLang="zh-TW" dirty="0"/>
          </a:p>
          <a:p>
            <a:pPr lvl="2"/>
            <a:r>
              <a:rPr lang="en-US" altLang="zh-TW" dirty="0" err="1"/>
              <a:t>del_pass</a:t>
            </a:r>
            <a:r>
              <a:rPr lang="en-US" altLang="zh-TW" dirty="0"/>
              <a:t> -</a:t>
            </a:r>
            <a:r>
              <a:rPr lang="zh-TW" altLang="zh-TW" dirty="0"/>
              <a:t>記錄可以刪除此篇訊息的密碼</a:t>
            </a:r>
            <a:endParaRPr lang="en-US" altLang="zh-TW" dirty="0"/>
          </a:p>
          <a:p>
            <a:pPr lvl="2"/>
            <a:r>
              <a:rPr lang="en-US" altLang="zh-TW" dirty="0" err="1"/>
              <a:t>pub_time</a:t>
            </a:r>
            <a:r>
              <a:rPr lang="en-US" altLang="zh-TW" dirty="0"/>
              <a:t> -</a:t>
            </a:r>
            <a:r>
              <a:rPr lang="zh-TW" altLang="zh-TW" dirty="0"/>
              <a:t>設定為自動填入的修改時間</a:t>
            </a:r>
            <a:endParaRPr lang="en-US" altLang="zh-TW" dirty="0"/>
          </a:p>
          <a:p>
            <a:pPr lvl="2"/>
            <a:r>
              <a:rPr lang="en-US" altLang="zh-TW" dirty="0"/>
              <a:t>enabled -</a:t>
            </a:r>
            <a:r>
              <a:rPr lang="zh-TW" altLang="zh-TW" dirty="0"/>
              <a:t>預設是</a:t>
            </a:r>
            <a:r>
              <a:rPr lang="en-US" altLang="zh-TW" dirty="0"/>
              <a:t>False</a:t>
            </a:r>
            <a:r>
              <a:rPr lang="zh-TW" altLang="zh-TW" dirty="0"/>
              <a:t>，決定是否要把這筆資料顯示在網頁上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84499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建立本堂課範例網站的資料模型</a:t>
            </a:r>
            <a:r>
              <a:rPr lang="en-US" altLang="zh-TW" dirty="0"/>
              <a:t>-</a:t>
            </a:r>
            <a:r>
              <a:rPr lang="en-US" altLang="zh-TW" dirty="0">
                <a:solidFill>
                  <a:srgbClr val="FF0000"/>
                </a:solidFill>
              </a:rPr>
              <a:t>copy</a:t>
            </a:r>
            <a:r>
              <a:rPr lang="zh-TW" altLang="en-US" dirty="0">
                <a:solidFill>
                  <a:srgbClr val="FF0000"/>
                </a:solidFill>
              </a:rPr>
              <a:t>範本的資料庫來顯示心情選項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5330952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models.py</a:t>
            </a:r>
            <a:r>
              <a:rPr lang="zh-TW" altLang="zh-TW" dirty="0"/>
              <a:t>的內容如下所示：</a:t>
            </a: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django.db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models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class </a:t>
            </a:r>
            <a:r>
              <a:rPr lang="en-US" altLang="zh-TW" sz="15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Mood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models.Model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):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5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status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models.CharField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max_length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=10, null=False)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def __str__(self):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return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self.status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class </a:t>
            </a:r>
            <a:r>
              <a:rPr lang="en-US" altLang="zh-TW" sz="15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models.Model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):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5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mood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</a:t>
            </a:r>
            <a:r>
              <a:rPr lang="en-US" altLang="zh-TW" sz="15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ForeignKey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('Mood',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on_delete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models.CASCADE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nickname =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models.CharField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max_length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=10, default='</a:t>
            </a:r>
            <a:r>
              <a:rPr lang="zh-TW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不願意透漏身份的人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')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message =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models.TextField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(null=False)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del_pass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models.CharField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max_length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=10)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pub_time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models.DateTimeField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auto_now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=True)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enabled =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models.BooleanField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(default=False)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def __str__(self):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return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self.message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2347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/>
              <a:t>建立本堂課範例網站的資料模型</a:t>
            </a:r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5070304"/>
          </a:xfrm>
        </p:spPr>
        <p:txBody>
          <a:bodyPr>
            <a:normAutofit/>
          </a:bodyPr>
          <a:lstStyle/>
          <a:p>
            <a:r>
              <a:rPr lang="zh-TW" altLang="zh-TW" dirty="0"/>
              <a:t>上述</a:t>
            </a:r>
            <a:r>
              <a:rPr lang="en-US" altLang="zh-TW" dirty="0"/>
              <a:t>Model</a:t>
            </a:r>
            <a:r>
              <a:rPr lang="zh-TW" altLang="zh-TW" dirty="0"/>
              <a:t>經由</a:t>
            </a:r>
            <a:r>
              <a:rPr lang="en-US" altLang="zh-TW" dirty="0" err="1">
                <a:solidFill>
                  <a:srgbClr val="FF0000"/>
                </a:solidFill>
              </a:rPr>
              <a:t>makemigrations</a:t>
            </a:r>
            <a:r>
              <a:rPr lang="zh-TW" altLang="zh-TW" dirty="0">
                <a:solidFill>
                  <a:srgbClr val="FF0000"/>
                </a:solidFill>
              </a:rPr>
              <a:t>和</a:t>
            </a:r>
            <a:r>
              <a:rPr lang="en-US" altLang="zh-TW" dirty="0">
                <a:solidFill>
                  <a:srgbClr val="FF0000"/>
                </a:solidFill>
              </a:rPr>
              <a:t>migrate</a:t>
            </a:r>
            <a:r>
              <a:rPr lang="zh-TW" altLang="zh-TW" dirty="0"/>
              <a:t>同步到網站資料庫之後，可以到</a:t>
            </a:r>
            <a:r>
              <a:rPr lang="en-US" altLang="zh-TW" dirty="0"/>
              <a:t>admin.py</a:t>
            </a:r>
            <a:r>
              <a:rPr lang="zh-TW" altLang="zh-TW" dirty="0"/>
              <a:t>中再加入下列程式碼</a:t>
            </a:r>
            <a:r>
              <a:rPr lang="zh-TW" altLang="en-US" dirty="0"/>
              <a:t>：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django.contrib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admin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mysite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models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class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PostAdmin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admin.ModelAdmin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list_display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=('nickname', 'message', 'enabled', 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pub_time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ordering=('-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pub_time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',)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admin.site.register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models.Mood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admin.site.register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models.Post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PostAdmin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4848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建立本堂課範例網站的資料模型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在</a:t>
            </a:r>
            <a:r>
              <a:rPr lang="en-US" altLang="zh-TW" dirty="0" err="1"/>
              <a:t>views.index</a:t>
            </a:r>
            <a:r>
              <a:rPr lang="zh-TW" altLang="zh-TW" dirty="0"/>
              <a:t>處理函數中把這些資料都先讀取出來，放在各個變數中備用，如下所示：</a:t>
            </a:r>
          </a:p>
          <a:p>
            <a:pPr marL="0" indent="0">
              <a:buNone/>
            </a:pPr>
            <a:r>
              <a:rPr lang="en-US" altLang="zh-TW" sz="1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1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django.shortcuts</a:t>
            </a:r>
            <a:r>
              <a:rPr lang="en-US" altLang="zh-TW" sz="1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render</a:t>
            </a:r>
            <a:endParaRPr lang="zh-TW" altLang="zh-TW" sz="1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1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mysite</a:t>
            </a:r>
            <a:r>
              <a:rPr lang="en-US" altLang="zh-TW" sz="1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models</a:t>
            </a:r>
            <a:endParaRPr lang="zh-TW" altLang="zh-TW" sz="1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 index(request):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posts =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models.Post.objects.</a:t>
            </a:r>
            <a:r>
              <a:rPr lang="en-US" altLang="zh-TW" sz="24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filter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(enabled=True).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order_by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('-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pub_time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')[:30]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moods =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models.Mood.objects.all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return render(request, 'index.html', locals())</a:t>
            </a:r>
            <a:endParaRPr lang="zh-TW" altLang="zh-TW" sz="32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70015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網站表單的建立與資料顯示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5070304"/>
          </a:xfrm>
        </p:spPr>
        <p:txBody>
          <a:bodyPr>
            <a:normAutofit/>
          </a:bodyPr>
          <a:lstStyle/>
          <a:p>
            <a:r>
              <a:rPr lang="en-US" altLang="zh-TW" dirty="0"/>
              <a:t>index.html</a:t>
            </a:r>
            <a:r>
              <a:rPr lang="zh-TW" altLang="zh-TW" dirty="0"/>
              <a:t>的內容，先設計表單的部份：</a:t>
            </a: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&lt;form name='my form' action='/' method=</a:t>
            </a:r>
            <a:r>
              <a:rPr lang="en-US" altLang="zh-TW" sz="15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'GET’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</a:t>
            </a: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zh-TW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現在的心情：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br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/&gt;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{% for m in moods %}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</a:t>
            </a:r>
            <a:r>
              <a:rPr lang="en-US" altLang="zh-TW" sz="15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type='radio' 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name='mood' value='{{ </a:t>
            </a:r>
            <a:r>
              <a:rPr lang="en-US" altLang="zh-TW" sz="15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m.status</a:t>
            </a:r>
            <a:r>
              <a:rPr lang="en-US" altLang="zh-TW" sz="15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}}'&gt;{{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m.status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}}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{%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endfor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br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/&gt;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zh-TW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心情留言板：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br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/&gt;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textarea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name='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user_post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 rows=3 cols=70&gt;&lt;/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textarea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&gt;&lt;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br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/&gt;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&lt;label for='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r>
              <a:rPr lang="zh-TW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你的暱稱：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&lt;/label&gt;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id='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 type='text' name='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&lt;label for='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r>
              <a:rPr lang="zh-TW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張貼密碼：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&lt;/label&gt;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id='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 type='password' name='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'&gt;&lt;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br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/&gt;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type='submit' value='</a:t>
            </a:r>
            <a:r>
              <a:rPr lang="zh-TW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張貼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type='reset' value='</a:t>
            </a:r>
            <a:r>
              <a:rPr lang="zh-TW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清除重填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&lt;/form&gt;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0629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網站表單的建立與資料顯示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734744" cy="4998296"/>
          </a:xfrm>
        </p:spPr>
        <p:txBody>
          <a:bodyPr>
            <a:normAutofit/>
          </a:bodyPr>
          <a:lstStyle/>
          <a:p>
            <a:r>
              <a:rPr lang="zh-TW" altLang="zh-TW" dirty="0"/>
              <a:t>利用</a:t>
            </a:r>
            <a:r>
              <a:rPr lang="en-US" altLang="zh-TW" dirty="0"/>
              <a:t>Bootstrap</a:t>
            </a:r>
            <a:r>
              <a:rPr lang="zh-TW" altLang="zh-TW" dirty="0"/>
              <a:t>的</a:t>
            </a:r>
            <a:r>
              <a:rPr lang="en-US" altLang="zh-TW" dirty="0"/>
              <a:t>Grid</a:t>
            </a:r>
            <a:r>
              <a:rPr lang="zh-TW" altLang="zh-TW" dirty="0"/>
              <a:t>網格系統以及</a:t>
            </a:r>
            <a:r>
              <a:rPr lang="en-US" altLang="zh-TW" dirty="0"/>
              <a:t>Card</a:t>
            </a:r>
            <a:r>
              <a:rPr lang="zh-TW" altLang="zh-TW" dirty="0"/>
              <a:t>功能設定置中的訊息：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&lt;div class='row'&gt;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&lt;div class='col-md-12'&gt;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&lt;div class='</a:t>
            </a:r>
            <a:r>
              <a:rPr lang="en-US" altLang="zh-TW" sz="20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card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&lt;div class='</a:t>
            </a:r>
            <a:r>
              <a:rPr lang="en-US" altLang="zh-TW" sz="20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card-header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 align=center&gt;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&lt;h3&gt;~~</a:t>
            </a:r>
            <a:r>
              <a:rPr lang="zh-TW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寶寶心裡苦，寶寶只在這裡說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~~&lt;/h3&gt;</a:t>
            </a:r>
          </a:p>
          <a:p>
            <a:pPr marL="0" indent="0">
              <a:buNone/>
            </a:pPr>
            <a:r>
              <a:rPr lang="en-US" altLang="zh-TW" sz="2000" kern="100" dirty="0">
                <a:latin typeface="Courier New" panose="02070309020205020404" pitchFamily="49" charset="0"/>
                <a:ea typeface="標楷體" panose="03000509000000000000" pitchFamily="65" charset="-120"/>
              </a:rPr>
              <a:t>		</a:t>
            </a:r>
            <a:r>
              <a:rPr lang="zh-TW" altLang="en-US" sz="2000" kern="100" dirty="0">
                <a:latin typeface="Courier New" panose="02070309020205020404" pitchFamily="49" charset="0"/>
                <a:ea typeface="標楷體" panose="03000509000000000000" pitchFamily="65" charset="-120"/>
              </a:rPr>
              <a:t>　　</a:t>
            </a:r>
            <a:r>
              <a:rPr lang="en-US" altLang="zh-TW" sz="2000" kern="100" dirty="0">
                <a:latin typeface="Courier New" panose="02070309020205020404" pitchFamily="49" charset="0"/>
                <a:ea typeface="標楷體" panose="03000509000000000000" pitchFamily="65" charset="-120"/>
              </a:rPr>
              <a:t>&lt;/div&gt;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&lt;/div&gt;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&lt;/div&gt;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&lt;/div&gt;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6763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網站表單的建立與資料顯示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31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5142312"/>
          </a:xfrm>
        </p:spPr>
        <p:txBody>
          <a:bodyPr>
            <a:normAutofit fontScale="92500" lnSpcReduction="20000"/>
          </a:bodyPr>
          <a:lstStyle/>
          <a:p>
            <a:r>
              <a:rPr lang="zh-TW" altLang="zh-TW" dirty="0"/>
              <a:t>顯示訊息內容的程式碼：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&lt;div class="row"&gt;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{% for p in posts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&lt;div class="col-sm-12 col-md-4"&gt;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&lt;div class='card'&gt;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&lt;div class='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card-header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text-white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bg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-primary'&gt;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【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{{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p.nickname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}}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】覺得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{{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p.mood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}}&lt;/div&gt;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&lt;div class=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'card-body'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&gt;{{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p.message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|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linebreaks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}}&lt;/div&gt;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&lt;div class='card-footer' align=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'right'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&gt;&lt;small&gt;{{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p.pub_time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}}&lt;/small&gt;&lt;/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{% empty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目前沒有任何心情留言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{%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endfor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&lt;/div&gt;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78574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接收表單資料儲存於資料庫中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734744" cy="5214320"/>
          </a:xfrm>
        </p:spPr>
        <p:txBody>
          <a:bodyPr>
            <a:normAutofit fontScale="77500" lnSpcReduction="20000"/>
          </a:bodyPr>
          <a:lstStyle/>
          <a:p>
            <a:r>
              <a:rPr lang="zh-TW" altLang="zh-TW" dirty="0"/>
              <a:t>修改</a:t>
            </a:r>
            <a:r>
              <a:rPr lang="en-US" altLang="zh-TW" dirty="0" err="1"/>
              <a:t>views.index</a:t>
            </a:r>
            <a:r>
              <a:rPr lang="zh-TW" altLang="zh-TW" dirty="0"/>
              <a:t>處理函數如下所示：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 index(request):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posts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models.Post.objects.filter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(enabled = True).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order_by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('-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pub_time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')[:30]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moods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models.Mood.objects.all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try: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request.GET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request.GET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user_post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request.GET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user_post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user_mood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request.GET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['mood']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except: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None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message = '</a:t>
            </a:r>
            <a:r>
              <a:rPr lang="zh-TW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如要張貼訊息，則每一個欄位都要填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...'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if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!= None: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mood =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models.Mood.objects.get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(status=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user_mood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spc="-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 = </a:t>
            </a:r>
            <a:r>
              <a:rPr lang="en-US" altLang="zh-TW" sz="1800" kern="100" spc="-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models.Post</a:t>
            </a:r>
            <a:r>
              <a:rPr lang="en-US" altLang="zh-TW" sz="1800" kern="100" spc="-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(mood=mood, nickname=</a:t>
            </a:r>
            <a:r>
              <a:rPr lang="en-US" altLang="zh-TW" sz="1800" kern="100" spc="-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800" kern="100" spc="-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</a:t>
            </a:r>
            <a:r>
              <a:rPr lang="en-US" altLang="zh-TW" sz="1800" kern="100" spc="-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del_pass</a:t>
            </a:r>
            <a:r>
              <a:rPr lang="en-US" altLang="zh-TW" sz="1800" kern="100" spc="-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</a:t>
            </a:r>
            <a:r>
              <a:rPr lang="en-US" altLang="zh-TW" sz="1800" kern="100" spc="-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800" kern="100" spc="-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message=</a:t>
            </a:r>
            <a:r>
              <a:rPr lang="en-US" altLang="zh-TW" sz="1800" kern="100" spc="-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user_post</a:t>
            </a:r>
            <a:r>
              <a:rPr lang="en-US" altLang="zh-TW" sz="1800" kern="100" spc="-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post.save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message='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成功儲存！請記得你的編輯密碼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[{}]!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，訊息需經審查後才會顯示。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'.format(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return render(request, 'index.html', locals())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0076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接收表單資料儲存於資料庫中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在</a:t>
            </a:r>
            <a:r>
              <a:rPr lang="en-US" altLang="zh-TW" dirty="0"/>
              <a:t>index.html</a:t>
            </a:r>
            <a:r>
              <a:rPr lang="zh-TW" altLang="zh-TW" dirty="0"/>
              <a:t>中，我們只有在</a:t>
            </a:r>
            <a:r>
              <a:rPr lang="zh-TW" altLang="zh-TW" dirty="0">
                <a:solidFill>
                  <a:srgbClr val="FF0000"/>
                </a:solidFill>
              </a:rPr>
              <a:t>表單之前</a:t>
            </a:r>
            <a:r>
              <a:rPr lang="zh-TW" altLang="zh-TW" dirty="0"/>
              <a:t>新增了一個顯示訊息的程式碼，如下所示：</a:t>
            </a: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{% if message %}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  &lt;div class='alert alert-warning'&gt;</a:t>
            </a: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       {{ message }}</a:t>
            </a: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  &lt;/div&gt;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{% 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%}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7992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加上刪除貼文的功能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範例中為每一篇貼文加上刪除密碼的欄位，也就是該貼文的作者在貼文的同時也必須設定一組密碼</a:t>
            </a:r>
            <a:endParaRPr lang="en-US" altLang="zh-TW" dirty="0"/>
          </a:p>
          <a:p>
            <a:r>
              <a:rPr lang="zh-TW" altLang="zh-TW" dirty="0"/>
              <a:t>先把密碼的欄位標題改成為張貼時以及刪除時都可以使用的密碼</a:t>
            </a:r>
            <a:endParaRPr lang="en-US" altLang="zh-TW" dirty="0"/>
          </a:p>
          <a:p>
            <a:r>
              <a:rPr lang="zh-TW" altLang="zh-TW" dirty="0"/>
              <a:t>要刪訊息時，只要在密碼欄填入資料，再按下該貼文的刪除符號（垃圾桶符號）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11940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加上刪除貼文的功能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提供刪除貼文功能的網頁設計</a:t>
            </a:r>
            <a:endParaRPr lang="zh-TW" altLang="en-US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xmlns="" id="{AA95EC85-B332-983C-5F72-01BDC04CD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132856"/>
            <a:ext cx="6747528" cy="413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215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加上刪除貼文的功能</a:t>
            </a:r>
            <a:r>
              <a:rPr lang="en-US" altLang="zh-TW" dirty="0"/>
              <a:t>(</a:t>
            </a:r>
            <a:r>
              <a:rPr lang="zh-TW" altLang="en-US" dirty="0"/>
              <a:t>略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734744" cy="5070304"/>
          </a:xfrm>
        </p:spPr>
        <p:txBody>
          <a:bodyPr>
            <a:normAutofit fontScale="85000" lnSpcReduction="20000"/>
          </a:bodyPr>
          <a:lstStyle/>
          <a:p>
            <a:r>
              <a:rPr lang="zh-TW" altLang="en-US" dirty="0"/>
              <a:t>在</a:t>
            </a:r>
            <a:r>
              <a:rPr lang="en-US" altLang="zh-TW" dirty="0">
                <a:solidFill>
                  <a:srgbClr val="FF0000"/>
                </a:solidFill>
              </a:rPr>
              <a:t>base.html</a:t>
            </a:r>
            <a:r>
              <a:rPr lang="zh-TW" altLang="en-US" dirty="0"/>
              <a:t>前面要加上以下的連結：</a:t>
            </a:r>
            <a:endParaRPr lang="en-US" altLang="zh-TW" dirty="0"/>
          </a:p>
          <a:p>
            <a:pPr marL="274320" lvl="1" indent="0">
              <a:buNone/>
            </a:pPr>
            <a:r>
              <a:rPr lang="en-US" altLang="zh-TW" sz="16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&lt;link </a:t>
            </a:r>
            <a:r>
              <a:rPr lang="en-US" altLang="zh-TW" sz="16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rel</a:t>
            </a:r>
            <a:r>
              <a:rPr lang="en-US" altLang="zh-TW" sz="16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="stylesheet" </a:t>
            </a:r>
            <a:r>
              <a:rPr lang="en-US" altLang="zh-TW" sz="16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href</a:t>
            </a:r>
            <a:r>
              <a:rPr lang="en-US" altLang="zh-TW" sz="16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="https://cdn.jsdelivr.net/</a:t>
            </a:r>
            <a:r>
              <a:rPr lang="en-US" altLang="zh-TW" sz="16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npm</a:t>
            </a:r>
            <a:r>
              <a:rPr lang="en-US" altLang="zh-TW" sz="16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/bootstrap-icons@1.10.3/font/bootstrap-icons.css"&gt;</a:t>
            </a:r>
            <a:endParaRPr lang="en-US" altLang="zh-TW" sz="2800" dirty="0"/>
          </a:p>
          <a:p>
            <a:r>
              <a:rPr lang="zh-TW" altLang="zh-TW" dirty="0"/>
              <a:t>在每一個貼文的右下角多了一個垃圾桶的符號，此符號使用以下的方式達成：</a:t>
            </a:r>
          </a:p>
          <a:p>
            <a:pPr marL="0" indent="0">
              <a:buNone/>
            </a:pPr>
            <a:r>
              <a:rPr lang="en-US" altLang="zh-TW" sz="1800" kern="100" dirty="0">
                <a:latin typeface="Courier New" panose="02070309020205020404" pitchFamily="49" charset="0"/>
                <a:ea typeface="標楷體" panose="03000509000000000000" pitchFamily="65" charset="-120"/>
              </a:rPr>
              <a:t>  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class="bi bi-trash"  onclick='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go_delete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({{p.id}})'&gt;&lt;/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r>
              <a:rPr lang="zh-TW" altLang="zh-TW" dirty="0"/>
              <a:t>在</a:t>
            </a:r>
            <a:r>
              <a:rPr lang="en-US" altLang="zh-TW" dirty="0" err="1"/>
              <a:t>onclick</a:t>
            </a:r>
            <a:r>
              <a:rPr lang="zh-TW" altLang="zh-TW" dirty="0"/>
              <a:t>的地方加上了</a:t>
            </a:r>
            <a:r>
              <a:rPr lang="en-US" altLang="zh-TW" dirty="0" err="1"/>
              <a:t>Javascript</a:t>
            </a:r>
            <a:r>
              <a:rPr lang="zh-TW" altLang="zh-TW" dirty="0"/>
              <a:t>的函數呼叫指令，內容如下：</a:t>
            </a: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&lt;script&gt;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altLang="zh-TW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go_delete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(id){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user_pass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user_pass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').value;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user_pass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!= "") {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      var 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= ‘/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delpost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/' + id + '/' + 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user_pass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+ '/';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TW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window.location</a:t>
            </a:r>
            <a:r>
              <a:rPr lang="en-US" altLang="zh-TW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TW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altLang="zh-TW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zh-TW" altLang="zh-TW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&lt;/script&gt;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8977103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加上刪除貼文的功能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urls.py</a:t>
            </a:r>
            <a:r>
              <a:rPr lang="zh-TW" altLang="zh-TW" dirty="0"/>
              <a:t>的對應樣式就要增加上此網址樣式，如下：</a:t>
            </a:r>
          </a:p>
          <a:p>
            <a:pPr marL="0" indent="0">
              <a:buNone/>
            </a:pP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urlpatterns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= [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   path('',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views.index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),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   path('admin/',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admin.site.urls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),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   path('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delpost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/&lt;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int:pid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&gt;/&lt;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str:del_pass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&gt;/',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views.delpost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),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1800" dirty="0">
                <a:effectLst/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] + static(</a:t>
            </a:r>
            <a:r>
              <a:rPr lang="en-US" altLang="zh-TW" sz="1800" dirty="0" err="1">
                <a:effectLst/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settings.MEDIA_URL</a:t>
            </a:r>
            <a:r>
              <a:rPr lang="en-US" altLang="zh-TW" sz="1800" dirty="0">
                <a:effectLst/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, </a:t>
            </a:r>
            <a:r>
              <a:rPr lang="en-US" altLang="zh-TW" sz="1800" dirty="0" err="1">
                <a:effectLst/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document_root</a:t>
            </a:r>
            <a:r>
              <a:rPr lang="en-US" altLang="zh-TW" sz="1800" dirty="0">
                <a:effectLst/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=</a:t>
            </a:r>
            <a:r>
              <a:rPr lang="en-US" altLang="zh-TW" sz="1800" dirty="0" err="1">
                <a:effectLst/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settings.MEDIA_ROOT</a:t>
            </a:r>
            <a:r>
              <a:rPr lang="en-US" altLang="zh-TW" sz="1800" dirty="0">
                <a:effectLst/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)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0635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加上刪除貼文的功能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38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734744" cy="53309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delpost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(request,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pid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=None,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del_pass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=None):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if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del_pass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and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pid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: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try: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post =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models.Post.objects.get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(id=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pid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if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post.del_pass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==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del_pass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: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post.delete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except: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pass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return redirect('/')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906777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基礎表單類別的應用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除了用手工的方式把表單使用</a:t>
            </a:r>
            <a:r>
              <a:rPr lang="en-US" altLang="zh-TW" dirty="0"/>
              <a:t>HTML</a:t>
            </a:r>
            <a:r>
              <a:rPr lang="zh-TW" altLang="zh-TW" dirty="0"/>
              <a:t>標籤一個一個刻上去</a:t>
            </a:r>
            <a:r>
              <a:rPr lang="zh-TW" altLang="zh-TW"/>
              <a:t>之外，</a:t>
            </a:r>
            <a:endParaRPr lang="en-US" altLang="zh-TW"/>
          </a:p>
          <a:p>
            <a:r>
              <a:rPr lang="zh-TW" altLang="zh-TW"/>
              <a:t>就</a:t>
            </a:r>
            <a:r>
              <a:rPr lang="zh-TW" altLang="zh-TW" dirty="0"/>
              <a:t>像是</a:t>
            </a:r>
            <a:r>
              <a:rPr lang="en-US" altLang="zh-TW"/>
              <a:t>Models</a:t>
            </a:r>
            <a:r>
              <a:rPr lang="zh-TW" altLang="zh-TW"/>
              <a:t>一樣</a:t>
            </a:r>
            <a:r>
              <a:rPr lang="zh-TW" altLang="en-US"/>
              <a:t>，</a:t>
            </a:r>
            <a:r>
              <a:rPr lang="en-US" altLang="zh-TW"/>
              <a:t>Django</a:t>
            </a:r>
            <a:r>
              <a:rPr lang="zh-TW" altLang="zh-TW" dirty="0"/>
              <a:t>也</a:t>
            </a:r>
            <a:r>
              <a:rPr lang="zh-TW" altLang="en-US" dirty="0"/>
              <a:t>提供好</a:t>
            </a:r>
            <a:r>
              <a:rPr lang="zh-TW" altLang="zh-TW" dirty="0"/>
              <a:t>用的表單類別，讓我們以程式的方式來產生表單以便應用於</a:t>
            </a:r>
            <a:r>
              <a:rPr lang="en-US" altLang="zh-TW" dirty="0"/>
              <a:t>Template</a:t>
            </a:r>
            <a:r>
              <a:rPr lang="zh-TW" altLang="zh-TW" dirty="0"/>
              <a:t>模板</a:t>
            </a:r>
            <a:r>
              <a:rPr lang="zh-TW" altLang="zh-TW"/>
              <a:t>檔案中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70938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使用</a:t>
            </a:r>
            <a:r>
              <a:rPr lang="en-US" altLang="zh-TW" dirty="0"/>
              <a:t>POST</a:t>
            </a:r>
            <a:r>
              <a:rPr lang="zh-TW" altLang="zh-TW" dirty="0"/>
              <a:t>傳遞表單資料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/>
              <a:t>新增</a:t>
            </a:r>
            <a:r>
              <a:rPr lang="zh-TW" altLang="zh-TW" dirty="0"/>
              <a:t>一個網頁</a:t>
            </a:r>
            <a:r>
              <a:rPr lang="en-US" altLang="zh-TW" dirty="0"/>
              <a:t>(list)</a:t>
            </a:r>
            <a:r>
              <a:rPr lang="zh-TW" altLang="zh-TW" dirty="0"/>
              <a:t>只顯示所有的訊息</a:t>
            </a:r>
            <a:endParaRPr lang="en-US" altLang="zh-TW" dirty="0"/>
          </a:p>
          <a:p>
            <a:r>
              <a:rPr lang="zh-TW" altLang="zh-TW" dirty="0"/>
              <a:t>另外一個網頁</a:t>
            </a:r>
            <a:r>
              <a:rPr lang="en-US" altLang="zh-TW" dirty="0"/>
              <a:t>(post)</a:t>
            </a:r>
            <a:r>
              <a:rPr lang="zh-TW" altLang="zh-TW" dirty="0"/>
              <a:t>只可以用來張貼訊息</a:t>
            </a:r>
            <a:endParaRPr lang="en-US" altLang="zh-TW" dirty="0"/>
          </a:p>
          <a:p>
            <a:r>
              <a:rPr lang="zh-TW" altLang="zh-TW" dirty="0"/>
              <a:t>在</a:t>
            </a:r>
            <a:r>
              <a:rPr lang="en-US" altLang="zh-TW" dirty="0"/>
              <a:t>urls.py</a:t>
            </a:r>
            <a:r>
              <a:rPr lang="zh-TW" altLang="zh-TW" dirty="0"/>
              <a:t>中新增兩個網址樣式</a:t>
            </a:r>
            <a:endParaRPr lang="en-US" altLang="zh-TW" dirty="0"/>
          </a:p>
          <a:p>
            <a:r>
              <a:rPr lang="en-US" altLang="zh-TW" dirty="0"/>
              <a:t>views.py</a:t>
            </a:r>
            <a:r>
              <a:rPr lang="zh-TW" altLang="zh-TW" dirty="0"/>
              <a:t>增加相對應的兩個處理</a:t>
            </a:r>
            <a:r>
              <a:rPr lang="zh-TW" altLang="zh-TW"/>
              <a:t>函數，</a:t>
            </a:r>
            <a:endParaRPr lang="en-US" altLang="zh-TW"/>
          </a:p>
          <a:p>
            <a:pPr lvl="1"/>
            <a:r>
              <a:rPr lang="en-US" altLang="zh-TW"/>
              <a:t>views</a:t>
            </a:r>
            <a:r>
              <a:rPr lang="en-US" altLang="zh-TW" dirty="0" err="1"/>
              <a:t>.</a:t>
            </a:r>
            <a:r>
              <a:rPr lang="en-US" altLang="zh-TW" err="1"/>
              <a:t>listing</a:t>
            </a:r>
            <a:r>
              <a:rPr lang="en-US" altLang="zh-TW"/>
              <a:t>()</a:t>
            </a:r>
          </a:p>
          <a:p>
            <a:pPr lvl="1"/>
            <a:r>
              <a:rPr lang="en-US" altLang="zh-TW"/>
              <a:t>views</a:t>
            </a:r>
            <a:r>
              <a:rPr lang="en-US" altLang="zh-TW" dirty="0" err="1"/>
              <a:t>.posting</a:t>
            </a:r>
            <a:r>
              <a:rPr lang="en-US" altLang="zh-TW" dirty="0"/>
              <a:t>()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56127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使用</a:t>
            </a:r>
            <a:r>
              <a:rPr lang="en-US" altLang="zh-TW" dirty="0"/>
              <a:t>POST</a:t>
            </a:r>
            <a:r>
              <a:rPr lang="zh-TW" altLang="zh-TW" dirty="0"/>
              <a:t>傳遞表單資料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41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926288"/>
          </a:xfrm>
        </p:spPr>
        <p:txBody>
          <a:bodyPr/>
          <a:lstStyle/>
          <a:p>
            <a:r>
              <a:rPr lang="zh-TW" altLang="zh-TW" dirty="0"/>
              <a:t>如下所示：</a:t>
            </a:r>
          </a:p>
          <a:p>
            <a:pPr marL="0" indent="0">
              <a:buNone/>
            </a:pP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urlpatterns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[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path('',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views.index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path('admin/',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admin.site.urls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delpost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/&lt;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int:pid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&gt;/&lt;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str:del_pass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&gt;/',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views.delpost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path('list/',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views.listing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path('post/',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views.posting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] + static(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settings.MEDIA_URL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document_root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settings.MEDIA_ROOT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11789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使用</a:t>
            </a:r>
            <a:r>
              <a:rPr lang="en-US" altLang="zh-TW" dirty="0"/>
              <a:t>POST</a:t>
            </a:r>
            <a:r>
              <a:rPr lang="zh-TW" altLang="zh-TW" dirty="0"/>
              <a:t>傳遞表單資料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在</a:t>
            </a:r>
            <a:r>
              <a:rPr lang="en-US" altLang="zh-TW" dirty="0"/>
              <a:t>header.html</a:t>
            </a:r>
            <a:r>
              <a:rPr lang="zh-TW" altLang="zh-TW" dirty="0"/>
              <a:t>中增加這兩個網址當做是選單之一</a:t>
            </a:r>
            <a:endParaRPr lang="en-US" altLang="zh-TW" dirty="0"/>
          </a:p>
          <a:p>
            <a:pPr marL="274320" lvl="1" indent="0">
              <a:buNone/>
            </a:pPr>
            <a:r>
              <a:rPr lang="en-US" altLang="zh-TW" sz="1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&lt;a class="nav-link" </a:t>
            </a:r>
            <a:r>
              <a:rPr lang="en-US" altLang="zh-TW" sz="1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href</a:t>
            </a:r>
            <a:r>
              <a:rPr lang="en-US" altLang="zh-TW" sz="1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="/list/"&gt;</a:t>
            </a:r>
            <a:r>
              <a:rPr lang="zh-TW" altLang="zh-TW" sz="1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瀏覽訊息</a:t>
            </a:r>
            <a:r>
              <a:rPr lang="en-US" altLang="zh-TW" sz="1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&lt;/a&gt;</a:t>
            </a:r>
            <a:endParaRPr lang="zh-TW" altLang="zh-TW" sz="1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274320" lvl="1" indent="0">
              <a:buNone/>
            </a:pPr>
            <a:r>
              <a:rPr lang="en-US" altLang="zh-TW" sz="1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&lt;a class="nav-link" </a:t>
            </a:r>
            <a:r>
              <a:rPr lang="en-US" altLang="zh-TW" sz="1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href</a:t>
            </a:r>
            <a:r>
              <a:rPr lang="en-US" altLang="zh-TW" sz="1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="/post/"&gt;</a:t>
            </a:r>
            <a:r>
              <a:rPr lang="zh-TW" altLang="zh-TW" sz="1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張貼訊息</a:t>
            </a:r>
            <a:r>
              <a:rPr lang="en-US" altLang="zh-TW" sz="1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&lt;/a&gt;</a:t>
            </a:r>
            <a:endParaRPr lang="en-US" altLang="zh-TW" sz="2400" dirty="0"/>
          </a:p>
          <a:p>
            <a:r>
              <a:rPr lang="en-US" altLang="zh-TW" dirty="0" err="1"/>
              <a:t>view.listing</a:t>
            </a:r>
            <a:r>
              <a:rPr lang="en-US" altLang="zh-TW" dirty="0"/>
              <a:t>()</a:t>
            </a:r>
            <a:r>
              <a:rPr lang="zh-TW" altLang="zh-TW" dirty="0"/>
              <a:t>因為只負責顯示訊息，程式內容可大幅簡化如下：</a:t>
            </a: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 listing(request):</a:t>
            </a: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6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posts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models.Post.objects.filter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(enabled=True).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order_by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('-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pub_time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')[:150]</a:t>
            </a: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6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moods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models.Mood.objects.all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return render(request, 'listing.html', locals())</a:t>
            </a: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538877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使用</a:t>
            </a:r>
            <a:r>
              <a:rPr lang="en-US" altLang="zh-TW" dirty="0"/>
              <a:t>POST</a:t>
            </a:r>
            <a:r>
              <a:rPr lang="zh-TW" altLang="zh-TW" dirty="0"/>
              <a:t>傳遞表單資料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5070304"/>
          </a:xfrm>
        </p:spPr>
        <p:txBody>
          <a:bodyPr>
            <a:normAutofit fontScale="92500" lnSpcReduction="10000"/>
          </a:bodyPr>
          <a:lstStyle/>
          <a:p>
            <a:r>
              <a:rPr lang="zh-TW" altLang="zh-TW" dirty="0"/>
              <a:t>相對應的</a:t>
            </a:r>
            <a:r>
              <a:rPr lang="en-US" altLang="zh-TW" dirty="0"/>
              <a:t>listing.html</a:t>
            </a:r>
            <a:r>
              <a:rPr lang="zh-TW" altLang="zh-TW" dirty="0"/>
              <a:t>則做了一些</a:t>
            </a:r>
            <a:r>
              <a:rPr lang="zh-TW" altLang="zh-TW" dirty="0">
                <a:solidFill>
                  <a:srgbClr val="FF0000"/>
                </a:solidFill>
              </a:rPr>
              <a:t>顯示上</a:t>
            </a:r>
            <a:r>
              <a:rPr lang="zh-TW" altLang="zh-TW" dirty="0"/>
              <a:t>的調整，如下所示：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&lt;!-- listing.html (dj4ch08 project) --&gt;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extends "base.html"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block title %}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我有話要說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endblock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block content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&lt;div class='container'&gt;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&lt;div class='row'&gt;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&lt;div class='col-md-12'&gt;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&lt;div class='card'&gt;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&lt;div class='card-header' align=center&gt;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&lt;h3&gt;~~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寶寶心裡苦，寶寶只在這裡說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~~&lt;/h3&gt;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70896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使用</a:t>
            </a:r>
            <a:r>
              <a:rPr lang="en-US" altLang="zh-TW" dirty="0"/>
              <a:t>POST</a:t>
            </a:r>
            <a:r>
              <a:rPr lang="zh-TW" altLang="zh-TW" dirty="0"/>
              <a:t>傳遞表單資料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52143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&lt;div class="row"&gt;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{% for p in posts %}   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&lt;div class="col-sm-12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col-md-6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&lt;div class='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card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{%cycle "text-white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bg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-primary" "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bg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-info" "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bg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-warning" "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bg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-success" %}'&gt;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&lt;div class='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card-header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&lt;table width='100%'&gt;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&lt;tr&gt;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&lt;td&gt;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【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{{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p.nickname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}}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】覺得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{{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p.mood.status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}}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&lt;/td&gt;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&lt;td align=right&gt;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&gt;&lt;small&gt;{{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p.pub_time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}}&lt;/small&gt;&lt;/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&lt;/td&gt;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&lt;/tr&gt;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&lt;/table&gt;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274320" lvl="1" indent="0">
              <a:buNone/>
            </a:pPr>
            <a:r>
              <a:rPr lang="en-US" altLang="zh-TW" dirty="0"/>
              <a:t>  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83845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使用</a:t>
            </a:r>
            <a:r>
              <a:rPr lang="en-US" altLang="zh-TW" dirty="0"/>
              <a:t>POST</a:t>
            </a:r>
            <a:r>
              <a:rPr lang="zh-TW" altLang="zh-TW" dirty="0"/>
              <a:t>傳遞表單資料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&lt;div class='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card-body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'&gt;{{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p.message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|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linebreaks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}}&lt;/div&gt;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/&gt;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{%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endfor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endblock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710766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使用</a:t>
            </a:r>
            <a:r>
              <a:rPr lang="en-US" altLang="zh-TW" dirty="0"/>
              <a:t>POST</a:t>
            </a:r>
            <a:r>
              <a:rPr lang="zh-TW" altLang="zh-TW" dirty="0"/>
              <a:t>傳遞表單資料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調整後的外觀，如</a:t>
            </a:r>
            <a:r>
              <a:rPr lang="zh-TW" altLang="en-US" dirty="0"/>
              <a:t>下</a:t>
            </a:r>
            <a:r>
              <a:rPr lang="zh-TW" altLang="zh-TW" dirty="0"/>
              <a:t>圖</a:t>
            </a:r>
            <a:r>
              <a:rPr lang="zh-TW" altLang="en-US" dirty="0"/>
              <a:t>：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BA1970ED-6D0D-5060-01DE-144965F6E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060847"/>
            <a:ext cx="7344816" cy="439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5692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使用</a:t>
            </a:r>
            <a:r>
              <a:rPr lang="en-US" altLang="zh-TW" dirty="0"/>
              <a:t>POST</a:t>
            </a:r>
            <a:r>
              <a:rPr lang="zh-TW" altLang="zh-TW" dirty="0"/>
              <a:t>傳遞表單資料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建立一個只做貼文功能的</a:t>
            </a:r>
            <a:r>
              <a:rPr lang="en-US" altLang="zh-TW" dirty="0"/>
              <a:t>posting.html</a:t>
            </a:r>
            <a:r>
              <a:rPr lang="zh-TW" altLang="zh-TW" dirty="0"/>
              <a:t>，程式片段如下所示：</a:t>
            </a: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&lt;!-- posting.html (dj4ch08 project) --&gt;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extends "base.html" %}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block title %}</a:t>
            </a:r>
            <a:r>
              <a:rPr lang="zh-TW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我有話要說</a:t>
            </a: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endblock %}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block content %}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&lt;div class='container'&gt;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if message %}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&lt;div class='alert alert-warning'&gt;{{ message }}&lt;/div&gt;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endif %}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321374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使用</a:t>
            </a:r>
            <a:r>
              <a:rPr lang="en-US" altLang="zh-TW" dirty="0"/>
              <a:t>POST</a:t>
            </a:r>
            <a:r>
              <a:rPr lang="zh-TW" altLang="zh-TW" dirty="0"/>
              <a:t>傳遞表單資料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48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51423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&lt;form name='my form' action=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'.'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method='</a:t>
            </a:r>
            <a:r>
              <a:rPr lang="en-US" altLang="zh-TW" sz="2600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現在的心情：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/&gt;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{% for m in moods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type='radio' name='mood' value='{{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m.status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}}'&gt;{{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m.status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}}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{%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endfor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/&gt;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心情留言板：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/&gt;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textarea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name='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user_post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 rows=3 cols=70&gt;&lt;/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textarea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/&gt;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&lt;label for='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你的暱稱：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&lt;/label&gt;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id='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 type='text' name='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user_id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&lt;label for='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張貼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/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刪除密碼：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&lt;/label&gt;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id='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 type='password' name='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/&gt;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type='submit' value='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張貼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type='reset' value='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清除重填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&lt;/form&gt;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&lt;/div&gt;	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endblock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66595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使用</a:t>
            </a:r>
            <a:r>
              <a:rPr lang="en-US" altLang="zh-TW" dirty="0"/>
              <a:t>POST</a:t>
            </a:r>
            <a:r>
              <a:rPr lang="zh-TW" altLang="zh-TW" dirty="0"/>
              <a:t>傳遞表單資料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err="1"/>
              <a:t>views.posting</a:t>
            </a:r>
            <a:r>
              <a:rPr lang="zh-TW" altLang="zh-TW" dirty="0"/>
              <a:t>函數如下所示：</a:t>
            </a:r>
          </a:p>
          <a:p>
            <a:pPr marL="0" indent="0">
              <a:buNone/>
            </a:pP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posting(request):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moods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models.Mood.objects.all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message = 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如要張貼訊息，則每一個欄位都要填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...'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return render(request, "posting.html", locals())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57793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使用</a:t>
            </a:r>
            <a:r>
              <a:rPr lang="en-US" altLang="zh-TW" dirty="0"/>
              <a:t>POST</a:t>
            </a:r>
            <a:r>
              <a:rPr lang="zh-TW" altLang="zh-TW" dirty="0"/>
              <a:t>傳遞表單資料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posting.html</a:t>
            </a:r>
            <a:r>
              <a:rPr lang="zh-TW" altLang="zh-TW" dirty="0"/>
              <a:t>的網頁執行結果</a:t>
            </a:r>
            <a:endParaRPr lang="zh-TW" altLang="en-US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xmlns="" id="{85C93AA6-149E-A7BB-A8E9-3B260E6DB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248408"/>
            <a:ext cx="6624736" cy="401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1445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使用</a:t>
            </a:r>
            <a:r>
              <a:rPr lang="en-US" altLang="zh-TW" dirty="0"/>
              <a:t>POST</a:t>
            </a:r>
            <a:r>
              <a:rPr lang="zh-TW" altLang="zh-TW" dirty="0"/>
              <a:t>傳遞表單資料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51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此網頁在使用者按下「張貼」按鈕之後</a:t>
            </a:r>
            <a:r>
              <a:rPr lang="zh-TW" altLang="en-US" dirty="0"/>
              <a:t>，出現</a:t>
            </a:r>
            <a:r>
              <a:rPr lang="en-US" altLang="zh-TW" dirty="0"/>
              <a:t>CSRF</a:t>
            </a:r>
            <a:r>
              <a:rPr lang="zh-TW" altLang="zh-TW" dirty="0"/>
              <a:t>驗登失敗畫面</a:t>
            </a:r>
            <a:endParaRPr lang="zh-TW" altLang="en-US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xmlns="" id="{342EAFA7-E4FC-384B-FAAC-214D850F7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343921"/>
            <a:ext cx="7056784" cy="427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282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使用</a:t>
            </a:r>
            <a:r>
              <a:rPr lang="en-US" altLang="zh-TW" dirty="0"/>
              <a:t>POST</a:t>
            </a:r>
            <a:r>
              <a:rPr lang="zh-TW" altLang="zh-TW" dirty="0"/>
              <a:t>傳遞表單資料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5070304"/>
          </a:xfrm>
        </p:spPr>
        <p:txBody>
          <a:bodyPr/>
          <a:lstStyle/>
          <a:p>
            <a:r>
              <a:rPr lang="zh-TW" altLang="zh-TW" dirty="0"/>
              <a:t>這是一個</a:t>
            </a:r>
            <a:r>
              <a:rPr lang="en-US" altLang="zh-TW" dirty="0"/>
              <a:t>Django</a:t>
            </a:r>
            <a:r>
              <a:rPr lang="zh-TW" altLang="zh-TW" dirty="0"/>
              <a:t>為了防此網站</a:t>
            </a:r>
            <a:r>
              <a:rPr lang="en-US" altLang="zh-TW" dirty="0"/>
              <a:t>CSRF(Cross-site request forgery)</a:t>
            </a:r>
            <a:r>
              <a:rPr lang="zh-TW" altLang="zh-TW" dirty="0"/>
              <a:t>攻擊的機制</a:t>
            </a:r>
            <a:endParaRPr lang="en-US" altLang="zh-TW" dirty="0"/>
          </a:p>
          <a:p>
            <a:r>
              <a:rPr lang="zh-TW" altLang="zh-TW" dirty="0"/>
              <a:t>確保駭客無法偽裝是已被驗證過的瀏覽器而盗取資料</a:t>
            </a:r>
            <a:endParaRPr lang="en-US" altLang="zh-TW" dirty="0"/>
          </a:p>
          <a:p>
            <a:r>
              <a:rPr lang="zh-TW" altLang="zh-TW" dirty="0"/>
              <a:t>啟用這個功能（預設是啟用的）的設定在</a:t>
            </a:r>
            <a:r>
              <a:rPr lang="en-US" altLang="zh-TW" dirty="0"/>
              <a:t>settings.py</a:t>
            </a:r>
            <a:r>
              <a:rPr lang="zh-TW" altLang="zh-TW" dirty="0"/>
              <a:t>中的</a:t>
            </a:r>
            <a:r>
              <a:rPr lang="en-US" altLang="zh-TW" dirty="0"/>
              <a:t>'</a:t>
            </a:r>
            <a:r>
              <a:rPr lang="en-US" altLang="zh-TW" dirty="0" err="1"/>
              <a:t>django.middleware.csrf.CsrfViewMiddleware</a:t>
            </a:r>
            <a:r>
              <a:rPr lang="en-US" altLang="zh-TW" dirty="0"/>
              <a:t>'</a:t>
            </a:r>
            <a:r>
              <a:rPr lang="zh-TW" altLang="zh-TW" dirty="0"/>
              <a:t>（在</a:t>
            </a:r>
            <a:r>
              <a:rPr lang="en-US" altLang="zh-TW" dirty="0"/>
              <a:t>MIDDLEWARE_CLASSES</a:t>
            </a:r>
            <a:r>
              <a:rPr lang="zh-TW" altLang="zh-TW" dirty="0"/>
              <a:t>的設定區塊）</a:t>
            </a:r>
            <a:endParaRPr lang="en-US" altLang="zh-TW" dirty="0"/>
          </a:p>
          <a:p>
            <a:r>
              <a:rPr lang="zh-TW" altLang="zh-TW" dirty="0"/>
              <a:t>配合此安全機制，我們還必須在</a:t>
            </a:r>
            <a:r>
              <a:rPr lang="en-US" altLang="zh-TW" dirty="0"/>
              <a:t>posting.html</a:t>
            </a:r>
            <a:r>
              <a:rPr lang="zh-TW" altLang="zh-TW" dirty="0"/>
              <a:t>中的</a:t>
            </a:r>
            <a:r>
              <a:rPr lang="en-US" altLang="zh-TW" dirty="0"/>
              <a:t>&lt;form&gt;</a:t>
            </a:r>
            <a:r>
              <a:rPr lang="zh-TW" altLang="zh-TW" dirty="0"/>
              <a:t>標籤底下加上如下所示的識別字：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{% </a:t>
            </a:r>
            <a:r>
              <a:rPr lang="en-US" altLang="zh-TW" dirty="0" err="1">
                <a:solidFill>
                  <a:srgbClr val="FF0000"/>
                </a:solidFill>
              </a:rPr>
              <a:t>csrf_token</a:t>
            </a:r>
            <a:r>
              <a:rPr lang="en-US" altLang="zh-TW" dirty="0">
                <a:solidFill>
                  <a:srgbClr val="FF0000"/>
                </a:solidFill>
              </a:rPr>
              <a:t> %}</a:t>
            </a:r>
            <a:endParaRPr lang="zh-TW" altLang="zh-TW" dirty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052413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Form</a:t>
            </a:r>
            <a:r>
              <a:rPr lang="zh-TW" altLang="zh-TW" dirty="0"/>
              <a:t>結合表單和資料庫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Django</a:t>
            </a:r>
            <a:r>
              <a:rPr lang="zh-TW" altLang="zh-TW" dirty="0"/>
              <a:t>本身提供現成可使用的表單類別</a:t>
            </a:r>
            <a:r>
              <a:rPr lang="en-US" altLang="zh-TW" dirty="0">
                <a:solidFill>
                  <a:srgbClr val="FF0000"/>
                </a:solidFill>
              </a:rPr>
              <a:t>Form</a:t>
            </a:r>
            <a:r>
              <a:rPr lang="zh-TW" altLang="zh-TW" dirty="0"/>
              <a:t>和</a:t>
            </a:r>
            <a:r>
              <a:rPr lang="en-US" altLang="zh-TW" dirty="0" err="1">
                <a:solidFill>
                  <a:srgbClr val="FF0000"/>
                </a:solidFill>
              </a:rPr>
              <a:t>ModelForm</a:t>
            </a:r>
            <a:r>
              <a:rPr lang="zh-TW" altLang="zh-TW" dirty="0"/>
              <a:t>，可以使用</a:t>
            </a:r>
            <a:r>
              <a:rPr lang="zh-TW" altLang="zh-TW" dirty="0">
                <a:solidFill>
                  <a:srgbClr val="FF0000"/>
                </a:solidFill>
              </a:rPr>
              <a:t>物件導向</a:t>
            </a:r>
            <a:r>
              <a:rPr lang="zh-TW" altLang="zh-TW" dirty="0"/>
              <a:t>的方式，直接利用程式碼產生需要的表單內容</a:t>
            </a:r>
            <a:endParaRPr lang="en-US" altLang="zh-TW" dirty="0"/>
          </a:p>
          <a:p>
            <a:r>
              <a:rPr lang="zh-TW" altLang="zh-TW" dirty="0"/>
              <a:t>假設要為網站設計一個連絡表單，讓網友可以透過這個表單寄個電子郵件給網站管理員，如果使用表單類別的方式，需先定義一個自訂的表單類別</a:t>
            </a:r>
            <a:endParaRPr lang="en-US" altLang="zh-TW" dirty="0"/>
          </a:p>
          <a:p>
            <a:pPr lvl="1"/>
            <a:r>
              <a:rPr lang="zh-TW" altLang="zh-TW" dirty="0"/>
              <a:t>在</a:t>
            </a:r>
            <a:r>
              <a:rPr lang="en-US" altLang="zh-TW" dirty="0" err="1"/>
              <a:t>mysite</a:t>
            </a:r>
            <a:r>
              <a:rPr lang="zh-TW" altLang="zh-TW" dirty="0"/>
              <a:t>目錄之下另外建立一個</a:t>
            </a:r>
            <a:r>
              <a:rPr lang="en-US" altLang="zh-TW" dirty="0">
                <a:solidFill>
                  <a:srgbClr val="FF0000"/>
                </a:solidFill>
              </a:rPr>
              <a:t>forms.py</a:t>
            </a:r>
            <a:r>
              <a:rPr lang="zh-TW" altLang="zh-TW" dirty="0"/>
              <a:t>檔案</a:t>
            </a:r>
            <a:endParaRPr lang="en-US" altLang="zh-TW" dirty="0"/>
          </a:p>
          <a:p>
            <a:pPr lvl="1"/>
            <a:r>
              <a:rPr lang="zh-TW" altLang="zh-TW" dirty="0"/>
              <a:t>引入</a:t>
            </a:r>
            <a:r>
              <a:rPr lang="en-US" altLang="zh-TW" dirty="0" err="1"/>
              <a:t>django</a:t>
            </a:r>
            <a:r>
              <a:rPr lang="zh-TW" altLang="zh-TW" dirty="0"/>
              <a:t>的</a:t>
            </a:r>
            <a:r>
              <a:rPr lang="en-US" altLang="zh-TW" dirty="0"/>
              <a:t>forms</a:t>
            </a:r>
            <a:r>
              <a:rPr lang="zh-TW" altLang="zh-TW" dirty="0"/>
              <a:t>模組</a:t>
            </a:r>
            <a:endParaRPr lang="en-US" altLang="zh-TW" dirty="0"/>
          </a:p>
          <a:p>
            <a:pPr lvl="1"/>
            <a:r>
              <a:rPr lang="zh-TW" altLang="zh-TW" dirty="0"/>
              <a:t>繼承</a:t>
            </a:r>
            <a:r>
              <a:rPr lang="en-US" altLang="zh-TW" dirty="0" err="1"/>
              <a:t>forms.Form</a:t>
            </a:r>
            <a:r>
              <a:rPr lang="zh-TW" altLang="zh-TW" dirty="0"/>
              <a:t>建立一個網站要使用的自訂表單類別</a:t>
            </a:r>
            <a:endParaRPr lang="en-US" altLang="zh-TW" dirty="0"/>
          </a:p>
          <a:p>
            <a:pPr lvl="1"/>
            <a:r>
              <a:rPr lang="zh-TW" altLang="zh-TW" dirty="0"/>
              <a:t>在此類別中指名要使用的欄位內容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39217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結合表單和資料庫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842248" cy="5502352"/>
          </a:xfrm>
        </p:spPr>
        <p:txBody>
          <a:bodyPr>
            <a:normAutofit fontScale="92500" lnSpcReduction="20000"/>
          </a:bodyPr>
          <a:lstStyle/>
          <a:p>
            <a:r>
              <a:rPr lang="zh-TW" altLang="zh-TW" dirty="0"/>
              <a:t>典型的連絡表單看起來會像是下面這個樣子（</a:t>
            </a:r>
            <a:r>
              <a:rPr lang="en-US" altLang="zh-TW" dirty="0"/>
              <a:t>forms.py</a:t>
            </a:r>
            <a:r>
              <a:rPr lang="zh-TW" altLang="zh-TW" dirty="0"/>
              <a:t>）：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forms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class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ContactForm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forms.Form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):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CITY = [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['TP', 'Taipei'],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['TY', 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Taoyuang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'],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['TC', 'Taichung'],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['TN', 'Tainan'],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['KS', 'Kaohsiung'],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['NA', 'Others'],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user_name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forms.CharField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(label='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您的姓名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',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max_length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=50, initial='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李大仁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user_city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forms.ChoiceField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(label='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居住城市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',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choices=CITY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user_school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forms.BooleanField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(label='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是否在學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', required=False)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user_email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forms.EmailField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(label='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電子郵件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user_message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forms.CharField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(label='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您的意見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',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widget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forms.Textarea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80037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結合表單和資料庫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forms.py</a:t>
            </a:r>
            <a:r>
              <a:rPr lang="zh-TW" altLang="zh-TW" dirty="0"/>
              <a:t>中示範了幾個欄位的設定範例，就像是之前在設定</a:t>
            </a:r>
            <a:r>
              <a:rPr lang="en-US" altLang="zh-TW" dirty="0"/>
              <a:t>Models</a:t>
            </a:r>
            <a:r>
              <a:rPr lang="zh-TW" altLang="zh-TW" dirty="0"/>
              <a:t>類別一樣，要建立一個</a:t>
            </a:r>
            <a:r>
              <a:rPr lang="zh-TW" altLang="zh-TW" dirty="0">
                <a:solidFill>
                  <a:srgbClr val="FF0000"/>
                </a:solidFill>
              </a:rPr>
              <a:t>類別</a:t>
            </a:r>
            <a:r>
              <a:rPr lang="zh-TW" altLang="zh-TW" dirty="0"/>
              <a:t>（在此例為</a:t>
            </a:r>
            <a:r>
              <a:rPr lang="en-US" altLang="zh-TW" dirty="0" err="1"/>
              <a:t>ContactForm</a:t>
            </a:r>
            <a:r>
              <a:rPr lang="zh-TW" altLang="zh-TW" dirty="0"/>
              <a:t>），然後分別設定其中的欄位名稱（在此例分別是</a:t>
            </a:r>
            <a:r>
              <a:rPr lang="en-US" altLang="zh-TW" dirty="0" err="1"/>
              <a:t>user_name</a:t>
            </a:r>
            <a:r>
              <a:rPr lang="en-US" altLang="zh-TW" dirty="0"/>
              <a:t>, </a:t>
            </a:r>
            <a:r>
              <a:rPr lang="en-US" altLang="zh-TW" dirty="0" err="1"/>
              <a:t>user_city</a:t>
            </a:r>
            <a:r>
              <a:rPr lang="en-US" altLang="zh-TW" dirty="0"/>
              <a:t>, </a:t>
            </a:r>
            <a:r>
              <a:rPr lang="en-US" altLang="zh-TW" dirty="0" err="1"/>
              <a:t>user_school</a:t>
            </a:r>
            <a:r>
              <a:rPr lang="en-US" altLang="zh-TW" dirty="0"/>
              <a:t>, </a:t>
            </a:r>
            <a:r>
              <a:rPr lang="en-US" altLang="zh-TW" dirty="0" err="1"/>
              <a:t>user_email</a:t>
            </a:r>
            <a:r>
              <a:rPr lang="en-US" altLang="zh-TW" dirty="0"/>
              <a:t>, </a:t>
            </a:r>
            <a:r>
              <a:rPr lang="en-US" altLang="zh-TW" dirty="0" err="1"/>
              <a:t>user_message</a:t>
            </a:r>
            <a:r>
              <a:rPr lang="zh-TW" altLang="zh-TW" dirty="0"/>
              <a:t>）</a:t>
            </a:r>
            <a:endParaRPr lang="en-US" altLang="zh-TW" dirty="0"/>
          </a:p>
          <a:p>
            <a:r>
              <a:rPr lang="zh-TW" altLang="zh-TW"/>
              <a:t>常見</a:t>
            </a:r>
            <a:r>
              <a:rPr lang="zh-TW" altLang="zh-TW" dirty="0"/>
              <a:t>的欄位格式設定方法，摘要說明如下表：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747768"/>
              </p:ext>
            </p:extLst>
          </p:nvPr>
        </p:nvGraphicFramePr>
        <p:xfrm>
          <a:off x="301752" y="4149080"/>
          <a:ext cx="8374704" cy="20882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79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817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1503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783087"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800" kern="100">
                          <a:effectLst/>
                        </a:rPr>
                        <a:t>欄位格式名稱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800" kern="100">
                          <a:effectLst/>
                        </a:rPr>
                        <a:t>用法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800" kern="100">
                          <a:effectLst/>
                        </a:rPr>
                        <a:t>說明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05145"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CharField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CharField</a:t>
                      </a:r>
                      <a:r>
                        <a:rPr lang="en-US" sz="1800" kern="100" dirty="0">
                          <a:effectLst/>
                        </a:rPr>
                        <a:t>(label='</a:t>
                      </a:r>
                      <a:r>
                        <a:rPr lang="zh-TW" sz="1800" kern="100" dirty="0">
                          <a:effectLst/>
                        </a:rPr>
                        <a:t>您的姓名</a:t>
                      </a:r>
                      <a:r>
                        <a:rPr lang="en-US" sz="1800" kern="100" dirty="0">
                          <a:effectLst/>
                        </a:rPr>
                        <a:t>', </a:t>
                      </a:r>
                      <a:r>
                        <a:rPr lang="en-US" sz="1800" kern="100" dirty="0" err="1">
                          <a:effectLst/>
                        </a:rPr>
                        <a:t>max_length</a:t>
                      </a:r>
                      <a:r>
                        <a:rPr lang="en-US" sz="1800" kern="100" dirty="0">
                          <a:effectLst/>
                        </a:rPr>
                        <a:t>=50, 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initial=</a:t>
                      </a:r>
                      <a:r>
                        <a:rPr lang="en-US" sz="1800" kern="100" dirty="0">
                          <a:effectLst/>
                        </a:rPr>
                        <a:t>'</a:t>
                      </a:r>
                      <a:r>
                        <a:rPr lang="zh-TW" sz="1800" kern="100" dirty="0">
                          <a:effectLst/>
                        </a:rPr>
                        <a:t>李大仁</a:t>
                      </a:r>
                      <a:r>
                        <a:rPr lang="en-US" sz="1800" kern="100" dirty="0">
                          <a:effectLst/>
                        </a:rPr>
                        <a:t>')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label</a:t>
                      </a:r>
                      <a:r>
                        <a:rPr lang="zh-TW" sz="1800" kern="100" dirty="0">
                          <a:effectLst/>
                        </a:rPr>
                        <a:t>為本欄位的標籤（以下皆同），</a:t>
                      </a:r>
                      <a:r>
                        <a:rPr lang="en-US" sz="1800" kern="100" dirty="0" err="1">
                          <a:effectLst/>
                        </a:rPr>
                        <a:t>max_length</a:t>
                      </a:r>
                      <a:r>
                        <a:rPr lang="zh-TW" sz="1800" kern="100" dirty="0">
                          <a:effectLst/>
                        </a:rPr>
                        <a:t>設定長度為</a:t>
                      </a:r>
                      <a:r>
                        <a:rPr lang="en-US" sz="1800" kern="100" dirty="0">
                          <a:effectLst/>
                        </a:rPr>
                        <a:t>50</a:t>
                      </a:r>
                      <a:r>
                        <a:rPr lang="zh-TW" sz="1800" kern="100" dirty="0">
                          <a:effectLst/>
                        </a:rPr>
                        <a:t>，</a:t>
                      </a:r>
                      <a:r>
                        <a:rPr lang="en-US" sz="1800" kern="100" dirty="0">
                          <a:effectLst/>
                        </a:rPr>
                        <a:t>initial</a:t>
                      </a:r>
                      <a:r>
                        <a:rPr lang="zh-TW" sz="1800" kern="100" dirty="0">
                          <a:effectLst/>
                        </a:rPr>
                        <a:t>為欄位中的預設值，在本例為</a:t>
                      </a:r>
                      <a:r>
                        <a:rPr lang="en-US" sz="1800" kern="100" dirty="0">
                          <a:effectLst/>
                        </a:rPr>
                        <a:t>’</a:t>
                      </a:r>
                      <a:r>
                        <a:rPr lang="zh-TW" sz="1800" kern="100" dirty="0">
                          <a:effectLst/>
                        </a:rPr>
                        <a:t>李大仁</a:t>
                      </a:r>
                      <a:r>
                        <a:rPr lang="en-US" sz="1800" kern="100" dirty="0">
                          <a:effectLst/>
                        </a:rPr>
                        <a:t>’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2888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結合表單和資料庫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56</a:t>
            </a:fld>
            <a:endParaRPr lang="zh-TW" altLang="en-US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86039420"/>
              </p:ext>
            </p:extLst>
          </p:nvPr>
        </p:nvGraphicFramePr>
        <p:xfrm>
          <a:off x="179512" y="1465415"/>
          <a:ext cx="8784976" cy="50314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899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6273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405048"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ChoiceField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ChoiceField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(label='</a:t>
                      </a:r>
                      <a:r>
                        <a:rPr lang="zh-TW" sz="1800" b="0" kern="100" dirty="0">
                          <a:solidFill>
                            <a:schemeClr val="tx1"/>
                          </a:solidFill>
                          <a:effectLst/>
                        </a:rPr>
                        <a:t>居住城市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', </a:t>
                      </a:r>
                      <a:r>
                        <a:rPr lang="en-US" sz="1800" b="0" kern="100" dirty="0">
                          <a:solidFill>
                            <a:srgbClr val="FF0000"/>
                          </a:solidFill>
                          <a:effectLst/>
                        </a:rPr>
                        <a:t>choices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=CITY)</a:t>
                      </a:r>
                      <a:endParaRPr lang="zh-TW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800" b="0" kern="100" dirty="0">
                          <a:solidFill>
                            <a:schemeClr val="tx1"/>
                          </a:solidFill>
                          <a:effectLst/>
                        </a:rPr>
                        <a:t>設定</a:t>
                      </a:r>
                      <a:r>
                        <a:rPr lang="zh-TW" sz="1800" b="0" kern="100" dirty="0">
                          <a:solidFill>
                            <a:srgbClr val="FF0000"/>
                          </a:solidFill>
                          <a:effectLst/>
                        </a:rPr>
                        <a:t>下拉式選單</a:t>
                      </a:r>
                      <a:r>
                        <a:rPr lang="zh-TW" sz="1800" b="0" kern="100" dirty="0">
                          <a:solidFill>
                            <a:schemeClr val="tx1"/>
                          </a:solidFill>
                          <a:effectLst/>
                        </a:rPr>
                        <a:t>（即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&lt;select&gt;</a:t>
                      </a:r>
                      <a:r>
                        <a:rPr lang="zh-TW" sz="1800" b="0" kern="100" dirty="0">
                          <a:solidFill>
                            <a:schemeClr val="tx1"/>
                          </a:solidFill>
                          <a:effectLst/>
                        </a:rPr>
                        <a:t>標籤），後面需以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choices</a:t>
                      </a:r>
                      <a:r>
                        <a:rPr lang="zh-TW" sz="1800" b="0" kern="100" dirty="0">
                          <a:solidFill>
                            <a:schemeClr val="tx1"/>
                          </a:solidFill>
                          <a:effectLst/>
                        </a:rPr>
                        <a:t>參數指定一個二維串列，如程式中的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CITY</a:t>
                      </a:r>
                      <a:endParaRPr lang="zh-TW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53786"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>
                          <a:effectLst/>
                        </a:rPr>
                        <a:t>BooleanField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>
                          <a:effectLst/>
                        </a:rPr>
                        <a:t>BooleanField(label='</a:t>
                      </a:r>
                      <a:r>
                        <a:rPr lang="zh-TW" sz="1800" kern="100">
                          <a:effectLst/>
                        </a:rPr>
                        <a:t>是否在學</a:t>
                      </a:r>
                      <a:r>
                        <a:rPr lang="en-US" sz="1800" kern="100">
                          <a:effectLst/>
                        </a:rPr>
                        <a:t>', required=False)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800" kern="100" dirty="0">
                          <a:effectLst/>
                        </a:rPr>
                        <a:t>布林值的欄位，即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checkbox</a:t>
                      </a:r>
                      <a:r>
                        <a:rPr lang="zh-TW" sz="1800" kern="100" dirty="0">
                          <a:effectLst/>
                        </a:rPr>
                        <a:t>標籤，</a:t>
                      </a:r>
                      <a:r>
                        <a:rPr lang="en-US" sz="1800" kern="100" dirty="0">
                          <a:effectLst/>
                        </a:rPr>
                        <a:t>required</a:t>
                      </a:r>
                      <a:r>
                        <a:rPr lang="zh-TW" sz="1800" kern="100" dirty="0">
                          <a:effectLst/>
                        </a:rPr>
                        <a:t>設定為</a:t>
                      </a:r>
                      <a:r>
                        <a:rPr lang="en-US" sz="1800" kern="100" dirty="0">
                          <a:effectLst/>
                        </a:rPr>
                        <a:t>False</a:t>
                      </a:r>
                      <a:r>
                        <a:rPr lang="zh-TW" sz="1800" kern="100" dirty="0">
                          <a:effectLst/>
                        </a:rPr>
                        <a:t>，則此</a:t>
                      </a:r>
                      <a:r>
                        <a:rPr lang="en-US" sz="1800" kern="100" dirty="0">
                          <a:effectLst/>
                        </a:rPr>
                        <a:t>checkbox</a:t>
                      </a:r>
                      <a:r>
                        <a:rPr lang="zh-TW" sz="1800" kern="100" dirty="0">
                          <a:effectLst/>
                        </a:rPr>
                        <a:t>在輸入時也可以不用勾選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43029"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>
                          <a:effectLst/>
                        </a:rPr>
                        <a:t>EmailField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>
                          <a:effectLst/>
                        </a:rPr>
                        <a:t>EmailField(label='</a:t>
                      </a:r>
                      <a:r>
                        <a:rPr lang="zh-TW" sz="1800" kern="100">
                          <a:effectLst/>
                        </a:rPr>
                        <a:t>電子郵件</a:t>
                      </a:r>
                      <a:r>
                        <a:rPr lang="en-US" sz="1800" kern="100">
                          <a:effectLst/>
                        </a:rPr>
                        <a:t>')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800" kern="100" dirty="0">
                          <a:effectLst/>
                        </a:rPr>
                        <a:t>具</a:t>
                      </a:r>
                      <a:r>
                        <a:rPr lang="en-US" sz="1800" kern="100" dirty="0">
                          <a:effectLst/>
                        </a:rPr>
                        <a:t>email</a:t>
                      </a:r>
                      <a:r>
                        <a:rPr lang="zh-TW" sz="1800" kern="100" dirty="0">
                          <a:effectLst/>
                        </a:rPr>
                        <a:t>驗證功能的欄位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686057"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CharField</a:t>
                      </a:r>
                      <a:r>
                        <a:rPr lang="en-US" sz="1800" kern="100" baseline="0" dirty="0">
                          <a:effectLst/>
                        </a:rPr>
                        <a:t> </a:t>
                      </a:r>
                      <a:r>
                        <a:rPr lang="en-US" sz="1800" kern="100" dirty="0">
                          <a:effectLst/>
                        </a:rPr>
                        <a:t>+</a:t>
                      </a:r>
                      <a:br>
                        <a:rPr lang="en-US" sz="1800" kern="100" dirty="0">
                          <a:effectLst/>
                        </a:rPr>
                      </a:br>
                      <a:r>
                        <a:rPr lang="en-US" sz="1800" kern="100" dirty="0" err="1">
                          <a:effectLst/>
                        </a:rPr>
                        <a:t>forms.Textarea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CharField</a:t>
                      </a:r>
                      <a:r>
                        <a:rPr lang="en-US" sz="1800" kern="100" dirty="0">
                          <a:effectLst/>
                        </a:rPr>
                        <a:t>(label='</a:t>
                      </a:r>
                      <a:r>
                        <a:rPr lang="zh-TW" sz="1800" kern="100" dirty="0">
                          <a:effectLst/>
                        </a:rPr>
                        <a:t>您的意見</a:t>
                      </a:r>
                      <a:r>
                        <a:rPr lang="en-US" sz="1800" kern="100" dirty="0">
                          <a:effectLst/>
                        </a:rPr>
                        <a:t>', widget=</a:t>
                      </a:r>
                      <a:r>
                        <a:rPr lang="en-US" sz="1800" kern="100" dirty="0" err="1">
                          <a:effectLst/>
                        </a:rPr>
                        <a:t>forms.Textarea</a:t>
                      </a:r>
                      <a:r>
                        <a:rPr lang="en-US" sz="1800" kern="100" dirty="0">
                          <a:effectLst/>
                        </a:rPr>
                        <a:t>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1800" kern="100" dirty="0">
                          <a:effectLst/>
                        </a:rPr>
                        <a:t>在</a:t>
                      </a:r>
                      <a:r>
                        <a:rPr lang="en-US" sz="1800" kern="100" dirty="0" err="1">
                          <a:effectLst/>
                        </a:rPr>
                        <a:t>CharField</a:t>
                      </a:r>
                      <a:r>
                        <a:rPr lang="zh-TW" sz="1800" kern="100" dirty="0">
                          <a:effectLst/>
                        </a:rPr>
                        <a:t>中以</a:t>
                      </a:r>
                      <a:r>
                        <a:rPr lang="en-US" sz="1800" kern="100" dirty="0">
                          <a:effectLst/>
                        </a:rPr>
                        <a:t>widget=</a:t>
                      </a:r>
                      <a:r>
                        <a:rPr lang="en-US" sz="1800" kern="100" dirty="0" err="1">
                          <a:effectLst/>
                        </a:rPr>
                        <a:t>forms.Textarea</a:t>
                      </a:r>
                      <a:r>
                        <a:rPr lang="zh-TW" sz="1800" kern="100" dirty="0">
                          <a:effectLst/>
                        </a:rPr>
                        <a:t>來</a:t>
                      </a:r>
                      <a:r>
                        <a:rPr lang="zh-TW" sz="1800" kern="100" dirty="0">
                          <a:solidFill>
                            <a:srgbClr val="FF0000"/>
                          </a:solidFill>
                          <a:effectLst/>
                        </a:rPr>
                        <a:t>擴增成為大量文字輸入欄位</a:t>
                      </a:r>
                      <a:r>
                        <a:rPr lang="zh-TW" sz="1800" kern="100" dirty="0">
                          <a:effectLst/>
                        </a:rPr>
                        <a:t>，亦即</a:t>
                      </a:r>
                      <a:r>
                        <a:rPr lang="en-US" sz="1800" kern="100" dirty="0">
                          <a:effectLst/>
                        </a:rPr>
                        <a:t>&lt;</a:t>
                      </a:r>
                      <a:r>
                        <a:rPr lang="en-US" sz="1800" kern="100" dirty="0" err="1">
                          <a:effectLst/>
                        </a:rPr>
                        <a:t>textarea</a:t>
                      </a:r>
                      <a:r>
                        <a:rPr lang="en-US" sz="1800" kern="100" dirty="0">
                          <a:effectLst/>
                        </a:rPr>
                        <a:t>&gt;</a:t>
                      </a:r>
                      <a:r>
                        <a:rPr lang="zh-TW" sz="1800" kern="100" dirty="0">
                          <a:effectLst/>
                        </a:rPr>
                        <a:t>標籤。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4356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結合表單和資料庫</a:t>
            </a:r>
            <a:r>
              <a:rPr lang="en-US" altLang="zh-TW" dirty="0"/>
              <a:t>views.py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一旦建立了此格式的類別，即可在</a:t>
            </a:r>
            <a:r>
              <a:rPr lang="en-US" altLang="zh-TW" dirty="0" err="1"/>
              <a:t>views.contact</a:t>
            </a:r>
            <a:r>
              <a:rPr lang="zh-TW" altLang="zh-TW" dirty="0"/>
              <a:t>處理函數中產生實例</a:t>
            </a:r>
            <a:endParaRPr lang="en-US" altLang="zh-TW" dirty="0"/>
          </a:p>
          <a:p>
            <a:r>
              <a:rPr lang="zh-TW" altLang="zh-TW" dirty="0"/>
              <a:t>假設我們已在</a:t>
            </a:r>
            <a:r>
              <a:rPr lang="en-US" altLang="zh-TW" dirty="0">
                <a:solidFill>
                  <a:srgbClr val="FF0000"/>
                </a:solidFill>
              </a:rPr>
              <a:t>urls.py</a:t>
            </a:r>
            <a:r>
              <a:rPr lang="zh-TW" altLang="zh-TW" dirty="0">
                <a:solidFill>
                  <a:srgbClr val="FF0000"/>
                </a:solidFill>
              </a:rPr>
              <a:t>中建立了</a:t>
            </a:r>
            <a:r>
              <a:rPr lang="en-US" altLang="zh-TW" dirty="0">
                <a:solidFill>
                  <a:srgbClr val="FF0000"/>
                </a:solidFill>
              </a:rPr>
              <a:t>/contact</a:t>
            </a:r>
            <a:r>
              <a:rPr lang="zh-TW" altLang="zh-TW" dirty="0">
                <a:solidFill>
                  <a:srgbClr val="FF0000"/>
                </a:solidFill>
              </a:rPr>
              <a:t>的網址樣式</a:t>
            </a:r>
            <a:r>
              <a:rPr lang="zh-TW" altLang="zh-TW" dirty="0"/>
              <a:t>，並對應到</a:t>
            </a:r>
            <a:r>
              <a:rPr lang="en-US" altLang="zh-TW" dirty="0" err="1"/>
              <a:t>views.contact</a:t>
            </a:r>
            <a:r>
              <a:rPr lang="zh-TW" altLang="zh-TW" dirty="0"/>
              <a:t>，則此時</a:t>
            </a:r>
            <a:r>
              <a:rPr lang="en-US" altLang="zh-TW" dirty="0" err="1"/>
              <a:t>views.contact</a:t>
            </a:r>
            <a:r>
              <a:rPr lang="zh-TW" altLang="zh-TW" dirty="0"/>
              <a:t>的內容如下：</a:t>
            </a:r>
          </a:p>
          <a:p>
            <a:pPr marL="27432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mysite</a:t>
            </a:r>
            <a:r>
              <a:rPr lang="en-US" altLang="zh-TW" dirty="0"/>
              <a:t> import models, </a:t>
            </a:r>
            <a:r>
              <a:rPr lang="en-US" altLang="zh-TW" dirty="0">
                <a:solidFill>
                  <a:srgbClr val="FF0000"/>
                </a:solidFill>
              </a:rPr>
              <a:t>forms</a:t>
            </a:r>
            <a:endParaRPr lang="zh-TW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dirty="0" err="1"/>
              <a:t>def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contact</a:t>
            </a:r>
            <a:r>
              <a:rPr lang="en-US" altLang="zh-TW" dirty="0"/>
              <a:t>(request):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</a:t>
            </a:r>
            <a:r>
              <a:rPr lang="en-US" altLang="zh-TW" dirty="0">
                <a:solidFill>
                  <a:srgbClr val="FF0000"/>
                </a:solidFill>
              </a:rPr>
              <a:t>form = </a:t>
            </a:r>
            <a:r>
              <a:rPr lang="en-US" altLang="zh-TW" dirty="0" err="1">
                <a:solidFill>
                  <a:srgbClr val="FF0000"/>
                </a:solidFill>
              </a:rPr>
              <a:t>forms.ContactForm</a:t>
            </a:r>
            <a:r>
              <a:rPr lang="en-US" altLang="zh-TW" dirty="0">
                <a:solidFill>
                  <a:srgbClr val="FF0000"/>
                </a:solidFill>
              </a:rPr>
              <a:t>()</a:t>
            </a:r>
            <a:endParaRPr lang="zh-TW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dirty="0"/>
              <a:t>    return render(request, 'contact.html', locals())</a:t>
            </a: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03732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結合表單和資料庫</a:t>
            </a:r>
            <a:r>
              <a:rPr lang="en-US" altLang="zh-TW" dirty="0" err="1"/>
              <a:t>div.card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58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5142312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contact.html</a:t>
            </a:r>
            <a:r>
              <a:rPr lang="zh-TW" altLang="zh-TW" dirty="0"/>
              <a:t>中的內容如下：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&lt;!-- contact.html (dj4ch08 project) --&gt;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extends "base.html"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block title %}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連絡管理員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endblock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block content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&lt;div class='container'&gt;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&lt;div class='card’&gt;  </a:t>
            </a:r>
            <a:r>
              <a:rPr lang="en-US" altLang="zh-TW" sz="1800" b="1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800" b="1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div.card</a:t>
            </a:r>
            <a:r>
              <a:rPr lang="en-US" altLang="zh-TW" sz="1800" b="1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800" b="1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&lt;div class='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card-header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’&gt;  </a:t>
            </a:r>
            <a:r>
              <a:rPr lang="en-US" altLang="zh-TW" sz="1800" b="1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800" b="1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div.card</a:t>
            </a:r>
            <a:r>
              <a:rPr lang="en-US" altLang="zh-TW" sz="1800" b="1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-header)</a:t>
            </a:r>
            <a:endParaRPr lang="zh-TW" altLang="zh-TW" sz="1800" b="1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&lt;form name='my form' action='.' method=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'POST'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csrf_token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&lt;h3&gt;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寫信給管理員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&lt;/h3&gt;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&lt;div class='card-body'&gt;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{{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form.as_p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}}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&lt;div class='card-footer'&gt;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&lt;input type='submit' value='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送出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&lt;/form&gt;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endblock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zh-TW" altLang="zh-TW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188DB674-59D6-DE95-2F3C-DF8AA5BEDE3C}"/>
              </a:ext>
            </a:extLst>
          </p:cNvPr>
          <p:cNvSpPr txBox="1"/>
          <p:nvPr/>
        </p:nvSpPr>
        <p:spPr>
          <a:xfrm>
            <a:off x="4796595" y="1052736"/>
            <a:ext cx="432201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一、先產生</a:t>
            </a:r>
            <a:r>
              <a:rPr lang="en-US" altLang="zh-TW" sz="2400" dirty="0">
                <a:solidFill>
                  <a:srgbClr val="FF0000"/>
                </a:solidFill>
              </a:rPr>
              <a:t>form (</a:t>
            </a:r>
            <a:r>
              <a:rPr lang="en-US" altLang="zh-TW" sz="2400" dirty="0" err="1">
                <a:solidFill>
                  <a:srgbClr val="FF0000"/>
                </a:solidFill>
              </a:rPr>
              <a:t>form:post</a:t>
            </a:r>
            <a:endParaRPr lang="en-US" altLang="zh-TW" sz="2400" dirty="0">
              <a:solidFill>
                <a:srgbClr val="FF0000"/>
              </a:solidFill>
            </a:endParaRPr>
          </a:p>
          <a:p>
            <a:r>
              <a:rPr lang="zh-TW" altLang="en-US" sz="2400" dirty="0">
                <a:solidFill>
                  <a:srgbClr val="FF0000"/>
                </a:solidFill>
              </a:rPr>
              <a:t>二、補</a:t>
            </a:r>
            <a:r>
              <a:rPr lang="en-US" altLang="zh-TW" sz="2400" dirty="0">
                <a:solidFill>
                  <a:srgbClr val="FF0000"/>
                </a:solidFill>
              </a:rPr>
              <a:t>card-header</a:t>
            </a:r>
          </a:p>
          <a:p>
            <a:r>
              <a:rPr lang="zh-TW" altLang="en-US" sz="2400" dirty="0">
                <a:solidFill>
                  <a:srgbClr val="FF0000"/>
                </a:solidFill>
              </a:rPr>
              <a:t>三、</a:t>
            </a:r>
            <a:r>
              <a:rPr lang="en-US" altLang="zh-TW" sz="2400" dirty="0">
                <a:solidFill>
                  <a:srgbClr val="FF0000"/>
                </a:solidFill>
              </a:rPr>
              <a:t>form</a:t>
            </a:r>
            <a:r>
              <a:rPr lang="zh-TW" altLang="en-US" sz="2400" dirty="0">
                <a:solidFill>
                  <a:srgbClr val="FF0000"/>
                </a:solidFill>
              </a:rPr>
              <a:t>的外面包</a:t>
            </a:r>
            <a:r>
              <a:rPr lang="en-US" altLang="zh-TW" sz="2400" dirty="0">
                <a:solidFill>
                  <a:srgbClr val="FF0000"/>
                </a:solidFill>
              </a:rPr>
              <a:t>card-body</a:t>
            </a:r>
          </a:p>
          <a:p>
            <a:r>
              <a:rPr lang="zh-TW" altLang="en-US" sz="2400" dirty="0">
                <a:solidFill>
                  <a:srgbClr val="FF0000"/>
                </a:solidFill>
              </a:rPr>
              <a:t>四、補</a:t>
            </a:r>
            <a:r>
              <a:rPr lang="en-US" altLang="zh-TW" sz="2400" dirty="0">
                <a:solidFill>
                  <a:srgbClr val="FF0000"/>
                </a:solidFill>
              </a:rPr>
              <a:t>card-footer</a:t>
            </a:r>
          </a:p>
          <a:p>
            <a:r>
              <a:rPr lang="zh-TW" altLang="en-US" sz="2400" dirty="0">
                <a:solidFill>
                  <a:srgbClr val="FF0000"/>
                </a:solidFill>
              </a:rPr>
              <a:t>五、將</a:t>
            </a:r>
            <a:r>
              <a:rPr lang="en-US" altLang="zh-TW" sz="2400" dirty="0">
                <a:solidFill>
                  <a:srgbClr val="FF0000"/>
                </a:solidFill>
              </a:rPr>
              <a:t>”</a:t>
            </a:r>
            <a:r>
              <a:rPr lang="zh-TW" altLang="en-US" sz="2400" dirty="0">
                <a:solidFill>
                  <a:srgbClr val="FF0000"/>
                </a:solidFill>
              </a:rPr>
              <a:t>送出</a:t>
            </a:r>
            <a:r>
              <a:rPr lang="en-US" altLang="zh-TW" sz="2400" dirty="0">
                <a:solidFill>
                  <a:srgbClr val="FF0000"/>
                </a:solidFill>
              </a:rPr>
              <a:t>”</a:t>
            </a:r>
            <a:r>
              <a:rPr lang="zh-TW" altLang="en-US" sz="2400" dirty="0">
                <a:solidFill>
                  <a:srgbClr val="FF0000"/>
                </a:solidFill>
              </a:rPr>
              <a:t>按鈕搬到</a:t>
            </a:r>
            <a:r>
              <a:rPr lang="en-US" altLang="zh-TW" sz="2400" dirty="0">
                <a:solidFill>
                  <a:srgbClr val="FF0000"/>
                </a:solidFill>
              </a:rPr>
              <a:t>footer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7538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結合表單和資料庫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contact.html</a:t>
            </a:r>
            <a:r>
              <a:rPr lang="zh-TW" altLang="zh-TW" dirty="0"/>
              <a:t>的執行畫面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8F6C73B1-54F5-6736-E7F4-87EC470CB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1993630"/>
            <a:ext cx="5832648" cy="436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310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資料接收與欄位的驗證方法</a:t>
            </a:r>
            <a:r>
              <a:rPr lang="en-US" altLang="zh-TW" dirty="0"/>
              <a:t>views.py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5142312"/>
          </a:xfrm>
        </p:spPr>
        <p:txBody>
          <a:bodyPr>
            <a:normAutofit fontScale="92500" lnSpcReduction="10000"/>
          </a:bodyPr>
          <a:lstStyle/>
          <a:p>
            <a:r>
              <a:rPr lang="zh-TW" altLang="zh-TW" dirty="0"/>
              <a:t>接收表單資料</a:t>
            </a:r>
            <a:r>
              <a:rPr lang="zh-TW" altLang="en-US" dirty="0"/>
              <a:t>的方法</a:t>
            </a:r>
            <a:endParaRPr lang="en-US" altLang="zh-TW" dirty="0"/>
          </a:p>
          <a:p>
            <a:pPr lvl="1"/>
            <a:r>
              <a:rPr lang="zh-TW" altLang="zh-TW" dirty="0"/>
              <a:t>先使用</a:t>
            </a:r>
            <a:r>
              <a:rPr lang="en-US" altLang="zh-TW" dirty="0"/>
              <a:t>if</a:t>
            </a:r>
            <a:r>
              <a:rPr lang="zh-TW" altLang="zh-TW" dirty="0"/>
              <a:t>判斷傳進來的內容是否為</a:t>
            </a:r>
            <a:r>
              <a:rPr lang="en-US" altLang="zh-TW" dirty="0"/>
              <a:t>POST</a:t>
            </a:r>
          </a:p>
          <a:p>
            <a:pPr lvl="1"/>
            <a:r>
              <a:rPr lang="zh-TW" altLang="zh-TW" dirty="0"/>
              <a:t>如果是，那麼表示剛剛連進來的</a:t>
            </a:r>
            <a:r>
              <a:rPr lang="en-US" altLang="zh-TW" dirty="0"/>
              <a:t>request</a:t>
            </a:r>
            <a:r>
              <a:rPr lang="zh-TW" altLang="zh-TW" dirty="0"/>
              <a:t>是因為按下表單中的</a:t>
            </a:r>
            <a:r>
              <a:rPr lang="en-US" altLang="zh-TW" dirty="0"/>
              <a:t>submit</a:t>
            </a:r>
            <a:r>
              <a:rPr lang="zh-TW" altLang="zh-TW" dirty="0"/>
              <a:t>按鈕來的</a:t>
            </a:r>
            <a:endParaRPr lang="en-US" altLang="zh-TW" dirty="0"/>
          </a:p>
          <a:p>
            <a:pPr lvl="1"/>
            <a:r>
              <a:rPr lang="zh-TW" altLang="zh-TW" dirty="0"/>
              <a:t>程式如下所示：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26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 contact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(request):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 = </a:t>
            </a:r>
            <a:r>
              <a:rPr lang="en-US" altLang="zh-TW" dirty="0" err="1"/>
              <a:t>forms.ContactForm</a:t>
            </a:r>
            <a:r>
              <a:rPr lang="en-US" altLang="zh-TW" dirty="0"/>
              <a:t>(</a:t>
            </a:r>
            <a:r>
              <a:rPr lang="en-US" altLang="zh-TW" dirty="0" err="1"/>
              <a:t>request.POST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if </a:t>
            </a:r>
            <a:r>
              <a:rPr lang="en-US" altLang="zh-TW" sz="1800" kern="100" dirty="0" err="1">
                <a:solidFill>
                  <a:srgbClr val="FF0000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request.method</a:t>
            </a:r>
            <a:r>
              <a:rPr lang="en-US" altLang="zh-TW" sz="1800" kern="100" dirty="0">
                <a:solidFill>
                  <a:srgbClr val="FF0000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 == 'POST’:</a:t>
            </a:r>
            <a:endParaRPr lang="zh-TW" altLang="zh-TW" sz="1800" kern="100" dirty="0">
              <a:solidFill>
                <a:srgbClr val="FF0000"/>
              </a:solidFill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 err="1">
                <a:latin typeface="Courier New" panose="02070309020205020404" pitchFamily="49" charset="0"/>
                <a:ea typeface="標楷體" panose="03000509000000000000" pitchFamily="65" charset="-120"/>
              </a:rPr>
              <a:t>C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ontactForm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request.POST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if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form.is_valid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message = "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感謝您的來信。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else: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message = "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請檢查您輸入的資訊是否正確！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else: // by get</a:t>
            </a:r>
            <a:r>
              <a:rPr lang="zh-TW" altLang="en-US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，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just output form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form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forms.ContactForm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return render(request, 'contact.html', locals())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2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070392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資料接收與欄位的驗證方法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61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表單類別的自動欄位檢查功能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7DA53B8B-10FF-6E2F-2464-41655BD8C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068790"/>
            <a:ext cx="6048672" cy="451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1267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資料接收與欄位的驗證方法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在</a:t>
            </a:r>
            <a:r>
              <a:rPr lang="en-US" altLang="zh-TW" dirty="0"/>
              <a:t>contact.html</a:t>
            </a:r>
            <a:r>
              <a:rPr lang="zh-TW" altLang="zh-TW" dirty="0"/>
              <a:t>的前面多加了以下的內容：</a:t>
            </a:r>
          </a:p>
          <a:p>
            <a:pPr marL="0" indent="0">
              <a:buNone/>
            </a:pPr>
            <a:r>
              <a:rPr lang="en-US" altLang="zh-TW" dirty="0"/>
              <a:t>&lt;div class='container' align=center&gt;</a:t>
            </a:r>
          </a:p>
          <a:p>
            <a:pPr marL="0" indent="0">
              <a:buNone/>
            </a:pPr>
            <a:endParaRPr lang="en-US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if message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&lt;div class='alert alert-warning'&gt;{{ message }}&lt;/div&gt;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endif %}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A7834C98-4F0F-61E3-DACD-2AFC346D9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25" y="3813048"/>
            <a:ext cx="6992326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383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資料接收與欄位的驗證方法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表單類別自動會幫我們處理這些細節</a:t>
            </a:r>
            <a:r>
              <a:rPr lang="en-US" altLang="zh-TW" dirty="0"/>
              <a:t>(DEMO EMAIL </a:t>
            </a:r>
            <a:r>
              <a:rPr lang="zh-TW" altLang="en-US" dirty="0"/>
              <a:t>內容不足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DF424163-C30D-7F46-8B8D-0371CAB08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2268376"/>
            <a:ext cx="5976664" cy="447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833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1752" y="0"/>
            <a:ext cx="8534400" cy="1196752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</a:rPr>
              <a:t>注意：要在</a:t>
            </a:r>
            <a:r>
              <a:rPr lang="en-US" altLang="zh-TW" dirty="0" err="1" smtClean="0">
                <a:solidFill>
                  <a:srgbClr val="FF0000"/>
                </a:solidFill>
              </a:rPr>
              <a:t>form.is_valid</a:t>
            </a:r>
            <a:r>
              <a:rPr lang="en-US" altLang="zh-TW" dirty="0" smtClean="0">
                <a:solidFill>
                  <a:srgbClr val="FF0000"/>
                </a:solidFill>
              </a:rPr>
              <a:t>()</a:t>
            </a:r>
            <a:r>
              <a:rPr lang="zh-TW" altLang="en-US" dirty="0" smtClean="0">
                <a:solidFill>
                  <a:srgbClr val="FF0000"/>
                </a:solidFill>
              </a:rPr>
              <a:t>裏面來取資料，否則會出現</a:t>
            </a:r>
            <a:r>
              <a:rPr lang="en-US" altLang="zh-TW" dirty="0" smtClean="0">
                <a:solidFill>
                  <a:srgbClr val="FF0000"/>
                </a:solidFill>
              </a:rPr>
              <a:t>error(</a:t>
            </a:r>
            <a:r>
              <a:rPr lang="zh-TW" altLang="en-US" dirty="0" smtClean="0">
                <a:solidFill>
                  <a:srgbClr val="FF0000"/>
                </a:solidFill>
              </a:rPr>
              <a:t>要先確定資料</a:t>
            </a:r>
            <a:r>
              <a:rPr lang="en-US" altLang="zh-TW" dirty="0" smtClean="0">
                <a:solidFill>
                  <a:srgbClr val="FF0000"/>
                </a:solidFill>
              </a:rPr>
              <a:t>valid</a:t>
            </a:r>
            <a:r>
              <a:rPr lang="zh-TW" altLang="en-US" dirty="0" smtClean="0">
                <a:solidFill>
                  <a:srgbClr val="FF0000"/>
                </a:solidFill>
              </a:rPr>
              <a:t>才能得到</a:t>
            </a:r>
            <a:r>
              <a:rPr lang="en-US" altLang="zh-TW" dirty="0" smtClean="0">
                <a:solidFill>
                  <a:srgbClr val="FF0000"/>
                </a:solidFill>
              </a:rPr>
              <a:t>data)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zh-TW" dirty="0"/>
              <a:t>在使用</a:t>
            </a:r>
            <a:r>
              <a:rPr lang="en-US" altLang="zh-TW" dirty="0" err="1"/>
              <a:t>form.is_valid</a:t>
            </a:r>
            <a:r>
              <a:rPr lang="en-US" altLang="zh-TW" dirty="0"/>
              <a:t>()</a:t>
            </a:r>
            <a:r>
              <a:rPr lang="zh-TW" altLang="zh-TW" dirty="0"/>
              <a:t>檢查了表單的正確性之後，只要使用每一個表單原本在定義時使用的</a:t>
            </a:r>
            <a:r>
              <a:rPr lang="zh-TW" altLang="zh-TW" dirty="0">
                <a:solidFill>
                  <a:srgbClr val="FF0000"/>
                </a:solidFill>
              </a:rPr>
              <a:t>識別字</a:t>
            </a:r>
            <a:r>
              <a:rPr lang="zh-TW" altLang="zh-TW" dirty="0"/>
              <a:t>，就可以取出其中的資料，方法如下：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form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forms.ContactForm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32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request.POST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 </a:t>
            </a:r>
            <a:r>
              <a:rPr lang="en-US" altLang="zh-TW" sz="2200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zh-TW" altLang="en-US" sz="2200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注意括號內要有</a:t>
            </a:r>
            <a:r>
              <a:rPr lang="en-US" altLang="zh-TW" sz="2200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2200" b="1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if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form.is_valid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message = "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感謝您的來信。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user_name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form.cleaned_data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user_name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user_city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form.cleaned_data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user_city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user_school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form.cleaned_data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user_school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user_email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=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form.cleaned_data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user_email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user_message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form.cleaned_data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user_message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else: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message = "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請檢查您輸入的資訊是否正確！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02474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資料接收與欄位的驗證方法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zh-TW" dirty="0"/>
              <a:t>拿到的資料直接顯示在網頁上的方法如下面這段程式碼：</a:t>
            </a:r>
          </a:p>
          <a:p>
            <a:pPr marL="274320" lvl="1" indent="0">
              <a:buNone/>
            </a:pPr>
            <a:r>
              <a:rPr lang="en-US" altLang="zh-TW" dirty="0"/>
              <a:t>    {% if message %}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    &lt;div class='alert alert-warning'&gt;</a:t>
            </a:r>
          </a:p>
          <a:p>
            <a:pPr marL="274320" lvl="1" indent="0">
              <a:buNone/>
            </a:pPr>
            <a:r>
              <a:rPr lang="en-US" altLang="zh-TW" dirty="0"/>
              <a:t>            {{ message }}</a:t>
            </a: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        </a:t>
            </a:r>
            <a:r>
              <a:rPr lang="en-US" altLang="zh-TW" dirty="0">
                <a:solidFill>
                  <a:schemeClr val="tx1"/>
                </a:solidFill>
              </a:rPr>
              <a:t>&lt;/div&gt;</a:t>
            </a:r>
            <a:endParaRPr lang="zh-TW" altLang="zh-TW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        {{ </a:t>
            </a:r>
            <a:r>
              <a:rPr lang="en-US" altLang="zh-TW" dirty="0" err="1">
                <a:solidFill>
                  <a:srgbClr val="FF0000"/>
                </a:solidFill>
              </a:rPr>
              <a:t>user_name</a:t>
            </a:r>
            <a:r>
              <a:rPr lang="en-US" altLang="zh-TW" dirty="0">
                <a:solidFill>
                  <a:srgbClr val="FF0000"/>
                </a:solidFill>
              </a:rPr>
              <a:t> }}&lt;</a:t>
            </a:r>
            <a:r>
              <a:rPr lang="en-US" altLang="zh-TW" dirty="0" err="1">
                <a:solidFill>
                  <a:srgbClr val="FF0000"/>
                </a:solidFill>
              </a:rPr>
              <a:t>br</a:t>
            </a:r>
            <a:r>
              <a:rPr lang="en-US" altLang="zh-TW" dirty="0">
                <a:solidFill>
                  <a:srgbClr val="FF0000"/>
                </a:solidFill>
              </a:rPr>
              <a:t>/&gt;</a:t>
            </a:r>
            <a:endParaRPr lang="zh-TW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        {{ </a:t>
            </a:r>
            <a:r>
              <a:rPr lang="en-US" altLang="zh-TW" dirty="0" err="1">
                <a:solidFill>
                  <a:srgbClr val="FF0000"/>
                </a:solidFill>
              </a:rPr>
              <a:t>user_city</a:t>
            </a:r>
            <a:r>
              <a:rPr lang="en-US" altLang="zh-TW" dirty="0">
                <a:solidFill>
                  <a:srgbClr val="FF0000"/>
                </a:solidFill>
              </a:rPr>
              <a:t> }}&lt;</a:t>
            </a:r>
            <a:r>
              <a:rPr lang="en-US" altLang="zh-TW" dirty="0" err="1">
                <a:solidFill>
                  <a:srgbClr val="FF0000"/>
                </a:solidFill>
              </a:rPr>
              <a:t>br</a:t>
            </a:r>
            <a:r>
              <a:rPr lang="en-US" altLang="zh-TW" dirty="0">
                <a:solidFill>
                  <a:srgbClr val="FF0000"/>
                </a:solidFill>
              </a:rPr>
              <a:t>/&gt;</a:t>
            </a:r>
            <a:endParaRPr lang="zh-TW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        {{ </a:t>
            </a:r>
            <a:r>
              <a:rPr lang="en-US" altLang="zh-TW" dirty="0" err="1">
                <a:solidFill>
                  <a:srgbClr val="FF0000"/>
                </a:solidFill>
              </a:rPr>
              <a:t>user_school</a:t>
            </a:r>
            <a:r>
              <a:rPr lang="en-US" altLang="zh-TW" dirty="0">
                <a:solidFill>
                  <a:srgbClr val="FF0000"/>
                </a:solidFill>
              </a:rPr>
              <a:t> }}&lt;</a:t>
            </a:r>
            <a:r>
              <a:rPr lang="en-US" altLang="zh-TW" dirty="0" err="1">
                <a:solidFill>
                  <a:srgbClr val="FF0000"/>
                </a:solidFill>
              </a:rPr>
              <a:t>br</a:t>
            </a:r>
            <a:r>
              <a:rPr lang="en-US" altLang="zh-TW" dirty="0">
                <a:solidFill>
                  <a:srgbClr val="FF0000"/>
                </a:solidFill>
              </a:rPr>
              <a:t>/&gt;</a:t>
            </a:r>
            <a:endParaRPr lang="zh-TW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        {{ </a:t>
            </a:r>
            <a:r>
              <a:rPr lang="en-US" altLang="zh-TW" dirty="0" err="1">
                <a:solidFill>
                  <a:srgbClr val="FF0000"/>
                </a:solidFill>
              </a:rPr>
              <a:t>user_email</a:t>
            </a:r>
            <a:r>
              <a:rPr lang="en-US" altLang="zh-TW" dirty="0">
                <a:solidFill>
                  <a:srgbClr val="FF0000"/>
                </a:solidFill>
              </a:rPr>
              <a:t> }}&lt;</a:t>
            </a:r>
            <a:r>
              <a:rPr lang="en-US" altLang="zh-TW" dirty="0" err="1">
                <a:solidFill>
                  <a:srgbClr val="FF0000"/>
                </a:solidFill>
              </a:rPr>
              <a:t>br</a:t>
            </a:r>
            <a:r>
              <a:rPr lang="en-US" altLang="zh-TW" dirty="0">
                <a:solidFill>
                  <a:srgbClr val="FF0000"/>
                </a:solidFill>
              </a:rPr>
              <a:t>/&gt;</a:t>
            </a:r>
            <a:endParaRPr lang="zh-TW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        {{ </a:t>
            </a:r>
            <a:r>
              <a:rPr lang="en-US" altLang="zh-TW" dirty="0" err="1">
                <a:solidFill>
                  <a:srgbClr val="FF0000"/>
                </a:solidFill>
              </a:rPr>
              <a:t>user_message</a:t>
            </a:r>
            <a:r>
              <a:rPr lang="en-US" altLang="zh-TW" dirty="0">
                <a:solidFill>
                  <a:srgbClr val="FF0000"/>
                </a:solidFill>
              </a:rPr>
              <a:t> | </a:t>
            </a:r>
            <a:r>
              <a:rPr lang="en-US" altLang="zh-TW" dirty="0" err="1">
                <a:solidFill>
                  <a:srgbClr val="FF0000"/>
                </a:solidFill>
              </a:rPr>
              <a:t>linebreaks</a:t>
            </a:r>
            <a:r>
              <a:rPr lang="en-US" altLang="zh-TW" dirty="0">
                <a:solidFill>
                  <a:srgbClr val="FF0000"/>
                </a:solidFill>
              </a:rPr>
              <a:t> }}&lt;</a:t>
            </a:r>
            <a:r>
              <a:rPr lang="en-US" altLang="zh-TW" dirty="0" err="1">
                <a:solidFill>
                  <a:srgbClr val="FF0000"/>
                </a:solidFill>
              </a:rPr>
              <a:t>br</a:t>
            </a:r>
            <a:r>
              <a:rPr lang="en-US" altLang="zh-TW" dirty="0">
                <a:solidFill>
                  <a:srgbClr val="FF0000"/>
                </a:solidFill>
              </a:rPr>
              <a:t>/&gt;</a:t>
            </a:r>
            <a:endParaRPr lang="zh-TW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dirty="0"/>
              <a:t>    {% endif %}</a:t>
            </a: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27805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資料接收與欄位的驗證方法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顯示表單中的資料</a:t>
            </a:r>
            <a:endParaRPr lang="zh-TW" altLang="en-US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xmlns="" id="{FE5FB539-8342-3C06-7737-DCDDB6F78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344" y="1980812"/>
            <a:ext cx="6192688" cy="463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219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利用第三方服務郵寄電子郵件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本小節就以</a:t>
            </a:r>
            <a:r>
              <a:rPr lang="en-US" altLang="zh-TW" dirty="0"/>
              <a:t>Gmail</a:t>
            </a:r>
            <a:r>
              <a:rPr lang="zh-TW" altLang="zh-TW" dirty="0"/>
              <a:t>為例，說明如何在</a:t>
            </a:r>
            <a:r>
              <a:rPr lang="en-US" altLang="zh-TW" dirty="0"/>
              <a:t>Django</a:t>
            </a:r>
            <a:r>
              <a:rPr lang="zh-TW" altLang="zh-TW" dirty="0"/>
              <a:t>網站中使用郵件寄送服務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C35F6B93-8FC9-8C17-466D-7EF408801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90" y="2624336"/>
            <a:ext cx="2774458" cy="4005064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xmlns="" id="{34D4346E-CCA4-4ECC-FC9B-320833FAE919}"/>
              </a:ext>
            </a:extLst>
          </p:cNvPr>
          <p:cNvCxnSpPr/>
          <p:nvPr/>
        </p:nvCxnSpPr>
        <p:spPr>
          <a:xfrm>
            <a:off x="6272" y="5844217"/>
            <a:ext cx="720080" cy="4320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xmlns="" id="{B37DFB07-360E-8056-8C35-8656F82160F6}"/>
              </a:ext>
            </a:extLst>
          </p:cNvPr>
          <p:cNvCxnSpPr>
            <a:cxnSpLocks/>
          </p:cNvCxnSpPr>
          <p:nvPr/>
        </p:nvCxnSpPr>
        <p:spPr>
          <a:xfrm flipH="1">
            <a:off x="3115856" y="2348880"/>
            <a:ext cx="544830" cy="4072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>
            <a:extLst>
              <a:ext uri="{FF2B5EF4-FFF2-40B4-BE49-F238E27FC236}">
                <a16:creationId xmlns:a16="http://schemas.microsoft.com/office/drawing/2014/main" xmlns="" id="{27121229-DA61-5801-935E-3BCF3797F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4447375"/>
            <a:ext cx="3099605" cy="1602105"/>
          </a:xfrm>
          <a:prstGeom prst="rect">
            <a:avLst/>
          </a:prstGeom>
        </p:spPr>
      </p:pic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xmlns="" id="{5E614439-8404-6F16-80B3-D72D8BA95540}"/>
              </a:ext>
            </a:extLst>
          </p:cNvPr>
          <p:cNvCxnSpPr>
            <a:cxnSpLocks/>
          </p:cNvCxnSpPr>
          <p:nvPr/>
        </p:nvCxnSpPr>
        <p:spPr>
          <a:xfrm flipH="1">
            <a:off x="5330653" y="4923695"/>
            <a:ext cx="544830" cy="4072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0638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115180-21AA-4B71-C198-A9463CC3A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3FC4678-4B4D-8ED6-8337-4BF87737D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利用第三方服務郵寄電子郵件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047DFC91-4BAD-FC8E-A978-CB62863F7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68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DA799BB6-9628-4FEB-6F9B-0040892DAB0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本小節</a:t>
            </a:r>
            <a:r>
              <a:rPr lang="zh-TW" altLang="zh-TW"/>
              <a:t>就以</a:t>
            </a:r>
            <a:r>
              <a:rPr lang="en-US" altLang="zh-TW"/>
              <a:t>Gmail</a:t>
            </a:r>
            <a:r>
              <a:rPr lang="zh-TW" altLang="zh-TW"/>
              <a:t>為</a:t>
            </a:r>
            <a:r>
              <a:rPr lang="zh-TW" altLang="zh-TW" dirty="0"/>
              <a:t>例，說明如何在</a:t>
            </a:r>
            <a:r>
              <a:rPr lang="en-US" altLang="zh-TW" dirty="0"/>
              <a:t>Django</a:t>
            </a:r>
            <a:r>
              <a:rPr lang="zh-TW" altLang="zh-TW" dirty="0"/>
              <a:t>網站</a:t>
            </a:r>
            <a:r>
              <a:rPr lang="zh-TW" altLang="zh-TW"/>
              <a:t>中使用郵件</a:t>
            </a:r>
            <a:r>
              <a:rPr lang="zh-TW" altLang="zh-TW" dirty="0"/>
              <a:t>寄送服務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C48A0476-574A-89C5-E76E-1A5D8E8F9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617977"/>
            <a:ext cx="7344816" cy="348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09450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Gmail</a:t>
            </a:r>
            <a:r>
              <a:rPr lang="zh-TW" altLang="en-US"/>
              <a:t>寄件設定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69</a:t>
            </a:fld>
            <a:endParaRPr lang="zh-TW" altLang="en-US"/>
          </a:p>
        </p:txBody>
      </p:sp>
      <p:pic>
        <p:nvPicPr>
          <p:cNvPr id="6" name="內容版面配置區 5" descr="一張含有 文字 的圖片&#10;&#10;自動產生的描述">
            <a:extLst>
              <a:ext uri="{FF2B5EF4-FFF2-40B4-BE49-F238E27FC236}">
                <a16:creationId xmlns:a16="http://schemas.microsoft.com/office/drawing/2014/main" xmlns="" id="{AE7E116B-A4B0-C6E3-EED2-FF8FA9E0A2D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79512" y="1463058"/>
            <a:ext cx="4525466" cy="1965942"/>
          </a:xfrm>
          <a:prstGeom prst="rect">
            <a:avLst/>
          </a:prstGeom>
        </p:spPr>
      </p:pic>
      <p:pic>
        <p:nvPicPr>
          <p:cNvPr id="7" name="圖片 6" descr="一張含有 文字 的圖片&#10;&#10;自動產生的描述">
            <a:extLst>
              <a:ext uri="{FF2B5EF4-FFF2-40B4-BE49-F238E27FC236}">
                <a16:creationId xmlns:a16="http://schemas.microsoft.com/office/drawing/2014/main" xmlns="" id="{04299C34-E8D5-593A-315E-7AD122546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948" y="3343279"/>
            <a:ext cx="5432755" cy="328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9285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Gmail</a:t>
            </a:r>
            <a:r>
              <a:rPr lang="zh-TW" altLang="en-US"/>
              <a:t>寄件設定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70</a:t>
            </a:fld>
            <a:endParaRPr lang="zh-TW" altLang="en-US"/>
          </a:p>
        </p:txBody>
      </p:sp>
      <p:pic>
        <p:nvPicPr>
          <p:cNvPr id="8" name="內容版面配置區 7" descr="一張含有 文字 的圖片&#10;&#10;自動產生的描述">
            <a:extLst>
              <a:ext uri="{FF2B5EF4-FFF2-40B4-BE49-F238E27FC236}">
                <a16:creationId xmlns:a16="http://schemas.microsoft.com/office/drawing/2014/main" xmlns="" id="{A6FA5205-ADCA-EC4A-75E0-BE903F03988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79512" y="1412776"/>
            <a:ext cx="4539104" cy="247313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F872F504-CC99-9827-F991-4A15081F0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3580396"/>
            <a:ext cx="4608512" cy="3049004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4065382"/>
            <a:ext cx="2809989" cy="207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7932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利用第三方服務郵寄電子郵件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71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zh-TW" altLang="zh-TW" dirty="0"/>
              <a:t>到</a:t>
            </a:r>
            <a:r>
              <a:rPr lang="en-US" altLang="zh-TW" dirty="0"/>
              <a:t>settings.py</a:t>
            </a:r>
            <a:r>
              <a:rPr lang="zh-TW" altLang="zh-TW" dirty="0"/>
              <a:t>中做好設定才能夠啟用此功能</a:t>
            </a:r>
            <a:r>
              <a:rPr lang="zh-TW" altLang="en-US" dirty="0"/>
              <a:t>：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EMAIL_BACKEND = "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django.core.mail.backends.smtp.EmailBackend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EMAIL_HOST = "smtp.gmail.com"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EMAIL_PORT = 587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EMAIL_USE_TLS = True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EMAIL_HOST_USER = "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你的電子郵件帳號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EMAIL_HOST_PASSWORD = "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剛剛申請到的應用程式密碼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19128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利用第三方服務郵寄電子郵件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zh-TW" dirty="0"/>
              <a:t>在</a:t>
            </a:r>
            <a:r>
              <a:rPr lang="en-US" altLang="zh-TW" dirty="0"/>
              <a:t>views.py</a:t>
            </a:r>
            <a:r>
              <a:rPr lang="zh-TW" altLang="zh-TW" dirty="0"/>
              <a:t>中引入以下的模組：</a:t>
            </a: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from </a:t>
            </a:r>
            <a:r>
              <a:rPr lang="en-US" altLang="zh-TW" dirty="0" err="1">
                <a:solidFill>
                  <a:srgbClr val="FF0000"/>
                </a:solidFill>
              </a:rPr>
              <a:t>django.core.mail</a:t>
            </a:r>
            <a:r>
              <a:rPr lang="en-US" altLang="zh-TW" dirty="0">
                <a:solidFill>
                  <a:srgbClr val="FF0000"/>
                </a:solidFill>
              </a:rPr>
              <a:t> import </a:t>
            </a:r>
            <a:r>
              <a:rPr lang="en-US" altLang="zh-TW" dirty="0" err="1">
                <a:solidFill>
                  <a:srgbClr val="FF0000"/>
                </a:solidFill>
              </a:rPr>
              <a:t>EmailMessage</a:t>
            </a:r>
            <a:endParaRPr lang="en-US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from </a:t>
            </a:r>
            <a:r>
              <a:rPr lang="en-US" altLang="zh-TW" dirty="0" err="1">
                <a:solidFill>
                  <a:srgbClr val="FF0000"/>
                </a:solidFill>
              </a:rPr>
              <a:t>django.conf</a:t>
            </a:r>
            <a:r>
              <a:rPr lang="en-US" altLang="zh-TW" dirty="0">
                <a:solidFill>
                  <a:srgbClr val="FF0000"/>
                </a:solidFill>
              </a:rPr>
              <a:t> import settings</a:t>
            </a:r>
          </a:p>
          <a:p>
            <a:r>
              <a:rPr lang="en-US" altLang="zh-TW" dirty="0" err="1"/>
              <a:t>views.contact</a:t>
            </a:r>
            <a:r>
              <a:rPr lang="zh-TW" altLang="zh-TW" dirty="0"/>
              <a:t>中改寫如下：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 contact(request):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if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request.method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== 'POST':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form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forms.ContactForm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request.POST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if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form.is_valid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message = "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感謝您的來信，我們會儘速處理您的寶貴意見。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user_name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form.cleaned_data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user_name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user_city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form.cleaned_data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user_city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user_school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form.cleaned_data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user_school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user_email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form.cleaned_data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user_email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user_message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form.cleaned_data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user_message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1166900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利用第三方服務郵寄電子郵件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499829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mail_body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u'''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網友姓名：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{}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居住城市：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{}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是否在學：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{}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電子郵件：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{}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反應意見：如下</a:t>
            </a: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{}'''.format(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user_name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user_city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user_school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user_email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user_message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email =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EmailMessage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   '</a:t>
            </a:r>
            <a:r>
              <a:rPr lang="zh-TW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來自【不吐不快】網站的網友意見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', 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                   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mail_body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                    EMAIL_HOST_USER,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                    [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user_email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])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email.send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else: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message = "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請檢查您輸入的資訊是否正確！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else:</a:t>
            </a:r>
            <a:endParaRPr lang="zh-TW" altLang="zh-TW" sz="1800" b="1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form = </a:t>
            </a:r>
            <a:r>
              <a:rPr lang="en-US" altLang="zh-TW" sz="1800" b="1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forms.ContactForm</a:t>
            </a:r>
            <a:r>
              <a:rPr lang="en-US" altLang="zh-TW" sz="1800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1800" b="1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return render(request, 'contact.html', locals())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zh-TW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672311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利用第三方服務郵寄電子郵件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張貼訊息的功能</a:t>
            </a:r>
            <a:endParaRPr lang="zh-TW" altLang="en-US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xmlns="" id="{6FB2B111-465D-4377-CDF2-6FCA6DEA6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167127"/>
            <a:ext cx="5904656" cy="428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0649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利用第三方服務郵寄電子郵件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寄信成功的網頁畫面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26E28F7D-706B-7BED-146F-DC4E7225A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009574"/>
            <a:ext cx="5688632" cy="462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4268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利用第三方服務郵寄電子郵件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收到的信件內容</a:t>
            </a:r>
            <a:endParaRPr lang="zh-TW" altLang="en-US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xmlns="" id="{99FD7795-0604-6785-D62C-57E303BEE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2299347"/>
            <a:ext cx="5021780" cy="379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93589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模型表單類別</a:t>
            </a:r>
            <a:r>
              <a:rPr lang="en-US" altLang="zh-TW" dirty="0" err="1"/>
              <a:t>ModelForm</a:t>
            </a:r>
            <a:r>
              <a:rPr lang="zh-TW" altLang="zh-TW" dirty="0"/>
              <a:t>的應用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如果網站是屬於資料庫為主的網站，也已經建立了資料模型</a:t>
            </a:r>
            <a:r>
              <a:rPr lang="en-US" altLang="zh-TW" dirty="0"/>
              <a:t>Model</a:t>
            </a:r>
            <a:r>
              <a:rPr lang="zh-TW" altLang="zh-TW"/>
              <a:t>的話，可以</a:t>
            </a:r>
            <a:r>
              <a:rPr lang="zh-TW" altLang="zh-TW" dirty="0"/>
              <a:t>直接整合</a:t>
            </a:r>
            <a:r>
              <a:rPr lang="en-US" altLang="zh-TW" dirty="0"/>
              <a:t>Model</a:t>
            </a:r>
            <a:r>
              <a:rPr lang="zh-TW" altLang="zh-TW" dirty="0"/>
              <a:t>和</a:t>
            </a:r>
            <a:r>
              <a:rPr lang="en-US" altLang="zh-TW" dirty="0"/>
              <a:t>Form</a:t>
            </a:r>
            <a:r>
              <a:rPr lang="zh-TW" altLang="zh-TW" dirty="0"/>
              <a:t>的表單就是最佳的</a:t>
            </a:r>
            <a:r>
              <a:rPr lang="zh-TW" altLang="zh-TW"/>
              <a:t>選擇。</a:t>
            </a:r>
            <a:endParaRPr lang="en-US" altLang="zh-TW"/>
          </a:p>
          <a:p>
            <a:r>
              <a:rPr lang="zh-TW" altLang="zh-TW"/>
              <a:t>直接</a:t>
            </a:r>
            <a:r>
              <a:rPr lang="zh-TW" altLang="zh-TW" dirty="0"/>
              <a:t>在表單中套用在</a:t>
            </a:r>
            <a:r>
              <a:rPr lang="en-US" altLang="zh-TW" dirty="0"/>
              <a:t>Model</a:t>
            </a:r>
            <a:r>
              <a:rPr lang="zh-TW" altLang="zh-TW" dirty="0"/>
              <a:t>中定義好的欄位在表單上，還可以決定要保留那些欄位，非常實用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3867022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ModelForm</a:t>
            </a:r>
            <a:r>
              <a:rPr lang="zh-TW" altLang="zh-TW" dirty="0"/>
              <a:t>的使用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78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854280"/>
          </a:xfrm>
        </p:spPr>
        <p:txBody>
          <a:bodyPr>
            <a:normAutofit/>
          </a:bodyPr>
          <a:lstStyle/>
          <a:p>
            <a:r>
              <a:rPr lang="zh-TW" altLang="zh-TW" dirty="0"/>
              <a:t>為了方便比較，另外創建了一個</a:t>
            </a:r>
            <a:r>
              <a:rPr lang="en-US" altLang="zh-TW" dirty="0"/>
              <a:t>post2db</a:t>
            </a:r>
            <a:r>
              <a:rPr lang="zh-TW" altLang="zh-TW" dirty="0"/>
              <a:t>的網址（修改</a:t>
            </a:r>
            <a:r>
              <a:rPr lang="en-US" altLang="zh-TW" dirty="0"/>
              <a:t>urls.py</a:t>
            </a:r>
            <a:r>
              <a:rPr lang="zh-TW" altLang="zh-TW" dirty="0"/>
              <a:t>），以及</a:t>
            </a:r>
            <a:r>
              <a:rPr lang="en-US" altLang="zh-TW" dirty="0"/>
              <a:t>post2db.html</a:t>
            </a:r>
            <a:r>
              <a:rPr lang="zh-TW" altLang="zh-TW" dirty="0"/>
              <a:t>和</a:t>
            </a:r>
            <a:r>
              <a:rPr lang="en-US" altLang="zh-TW" dirty="0"/>
              <a:t>views.post2db</a:t>
            </a:r>
            <a:r>
              <a:rPr lang="zh-TW" altLang="zh-TW" dirty="0"/>
              <a:t>函數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path('post2db/', views.post2db),</a:t>
            </a:r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header.html</a:t>
            </a:r>
            <a:r>
              <a:rPr lang="zh-TW" altLang="en-US" dirty="0"/>
              <a:t>中加入以下的連結：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&lt;a class="nav-link"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href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="/post2db/"&gt;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張貼訊息（僅表單）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&lt;/a&gt;</a:t>
            </a:r>
            <a:endParaRPr lang="en-US" altLang="zh-TW" dirty="0"/>
          </a:p>
          <a:p>
            <a:r>
              <a:rPr lang="zh-TW" altLang="zh-TW" dirty="0"/>
              <a:t>在</a:t>
            </a:r>
            <a:r>
              <a:rPr lang="en-US" altLang="zh-TW" dirty="0">
                <a:solidFill>
                  <a:srgbClr val="FF0000"/>
                </a:solidFill>
              </a:rPr>
              <a:t>forms.py</a:t>
            </a:r>
            <a:r>
              <a:rPr lang="zh-TW" altLang="zh-TW" dirty="0"/>
              <a:t>中加入</a:t>
            </a:r>
            <a:r>
              <a:rPr lang="en-US" altLang="zh-TW" dirty="0" err="1"/>
              <a:t>PostForm</a:t>
            </a:r>
            <a:r>
              <a:rPr lang="zh-TW" altLang="zh-TW" dirty="0"/>
              <a:t>這個類別，繼承自</a:t>
            </a:r>
            <a:r>
              <a:rPr lang="en-US" altLang="zh-TW" dirty="0" err="1"/>
              <a:t>ModelForm</a:t>
            </a:r>
            <a:r>
              <a:rPr lang="zh-TW" altLang="zh-TW" dirty="0"/>
              <a:t>，如下</a:t>
            </a:r>
            <a:r>
              <a:rPr lang="zh-TW" altLang="en-US" dirty="0"/>
              <a:t>頁</a:t>
            </a:r>
            <a:r>
              <a:rPr lang="zh-TW" altLang="zh-TW" dirty="0"/>
              <a:t>所示</a:t>
            </a:r>
            <a:r>
              <a:rPr lang="zh-TW" altLang="en-US" dirty="0"/>
              <a:t>。</a:t>
            </a: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3288186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/>
              <a:t>ModelForm</a:t>
            </a:r>
            <a:r>
              <a:rPr lang="zh-TW" altLang="zh-TW" dirty="0"/>
              <a:t>的使用</a:t>
            </a:r>
            <a:r>
              <a:rPr lang="en-US" altLang="zh-TW" dirty="0"/>
              <a:t>(</a:t>
            </a:r>
            <a:r>
              <a:rPr lang="zh-TW" altLang="en-US" dirty="0"/>
              <a:t>結合現有的</a:t>
            </a:r>
            <a:r>
              <a:rPr lang="en-US" altLang="zh-TW" dirty="0">
                <a:solidFill>
                  <a:srgbClr val="FF0000"/>
                </a:solidFill>
              </a:rPr>
              <a:t>model)forms.py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400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400" b="1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mysite</a:t>
            </a:r>
            <a:r>
              <a:rPr lang="en-US" altLang="zh-TW" sz="2400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models</a:t>
            </a:r>
          </a:p>
          <a:p>
            <a:pPr marL="0" indent="0">
              <a:buNone/>
            </a:pPr>
            <a:endParaRPr lang="en-US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class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class Meta: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models.Post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#</a:t>
            </a:r>
            <a:r>
              <a:rPr lang="zh-TW" alt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參照</a:t>
            </a:r>
            <a:r>
              <a:rPr lang="en-US" altLang="zh-TW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models.Post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fields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['mood', 'nickname', 'message', 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del_pass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’]</a:t>
            </a:r>
            <a:endParaRPr lang="en-US" altLang="zh-TW" sz="1800" kern="100" dirty="0"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def __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init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__(self, *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args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**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kwargs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super(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self).__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init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__(*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args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**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kwargs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self.fields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['mood'].label = 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現在心情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self.fields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['nickname'].label = 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你的暱稱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self.fields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['message'].label = 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心情留言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self.fields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del_pass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'].label = 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設定密碼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274320" lvl="1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71793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ModelForm</a:t>
            </a:r>
            <a:r>
              <a:rPr lang="zh-TW" altLang="zh-TW" dirty="0"/>
              <a:t>的使用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80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在</a:t>
            </a:r>
            <a:r>
              <a:rPr lang="en-US" altLang="zh-TW" dirty="0"/>
              <a:t>views.post2db</a:t>
            </a:r>
            <a:r>
              <a:rPr lang="zh-TW" altLang="zh-TW" dirty="0"/>
              <a:t>的程式內容中，先設計為如下（暫時還不處理回應的表單內容，單純就顯示的部份）：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 post2db(request):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post_form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forms.PostForm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moods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models.Mood.objects.all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message = 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如要張貼訊息，則每一個欄位都要填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...'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return render(request, 'post2db.html', locals())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768219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506784-BA06-32A6-0DB7-164AEB113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177BFEE-014D-A175-943E-AA9674C19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建立本堂課範例網站的資料模型</a:t>
            </a:r>
            <a:r>
              <a:rPr lang="en-US" altLang="zh-TW" dirty="0"/>
              <a:t>(</a:t>
            </a:r>
            <a:r>
              <a:rPr lang="zh-TW" altLang="en-US" dirty="0"/>
              <a:t>之前已建立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62090B70-26D5-E1DC-F005-1DFF7CF48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81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D0720850-6F9D-8F79-B4F2-517807C9B72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5330952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models.py</a:t>
            </a:r>
            <a:r>
              <a:rPr lang="zh-TW" altLang="zh-TW" dirty="0"/>
              <a:t>的內容如下所示：</a:t>
            </a: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django.db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models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class Mood(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models.Model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):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status =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models.CharField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max_length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=10, null=False)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def __str__(self):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return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self.status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class Post(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models.Model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):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mood =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models.ForeignKey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('Mood',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on_delete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models.CASCADE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nickname =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models.CharField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max_length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=10, default='</a:t>
            </a:r>
            <a:r>
              <a:rPr lang="zh-TW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不願意透漏身份的人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')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message =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models.TextField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(null=False)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del_pass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models.CharField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max_length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=10)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pub_time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models.DateTimeField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auto_now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=True)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enabled =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models.BooleanField</a:t>
            </a: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(default=False)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def __str__(self):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5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return </a:t>
            </a:r>
            <a:r>
              <a:rPr lang="en-US" altLang="zh-TW" sz="15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self.message</a:t>
            </a:r>
            <a:endParaRPr lang="zh-TW" altLang="zh-TW" sz="15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053794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/>
              <a:t>ModelForm</a:t>
            </a:r>
            <a:r>
              <a:rPr lang="zh-TW" altLang="zh-TW" dirty="0"/>
              <a:t>的使用</a:t>
            </a:r>
            <a:r>
              <a:rPr lang="en-US" altLang="zh-TW" dirty="0"/>
              <a:t>(</a:t>
            </a:r>
            <a:r>
              <a:rPr lang="zh-TW" altLang="en-US" dirty="0"/>
              <a:t>注意：若是用</a:t>
            </a:r>
            <a:r>
              <a:rPr lang="en-US" altLang="zh-TW" dirty="0"/>
              <a:t>post2db URL</a:t>
            </a:r>
            <a:r>
              <a:rPr lang="zh-TW" altLang="en-US" dirty="0"/>
              <a:t>，</a:t>
            </a:r>
            <a:r>
              <a:rPr lang="en-US" altLang="zh-TW" sz="3600" kern="100" dirty="0"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3600" kern="100" dirty="0">
                <a:solidFill>
                  <a:srgbClr val="FF0000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action='</a:t>
            </a:r>
            <a:r>
              <a:rPr lang="en-US" altLang="zh-TW" dirty="0">
                <a:solidFill>
                  <a:srgbClr val="FF0000"/>
                </a:solidFill>
              </a:rPr>
              <a:t> /post2db/</a:t>
            </a:r>
            <a:r>
              <a:rPr lang="en-US" altLang="zh-TW" sz="3600" kern="100" dirty="0">
                <a:solidFill>
                  <a:srgbClr val="FF0000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' 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82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99829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post2db.html</a:t>
            </a:r>
            <a:r>
              <a:rPr lang="zh-TW" altLang="zh-TW" dirty="0"/>
              <a:t>，程式如下所示：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&lt;!-- post2db.html (dj4ch08 project) --&gt;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extends "base.html"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block title %}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我有話要說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endblock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block content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&lt;div class='container'&gt;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if message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&lt;div class='alert alert-warning'&gt;{{ message }}&lt;/div&gt;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endif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7630998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/>
              <a:t>ModelForm</a:t>
            </a:r>
            <a:r>
              <a:rPr lang="zh-TW" altLang="zh-TW" dirty="0"/>
              <a:t>的使用</a:t>
            </a:r>
            <a:r>
              <a:rPr lang="en-US" altLang="zh-TW" dirty="0"/>
              <a:t>(</a:t>
            </a:r>
            <a:r>
              <a:rPr lang="zh-TW" altLang="en-US" dirty="0"/>
              <a:t>注意：若是用</a:t>
            </a:r>
            <a:r>
              <a:rPr lang="en-US" altLang="zh-TW" dirty="0"/>
              <a:t>post2db URL</a:t>
            </a:r>
            <a:r>
              <a:rPr lang="zh-TW" altLang="en-US" dirty="0"/>
              <a:t>，</a:t>
            </a:r>
            <a:r>
              <a:rPr lang="en-US" altLang="zh-TW" sz="3600" kern="100" dirty="0"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3600" kern="100" dirty="0">
                <a:solidFill>
                  <a:srgbClr val="FF0000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action='</a:t>
            </a:r>
            <a:r>
              <a:rPr lang="en-US" altLang="zh-TW" dirty="0">
                <a:solidFill>
                  <a:srgbClr val="FF0000"/>
                </a:solidFill>
              </a:rPr>
              <a:t> /post2db/</a:t>
            </a:r>
            <a:r>
              <a:rPr lang="en-US" altLang="zh-TW" sz="3600" kern="100" dirty="0">
                <a:solidFill>
                  <a:srgbClr val="FF0000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'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83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&lt;form name='my form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 action='.' 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method='POST'&gt;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{%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csrf_token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&lt;table&gt;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{{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post_form.as_table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}}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&lt;/table&gt;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type='submit' value='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張貼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type='reset' value='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清除重填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&lt;/form&gt;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endblock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en-US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088427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/>
              <a:t>ModelForm</a:t>
            </a:r>
            <a:r>
              <a:rPr lang="zh-TW" altLang="zh-TW" dirty="0"/>
              <a:t>的使用</a:t>
            </a:r>
            <a:r>
              <a:rPr lang="en-US" altLang="zh-TW" dirty="0"/>
              <a:t>(</a:t>
            </a:r>
            <a:r>
              <a:rPr lang="zh-TW" altLang="en-US" dirty="0"/>
              <a:t>右邊是之前傳統表單方式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84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使用</a:t>
            </a:r>
            <a:r>
              <a:rPr lang="en-US" altLang="zh-TW" dirty="0" err="1"/>
              <a:t>ModelForm</a:t>
            </a:r>
            <a:r>
              <a:rPr lang="zh-TW" altLang="zh-TW" dirty="0"/>
              <a:t>表單所顯示的網頁內容</a:t>
            </a:r>
            <a:r>
              <a:rPr lang="en-US" altLang="zh-TW" dirty="0"/>
              <a:t>(</a:t>
            </a:r>
            <a:r>
              <a:rPr lang="zh-TW" altLang="en-US" dirty="0"/>
              <a:t>左邊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xmlns="" id="{2882C539-CDB2-A60A-3943-44973DC270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558"/>
          <a:stretch>
            <a:fillRect/>
          </a:stretch>
        </p:blipFill>
        <p:spPr>
          <a:xfrm>
            <a:off x="827584" y="1988840"/>
            <a:ext cx="3353512" cy="454328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57D8D042-64B6-E8A6-8A67-11CBDF5D22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6775"/>
          <a:stretch>
            <a:fillRect/>
          </a:stretch>
        </p:blipFill>
        <p:spPr>
          <a:xfrm>
            <a:off x="5170386" y="2081436"/>
            <a:ext cx="3961535" cy="401761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xmlns="" id="{4784C3B3-7319-0255-EFC9-D05922E8A009}"/>
              </a:ext>
            </a:extLst>
          </p:cNvPr>
          <p:cNvSpPr/>
          <p:nvPr/>
        </p:nvSpPr>
        <p:spPr>
          <a:xfrm>
            <a:off x="899592" y="3284984"/>
            <a:ext cx="1296144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A992EDB5-8577-A961-0FCD-8F80BC6FED38}"/>
              </a:ext>
            </a:extLst>
          </p:cNvPr>
          <p:cNvSpPr/>
          <p:nvPr/>
        </p:nvSpPr>
        <p:spPr>
          <a:xfrm>
            <a:off x="5292080" y="3527422"/>
            <a:ext cx="3240360" cy="4056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49582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透過</a:t>
            </a:r>
            <a:r>
              <a:rPr lang="en-US" altLang="zh-TW" dirty="0" err="1"/>
              <a:t>ModelForm</a:t>
            </a:r>
            <a:r>
              <a:rPr lang="zh-TW" altLang="zh-TW" dirty="0"/>
              <a:t>產生的表單儲存資料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85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734744" cy="5330952"/>
          </a:xfrm>
        </p:spPr>
        <p:txBody>
          <a:bodyPr>
            <a:normAutofit/>
          </a:bodyPr>
          <a:lstStyle/>
          <a:p>
            <a:r>
              <a:rPr lang="zh-TW" altLang="zh-TW" dirty="0"/>
              <a:t>要儲存資料</a:t>
            </a:r>
            <a:r>
              <a:rPr lang="zh-TW" altLang="en-US" dirty="0"/>
              <a:t>時</a:t>
            </a:r>
            <a:r>
              <a:rPr lang="zh-TW" altLang="en-US" sz="2800" dirty="0"/>
              <a:t>，</a:t>
            </a:r>
            <a:r>
              <a:rPr lang="zh-TW" altLang="zh-TW" sz="2400" dirty="0"/>
              <a:t>先檢查輸入的部份，再檢查正確性，最後再以</a:t>
            </a:r>
            <a:r>
              <a:rPr lang="en-US" altLang="zh-TW" sz="2400" dirty="0"/>
              <a:t>save()</a:t>
            </a:r>
            <a:r>
              <a:rPr lang="zh-TW" altLang="zh-TW" sz="2400" dirty="0"/>
              <a:t>函數儲存即可，如下所示：</a:t>
            </a:r>
            <a:endParaRPr lang="zh-TW" altLang="zh-TW" sz="2300" dirty="0"/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 post2db(request):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if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request.method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== 'POST':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post_form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forms.PostForm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request.POST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if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post_form.is_valid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():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message = "</a:t>
            </a:r>
            <a:r>
              <a:rPr lang="zh-TW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您的訊息已儲存，要等管理者啟用後才看得到喔。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post_form.save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else: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message = '</a:t>
            </a:r>
            <a:r>
              <a:rPr lang="zh-TW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如要張貼訊息，則每一個欄位都要填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...'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else: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post_form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forms.PostForm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message = 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如要張貼訊息，則每一個欄位都要填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...'          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return render(request, 'post2db.html', locals())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201911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透過</a:t>
            </a:r>
            <a:r>
              <a:rPr lang="en-US" altLang="zh-TW" dirty="0" err="1"/>
              <a:t>ModelForm</a:t>
            </a:r>
            <a:r>
              <a:rPr lang="zh-TW" altLang="zh-TW" dirty="0"/>
              <a:t>產生的表單儲存資料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86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儲存訊息之後的網頁畫面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6D1C8A4B-CDC4-272A-B358-D9C104F2C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050536"/>
            <a:ext cx="5976664" cy="448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72802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透過</a:t>
            </a:r>
            <a:r>
              <a:rPr lang="en-US" altLang="zh-TW" dirty="0" err="1"/>
              <a:t>ModelForm</a:t>
            </a:r>
            <a:r>
              <a:rPr lang="zh-TW" altLang="zh-TW" dirty="0"/>
              <a:t>產生的表單儲存資料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87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這個程式碼會在張貼完之後仍然</a:t>
            </a:r>
            <a:r>
              <a:rPr lang="zh-TW" altLang="zh-TW" dirty="0">
                <a:solidFill>
                  <a:srgbClr val="FF0000"/>
                </a:solidFill>
              </a:rPr>
              <a:t>停留在原來的網頁</a:t>
            </a:r>
            <a:r>
              <a:rPr lang="zh-TW" altLang="zh-TW" dirty="0"/>
              <a:t>以及表單資料，我們也可以使用</a:t>
            </a:r>
            <a:r>
              <a:rPr lang="en-US" altLang="zh-TW" dirty="0">
                <a:solidFill>
                  <a:srgbClr val="FF0000"/>
                </a:solidFill>
              </a:rPr>
              <a:t>redirect</a:t>
            </a:r>
            <a:r>
              <a:rPr lang="zh-TW" altLang="zh-TW" dirty="0">
                <a:solidFill>
                  <a:srgbClr val="FF0000"/>
                </a:solidFill>
              </a:rPr>
              <a:t>重新導向另外一個網頁</a:t>
            </a:r>
            <a:r>
              <a:rPr lang="zh-TW" altLang="zh-TW" dirty="0"/>
              <a:t>，常見的情形是導向首頁或是訊息瀏覽頁面，只要在</a:t>
            </a:r>
            <a:r>
              <a:rPr lang="en-US" altLang="zh-TW" dirty="0" err="1"/>
              <a:t>post_form.save</a:t>
            </a:r>
            <a:r>
              <a:rPr lang="en-US" altLang="zh-TW" dirty="0"/>
              <a:t>()</a:t>
            </a:r>
            <a:r>
              <a:rPr lang="zh-TW" altLang="zh-TW" dirty="0"/>
              <a:t>的下一行加入如下這一行敘述即可：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return redirect('/list/')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r>
              <a:rPr lang="zh-TW" altLang="zh-TW" dirty="0"/>
              <a:t>在程式檔的最前面，也要引入這個模組才行，如下所示：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from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django.shortcuts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render,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redirect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500375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為表單加上防機器人驗證機制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88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5070304"/>
          </a:xfrm>
        </p:spPr>
        <p:txBody>
          <a:bodyPr>
            <a:normAutofit fontScale="92500" lnSpcReduction="10000"/>
          </a:bodyPr>
          <a:lstStyle/>
          <a:p>
            <a:r>
              <a:rPr lang="zh-TW" altLang="zh-TW" dirty="0"/>
              <a:t>安裝</a:t>
            </a:r>
            <a:r>
              <a:rPr lang="en-US" altLang="zh-TW" dirty="0" err="1"/>
              <a:t>django</a:t>
            </a:r>
            <a:r>
              <a:rPr lang="en-US" altLang="zh-TW" dirty="0"/>
              <a:t>-simple-captcha</a:t>
            </a:r>
            <a:r>
              <a:rPr lang="zh-TW" altLang="zh-TW" dirty="0"/>
              <a:t>模組，如下所示：</a:t>
            </a:r>
          </a:p>
          <a:p>
            <a:pPr lvl="1"/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altLang="zh-TW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django</a:t>
            </a:r>
            <a:r>
              <a:rPr lang="en-US" altLang="zh-TW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-simple-captcha</a:t>
            </a:r>
          </a:p>
          <a:p>
            <a:r>
              <a:rPr lang="zh-TW" altLang="zh-TW" dirty="0"/>
              <a:t>在</a:t>
            </a:r>
            <a:r>
              <a:rPr lang="en-US" altLang="zh-TW" dirty="0"/>
              <a:t>settings.py</a:t>
            </a:r>
            <a:r>
              <a:rPr lang="zh-TW" altLang="zh-TW" dirty="0"/>
              <a:t>中把</a:t>
            </a:r>
            <a:r>
              <a:rPr lang="en-US" altLang="zh-TW" dirty="0"/>
              <a:t>’captcha’</a:t>
            </a:r>
            <a:r>
              <a:rPr lang="zh-TW" altLang="zh-TW" dirty="0"/>
              <a:t>加到</a:t>
            </a:r>
            <a:r>
              <a:rPr lang="en-US" altLang="zh-TW" dirty="0"/>
              <a:t>INSTALLED_APP</a:t>
            </a:r>
            <a:r>
              <a:rPr lang="zh-TW" altLang="zh-TW" dirty="0"/>
              <a:t>的區塊中，如下所示：</a:t>
            </a: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INSTALLED_APPS = (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  '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django.contrib.admin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  '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django.contrib.auth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  '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django.contrib.contenttypes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  '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django.contrib.sessions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  '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django.contrib.messages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  '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django.contrib.staticfiles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  '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mysite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'captcha',</a:t>
            </a:r>
            <a:endParaRPr lang="zh-TW" altLang="zh-TW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zh-TW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TW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61823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為表單加上防機器人驗證機制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89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5070304"/>
          </a:xfrm>
        </p:spPr>
        <p:txBody>
          <a:bodyPr>
            <a:normAutofit/>
          </a:bodyPr>
          <a:lstStyle/>
          <a:p>
            <a:r>
              <a:rPr lang="zh-TW" altLang="zh-TW" dirty="0"/>
              <a:t>執行資料庫的</a:t>
            </a:r>
            <a:r>
              <a:rPr lang="en-US" altLang="zh-TW" dirty="0"/>
              <a:t>migrate</a:t>
            </a:r>
            <a:r>
              <a:rPr lang="zh-TW" altLang="zh-TW" dirty="0"/>
              <a:t>動作如下：</a:t>
            </a: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 manage.py migrate</a:t>
            </a:r>
          </a:p>
          <a:p>
            <a:r>
              <a:rPr lang="zh-TW" altLang="zh-TW" dirty="0"/>
              <a:t>在</a:t>
            </a:r>
            <a:r>
              <a:rPr lang="en-US" altLang="zh-TW" dirty="0"/>
              <a:t>urls.py</a:t>
            </a:r>
            <a:r>
              <a:rPr lang="zh-TW" altLang="zh-TW" dirty="0"/>
              <a:t>加上這個模組專用的網址對應：</a:t>
            </a:r>
            <a:endParaRPr lang="en-US" altLang="zh-TW" dirty="0"/>
          </a:p>
          <a:p>
            <a:pPr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django.urls</a:t>
            </a:r>
            <a:r>
              <a:rPr lang="en-US" altLang="zh-TW" dirty="0"/>
              <a:t> import path</a:t>
            </a:r>
            <a:r>
              <a:rPr lang="en-US" altLang="zh-TW" dirty="0">
                <a:solidFill>
                  <a:srgbClr val="FF0000"/>
                </a:solidFill>
              </a:rPr>
              <a:t>, include</a:t>
            </a:r>
          </a:p>
          <a:p>
            <a:pPr indent="0">
              <a:buNone/>
            </a:pPr>
            <a:endParaRPr lang="en-US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path('captcha/', </a:t>
            </a: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include('</a:t>
            </a:r>
            <a:r>
              <a:rPr lang="en-US" altLang="zh-TW" sz="24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captcha.urls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')),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zh-TW" altLang="zh-TW" dirty="0"/>
          </a:p>
          <a:p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835728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為表單加上防機器人驗證機制</a:t>
            </a:r>
            <a:r>
              <a:rPr lang="en-US" altLang="zh-TW" dirty="0"/>
              <a:t>forms.py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90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以上都沒有問題的話，就可以直接在表單類別中加上</a:t>
            </a:r>
            <a:r>
              <a:rPr lang="en-US" altLang="zh-TW" dirty="0" err="1"/>
              <a:t>CaptchaField</a:t>
            </a:r>
            <a:r>
              <a:rPr lang="zh-TW" altLang="zh-TW" dirty="0"/>
              <a:t>了，如下所示：</a:t>
            </a: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captcha.fields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CaptchaField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class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forms.ModelForm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captcha =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CaptchaField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class Meta: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model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models.Post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fields = ['mood', 'nickname', 'message', 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del_pass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274320" lvl="1" indent="0">
              <a:buNone/>
            </a:pP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7952288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為表單加上防機器人驗證機制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91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def __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init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__(self, *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args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**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kwargs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super(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self).__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init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__(*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args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**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kwargs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self.fields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['mood'].label = 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現在心情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self.fields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['nickname'].label = 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你的暱稱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self.fields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['message'].label = 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心情留言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self.fields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del_pass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'].label = 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設定密碼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self.fields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['captcha'].label = 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確定你不是機器人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531284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為表單加上防機器人驗證機制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92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加上</a:t>
            </a:r>
            <a:r>
              <a:rPr lang="en-US" altLang="zh-TW" dirty="0"/>
              <a:t>Captcha</a:t>
            </a:r>
            <a:r>
              <a:rPr lang="zh-TW" altLang="zh-TW" dirty="0"/>
              <a:t>圖形驗證的表單畫面</a:t>
            </a:r>
            <a:endParaRPr lang="zh-TW" altLang="en-US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xmlns="" id="{C25F773F-907D-E54C-ED5D-5B29B5109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019555"/>
            <a:ext cx="5976664" cy="448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6574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為表單加上防機器人驗證機制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93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/>
              <a:t>Google</a:t>
            </a:r>
            <a:r>
              <a:rPr lang="zh-TW" altLang="zh-TW" sz="2000" dirty="0"/>
              <a:t>也有提供</a:t>
            </a:r>
            <a:r>
              <a:rPr lang="en-US" altLang="zh-TW" sz="2000" dirty="0" err="1"/>
              <a:t>reCAPTCHA</a:t>
            </a:r>
            <a:r>
              <a:rPr lang="zh-TW" altLang="zh-TW" sz="2000" dirty="0"/>
              <a:t>機器人驗證的</a:t>
            </a:r>
            <a:r>
              <a:rPr lang="en-US" altLang="zh-TW" sz="2000" dirty="0"/>
              <a:t>API</a:t>
            </a:r>
            <a:r>
              <a:rPr lang="zh-TW" altLang="zh-TW" sz="2000" dirty="0"/>
              <a:t>，首先我們要到</a:t>
            </a:r>
            <a:r>
              <a:rPr lang="en-US" altLang="zh-TW" sz="2000" dirty="0" err="1"/>
              <a:t>reCAPTCHA</a:t>
            </a:r>
            <a:r>
              <a:rPr lang="en-US" altLang="zh-TW" sz="2000" dirty="0"/>
              <a:t> admin(</a:t>
            </a:r>
            <a:r>
              <a:rPr lang="zh-TW" altLang="zh-TW" sz="2000" dirty="0"/>
              <a:t>網址：</a:t>
            </a:r>
            <a:r>
              <a:rPr lang="en-US" altLang="zh-TW" sz="2000" u="sng" dirty="0"/>
              <a:t>https://www.google.com/recaptcha/intro/android.html</a:t>
            </a:r>
            <a:r>
              <a:rPr lang="en-US" altLang="zh-TW" sz="2000" dirty="0"/>
              <a:t>)</a:t>
            </a:r>
            <a:r>
              <a:rPr lang="zh-TW" altLang="zh-TW" sz="2000" dirty="0"/>
              <a:t>進行註冊</a:t>
            </a:r>
            <a:r>
              <a:rPr lang="en-US" altLang="zh-TW" sz="2000" dirty="0"/>
              <a:t>Label</a:t>
            </a:r>
            <a:r>
              <a:rPr lang="zh-TW" altLang="zh-TW" sz="2000" dirty="0"/>
              <a:t>填寫註冊的名稱</a:t>
            </a:r>
            <a:endParaRPr lang="en-US" altLang="zh-TW" sz="2000" dirty="0"/>
          </a:p>
          <a:p>
            <a:r>
              <a:rPr lang="zh-TW" altLang="zh-TW" sz="2000" dirty="0"/>
              <a:t>接著點選</a:t>
            </a:r>
            <a:r>
              <a:rPr lang="en-US" altLang="zh-TW" sz="2000" dirty="0"/>
              <a:t>reCAPTCHA V2 </a:t>
            </a:r>
            <a:r>
              <a:rPr lang="en-US" altLang="zh-TW" sz="2000" dirty="0" err="1"/>
              <a:t>Aadmin</a:t>
            </a:r>
            <a:r>
              <a:rPr lang="en-US" altLang="zh-TW" sz="2000" dirty="0"/>
              <a:t> Console</a:t>
            </a:r>
          </a:p>
          <a:p>
            <a:r>
              <a:rPr lang="zh-TW" altLang="zh-TW" sz="2000" dirty="0"/>
              <a:t>最後輸入你網站</a:t>
            </a:r>
            <a:r>
              <a:rPr lang="en-US" altLang="zh-TW" sz="2000" dirty="0"/>
              <a:t>IP</a:t>
            </a:r>
            <a:r>
              <a:rPr lang="zh-TW" altLang="en-US" sz="2000" dirty="0"/>
              <a:t>，</a:t>
            </a:r>
            <a:r>
              <a:rPr lang="zh-TW" altLang="zh-TW" sz="2000" dirty="0"/>
              <a:t>直接使用</a:t>
            </a:r>
            <a:r>
              <a:rPr lang="en-US" altLang="zh-TW" sz="2000" dirty="0"/>
              <a:t>127.0.0.1</a:t>
            </a:r>
            <a:r>
              <a:rPr lang="zh-TW" altLang="zh-TW" sz="2000" dirty="0"/>
              <a:t>本地</a:t>
            </a:r>
            <a:r>
              <a:rPr lang="en-US" altLang="zh-TW" sz="2000" dirty="0"/>
              <a:t>IP</a:t>
            </a:r>
            <a:r>
              <a:rPr lang="zh-TW" altLang="zh-TW" sz="2000" dirty="0"/>
              <a:t>就可以了，如下圖：</a:t>
            </a:r>
            <a:endParaRPr lang="en-US" altLang="zh-TW" sz="2000" dirty="0"/>
          </a:p>
          <a:p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89178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為表單加上防機器人驗證機制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94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註冊</a:t>
            </a:r>
            <a:r>
              <a:rPr lang="en-US" altLang="zh-TW" dirty="0"/>
              <a:t>Google </a:t>
            </a:r>
            <a:r>
              <a:rPr lang="en-US" altLang="zh-TW" dirty="0" err="1"/>
              <a:t>reCAPTCHA</a:t>
            </a:r>
            <a:endParaRPr lang="zh-TW" altLang="en-US" dirty="0"/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xmlns="" id="{C279E7FC-64E7-33F2-B1F2-B1E03CD77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516209"/>
            <a:ext cx="3816424" cy="495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41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為表單加上防機器人驗證機制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95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按下註冊後，會有一個</a:t>
            </a:r>
            <a:r>
              <a:rPr lang="en-US" altLang="zh-TW" dirty="0"/>
              <a:t>Site key</a:t>
            </a:r>
            <a:r>
              <a:rPr lang="zh-TW" altLang="zh-TW" dirty="0"/>
              <a:t>與</a:t>
            </a:r>
            <a:r>
              <a:rPr lang="en-US" altLang="zh-TW" dirty="0"/>
              <a:t>Secret key</a:t>
            </a:r>
          </a:p>
          <a:p>
            <a:pPr lvl="1"/>
            <a:r>
              <a:rPr lang="en-US" altLang="zh-TW" dirty="0"/>
              <a:t>Site key</a:t>
            </a:r>
          </a:p>
          <a:p>
            <a:pPr lvl="2"/>
            <a:r>
              <a:rPr lang="zh-TW" altLang="zh-TW" dirty="0"/>
              <a:t>用在「客戶端」</a:t>
            </a:r>
            <a:r>
              <a:rPr lang="en-US" altLang="zh-TW" dirty="0"/>
              <a:t>HTML</a:t>
            </a:r>
            <a:r>
              <a:rPr lang="zh-TW" altLang="zh-TW" dirty="0"/>
              <a:t>，提供</a:t>
            </a:r>
            <a:r>
              <a:rPr lang="en-US" altLang="zh-TW" dirty="0"/>
              <a:t> </a:t>
            </a:r>
            <a:r>
              <a:rPr lang="en-US" altLang="zh-TW" dirty="0" err="1"/>
              <a:t>reCAPTCHA</a:t>
            </a:r>
            <a:r>
              <a:rPr lang="en-US" altLang="zh-TW" dirty="0"/>
              <a:t> </a:t>
            </a:r>
            <a:r>
              <a:rPr lang="zh-TW" altLang="zh-TW" dirty="0"/>
              <a:t>驗證碼服務給使用者</a:t>
            </a:r>
            <a:endParaRPr lang="en-US" altLang="zh-TW" dirty="0"/>
          </a:p>
          <a:p>
            <a:pPr lvl="1"/>
            <a:r>
              <a:rPr lang="en-US" altLang="zh-TW" dirty="0"/>
              <a:t>Secret key</a:t>
            </a:r>
          </a:p>
          <a:p>
            <a:pPr lvl="2"/>
            <a:r>
              <a:rPr lang="zh-TW" altLang="zh-TW" dirty="0"/>
              <a:t>用在「伺服器端」，網站與</a:t>
            </a:r>
            <a:r>
              <a:rPr lang="en-US" altLang="zh-TW" dirty="0"/>
              <a:t> Google </a:t>
            </a:r>
            <a:r>
              <a:rPr lang="zh-TW" altLang="zh-TW" dirty="0"/>
              <a:t>之間的通訊</a:t>
            </a:r>
            <a:endParaRPr lang="en-US" altLang="zh-TW" dirty="0"/>
          </a:p>
          <a:p>
            <a:r>
              <a:rPr lang="zh-TW" altLang="zh-TW" dirty="0"/>
              <a:t>把</a:t>
            </a:r>
            <a:r>
              <a:rPr lang="en-US" altLang="zh-TW" dirty="0"/>
              <a:t>Secret key</a:t>
            </a:r>
            <a:r>
              <a:rPr lang="zh-TW" altLang="zh-TW" dirty="0"/>
              <a:t>加到</a:t>
            </a:r>
            <a:r>
              <a:rPr lang="en-US" altLang="zh-TW" dirty="0"/>
              <a:t>settings.py</a:t>
            </a:r>
            <a:r>
              <a:rPr lang="zh-TW" altLang="zh-TW" dirty="0"/>
              <a:t>內，如下所示：</a:t>
            </a:r>
          </a:p>
          <a:p>
            <a:pPr lvl="1"/>
            <a:r>
              <a:rPr lang="en-US" altLang="zh-TW" dirty="0"/>
              <a:t>GOOGLE_RECAPTCHA_SECRET_KEY = '</a:t>
            </a:r>
            <a:r>
              <a:rPr lang="zh-TW" altLang="zh-TW" dirty="0"/>
              <a:t>你的</a:t>
            </a:r>
            <a:r>
              <a:rPr lang="en-US" altLang="zh-TW" dirty="0"/>
              <a:t>Secret key </a:t>
            </a:r>
            <a:r>
              <a:rPr lang="zh-TW" altLang="zh-TW" dirty="0"/>
              <a:t>放在這</a:t>
            </a:r>
            <a:r>
              <a:rPr lang="en-US" altLang="zh-TW" dirty="0"/>
              <a:t>'</a:t>
            </a: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4943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為表單加上防機器人驗證機制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96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註冊後的</a:t>
            </a:r>
            <a:r>
              <a:rPr lang="en-US" altLang="zh-TW" dirty="0"/>
              <a:t>Site key</a:t>
            </a:r>
            <a:r>
              <a:rPr lang="zh-TW" altLang="zh-TW" dirty="0"/>
              <a:t>與</a:t>
            </a:r>
            <a:r>
              <a:rPr lang="en-US" altLang="zh-TW" dirty="0"/>
              <a:t>Secret key</a:t>
            </a:r>
            <a:endParaRPr lang="zh-TW" altLang="en-US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xmlns="" id="{13E7049D-68C5-609B-005F-9E459ED31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204864"/>
            <a:ext cx="6264696" cy="421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25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為表單加上防機器人驗證機制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97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post2db.html</a:t>
            </a:r>
            <a:r>
              <a:rPr lang="zh-TW" altLang="zh-TW" dirty="0"/>
              <a:t>表單內放置</a:t>
            </a:r>
            <a:r>
              <a:rPr lang="en-US" altLang="zh-TW" dirty="0" err="1"/>
              <a:t>reCAPTCHA</a:t>
            </a:r>
            <a:r>
              <a:rPr lang="zh-TW" altLang="zh-TW" dirty="0"/>
              <a:t>的小工具，用以做機器人驗證，如下所示：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block content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&lt;div class='container'&gt;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if message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&lt;div class='alert alert-warning'&gt;{{ message }}&lt;/div&gt;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endif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&lt;form name='my form' action='.' method='POST'&gt;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{%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csrf_token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3839873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為表單加上防機器人驗證機制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98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4998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&lt;table&gt;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{{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post_form.as_table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}}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&lt;/table&gt;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&lt;script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src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'https://www.google.com/recaptcha/api.js'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&gt;&lt;/script&gt;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&lt;div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class="g-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recaptcha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 data-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sitekey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="</a:t>
            </a:r>
            <a:r>
              <a:rPr lang="zh-TW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你的網站金鑰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type='submit' value='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張貼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&lt;input type='reset' value='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清除重填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&lt;/form&gt;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&lt;/div&gt;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endblock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en-US" altLang="zh-TW" dirty="0"/>
          </a:p>
        </p:txBody>
      </p:sp>
      <p:sp>
        <p:nvSpPr>
          <p:cNvPr id="5" name="文字方塊 4"/>
          <p:cNvSpPr txBox="1"/>
          <p:nvPr/>
        </p:nvSpPr>
        <p:spPr>
          <a:xfrm>
            <a:off x="5580112" y="5517232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7030A0"/>
                </a:solidFill>
              </a:rPr>
              <a:t>放置你的</a:t>
            </a:r>
            <a:r>
              <a:rPr lang="en-US" altLang="zh-TW" sz="2400" dirty="0" err="1">
                <a:solidFill>
                  <a:srgbClr val="7030A0"/>
                </a:solidFill>
              </a:rPr>
              <a:t>secret_key</a:t>
            </a:r>
            <a:endParaRPr lang="zh-TW" altLang="en-US" sz="2400" dirty="0">
              <a:solidFill>
                <a:srgbClr val="7030A0"/>
              </a:solidFill>
            </a:endParaRPr>
          </a:p>
        </p:txBody>
      </p:sp>
      <p:cxnSp>
        <p:nvCxnSpPr>
          <p:cNvPr id="7" name="直線單箭頭接點 6"/>
          <p:cNvCxnSpPr>
            <a:cxnSpLocks/>
          </p:cNvCxnSpPr>
          <p:nvPr/>
        </p:nvCxnSpPr>
        <p:spPr>
          <a:xfrm flipH="1" flipV="1">
            <a:off x="6804248" y="3429000"/>
            <a:ext cx="360040" cy="20882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2987824" y="1467697"/>
            <a:ext cx="5876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7030A0"/>
                </a:solidFill>
              </a:rPr>
              <a:t>script</a:t>
            </a:r>
            <a:r>
              <a:rPr lang="zh-TW" altLang="zh-TW" sz="2000" dirty="0">
                <a:solidFill>
                  <a:srgbClr val="7030A0"/>
                </a:solidFill>
              </a:rPr>
              <a:t>中為</a:t>
            </a:r>
            <a:r>
              <a:rPr lang="en-US" altLang="zh-TW" sz="2000" dirty="0">
                <a:solidFill>
                  <a:srgbClr val="7030A0"/>
                </a:solidFill>
              </a:rPr>
              <a:t>Google </a:t>
            </a:r>
            <a:r>
              <a:rPr lang="en-US" altLang="zh-TW" sz="2000" dirty="0" err="1">
                <a:solidFill>
                  <a:srgbClr val="7030A0"/>
                </a:solidFill>
              </a:rPr>
              <a:t>recaptcha</a:t>
            </a:r>
            <a:r>
              <a:rPr lang="zh-TW" altLang="zh-TW" sz="2000" dirty="0">
                <a:solidFill>
                  <a:srgbClr val="7030A0"/>
                </a:solidFill>
              </a:rPr>
              <a:t>提供用以驗證的</a:t>
            </a:r>
            <a:r>
              <a:rPr lang="en-US" altLang="zh-TW" sz="2000" dirty="0">
                <a:solidFill>
                  <a:srgbClr val="7030A0"/>
                </a:solidFill>
              </a:rPr>
              <a:t>API</a:t>
            </a:r>
            <a:endParaRPr lang="zh-TW" altLang="en-US" sz="2000" dirty="0">
              <a:solidFill>
                <a:srgbClr val="7030A0"/>
              </a:solidFill>
            </a:endParaRPr>
          </a:p>
        </p:txBody>
      </p:sp>
      <p:cxnSp>
        <p:nvCxnSpPr>
          <p:cNvPr id="9" name="直線單箭頭接點 8"/>
          <p:cNvCxnSpPr>
            <a:cxnSpLocks/>
          </p:cNvCxnSpPr>
          <p:nvPr/>
        </p:nvCxnSpPr>
        <p:spPr>
          <a:xfrm flipH="1">
            <a:off x="5148064" y="1798844"/>
            <a:ext cx="792088" cy="10540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017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為表單加上防機器人驗證機制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69E457D-EE12-4164-8E32-9DDD40A95892}" type="slidenum">
              <a:rPr lang="zh-TW" altLang="en-US" smtClean="0"/>
              <a:pPr/>
              <a:t>99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加入</a:t>
            </a:r>
            <a:r>
              <a:rPr lang="en-US" altLang="zh-TW" dirty="0"/>
              <a:t>Google </a:t>
            </a:r>
            <a:r>
              <a:rPr lang="en-US" altLang="zh-TW" dirty="0" err="1"/>
              <a:t>recaptcha</a:t>
            </a:r>
            <a:endParaRPr lang="zh-TW" altLang="en-US" dirty="0"/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xmlns="" id="{B1523853-7E49-FF60-2F6E-84EB66B6B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999268"/>
            <a:ext cx="6192688" cy="465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006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100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56792"/>
            <a:ext cx="8662736" cy="4896544"/>
          </a:xfrm>
        </p:spPr>
        <p:txBody>
          <a:bodyPr>
            <a:normAutofit/>
          </a:bodyPr>
          <a:lstStyle/>
          <a:p>
            <a:r>
              <a:rPr lang="zh-TW" altLang="zh-TW" dirty="0"/>
              <a:t>在</a:t>
            </a:r>
            <a:r>
              <a:rPr lang="en-US" altLang="zh-TW" dirty="0"/>
              <a:t>views.py</a:t>
            </a:r>
            <a:r>
              <a:rPr lang="zh-TW" altLang="zh-TW" dirty="0"/>
              <a:t>中</a:t>
            </a:r>
            <a:r>
              <a:rPr lang="en-US" altLang="zh-TW" dirty="0"/>
              <a:t>post2db</a:t>
            </a:r>
            <a:r>
              <a:rPr lang="zh-TW" altLang="zh-TW" dirty="0"/>
              <a:t>方法內加入驗證程式碼，顯示如下：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import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json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import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urllib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django.conf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settings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 post2db(request):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if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request.method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== 'POST':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post_form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forms.PostForm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request.POST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if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post_form.is_valid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recaptcha_response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request.POST.get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('g-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recaptcha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-response')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'https://www.google.com/recaptcha/api/siteverify'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3928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為表單加上防機器人驗證機制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101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412776"/>
            <a:ext cx="8734744" cy="53309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values = {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'secret':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settings.GOOGLE_RECAPTCHA_SECRET_KEY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'response':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recaptcha_response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data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urllib.parse.urlencode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(values).encode()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req =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urllib.request.Request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data=data)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response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urllib.request.urlopen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(req)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result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json.loads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response.read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().decode())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if result['success']: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post_form.save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return redirect('/list/')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else: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post_form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forms.PostForm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message = '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如要張貼訊息，則每一個欄位都要填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...'          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return render(request, 'post2db.html', locals())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72582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5EFF7A0-E540-1F67-709F-28965EAF4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MongoDB</a:t>
            </a:r>
            <a:r>
              <a:rPr lang="zh-TW" altLang="en-US" dirty="0"/>
              <a:t> </a:t>
            </a:r>
            <a:r>
              <a:rPr lang="en-US" altLang="zh-TW" dirty="0"/>
              <a:t>download</a:t>
            </a:r>
            <a:r>
              <a:rPr lang="zh-TW" altLang="en-US" dirty="0"/>
              <a:t> 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160D78D5-AE4C-0BC7-9031-90E6E313C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102</a:t>
            </a:fld>
            <a:endParaRPr lang="zh-TW" altLang="en-US"/>
          </a:p>
        </p:txBody>
      </p:sp>
      <p:sp>
        <p:nvSpPr>
          <p:cNvPr id="6" name="文字方塊 5">
            <a:hlinkClick r:id="rId3"/>
            <a:extLst>
              <a:ext uri="{FF2B5EF4-FFF2-40B4-BE49-F238E27FC236}">
                <a16:creationId xmlns:a16="http://schemas.microsoft.com/office/drawing/2014/main" xmlns="" id="{EB12E8BA-4E97-6161-6953-379CB8B6B6A4}"/>
              </a:ext>
            </a:extLst>
          </p:cNvPr>
          <p:cNvSpPr txBox="1"/>
          <p:nvPr/>
        </p:nvSpPr>
        <p:spPr>
          <a:xfrm>
            <a:off x="1358515" y="6074061"/>
            <a:ext cx="6390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https://www.mongodb.com/try/download/community</a:t>
            </a:r>
            <a:endParaRPr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xmlns="" id="{5779219D-D663-11AA-3FFC-23E9841D9EC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4"/>
          <a:stretch>
            <a:fillRect/>
          </a:stretch>
        </p:blipFill>
        <p:spPr>
          <a:xfrm>
            <a:off x="870086" y="1449288"/>
            <a:ext cx="7367315" cy="4572000"/>
          </a:xfrm>
        </p:spPr>
      </p:pic>
    </p:spTree>
    <p:extLst>
      <p:ext uri="{BB962C8B-B14F-4D97-AF65-F5344CB8AC3E}">
        <p14:creationId xmlns:p14="http://schemas.microsoft.com/office/powerpoint/2010/main" val="96551253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30570DB-3DA6-CB08-BDD2-2CE9876D5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2E640AC-793D-A5B8-0192-7A62AC62D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/>
              <a:t>cmd</a:t>
            </a:r>
            <a:r>
              <a:rPr lang="en-US" altLang="zh-TW" dirty="0"/>
              <a:t> mode</a:t>
            </a:r>
            <a:r>
              <a:rPr lang="zh-TW" altLang="en-US" dirty="0"/>
              <a:t>啟動</a:t>
            </a:r>
            <a:r>
              <a:rPr lang="en-US" altLang="zh-TW" dirty="0" err="1"/>
              <a:t>server:net</a:t>
            </a:r>
            <a:r>
              <a:rPr lang="en-US" altLang="zh-TW" dirty="0"/>
              <a:t> start MongoDB</a:t>
            </a:r>
            <a:br>
              <a:rPr lang="en-US" altLang="zh-TW" dirty="0"/>
            </a:br>
            <a:r>
              <a:rPr lang="zh-TW" altLang="en-US" dirty="0"/>
              <a:t>停止：</a:t>
            </a:r>
            <a:r>
              <a:rPr lang="en-US" altLang="zh-TW" dirty="0"/>
              <a:t> net stop MongoDB</a:t>
            </a:r>
            <a:r>
              <a:rPr lang="zh-TW" altLang="en-US" dirty="0"/>
              <a:t> 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53E39364-B43F-AF9A-5954-4159829B8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103</a:t>
            </a:fld>
            <a:endParaRPr lang="zh-TW" altLang="en-US"/>
          </a:p>
        </p:txBody>
      </p:sp>
      <p:pic>
        <p:nvPicPr>
          <p:cNvPr id="5" name="內容版面配置區 4" descr="一張含有 文字 的圖片&#10;&#10;自動產生的描述">
            <a:extLst>
              <a:ext uri="{FF2B5EF4-FFF2-40B4-BE49-F238E27FC236}">
                <a16:creationId xmlns:a16="http://schemas.microsoft.com/office/drawing/2014/main" xmlns="" id="{E0C7CFAD-D681-818D-512E-EB0E0DA6030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007312" y="1268760"/>
            <a:ext cx="7092863" cy="4572000"/>
          </a:xfrm>
          <a:prstGeom prst="rect">
            <a:avLst/>
          </a:prstGeom>
        </p:spPr>
      </p:pic>
      <p:sp>
        <p:nvSpPr>
          <p:cNvPr id="6" name="文字方塊 5">
            <a:hlinkClick r:id="rId4"/>
            <a:extLst>
              <a:ext uri="{FF2B5EF4-FFF2-40B4-BE49-F238E27FC236}">
                <a16:creationId xmlns:a16="http://schemas.microsoft.com/office/drawing/2014/main" xmlns="" id="{913F11C3-0886-B4D2-29A0-B37919098E57}"/>
              </a:ext>
            </a:extLst>
          </p:cNvPr>
          <p:cNvSpPr txBox="1"/>
          <p:nvPr/>
        </p:nvSpPr>
        <p:spPr>
          <a:xfrm>
            <a:off x="1358515" y="6300028"/>
            <a:ext cx="6390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https://www.mongodb.com/try/download/community</a:t>
            </a:r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xmlns="" id="{604B7582-94C4-A09A-CDE5-4C4140487D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3688" y="4635860"/>
            <a:ext cx="5849166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5900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2A0F8AA-A90E-C635-273A-792F78A0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完成連線之後的</a:t>
            </a:r>
            <a:r>
              <a:rPr lang="en-US" altLang="zh-TW" dirty="0"/>
              <a:t>MongoDB Compass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841E0790-DD3A-BBDA-7AA2-7B2955A62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104</a:t>
            </a:fld>
            <a:endParaRPr lang="zh-TW" altLang="en-US"/>
          </a:p>
        </p:txBody>
      </p:sp>
      <p:pic>
        <p:nvPicPr>
          <p:cNvPr id="5" name="內容版面配置區 4" descr="一張含有 文字 的圖片&#10;&#10;自動產生的描述">
            <a:extLst>
              <a:ext uri="{FF2B5EF4-FFF2-40B4-BE49-F238E27FC236}">
                <a16:creationId xmlns:a16="http://schemas.microsoft.com/office/drawing/2014/main" xmlns="" id="{E9DC230F-C21C-7AB0-677F-A85D9E8DB31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007312" y="1527175"/>
            <a:ext cx="709286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9011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2E9ACBA-DB50-58E0-42FC-71315C46E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MongoDB</a:t>
            </a:r>
            <a:r>
              <a:rPr lang="zh-TW" altLang="en-US" dirty="0"/>
              <a:t>與</a:t>
            </a:r>
            <a:r>
              <a:rPr lang="en-US" altLang="zh-TW" dirty="0"/>
              <a:t>MySQL</a:t>
            </a:r>
            <a:r>
              <a:rPr lang="zh-TW" altLang="en-US" dirty="0"/>
              <a:t>資料階層比較表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E0749D69-FC9B-58EB-558A-1A19E8BB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105</a:t>
            </a:fld>
            <a:endParaRPr lang="zh-TW" altLang="en-US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xmlns="" id="{31481269-BE87-4511-9DE7-821B070BA367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206044286"/>
              </p:ext>
            </p:extLst>
          </p:nvPr>
        </p:nvGraphicFramePr>
        <p:xfrm>
          <a:off x="539552" y="2060848"/>
          <a:ext cx="8136904" cy="35283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2604">
                  <a:extLst>
                    <a:ext uri="{9D8B030D-6E8A-4147-A177-3AD203B41FA5}">
                      <a16:colId xmlns:a16="http://schemas.microsoft.com/office/drawing/2014/main" xmlns="" val="2576815956"/>
                    </a:ext>
                  </a:extLst>
                </a:gridCol>
                <a:gridCol w="2139509">
                  <a:extLst>
                    <a:ext uri="{9D8B030D-6E8A-4147-A177-3AD203B41FA5}">
                      <a16:colId xmlns:a16="http://schemas.microsoft.com/office/drawing/2014/main" xmlns="" val="2230951639"/>
                    </a:ext>
                  </a:extLst>
                </a:gridCol>
                <a:gridCol w="2237773">
                  <a:extLst>
                    <a:ext uri="{9D8B030D-6E8A-4147-A177-3AD203B41FA5}">
                      <a16:colId xmlns:a16="http://schemas.microsoft.com/office/drawing/2014/main" xmlns="" val="2375247492"/>
                    </a:ext>
                  </a:extLst>
                </a:gridCol>
                <a:gridCol w="1957018">
                  <a:extLst>
                    <a:ext uri="{9D8B030D-6E8A-4147-A177-3AD203B41FA5}">
                      <a16:colId xmlns:a16="http://schemas.microsoft.com/office/drawing/2014/main" xmlns="" val="1401650506"/>
                    </a:ext>
                  </a:extLst>
                </a:gridCol>
              </a:tblGrid>
              <a:tr h="705678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kern="100">
                          <a:effectLst/>
                        </a:rPr>
                        <a:t>MySQL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kern="100">
                          <a:effectLst/>
                        </a:rPr>
                        <a:t>MongoDB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477280608"/>
                  </a:ext>
                </a:extLst>
              </a:tr>
              <a:tr h="705678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400" kern="100">
                          <a:effectLst/>
                        </a:rPr>
                        <a:t>資料庫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kern="100" dirty="0">
                          <a:effectLst/>
                        </a:rPr>
                        <a:t>database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kern="100" dirty="0">
                          <a:effectLst/>
                        </a:rPr>
                        <a:t>database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400" kern="100">
                          <a:effectLst/>
                        </a:rPr>
                        <a:t>資料庫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098131319"/>
                  </a:ext>
                </a:extLst>
              </a:tr>
              <a:tr h="705678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400" kern="100">
                          <a:effectLst/>
                        </a:rPr>
                        <a:t>資料表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kern="100">
                          <a:effectLst/>
                        </a:rPr>
                        <a:t>table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kern="100" dirty="0">
                          <a:effectLst/>
                        </a:rPr>
                        <a:t>collection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400" kern="100">
                          <a:effectLst/>
                        </a:rPr>
                        <a:t>資料集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980245738"/>
                  </a:ext>
                </a:extLst>
              </a:tr>
              <a:tr h="705678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400" kern="100">
                          <a:effectLst/>
                        </a:rPr>
                        <a:t>資料列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kern="100">
                          <a:effectLst/>
                        </a:rPr>
                        <a:t>row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kern="100" dirty="0">
                          <a:effectLst/>
                        </a:rPr>
                        <a:t>document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400" kern="100" dirty="0">
                          <a:effectLst/>
                        </a:rPr>
                        <a:t>文件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207252638"/>
                  </a:ext>
                </a:extLst>
              </a:tr>
              <a:tr h="705678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400" kern="100">
                          <a:effectLst/>
                        </a:rPr>
                        <a:t>欄位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kern="100">
                          <a:effectLst/>
                        </a:rPr>
                        <a:t>column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kern="100">
                          <a:effectLst/>
                        </a:rPr>
                        <a:t>field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400" kern="100" dirty="0">
                          <a:effectLst/>
                        </a:rPr>
                        <a:t>欄位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120028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32418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33E738F-774E-DDE6-A29B-5EB023E4B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Compass</a:t>
            </a:r>
            <a:r>
              <a:rPr lang="zh-TW" altLang="en-US" dirty="0"/>
              <a:t>中建立資料庫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DE50FDE7-48D8-31B5-A314-8DF5C5A2C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106</a:t>
            </a:fld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xmlns="" id="{DC313884-9F3F-4A39-8477-84FAA71D67D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943633" y="2241376"/>
            <a:ext cx="7092863" cy="4572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CA85A661-0FB4-EFF8-0693-FDBD197F1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41" y="836712"/>
            <a:ext cx="4212701" cy="249957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xmlns="" id="{A67692D5-AAC6-8249-5914-6492ECFD95D4}"/>
              </a:ext>
            </a:extLst>
          </p:cNvPr>
          <p:cNvSpPr/>
          <p:nvPr/>
        </p:nvSpPr>
        <p:spPr>
          <a:xfrm>
            <a:off x="3131840" y="908720"/>
            <a:ext cx="360040" cy="441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858022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C10EC2E6-E91F-46BF-1AA6-2BBB51394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Collection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31FC36B1-D2E6-E8C2-9932-40828FC6C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107</a:t>
            </a:fld>
            <a:endParaRPr lang="zh-TW" altLang="en-US"/>
          </a:p>
        </p:txBody>
      </p:sp>
      <p:pic>
        <p:nvPicPr>
          <p:cNvPr id="5" name="內容版面配置區 4" descr="一張含有 文字 的圖片&#10;&#10;自動產生的描述">
            <a:extLst>
              <a:ext uri="{FF2B5EF4-FFF2-40B4-BE49-F238E27FC236}">
                <a16:creationId xmlns:a16="http://schemas.microsoft.com/office/drawing/2014/main" xmlns="" id="{6E1DD461-A1EC-F224-0B54-E7F6DA1A536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74542" y="1527175"/>
            <a:ext cx="7558403" cy="4572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xmlns="" id="{9C63222E-140B-CF9B-314C-C98BB9C894A8}"/>
              </a:ext>
            </a:extLst>
          </p:cNvPr>
          <p:cNvSpPr/>
          <p:nvPr/>
        </p:nvSpPr>
        <p:spPr>
          <a:xfrm>
            <a:off x="2123728" y="3371850"/>
            <a:ext cx="360040" cy="441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DEBD58A5-F595-9D04-F84C-0EB8F3A289F3}"/>
              </a:ext>
            </a:extLst>
          </p:cNvPr>
          <p:cNvSpPr/>
          <p:nvPr/>
        </p:nvSpPr>
        <p:spPr>
          <a:xfrm>
            <a:off x="2771800" y="2204864"/>
            <a:ext cx="1080120" cy="441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38257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33627D1-D6F7-1DFD-72DE-7CD4DA6DA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Document</a:t>
            </a:r>
            <a:r>
              <a:rPr lang="zh-TW" altLang="en-US" dirty="0"/>
              <a:t>編輯介面 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E4902E33-0D56-F02F-754D-50E7B623C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108</a:t>
            </a:fld>
            <a:endParaRPr lang="zh-TW" altLang="en-US"/>
          </a:p>
        </p:txBody>
      </p:sp>
      <p:pic>
        <p:nvPicPr>
          <p:cNvPr id="5" name="內容版面配置區 4" descr="一張含有 文字 的圖片&#10;&#10;自動產生的描述">
            <a:extLst>
              <a:ext uri="{FF2B5EF4-FFF2-40B4-BE49-F238E27FC236}">
                <a16:creationId xmlns:a16="http://schemas.microsoft.com/office/drawing/2014/main" xmlns="" id="{C7021962-F4B8-FD7C-6D11-A9924AB25F8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74542" y="1527175"/>
            <a:ext cx="7558403" cy="4572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xmlns="" id="{F25D11E0-9004-FBC9-63E9-19657779165A}"/>
              </a:ext>
            </a:extLst>
          </p:cNvPr>
          <p:cNvSpPr/>
          <p:nvPr/>
        </p:nvSpPr>
        <p:spPr>
          <a:xfrm>
            <a:off x="2771800" y="3806406"/>
            <a:ext cx="936104" cy="441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55172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1BEED88-CA1F-D393-D9DB-309898CE0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資料輸入介面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6267AE7A-3D2A-983D-C281-D5E02CC00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109</a:t>
            </a:fld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xmlns="" id="{0BB66321-0605-50C9-B56C-6B08EECF3F8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74542" y="1527175"/>
            <a:ext cx="7558403" cy="4572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xmlns="" id="{31CF4AF3-2C02-5802-1F66-EED164214FAA}"/>
              </a:ext>
            </a:extLst>
          </p:cNvPr>
          <p:cNvSpPr/>
          <p:nvPr/>
        </p:nvSpPr>
        <p:spPr>
          <a:xfrm>
            <a:off x="5868144" y="2961656"/>
            <a:ext cx="720080" cy="441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558021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E85714E-A6D3-236A-2D81-6025E44A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已輸入之</a:t>
            </a:r>
            <a:r>
              <a:rPr lang="en-US" altLang="zh-TW" dirty="0"/>
              <a:t>Document</a:t>
            </a:r>
            <a:r>
              <a:rPr lang="zh-TW" altLang="en-US" dirty="0"/>
              <a:t>列表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82FF4639-1445-99C6-3DBD-C3C3651F9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110</a:t>
            </a:fld>
            <a:endParaRPr lang="zh-TW" altLang="en-US"/>
          </a:p>
        </p:txBody>
      </p:sp>
      <p:pic>
        <p:nvPicPr>
          <p:cNvPr id="5" name="內容版面配置區 4" descr="一張含有 文字 的圖片&#10;&#10;自動產生的描述">
            <a:extLst>
              <a:ext uri="{FF2B5EF4-FFF2-40B4-BE49-F238E27FC236}">
                <a16:creationId xmlns:a16="http://schemas.microsoft.com/office/drawing/2014/main" xmlns="" id="{343DAC0C-C2BB-B984-8BBB-737D15CEDCD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50754" y="1527175"/>
            <a:ext cx="7605980" cy="4572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xmlns="" id="{8BCC8D47-6DF9-1CFE-89D8-90E8FC22CDB1}"/>
              </a:ext>
            </a:extLst>
          </p:cNvPr>
          <p:cNvSpPr/>
          <p:nvPr/>
        </p:nvSpPr>
        <p:spPr>
          <a:xfrm>
            <a:off x="2699792" y="3717032"/>
            <a:ext cx="1008112" cy="441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446622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78176D3-715C-8872-C79D-D8D9848C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3ADA418A-CB67-B0D8-39E6-7A1B3587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475329"/>
            <a:ext cx="7335274" cy="238158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0F31A3A-836D-BFA9-899E-6C1CCFDF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已輸入之</a:t>
            </a:r>
            <a:r>
              <a:rPr lang="en-US" altLang="zh-TW" dirty="0"/>
              <a:t>Document</a:t>
            </a:r>
            <a:r>
              <a:rPr lang="zh-TW" altLang="en-US" dirty="0"/>
              <a:t>列表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266C7572-E14C-B830-B894-44280FF7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111</a:t>
            </a:fld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435CEFF4-E2A9-7F33-B407-212177E6DCAB}"/>
              </a:ext>
            </a:extLst>
          </p:cNvPr>
          <p:cNvSpPr/>
          <p:nvPr/>
        </p:nvSpPr>
        <p:spPr>
          <a:xfrm>
            <a:off x="611560" y="2348880"/>
            <a:ext cx="2376264" cy="441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88504D05-8C7D-B8F6-F6BF-D299C0214E08}"/>
              </a:ext>
            </a:extLst>
          </p:cNvPr>
          <p:cNvSpPr txBox="1"/>
          <p:nvPr/>
        </p:nvSpPr>
        <p:spPr>
          <a:xfrm>
            <a:off x="539552" y="4293096"/>
            <a:ext cx="6766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如果原本已有</a:t>
            </a:r>
            <a:r>
              <a:rPr lang="en-US" altLang="zh-TW" dirty="0"/>
              <a:t>data</a:t>
            </a:r>
            <a:r>
              <a:rPr lang="zh-TW" altLang="en-US" dirty="0"/>
              <a:t>，也可再</a:t>
            </a:r>
            <a:r>
              <a:rPr lang="en-US" altLang="zh-TW" dirty="0"/>
              <a:t>import</a:t>
            </a:r>
            <a:r>
              <a:rPr lang="zh-TW" altLang="en-US" dirty="0"/>
              <a:t>其他筆資料進來，欄位要正確</a:t>
            </a:r>
          </a:p>
        </p:txBody>
      </p:sp>
    </p:spTree>
    <p:extLst>
      <p:ext uri="{BB962C8B-B14F-4D97-AF65-F5344CB8AC3E}">
        <p14:creationId xmlns:p14="http://schemas.microsoft.com/office/powerpoint/2010/main" val="125337627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EEF4893-621B-E841-B9E8-7D84EB17F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Docker-Compose</a:t>
            </a:r>
            <a:r>
              <a:rPr lang="zh-TW" altLang="en-US" dirty="0"/>
              <a:t>安裝</a:t>
            </a:r>
            <a:r>
              <a:rPr lang="en-US" altLang="zh-TW" dirty="0"/>
              <a:t>MongoDB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5FCDB7F4-44E7-4655-5207-C54AB16D2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112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88EA08A3-7553-D1DE-A2D1-E5E7828B34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TW" dirty="0"/>
              <a:t>docker-</a:t>
            </a:r>
            <a:r>
              <a:rPr lang="en-US" altLang="zh-TW" dirty="0" err="1"/>
              <a:t>compose.yml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version: '3.1'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services: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mongo: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image: mongo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restart: always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environment: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MONGO_INITDB_ROOT_USERNAME: root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MONGO_INITDB_ROOT_PASSWORD: example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ports: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- 27017:27017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volumes: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- </a:t>
            </a:r>
            <a:r>
              <a:rPr lang="en-US" altLang="zh-TW" sz="19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mdb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:/data/</a:t>
            </a:r>
            <a:r>
              <a:rPr lang="en-US" altLang="zh-TW" sz="19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db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mongo-express: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image: mongo-express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restart: always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ports: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- 8081:8081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environment: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ME_CONFIG_MONGODB_ADMINUSERNAME: root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ME_CONFIG_MONGODB_ADMINPASSWORD: example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ME_CONFIG_MONGODB_URL: mongodb://root:example@mongo:27017/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volumes: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</a:t>
            </a:r>
            <a:r>
              <a:rPr lang="en-US" altLang="zh-TW" sz="19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mdb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: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5634335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2319574-6AAE-D806-7A34-DF5112B15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Docker</a:t>
            </a:r>
            <a:r>
              <a:rPr lang="zh-TW" altLang="en-US" dirty="0"/>
              <a:t>上運作的</a:t>
            </a:r>
            <a:r>
              <a:rPr lang="en-US" altLang="zh-TW" dirty="0"/>
              <a:t>MongoDB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C2F76EC3-02C4-5E6D-9ED7-5A939F745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113</a:t>
            </a:fld>
            <a:endParaRPr lang="zh-TW" altLang="en-US"/>
          </a:p>
        </p:txBody>
      </p:sp>
      <p:pic>
        <p:nvPicPr>
          <p:cNvPr id="5" name="內容版面配置區 4" descr="一張含有 文字 的圖片&#10;&#10;自動產生的描述">
            <a:extLst>
              <a:ext uri="{FF2B5EF4-FFF2-40B4-BE49-F238E27FC236}">
                <a16:creationId xmlns:a16="http://schemas.microsoft.com/office/drawing/2014/main" xmlns="" id="{6DA8421E-F531-2D2F-38D6-099C391C0C5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24362" y="1683200"/>
            <a:ext cx="7658764" cy="425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20969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1382805-A625-537B-9A02-FF93E641F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</a:t>
            </a:r>
            <a:r>
              <a:rPr lang="zh-TW" altLang="en-US" dirty="0"/>
              <a:t>操作</a:t>
            </a:r>
            <a:r>
              <a:rPr lang="en-US" altLang="zh-TW" dirty="0"/>
              <a:t>MongoDB</a:t>
            </a:r>
            <a:r>
              <a:rPr lang="zh-TW" altLang="en-US" dirty="0"/>
              <a:t>的程式介面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E3C83A77-C0E9-0C7C-016D-D04690D39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114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3112F13B-90BB-C4EF-AB73-7DA9A8199C7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安裝所需的模組</a:t>
            </a:r>
            <a:endParaRPr lang="en-US" altLang="zh-TW" dirty="0"/>
          </a:p>
          <a:p>
            <a:pPr lvl="1"/>
            <a:r>
              <a:rPr lang="en-US" altLang="zh-TW" dirty="0"/>
              <a:t>pip install </a:t>
            </a:r>
            <a:r>
              <a:rPr lang="en-US" altLang="zh-TW" dirty="0" err="1"/>
              <a:t>pymongo</a:t>
            </a:r>
            <a:endParaRPr lang="en-US" altLang="zh-TW" dirty="0"/>
          </a:p>
          <a:p>
            <a:r>
              <a:rPr lang="zh-TW" altLang="en-US" dirty="0"/>
              <a:t>連線資料庫程式（列出所有資料庫）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import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pymongo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client =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pymongo.MongoClient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("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mongodb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://localhost:27017/")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alldb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client.list_database_names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print(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alldb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1946348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8A5E606-4DC6-6745-5F4B-5CFFB90F7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</a:t>
            </a:r>
            <a:r>
              <a:rPr lang="zh-TW" altLang="en-US" dirty="0"/>
              <a:t>操作</a:t>
            </a:r>
            <a:r>
              <a:rPr lang="en-US" altLang="zh-TW" dirty="0"/>
              <a:t>MongoDB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9641BD1B-B265-4E21-735A-FD246C8A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115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B7B8A579-4BFE-AE3F-09FC-F9CBF3ED9C9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列出指定資料庫中所有資料：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import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pymongo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client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pymongo.MongoClient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("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mongodb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://localhost:27017/")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alldb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client.list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database names()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print(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alldb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collections = client["ch08mdb"]["posts"]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records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collections.find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()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for rec in records: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1800" dirty="0">
                <a:effectLst/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  print(rec)</a:t>
            </a:r>
            <a:endParaRPr lang="zh-TW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11060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8A5E606-4DC6-6745-5F4B-5CFFB90F7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</a:t>
            </a:r>
            <a:r>
              <a:rPr lang="zh-TW" altLang="en-US" dirty="0"/>
              <a:t>操作</a:t>
            </a:r>
            <a:r>
              <a:rPr lang="en-US" altLang="zh-TW" dirty="0"/>
              <a:t>MongoDB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9641BD1B-B265-4E21-735A-FD246C8A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116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B7B8A579-4BFE-AE3F-09FC-F9CBF3ED9C9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新增資料之後再列出測試：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import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pymongo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client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pymongo.MongoClient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("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mongodb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://localhost:27017/")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collections = client["ch08mdb"]["posts"]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name = input("Name:")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while name != "":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height = input("Height(cm):")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weight = input("Weight(kg):")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collections.insert_one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({"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name":name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"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height":height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"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weight":weight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})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name = input("Name:")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records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collections.find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 rec in records: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print(rec)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8495183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8A5E606-4DC6-6745-5F4B-5CFFB90F7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</a:t>
            </a:r>
            <a:r>
              <a:rPr lang="zh-TW" altLang="en-US" dirty="0"/>
              <a:t>操作</a:t>
            </a:r>
            <a:r>
              <a:rPr lang="en-US" altLang="zh-TW" dirty="0"/>
              <a:t>MongoDB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9641BD1B-B265-4E21-735A-FD246C8A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117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B7B8A579-4BFE-AE3F-09FC-F9CBF3ED9C9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TW" altLang="en-US" dirty="0"/>
              <a:t>刪除指定資料的方法：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import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pymongo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client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pymongo.MongoClient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("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mongodb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://localhost:27017/")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collections = client["ch08mdb"]["posts"]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records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collections.find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 rec in records: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print(rec)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name = input("Please enter the name that you want to delete:")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while name != "":   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target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collections.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delete_one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({"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name":name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})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records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collections.find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for rec in records: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print(rec)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name = input("Please enter the name that you want to delete:")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print("Bye!")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449365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0CB3F5C-4DDC-A08D-4B84-451F8984C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Django</a:t>
            </a:r>
            <a:r>
              <a:rPr lang="zh-TW" altLang="en-US" dirty="0"/>
              <a:t>中存取</a:t>
            </a:r>
            <a:r>
              <a:rPr lang="en-US" altLang="zh-TW" dirty="0"/>
              <a:t>MongoDB</a:t>
            </a:r>
            <a:r>
              <a:rPr lang="zh-TW" altLang="en-US" dirty="0"/>
              <a:t>的方法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297CA679-A9B7-BB29-6F8C-6DF642176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118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BC7D32ED-849D-B379-C5BF-933E234E06D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342900" lvl="0" indent="-342900" algn="just">
              <a:buFont typeface="Wingdings" panose="05000000000000000000" pitchFamily="2" charset="2"/>
              <a:buChar char=""/>
            </a:pPr>
            <a:r>
              <a:rPr lang="en-US" altLang="zh-TW" sz="1800" b="1" kern="10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PyMongo</a:t>
            </a:r>
            <a:r>
              <a:rPr lang="en-US" altLang="zh-TW" sz="1800" b="1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OK</a:t>
            </a:r>
            <a:endParaRPr lang="en-US" altLang="zh-TW" sz="1800" b="1" kern="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17220" lvl="1" indent="-342900" algn="just">
              <a:buFont typeface="Wingdings" panose="05000000000000000000" pitchFamily="2" charset="2"/>
              <a:buChar char=""/>
            </a:pPr>
            <a:r>
              <a:rPr lang="zh-TW" altLang="zh-TW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就是在第</a:t>
            </a:r>
            <a:r>
              <a:rPr lang="en-US" altLang="zh-TW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8.4.2</a:t>
            </a:r>
            <a:r>
              <a:rPr lang="zh-TW" altLang="zh-TW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節中介紹的方法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，它把</a:t>
            </a:r>
            <a:r>
              <a:rPr lang="en-US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MongoDB</a:t>
            </a:r>
            <a:r>
              <a:rPr lang="zh-TW" altLang="zh-TW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視為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有別於</a:t>
            </a:r>
            <a:r>
              <a:rPr lang="en-US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MySQL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zh-TW" altLang="zh-TW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另外一個資料庫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來進行存取，比較常見的是把</a:t>
            </a:r>
            <a:r>
              <a:rPr lang="en-US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MongoDB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作為存取爬蟲程式所取得的資料，或是物聯網資料用途的特殊資料庫操作。</a:t>
            </a:r>
          </a:p>
          <a:p>
            <a:pPr marL="342900" lvl="0" indent="-342900" algn="just">
              <a:buFont typeface="Wingdings" panose="05000000000000000000" pitchFamily="2" charset="2"/>
              <a:buChar char=""/>
            </a:pPr>
            <a:r>
              <a:rPr lang="en-US" altLang="zh-TW" sz="1800" b="1" kern="10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MongoEngine</a:t>
            </a:r>
            <a:r>
              <a:rPr lang="en-US" altLang="zh-TW" sz="1800" b="1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XX</a:t>
            </a:r>
            <a:endParaRPr lang="en-US" altLang="zh-TW" sz="1800" b="1" kern="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17220" lvl="1" indent="-342900" algn="just">
              <a:buFont typeface="Wingdings" panose="05000000000000000000" pitchFamily="2" charset="2"/>
              <a:buChar char=""/>
            </a:pP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讓</a:t>
            </a:r>
            <a:r>
              <a:rPr lang="en-US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Django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網站也可以利用類似於</a:t>
            </a:r>
            <a:r>
              <a:rPr lang="en-US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ORM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的方式來存取</a:t>
            </a:r>
            <a:r>
              <a:rPr lang="en-US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MongoDB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，但是它使用是</a:t>
            </a:r>
            <a:r>
              <a:rPr lang="en-US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ODM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Object-Document-Mapper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），此種方式比較近似於</a:t>
            </a:r>
            <a:r>
              <a:rPr lang="en-US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Python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的語法，在學習及使用上更加地方便。</a:t>
            </a:r>
          </a:p>
          <a:p>
            <a:pPr marL="342900" lvl="0" indent="-342900" algn="just">
              <a:buFont typeface="Wingdings" panose="05000000000000000000" pitchFamily="2" charset="2"/>
              <a:buChar char=""/>
            </a:pPr>
            <a:r>
              <a:rPr lang="en-US" altLang="zh-TW" sz="1800" b="1" kern="10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Djongo</a:t>
            </a:r>
            <a:r>
              <a:rPr lang="en-US" altLang="zh-TW" sz="1800" b="1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XX</a:t>
            </a:r>
            <a:endParaRPr lang="en-US" altLang="zh-TW" sz="1800" b="1" kern="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17220" lvl="1" indent="-342900" algn="just">
              <a:buFont typeface="Wingdings" panose="05000000000000000000" pitchFamily="2" charset="2"/>
              <a:buChar char=""/>
            </a:pP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此種方式直接把</a:t>
            </a:r>
            <a:r>
              <a:rPr lang="en-US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MongoDB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資料庫作為網站的後台，取代原有的</a:t>
            </a:r>
            <a:r>
              <a:rPr lang="en-US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MySQL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或是</a:t>
            </a:r>
            <a:r>
              <a:rPr lang="en-US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SQLite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，使用這種方法，我們原本在網站程式中所寫的內容就都不需要更動，因為只有後端使用的資料庫被改變而已。不過目前此種方法</a:t>
            </a:r>
            <a:r>
              <a:rPr lang="zh-TW" altLang="zh-TW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並不適用於</a:t>
            </a:r>
            <a:r>
              <a:rPr lang="en-US" altLang="zh-TW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Django 3.0</a:t>
            </a:r>
            <a:r>
              <a:rPr lang="zh-TW" altLang="zh-TW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以及後續的版本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393442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17F62B6-A8A0-C0F8-FC65-AC407C8DE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 err="1"/>
              <a:t>Pymongo</a:t>
            </a:r>
            <a:r>
              <a:rPr lang="zh-TW" altLang="en-US" dirty="0"/>
              <a:t>的程式介面</a:t>
            </a:r>
            <a:r>
              <a:rPr lang="en-US" altLang="zh-TW" dirty="0"/>
              <a:t>views.py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3543B9F1-3165-1EFA-C94D-770C3609B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119</a:t>
            </a:fld>
            <a:endParaRPr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xmlns="" id="{09B02A76-BCA8-85B8-F5D6-2D45185B0B2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altLang="zh-TW" dirty="0"/>
              <a:t>def </a:t>
            </a:r>
            <a:r>
              <a:rPr lang="en-US" altLang="zh-TW" dirty="0" err="1"/>
              <a:t>bmi</a:t>
            </a:r>
            <a:r>
              <a:rPr lang="en-US" altLang="zh-TW" dirty="0"/>
              <a:t>(request):</a:t>
            </a:r>
          </a:p>
          <a:p>
            <a:r>
              <a:rPr lang="en-US" altLang="zh-TW" dirty="0"/>
              <a:t>    client = </a:t>
            </a:r>
            <a:r>
              <a:rPr lang="en-US" altLang="zh-TW" dirty="0" err="1"/>
              <a:t>pymongo.MongoClient</a:t>
            </a:r>
            <a:r>
              <a:rPr lang="en-US" altLang="zh-TW" dirty="0"/>
              <a:t>("</a:t>
            </a:r>
            <a:r>
              <a:rPr lang="en-US" altLang="zh-TW" dirty="0" err="1"/>
              <a:t>mongodb</a:t>
            </a:r>
            <a:r>
              <a:rPr lang="en-US" altLang="zh-TW" dirty="0"/>
              <a:t>://localhost:27017/")</a:t>
            </a:r>
          </a:p>
          <a:p>
            <a:r>
              <a:rPr lang="en-US" altLang="zh-TW" dirty="0"/>
              <a:t>    collections = client["ch08mdb"]["</a:t>
            </a:r>
            <a:r>
              <a:rPr lang="en-US" altLang="zh-TW" dirty="0" err="1"/>
              <a:t>bodyinfo</a:t>
            </a:r>
            <a:r>
              <a:rPr lang="en-US" altLang="zh-TW" dirty="0"/>
              <a:t>"]</a:t>
            </a:r>
          </a:p>
          <a:p>
            <a:r>
              <a:rPr lang="en-US" altLang="zh-TW" dirty="0"/>
              <a:t>    if </a:t>
            </a:r>
            <a:r>
              <a:rPr lang="en-US" altLang="zh-TW" dirty="0" err="1"/>
              <a:t>request.method</a:t>
            </a:r>
            <a:r>
              <a:rPr lang="en-US" altLang="zh-TW" dirty="0"/>
              <a:t>=="POST":</a:t>
            </a:r>
          </a:p>
          <a:p>
            <a:r>
              <a:rPr lang="en-US" altLang="zh-TW" dirty="0"/>
              <a:t>        name = </a:t>
            </a:r>
            <a:r>
              <a:rPr lang="en-US" altLang="zh-TW" dirty="0" err="1"/>
              <a:t>request.POST.get</a:t>
            </a:r>
            <a:r>
              <a:rPr lang="en-US" altLang="zh-TW" dirty="0"/>
              <a:t>("name").strip()</a:t>
            </a:r>
          </a:p>
          <a:p>
            <a:r>
              <a:rPr lang="en-US" altLang="zh-TW" dirty="0"/>
              <a:t>        height = </a:t>
            </a:r>
            <a:r>
              <a:rPr lang="en-US" altLang="zh-TW" dirty="0" err="1"/>
              <a:t>request.POST.get</a:t>
            </a:r>
            <a:r>
              <a:rPr lang="en-US" altLang="zh-TW" dirty="0"/>
              <a:t>("height").strip()</a:t>
            </a:r>
          </a:p>
          <a:p>
            <a:r>
              <a:rPr lang="en-US" altLang="zh-TW" dirty="0"/>
              <a:t>        weight = </a:t>
            </a:r>
            <a:r>
              <a:rPr lang="en-US" altLang="zh-TW" dirty="0" err="1"/>
              <a:t>request.POST.get</a:t>
            </a:r>
            <a:r>
              <a:rPr lang="en-US" altLang="zh-TW" dirty="0"/>
              <a:t>("weight").strip()</a:t>
            </a:r>
          </a:p>
          <a:p>
            <a:r>
              <a:rPr lang="en-US" altLang="zh-TW" dirty="0"/>
              <a:t>        </a:t>
            </a:r>
            <a:r>
              <a:rPr lang="en-US" altLang="zh-TW" dirty="0" err="1"/>
              <a:t>collections.insert_one</a:t>
            </a:r>
            <a:r>
              <a:rPr lang="en-US" altLang="zh-TW" dirty="0"/>
              <a:t>({</a:t>
            </a:r>
          </a:p>
          <a:p>
            <a:r>
              <a:rPr lang="en-US" altLang="zh-TW" dirty="0"/>
              <a:t>            "name": name,</a:t>
            </a:r>
          </a:p>
          <a:p>
            <a:r>
              <a:rPr lang="en-US" altLang="zh-TW" dirty="0"/>
              <a:t>            "height": height,</a:t>
            </a:r>
          </a:p>
          <a:p>
            <a:r>
              <a:rPr lang="en-US" altLang="zh-TW" dirty="0"/>
              <a:t>            "weight": weight</a:t>
            </a:r>
          </a:p>
          <a:p>
            <a:r>
              <a:rPr lang="en-US" altLang="zh-TW" dirty="0"/>
              <a:t>        })</a:t>
            </a:r>
          </a:p>
          <a:p>
            <a:r>
              <a:rPr lang="en-US" altLang="zh-TW" dirty="0"/>
              <a:t>        return redirect("/</a:t>
            </a:r>
            <a:r>
              <a:rPr lang="en-US" altLang="zh-TW" dirty="0" err="1"/>
              <a:t>bmi</a:t>
            </a:r>
            <a:r>
              <a:rPr lang="en-US" altLang="zh-TW" dirty="0"/>
              <a:t>/")</a:t>
            </a:r>
          </a:p>
          <a:p>
            <a:r>
              <a:rPr lang="en-US" altLang="zh-TW" dirty="0"/>
              <a:t>    else:</a:t>
            </a:r>
          </a:p>
          <a:p>
            <a:r>
              <a:rPr lang="en-US" altLang="zh-TW" dirty="0"/>
              <a:t>        records = </a:t>
            </a:r>
            <a:r>
              <a:rPr lang="en-US" altLang="zh-TW" dirty="0" err="1"/>
              <a:t>collections.find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    data = list()</a:t>
            </a:r>
          </a:p>
          <a:p>
            <a:r>
              <a:rPr lang="en-US" altLang="zh-TW" dirty="0"/>
              <a:t>        for rec in records:</a:t>
            </a:r>
          </a:p>
          <a:p>
            <a:r>
              <a:rPr lang="en-US" altLang="zh-TW" dirty="0"/>
              <a:t>            t = </a:t>
            </a:r>
            <a:r>
              <a:rPr lang="en-US" altLang="zh-TW" dirty="0" err="1"/>
              <a:t>dict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        t['name'] = rec['name']</a:t>
            </a:r>
          </a:p>
          <a:p>
            <a:r>
              <a:rPr lang="en-US" altLang="zh-TW" dirty="0"/>
              <a:t>            t['height'] = rec['height']</a:t>
            </a:r>
          </a:p>
          <a:p>
            <a:r>
              <a:rPr lang="en-US" altLang="zh-TW" dirty="0"/>
              <a:t>            t['weight'] = rec['weight']</a:t>
            </a:r>
          </a:p>
          <a:p>
            <a:r>
              <a:rPr lang="en-US" altLang="zh-TW" dirty="0"/>
              <a:t>            t['</a:t>
            </a:r>
            <a:r>
              <a:rPr lang="en-US" altLang="zh-TW" dirty="0" err="1"/>
              <a:t>bmi</a:t>
            </a:r>
            <a:r>
              <a:rPr lang="en-US" altLang="zh-TW" dirty="0"/>
              <a:t>'] = round(float(t['weight'])/(int(t['height'])/100)**2, 2)</a:t>
            </a:r>
          </a:p>
          <a:p>
            <a:r>
              <a:rPr lang="en-US" altLang="zh-TW" dirty="0"/>
              <a:t>            </a:t>
            </a:r>
            <a:r>
              <a:rPr lang="en-US" altLang="zh-TW" dirty="0" err="1"/>
              <a:t>data.append</a:t>
            </a:r>
            <a:r>
              <a:rPr lang="en-US" altLang="zh-TW" dirty="0"/>
              <a:t>(t)</a:t>
            </a:r>
          </a:p>
          <a:p>
            <a:endParaRPr lang="en-US" altLang="zh-TW" dirty="0"/>
          </a:p>
          <a:p>
            <a:r>
              <a:rPr lang="en-US" altLang="zh-TW" dirty="0"/>
              <a:t>    return render(request, "bmi.html", locals())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5857007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7C3D4D8-A2AE-36DB-52D7-C95FE738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8660B52-C753-9FCD-60C0-55ADD3291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 err="1"/>
              <a:t>Pymongo</a:t>
            </a:r>
            <a:r>
              <a:rPr lang="zh-TW" altLang="en-US" dirty="0"/>
              <a:t>的程式介面</a:t>
            </a:r>
            <a:r>
              <a:rPr lang="en-US" altLang="zh-TW" dirty="0"/>
              <a:t>bmi.html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28E93780-B514-933F-2901-94D186FE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120</a:t>
            </a:fld>
            <a:endParaRPr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xmlns="" id="{6BF31C67-FFFA-DB51-F00C-611E243AF55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340768"/>
            <a:ext cx="8503920" cy="55172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800" dirty="0"/>
              <a:t>&lt;!-- bmi.html (dj4ch08 project) --&gt;</a:t>
            </a:r>
          </a:p>
          <a:p>
            <a:pPr marL="0" indent="0">
              <a:buNone/>
            </a:pPr>
            <a:r>
              <a:rPr lang="en-US" altLang="zh-TW" sz="800" dirty="0"/>
              <a:t>{% extends "base.html" %}</a:t>
            </a:r>
          </a:p>
          <a:p>
            <a:pPr marL="0" indent="0">
              <a:buNone/>
            </a:pPr>
            <a:r>
              <a:rPr lang="en-US" altLang="zh-TW" sz="800" dirty="0"/>
              <a:t>{% block title %}BMI</a:t>
            </a:r>
            <a:r>
              <a:rPr lang="zh-TW" altLang="en-US" sz="800" dirty="0"/>
              <a:t>列表</a:t>
            </a:r>
            <a:r>
              <a:rPr lang="en-US" altLang="zh-TW" sz="800" dirty="0"/>
              <a:t>{% </a:t>
            </a:r>
            <a:r>
              <a:rPr lang="en-US" altLang="zh-TW" sz="800" dirty="0" err="1"/>
              <a:t>endblock</a:t>
            </a:r>
            <a:r>
              <a:rPr lang="en-US" altLang="zh-TW" sz="800" dirty="0"/>
              <a:t> %}</a:t>
            </a:r>
          </a:p>
          <a:p>
            <a:pPr marL="0" indent="0">
              <a:buNone/>
            </a:pPr>
            <a:r>
              <a:rPr lang="en-US" altLang="zh-TW" sz="800" dirty="0"/>
              <a:t>{% block content %}</a:t>
            </a:r>
          </a:p>
          <a:p>
            <a:pPr marL="0" indent="0">
              <a:buNone/>
            </a:pPr>
            <a:r>
              <a:rPr lang="en-US" altLang="zh-TW" sz="800" dirty="0"/>
              <a:t>&lt;div class='container'&gt;</a:t>
            </a:r>
          </a:p>
          <a:p>
            <a:pPr marL="0" indent="0">
              <a:buNone/>
            </a:pPr>
            <a:r>
              <a:rPr lang="en-US" altLang="zh-TW" sz="800" dirty="0"/>
              <a:t>    &lt;table class="table table-striped"&gt;</a:t>
            </a:r>
          </a:p>
          <a:p>
            <a:pPr marL="0" indent="0">
              <a:buNone/>
            </a:pPr>
            <a:r>
              <a:rPr lang="en-US" altLang="zh-TW" sz="800" dirty="0"/>
              <a:t>        &lt;tr&gt;&lt;td&gt;</a:t>
            </a:r>
            <a:r>
              <a:rPr lang="zh-TW" altLang="en-US" sz="800" dirty="0"/>
              <a:t>姓名</a:t>
            </a:r>
            <a:r>
              <a:rPr lang="en-US" altLang="zh-TW" sz="800" dirty="0"/>
              <a:t>&lt;/td&gt;&lt;td&gt;</a:t>
            </a:r>
            <a:r>
              <a:rPr lang="zh-TW" altLang="en-US" sz="800" dirty="0"/>
              <a:t>身高</a:t>
            </a:r>
            <a:r>
              <a:rPr lang="en-US" altLang="zh-TW" sz="800" dirty="0"/>
              <a:t>&lt;/td&gt;&lt;td&gt;</a:t>
            </a:r>
            <a:r>
              <a:rPr lang="zh-TW" altLang="en-US" sz="800" dirty="0"/>
              <a:t>體重</a:t>
            </a:r>
            <a:r>
              <a:rPr lang="en-US" altLang="zh-TW" sz="800" dirty="0"/>
              <a:t>&lt;/td&gt;&lt;td&gt;BMI&lt;/td&gt;&lt;td&gt;</a:t>
            </a:r>
            <a:r>
              <a:rPr lang="zh-TW" altLang="en-US" sz="800" dirty="0"/>
              <a:t>管理</a:t>
            </a:r>
            <a:r>
              <a:rPr lang="en-US" altLang="zh-TW" sz="800" dirty="0"/>
              <a:t>&lt;/td&gt;&lt;/tr&gt;</a:t>
            </a:r>
          </a:p>
          <a:p>
            <a:pPr marL="0" indent="0">
              <a:buNone/>
            </a:pPr>
            <a:r>
              <a:rPr lang="en-US" altLang="zh-TW" sz="800" dirty="0"/>
              <a:t>        {% for item in data %}</a:t>
            </a:r>
          </a:p>
          <a:p>
            <a:pPr marL="0" indent="0">
              <a:buNone/>
            </a:pPr>
            <a:r>
              <a:rPr lang="en-US" altLang="zh-TW" sz="800" dirty="0"/>
              <a:t>            &lt;tr&gt;</a:t>
            </a:r>
          </a:p>
          <a:p>
            <a:pPr marL="0" indent="0">
              <a:buNone/>
            </a:pPr>
            <a:r>
              <a:rPr lang="en-US" altLang="zh-TW" sz="800" dirty="0"/>
              <a:t>                &lt;td&gt;{{ item.name }}&lt;/td&gt;</a:t>
            </a:r>
          </a:p>
          <a:p>
            <a:pPr marL="0" indent="0">
              <a:buNone/>
            </a:pPr>
            <a:r>
              <a:rPr lang="en-US" altLang="zh-TW" sz="800" dirty="0"/>
              <a:t>                &lt;td&gt;{{ </a:t>
            </a:r>
            <a:r>
              <a:rPr lang="en-US" altLang="zh-TW" sz="800" dirty="0" err="1"/>
              <a:t>item.height</a:t>
            </a:r>
            <a:r>
              <a:rPr lang="en-US" altLang="zh-TW" sz="800" dirty="0"/>
              <a:t> }}cm&lt;/td&gt;</a:t>
            </a:r>
          </a:p>
          <a:p>
            <a:pPr marL="0" indent="0">
              <a:buNone/>
            </a:pPr>
            <a:r>
              <a:rPr lang="en-US" altLang="zh-TW" sz="800" dirty="0"/>
              <a:t>                &lt;td&gt;{{ </a:t>
            </a:r>
            <a:r>
              <a:rPr lang="en-US" altLang="zh-TW" sz="800" dirty="0" err="1"/>
              <a:t>item.weight</a:t>
            </a:r>
            <a:r>
              <a:rPr lang="en-US" altLang="zh-TW" sz="800" dirty="0"/>
              <a:t> }}kg&lt;/td&gt;</a:t>
            </a:r>
          </a:p>
          <a:p>
            <a:pPr marL="0" indent="0">
              <a:buNone/>
            </a:pPr>
            <a:r>
              <a:rPr lang="en-US" altLang="zh-TW" sz="800" dirty="0"/>
              <a:t>                &lt;td&gt;{{ </a:t>
            </a:r>
            <a:r>
              <a:rPr lang="en-US" altLang="zh-TW" sz="800" dirty="0" err="1"/>
              <a:t>item.bmi</a:t>
            </a:r>
            <a:r>
              <a:rPr lang="en-US" altLang="zh-TW" sz="800" dirty="0"/>
              <a:t> }}&lt;/td&gt;</a:t>
            </a:r>
          </a:p>
          <a:p>
            <a:pPr marL="0" indent="0">
              <a:buNone/>
            </a:pPr>
            <a:r>
              <a:rPr lang="en-US" altLang="zh-TW" sz="800" dirty="0"/>
              <a:t>                &lt;td&gt;&lt;a class="</a:t>
            </a:r>
            <a:r>
              <a:rPr lang="en-US" altLang="zh-TW" sz="800" dirty="0" err="1"/>
              <a:t>btn</a:t>
            </a:r>
            <a:r>
              <a:rPr lang="en-US" altLang="zh-TW" sz="800" dirty="0"/>
              <a:t> </a:t>
            </a:r>
            <a:r>
              <a:rPr lang="en-US" altLang="zh-TW" sz="800" dirty="0" err="1"/>
              <a:t>btn-sm</a:t>
            </a:r>
            <a:r>
              <a:rPr lang="en-US" altLang="zh-TW" sz="800" dirty="0"/>
              <a:t> </a:t>
            </a:r>
            <a:r>
              <a:rPr lang="en-US" altLang="zh-TW" sz="800" dirty="0" err="1"/>
              <a:t>btn</a:t>
            </a:r>
            <a:r>
              <a:rPr lang="en-US" altLang="zh-TW" sz="800" dirty="0"/>
              <a:t>-outline-warning"&gt;Delete&lt;/a&gt;&lt;/td&gt;</a:t>
            </a:r>
          </a:p>
          <a:p>
            <a:pPr marL="0" indent="0">
              <a:buNone/>
            </a:pPr>
            <a:r>
              <a:rPr lang="en-US" altLang="zh-TW" sz="800" dirty="0"/>
              <a:t>            &lt;/tr&gt;</a:t>
            </a:r>
          </a:p>
          <a:p>
            <a:pPr marL="0" indent="0">
              <a:buNone/>
            </a:pPr>
            <a:r>
              <a:rPr lang="en-US" altLang="zh-TW" sz="800" dirty="0"/>
              <a:t>        {% </a:t>
            </a:r>
            <a:r>
              <a:rPr lang="en-US" altLang="zh-TW" sz="800" dirty="0" err="1"/>
              <a:t>endfor</a:t>
            </a:r>
            <a:r>
              <a:rPr lang="en-US" altLang="zh-TW" sz="800" dirty="0"/>
              <a:t> %}</a:t>
            </a:r>
          </a:p>
          <a:p>
            <a:pPr marL="0" indent="0">
              <a:buNone/>
            </a:pPr>
            <a:r>
              <a:rPr lang="en-US" altLang="zh-TW" sz="800" dirty="0"/>
              <a:t>    &lt;/table&gt;</a:t>
            </a:r>
          </a:p>
          <a:p>
            <a:pPr marL="0" indent="0">
              <a:buNone/>
            </a:pPr>
            <a:r>
              <a:rPr lang="en-US" altLang="zh-TW" sz="800" dirty="0"/>
              <a:t>    &lt;form name='my form' action='/</a:t>
            </a:r>
            <a:r>
              <a:rPr lang="en-US" altLang="zh-TW" sz="800" dirty="0" err="1"/>
              <a:t>bmi</a:t>
            </a:r>
            <a:r>
              <a:rPr lang="en-US" altLang="zh-TW" sz="800" dirty="0"/>
              <a:t>/' method='POST'&gt;</a:t>
            </a:r>
          </a:p>
          <a:p>
            <a:pPr marL="0" indent="0">
              <a:buNone/>
            </a:pPr>
            <a:r>
              <a:rPr lang="en-US" altLang="zh-TW" sz="800" dirty="0"/>
              <a:t>        {% </a:t>
            </a:r>
            <a:r>
              <a:rPr lang="en-US" altLang="zh-TW" sz="800" dirty="0" err="1"/>
              <a:t>csrf_token</a:t>
            </a:r>
            <a:r>
              <a:rPr lang="en-US" altLang="zh-TW" sz="800" dirty="0"/>
              <a:t> %}</a:t>
            </a:r>
          </a:p>
          <a:p>
            <a:pPr marL="0" indent="0">
              <a:buNone/>
            </a:pPr>
            <a:r>
              <a:rPr lang="en-US" altLang="zh-TW" sz="800" dirty="0"/>
              <a:t>        &lt;table&gt;</a:t>
            </a:r>
          </a:p>
          <a:p>
            <a:pPr marL="0" indent="0">
              <a:buNone/>
            </a:pPr>
            <a:r>
              <a:rPr lang="en-US" altLang="zh-TW" sz="800" dirty="0"/>
              <a:t>            &lt;tr&gt;&lt;td&gt;</a:t>
            </a:r>
            <a:r>
              <a:rPr lang="zh-TW" altLang="en-US" sz="800" dirty="0"/>
              <a:t>姓名：</a:t>
            </a:r>
            <a:r>
              <a:rPr lang="en-US" altLang="zh-TW" sz="800" dirty="0"/>
              <a:t>&lt;/td&gt;&lt;td&gt;&lt;input type="text" name="name" size=10 required&gt;&lt;/td&gt;&lt;/tr&gt;</a:t>
            </a:r>
          </a:p>
          <a:p>
            <a:pPr marL="0" indent="0">
              <a:buNone/>
            </a:pPr>
            <a:r>
              <a:rPr lang="en-US" altLang="zh-TW" sz="800" dirty="0"/>
              <a:t>            &lt;tr&gt;&lt;td&gt;</a:t>
            </a:r>
            <a:r>
              <a:rPr lang="zh-TW" altLang="en-US" sz="800" dirty="0"/>
              <a:t>身高：</a:t>
            </a:r>
            <a:r>
              <a:rPr lang="en-US" altLang="zh-TW" sz="800" dirty="0"/>
              <a:t>&lt;/td&gt;&lt;td&gt;&lt;input type="text" name="height" size=3 required&gt;cm&lt;/td&gt;&lt;/tr&gt;</a:t>
            </a:r>
          </a:p>
          <a:p>
            <a:pPr marL="0" indent="0">
              <a:buNone/>
            </a:pPr>
            <a:r>
              <a:rPr lang="en-US" altLang="zh-TW" sz="800" dirty="0"/>
              <a:t>            &lt;tr&gt;&lt;td&gt;</a:t>
            </a:r>
            <a:r>
              <a:rPr lang="zh-TW" altLang="en-US" sz="800" dirty="0"/>
              <a:t>體重：</a:t>
            </a:r>
            <a:r>
              <a:rPr lang="en-US" altLang="zh-TW" sz="800" dirty="0"/>
              <a:t>&lt;/td&gt;&lt;td&gt;&lt;input type="text" name="weight" size=3 required&gt;kg&lt;/td&gt;&lt;/tr&gt;</a:t>
            </a:r>
          </a:p>
          <a:p>
            <a:pPr marL="0" indent="0">
              <a:buNone/>
            </a:pPr>
            <a:r>
              <a:rPr lang="en-US" altLang="zh-TW" sz="800" dirty="0"/>
              <a:t>            &lt;tr&gt;</a:t>
            </a:r>
          </a:p>
          <a:p>
            <a:pPr marL="0" indent="0">
              <a:buNone/>
            </a:pPr>
            <a:r>
              <a:rPr lang="en-US" altLang="zh-TW" sz="800" dirty="0"/>
              <a:t>                &lt;td </a:t>
            </a:r>
            <a:r>
              <a:rPr lang="en-US" altLang="zh-TW" sz="800" dirty="0" err="1"/>
              <a:t>colspan</a:t>
            </a:r>
            <a:r>
              <a:rPr lang="en-US" altLang="zh-TW" sz="800" dirty="0"/>
              <a:t>=2&gt;</a:t>
            </a:r>
          </a:p>
          <a:p>
            <a:pPr marL="0" indent="0">
              <a:buNone/>
            </a:pPr>
            <a:r>
              <a:rPr lang="en-US" altLang="zh-TW" sz="800" dirty="0"/>
              <a:t>                    &lt;input type='submit' value='</a:t>
            </a:r>
            <a:r>
              <a:rPr lang="zh-TW" altLang="en-US" sz="800" dirty="0"/>
              <a:t>張貼</a:t>
            </a:r>
            <a:r>
              <a:rPr lang="en-US" altLang="zh-TW" sz="800" dirty="0"/>
              <a:t>'&gt;</a:t>
            </a:r>
            <a:endParaRPr lang="zh-TW" altLang="en-US" sz="800" dirty="0"/>
          </a:p>
          <a:p>
            <a:pPr marL="0" indent="0">
              <a:buNone/>
            </a:pPr>
            <a:r>
              <a:rPr lang="zh-TW" altLang="en-US" sz="800" dirty="0"/>
              <a:t>                    </a:t>
            </a:r>
            <a:r>
              <a:rPr lang="en-US" altLang="zh-TW" sz="800" dirty="0"/>
              <a:t>&lt;input type='reset' value='</a:t>
            </a:r>
            <a:r>
              <a:rPr lang="zh-TW" altLang="en-US" sz="800" dirty="0"/>
              <a:t>清除重填</a:t>
            </a:r>
            <a:r>
              <a:rPr lang="en-US" altLang="zh-TW" sz="800" dirty="0"/>
              <a:t>'&gt;</a:t>
            </a:r>
            <a:endParaRPr lang="zh-TW" altLang="en-US" sz="800" dirty="0"/>
          </a:p>
          <a:p>
            <a:pPr marL="0" indent="0">
              <a:buNone/>
            </a:pPr>
            <a:r>
              <a:rPr lang="zh-TW" altLang="en-US" sz="800" dirty="0"/>
              <a:t>                </a:t>
            </a:r>
            <a:r>
              <a:rPr lang="en-US" altLang="zh-TW" sz="800" dirty="0"/>
              <a:t>&lt;/td&gt;</a:t>
            </a:r>
          </a:p>
          <a:p>
            <a:pPr marL="0" indent="0">
              <a:buNone/>
            </a:pPr>
            <a:r>
              <a:rPr lang="en-US" altLang="zh-TW" sz="800" dirty="0"/>
              <a:t>            &lt;/tr&gt;</a:t>
            </a:r>
          </a:p>
          <a:p>
            <a:pPr marL="0" indent="0">
              <a:buNone/>
            </a:pPr>
            <a:r>
              <a:rPr lang="en-US" altLang="zh-TW" sz="800" dirty="0"/>
              <a:t>        &lt;/table&gt;</a:t>
            </a:r>
          </a:p>
          <a:p>
            <a:pPr marL="0" indent="0">
              <a:buNone/>
            </a:pPr>
            <a:r>
              <a:rPr lang="en-US" altLang="zh-TW" sz="800" dirty="0"/>
              <a:t>    &lt;/form&gt;</a:t>
            </a:r>
          </a:p>
          <a:p>
            <a:pPr marL="0" indent="0">
              <a:buNone/>
            </a:pPr>
            <a:r>
              <a:rPr lang="en-US" altLang="zh-TW" sz="800" dirty="0"/>
              <a:t>&lt;/div&gt;    </a:t>
            </a:r>
          </a:p>
          <a:p>
            <a:pPr marL="0" indent="0">
              <a:buNone/>
            </a:pPr>
            <a:r>
              <a:rPr lang="en-US" altLang="zh-TW" sz="800" dirty="0"/>
              <a:t>{% </a:t>
            </a:r>
            <a:r>
              <a:rPr lang="en-US" altLang="zh-TW" sz="800" dirty="0" err="1"/>
              <a:t>endblock</a:t>
            </a:r>
            <a:r>
              <a:rPr lang="en-US" altLang="zh-TW" sz="800" dirty="0"/>
              <a:t> %}</a:t>
            </a:r>
          </a:p>
          <a:p>
            <a:pPr marL="0" indent="0">
              <a:buNone/>
            </a:pPr>
            <a:r>
              <a:rPr lang="en-US" altLang="zh-TW" sz="800" dirty="0"/>
              <a:t/>
            </a:r>
            <a:br>
              <a:rPr lang="en-US" altLang="zh-TW" sz="800" dirty="0"/>
            </a:br>
            <a:endParaRPr lang="en-US" altLang="zh-TW" sz="800" dirty="0"/>
          </a:p>
          <a:p>
            <a:pPr marL="0" indent="0">
              <a:buNone/>
            </a:pPr>
            <a:endParaRPr lang="zh-TW" altLang="en-US" sz="800" dirty="0"/>
          </a:p>
        </p:txBody>
      </p:sp>
    </p:spTree>
    <p:extLst>
      <p:ext uri="{BB962C8B-B14F-4D97-AF65-F5344CB8AC3E}">
        <p14:creationId xmlns:p14="http://schemas.microsoft.com/office/powerpoint/2010/main" val="281603423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124EFD7-9DC5-361D-A256-D280B7060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7961EC2-0660-9B88-BF14-AA33450B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 err="1"/>
              <a:t>Pymongo</a:t>
            </a:r>
            <a:r>
              <a:rPr lang="zh-TW" altLang="en-US" dirty="0"/>
              <a:t>的程式介面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xmlns="" id="{EDA1628D-F028-7A0B-AAAF-3152AD48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fld id="{369E457D-EE12-4164-8E32-9DDD40A95892}" type="slidenum">
              <a:rPr lang="zh-TW" altLang="en-US" smtClean="0"/>
              <a:pPr/>
              <a:t>121</a:t>
            </a:fld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xmlns="" id="{D696C54F-F5DE-9148-5DA1-9B915C0E808A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040854" y="1527175"/>
            <a:ext cx="7025779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6700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市鎮">
  <a:themeElements>
    <a:clrScheme name="市鎮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觀點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市鎮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15872</TotalTime>
  <Words>8027</Words>
  <Application>Microsoft Office PowerPoint</Application>
  <PresentationFormat>如螢幕大小 (4:3)</PresentationFormat>
  <Paragraphs>1335</Paragraphs>
  <Slides>121</Slides>
  <Notes>33</Notes>
  <HiddenSlides>9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121</vt:i4>
      </vt:variant>
    </vt:vector>
  </HeadingPairs>
  <TitlesOfParts>
    <vt:vector size="122" baseType="lpstr">
      <vt:lpstr>市鎮</vt:lpstr>
      <vt:lpstr>第八堂 網站表單的應用</vt:lpstr>
      <vt:lpstr>學習目標</vt:lpstr>
      <vt:lpstr>HTML &lt;form&gt;表單簡介</vt:lpstr>
      <vt:lpstr>HTML &lt;form&gt;表單簡介</vt:lpstr>
      <vt:lpstr>HTML &lt;form&gt;表單簡介</vt:lpstr>
      <vt:lpstr>HTML &lt;form&gt;表單簡介</vt:lpstr>
      <vt:lpstr>HTML &lt;form&gt;表單簡介</vt:lpstr>
      <vt:lpstr>HTML &lt;form&gt;表單簡介</vt:lpstr>
      <vt:lpstr>HTML &lt;form&gt;表單簡介</vt:lpstr>
      <vt:lpstr>HTML &lt;form&gt;表單簡介</vt:lpstr>
      <vt:lpstr>HTML &lt;form&gt;表單簡介</vt:lpstr>
      <vt:lpstr>HTML &lt;form&gt;表單簡介</vt:lpstr>
      <vt:lpstr>HTML &lt;form&gt;表單簡介</vt:lpstr>
      <vt:lpstr>HTML &lt;form&gt;表單簡介</vt:lpstr>
      <vt:lpstr>活用表單的標籤</vt:lpstr>
      <vt:lpstr>活用表單的標籤</vt:lpstr>
      <vt:lpstr>活用表單的標籤</vt:lpstr>
      <vt:lpstr>活用表單的標籤</vt:lpstr>
      <vt:lpstr>活用表單的標籤</vt:lpstr>
      <vt:lpstr>活用表單的標籤</vt:lpstr>
      <vt:lpstr>活用表單的標籤</vt:lpstr>
      <vt:lpstr>活用表單的標籤</vt:lpstr>
      <vt:lpstr>建立本堂課範例網站的資料模型</vt:lpstr>
      <vt:lpstr>建立本堂課範例網站的資料模型</vt:lpstr>
      <vt:lpstr>建立本堂課範例網站的資料模型</vt:lpstr>
      <vt:lpstr>建立本堂課範例網站的資料模型-copy範本的資料庫來顯示心情選項</vt:lpstr>
      <vt:lpstr>建立本堂課範例網站的資料模型</vt:lpstr>
      <vt:lpstr>建立本堂課範例網站的資料模型</vt:lpstr>
      <vt:lpstr>網站表單的建立與資料顯示</vt:lpstr>
      <vt:lpstr>網站表單的建立與資料顯示</vt:lpstr>
      <vt:lpstr>網站表單的建立與資料顯示</vt:lpstr>
      <vt:lpstr>接收表單資料儲存於資料庫中</vt:lpstr>
      <vt:lpstr>接收表單資料儲存於資料庫中</vt:lpstr>
      <vt:lpstr>加上刪除貼文的功能</vt:lpstr>
      <vt:lpstr>加上刪除貼文的功能</vt:lpstr>
      <vt:lpstr>加上刪除貼文的功能(略)</vt:lpstr>
      <vt:lpstr>加上刪除貼文的功能</vt:lpstr>
      <vt:lpstr>加上刪除貼文的功能</vt:lpstr>
      <vt:lpstr>基礎表單類別的應用</vt:lpstr>
      <vt:lpstr>使用POST傳遞表單資料</vt:lpstr>
      <vt:lpstr>使用POST傳遞表單資料</vt:lpstr>
      <vt:lpstr>使用POST傳遞表單資料</vt:lpstr>
      <vt:lpstr>使用POST傳遞表單資料</vt:lpstr>
      <vt:lpstr>使用POST傳遞表單資料</vt:lpstr>
      <vt:lpstr>使用POST傳遞表單資料</vt:lpstr>
      <vt:lpstr>使用POST傳遞表單資料</vt:lpstr>
      <vt:lpstr>使用POST傳遞表單資料</vt:lpstr>
      <vt:lpstr>使用POST傳遞表單資料</vt:lpstr>
      <vt:lpstr>使用POST傳遞表單資料</vt:lpstr>
      <vt:lpstr>使用POST傳遞表單資料</vt:lpstr>
      <vt:lpstr>使用POST傳遞表單資料</vt:lpstr>
      <vt:lpstr>使用POST傳遞表單資料</vt:lpstr>
      <vt:lpstr>Form結合表單和資料庫</vt:lpstr>
      <vt:lpstr>結合表單和資料庫</vt:lpstr>
      <vt:lpstr>結合表單和資料庫</vt:lpstr>
      <vt:lpstr>結合表單和資料庫</vt:lpstr>
      <vt:lpstr>結合表單和資料庫views.py</vt:lpstr>
      <vt:lpstr>結合表單和資料庫div.card </vt:lpstr>
      <vt:lpstr>結合表單和資料庫</vt:lpstr>
      <vt:lpstr>資料接收與欄位的驗證方法views.py</vt:lpstr>
      <vt:lpstr>資料接收與欄位的驗證方法</vt:lpstr>
      <vt:lpstr>資料接收與欄位的驗證方法</vt:lpstr>
      <vt:lpstr>資料接收與欄位的驗證方法</vt:lpstr>
      <vt:lpstr>(注意：要在form.is_valid()裏面來取資料，否則會出現error(要先確定資料valid才能得到data)</vt:lpstr>
      <vt:lpstr>資料接收與欄位的驗證方法</vt:lpstr>
      <vt:lpstr>資料接收與欄位的驗證方法</vt:lpstr>
      <vt:lpstr>利用第三方服務郵寄電子郵件</vt:lpstr>
      <vt:lpstr>利用第三方服務郵寄電子郵件</vt:lpstr>
      <vt:lpstr>Gmail寄件設定</vt:lpstr>
      <vt:lpstr>Gmail寄件設定</vt:lpstr>
      <vt:lpstr>利用第三方服務郵寄電子郵件</vt:lpstr>
      <vt:lpstr>利用第三方服務郵寄電子郵件</vt:lpstr>
      <vt:lpstr>利用第三方服務郵寄電子郵件</vt:lpstr>
      <vt:lpstr>利用第三方服務郵寄電子郵件</vt:lpstr>
      <vt:lpstr>利用第三方服務郵寄電子郵件</vt:lpstr>
      <vt:lpstr>利用第三方服務郵寄電子郵件</vt:lpstr>
      <vt:lpstr>模型表單類別ModelForm的應用</vt:lpstr>
      <vt:lpstr>ModelForm的使用</vt:lpstr>
      <vt:lpstr>ModelForm的使用(結合現有的model)forms.py</vt:lpstr>
      <vt:lpstr>ModelForm的使用</vt:lpstr>
      <vt:lpstr>建立本堂課範例網站的資料模型(之前已建立)</vt:lpstr>
      <vt:lpstr>ModelForm的使用(注意：若是用post2db URL， action=' /post2db/' </vt:lpstr>
      <vt:lpstr>ModelForm的使用(注意：若是用post2db URL， action=' /post2db/' </vt:lpstr>
      <vt:lpstr>ModelForm的使用(右邊是之前傳統表單方式)</vt:lpstr>
      <vt:lpstr>透過ModelForm產生的表單儲存資料</vt:lpstr>
      <vt:lpstr>透過ModelForm產生的表單儲存資料</vt:lpstr>
      <vt:lpstr>透過ModelForm產生的表單儲存資料</vt:lpstr>
      <vt:lpstr>為表單加上防機器人驗證機制</vt:lpstr>
      <vt:lpstr>為表單加上防機器人驗證機制</vt:lpstr>
      <vt:lpstr>為表單加上防機器人驗證機制forms.py</vt:lpstr>
      <vt:lpstr>為表單加上防機器人驗證機制</vt:lpstr>
      <vt:lpstr>為表單加上防機器人驗證機制</vt:lpstr>
      <vt:lpstr>為表單加上防機器人驗證機制</vt:lpstr>
      <vt:lpstr>為表單加上防機器人驗證機制</vt:lpstr>
      <vt:lpstr>為表單加上防機器人驗證機制</vt:lpstr>
      <vt:lpstr>為表單加上防機器人驗證機制</vt:lpstr>
      <vt:lpstr>為表單加上防機器人驗證機制</vt:lpstr>
      <vt:lpstr>為表單加上防機器人驗證機制</vt:lpstr>
      <vt:lpstr>為表單加上防機器人驗證機制</vt:lpstr>
      <vt:lpstr>PowerPoint 簡報</vt:lpstr>
      <vt:lpstr>為表單加上防機器人驗證機制</vt:lpstr>
      <vt:lpstr>MongoDB download </vt:lpstr>
      <vt:lpstr>cmd mode啟動server:net start MongoDB 停止： net stop MongoDB </vt:lpstr>
      <vt:lpstr>完成連線之後的MongoDB Compass</vt:lpstr>
      <vt:lpstr>MongoDB與MySQL資料階層比較表</vt:lpstr>
      <vt:lpstr>在Compass中建立資料庫</vt:lpstr>
      <vt:lpstr>新增Collection</vt:lpstr>
      <vt:lpstr>Document編輯介面 </vt:lpstr>
      <vt:lpstr>資料輸入介面</vt:lpstr>
      <vt:lpstr>已輸入之Document列表</vt:lpstr>
      <vt:lpstr>已輸入之Document列表</vt:lpstr>
      <vt:lpstr>使用Docker-Compose安裝MongoDB</vt:lpstr>
      <vt:lpstr>在Docker上運作的MongoDB</vt:lpstr>
      <vt:lpstr>Python操作MongoDB的程式介面</vt:lpstr>
      <vt:lpstr>Python操作MongoDB</vt:lpstr>
      <vt:lpstr>Python操作MongoDB</vt:lpstr>
      <vt:lpstr>Python操作MongoDB</vt:lpstr>
      <vt:lpstr>Django中存取MongoDB的方法</vt:lpstr>
      <vt:lpstr>使用Pymongo的程式介面views.py</vt:lpstr>
      <vt:lpstr>使用Pymongo的程式介面bmi.html</vt:lpstr>
      <vt:lpstr>使用Pymongo的程式介面</vt:lpstr>
    </vt:vector>
  </TitlesOfParts>
  <Company>SYNNEX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第一堂 程式設計所需要的基礎知識</dc:title>
  <dc:creator>USER</dc:creator>
  <cp:lastModifiedBy>user</cp:lastModifiedBy>
  <cp:revision>225</cp:revision>
  <dcterms:created xsi:type="dcterms:W3CDTF">2017-10-09T22:32:02Z</dcterms:created>
  <dcterms:modified xsi:type="dcterms:W3CDTF">2025-12-12T05:48:25Z</dcterms:modified>
</cp:coreProperties>
</file>